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5" Type="http://schemas.openxmlformats.org/officeDocument/2006/relationships/image" Target="../media/image-8-15.png"/><Relationship Id="rId16" Type="http://schemas.openxmlformats.org/officeDocument/2006/relationships/image" Target="../media/image-8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image" Target="../media/image-15-9.png"/><Relationship Id="rId10" Type="http://schemas.openxmlformats.org/officeDocument/2006/relationships/image" Target="../media/image-15-10.png"/><Relationship Id="rId11" Type="http://schemas.openxmlformats.org/officeDocument/2006/relationships/image" Target="../media/image-15-11.png"/><Relationship Id="rId12" Type="http://schemas.openxmlformats.org/officeDocument/2006/relationships/image" Target="../media/image-15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image" Target="../media/image-16-8.png"/><Relationship Id="rId9" Type="http://schemas.openxmlformats.org/officeDocument/2006/relationships/image" Target="../media/image-16-9.png"/><Relationship Id="rId10" Type="http://schemas.openxmlformats.org/officeDocument/2006/relationships/image" Target="../media/image-16-10.png"/><Relationship Id="rId11" Type="http://schemas.openxmlformats.org/officeDocument/2006/relationships/image" Target="../media/image-16-11.png"/><Relationship Id="rId12" Type="http://schemas.openxmlformats.org/officeDocument/2006/relationships/image" Target="../media/image-16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image" Target="../media/image-19-7.png"/><Relationship Id="rId8" Type="http://schemas.openxmlformats.org/officeDocument/2006/relationships/image" Target="../media/image-19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image" Target="../media/image-2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-2011680"/>
            <a:ext cx="6583680" cy="658368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9509760" y="3291840"/>
            <a:ext cx="4754880" cy="4754880"/>
          </a:xfrm>
          <a:prstGeom prst="roundRect">
            <a:avLst>
              <a:gd name="adj" fmla="val 50000"/>
            </a:avLst>
          </a:prstGeom>
          <a:solidFill>
            <a:srgbClr val="1B2450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77724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3FD5C4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2259" y="930859"/>
            <a:ext cx="332842" cy="33284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8686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ASSET MANAGEMENT  ·  TOOLING EVALUATION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48640" y="187452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Axonius vs. ManageEngine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548640" y="2880360"/>
            <a:ext cx="7955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comprehensive capability comparison — where Axonius outperforms ManageEngine, what it does that ManageEngine cannot, and how the two fit together.</a:t>
            </a:r>
            <a:endParaRPr lang="en-US" sz="1650" dirty="0"/>
          </a:p>
        </p:txBody>
      </p:sp>
      <p:sp>
        <p:nvSpPr>
          <p:cNvPr id="9" name="Shape 6"/>
          <p:cNvSpPr/>
          <p:nvPr/>
        </p:nvSpPr>
        <p:spPr>
          <a:xfrm>
            <a:off x="548640" y="4297680"/>
            <a:ext cx="5074920" cy="1371600"/>
          </a:xfrm>
          <a:prstGeom prst="roundRect">
            <a:avLst>
              <a:gd name="adj" fmla="val 8000"/>
            </a:avLst>
          </a:prstGeom>
          <a:solidFill>
            <a:srgbClr val="1B2450"/>
          </a:solidFill>
          <a:ln w="15875">
            <a:solidFill>
              <a:srgbClr val="3FD5C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68680" y="4590288"/>
            <a:ext cx="786384" cy="786384"/>
          </a:xfrm>
          <a:prstGeom prst="roundRect">
            <a:avLst>
              <a:gd name="adj" fmla="val 50000"/>
            </a:avLst>
          </a:prstGeom>
          <a:solidFill>
            <a:srgbClr val="3FD5C4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412" y="4779020"/>
            <a:ext cx="408920" cy="408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74520" y="45720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3FD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AXONIUS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874520" y="4919472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asset intelligence (CAASM) — security-first, agentless, aggregates every tool.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035040" y="4297680"/>
            <a:ext cx="5074920" cy="1371600"/>
          </a:xfrm>
          <a:prstGeom prst="roundRect">
            <a:avLst>
              <a:gd name="adj" fmla="val 8000"/>
            </a:avLst>
          </a:prstGeom>
          <a:solidFill>
            <a:srgbClr val="1B2450"/>
          </a:solidFill>
          <a:ln w="15875">
            <a:solidFill>
              <a:srgbClr val="E8A94E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355080" y="4590288"/>
            <a:ext cx="786384" cy="786384"/>
          </a:xfrm>
          <a:prstGeom prst="roundRect">
            <a:avLst>
              <a:gd name="adj" fmla="val 50000"/>
            </a:avLst>
          </a:prstGeom>
          <a:solidFill>
            <a:srgbClr val="E8A94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3812" y="4779020"/>
            <a:ext cx="408920" cy="4089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360920" y="457200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8A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MANAGEENGINE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7360920" y="4919472"/>
            <a:ext cx="3611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asset management + endpoint &amp; service management — operations-first, scan/agent based.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548640" y="619963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C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internal tooling evaluation · sources: vendor documentation &amp; independent analyst reviews,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deck covers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03520" cy="914400"/>
          </a:xfrm>
          <a:prstGeom prst="roundRect">
            <a:avLst>
              <a:gd name="adj" fmla="val 9000"/>
            </a:avLst>
          </a:prstGeom>
          <a:solidFill>
            <a:srgbClr val="F3F6FC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819656"/>
            <a:ext cx="475488" cy="475488"/>
          </a:xfrm>
          <a:prstGeom prst="ellipse">
            <a:avLst/>
          </a:prstGeom>
          <a:solidFill>
            <a:srgbClr val="141A3C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81965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D5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417320" y="1856232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E7F6F3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3881" y="1952793"/>
            <a:ext cx="209215" cy="20921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965960" y="1746504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each tool fits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1965960" y="2103120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each tool was built to answer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309360" y="1600200"/>
            <a:ext cx="5303520" cy="914400"/>
          </a:xfrm>
          <a:prstGeom prst="roundRect">
            <a:avLst>
              <a:gd name="adj" fmla="val 9000"/>
            </a:avLst>
          </a:prstGeom>
          <a:solidFill>
            <a:srgbClr val="F3F6FC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10528" y="1819656"/>
            <a:ext cx="475488" cy="475488"/>
          </a:xfrm>
          <a:prstGeom prst="ellipse">
            <a:avLst/>
          </a:prstGeom>
          <a:solidFill>
            <a:srgbClr val="141A3C"/>
          </a:solidFill>
          <a:ln/>
        </p:spPr>
      </p:sp>
      <p:sp>
        <p:nvSpPr>
          <p:cNvPr id="13" name="Text 10"/>
          <p:cNvSpPr/>
          <p:nvPr/>
        </p:nvSpPr>
        <p:spPr>
          <a:xfrm>
            <a:off x="6510528" y="181965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D5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7178040" y="1856232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E7F6F3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4601" y="1952793"/>
            <a:ext cx="209215" cy="209215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726680" y="1746504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they work</a:t>
            </a:r>
            <a:endParaRPr lang="en-US" sz="1550" dirty="0"/>
          </a:p>
        </p:txBody>
      </p:sp>
      <p:sp>
        <p:nvSpPr>
          <p:cNvPr id="17" name="Text 13"/>
          <p:cNvSpPr/>
          <p:nvPr/>
        </p:nvSpPr>
        <p:spPr>
          <a:xfrm>
            <a:off x="7726680" y="2103120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Agentless aggregation vs. scan-and-agent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548640" y="2715768"/>
            <a:ext cx="5303520" cy="914400"/>
          </a:xfrm>
          <a:prstGeom prst="roundRect">
            <a:avLst>
              <a:gd name="adj" fmla="val 9000"/>
            </a:avLst>
          </a:prstGeom>
          <a:solidFill>
            <a:srgbClr val="F3F6FC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49808" y="2935224"/>
            <a:ext cx="475488" cy="475488"/>
          </a:xfrm>
          <a:prstGeom prst="ellipse">
            <a:avLst/>
          </a:prstGeom>
          <a:solidFill>
            <a:srgbClr val="141A3C"/>
          </a:solidFill>
          <a:ln/>
        </p:spPr>
      </p:sp>
      <p:sp>
        <p:nvSpPr>
          <p:cNvPr id="20" name="Text 16"/>
          <p:cNvSpPr/>
          <p:nvPr/>
        </p:nvSpPr>
        <p:spPr>
          <a:xfrm>
            <a:off x="749808" y="293522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D5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21" name="Shape 17"/>
          <p:cNvSpPr/>
          <p:nvPr/>
        </p:nvSpPr>
        <p:spPr>
          <a:xfrm>
            <a:off x="1417320" y="2971800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E7F6F3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3881" y="3068361"/>
            <a:ext cx="209215" cy="209215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965960" y="2862072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Coverage &amp; integrations</a:t>
            </a:r>
            <a:endParaRPr lang="en-US" sz="1550" dirty="0"/>
          </a:p>
        </p:txBody>
      </p:sp>
      <p:sp>
        <p:nvSpPr>
          <p:cNvPr id="24" name="Text 19"/>
          <p:cNvSpPr/>
          <p:nvPr/>
        </p:nvSpPr>
        <p:spPr>
          <a:xfrm>
            <a:off x="1965960" y="3218688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Asset-type scope and 1,400+ integrations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6309360" y="2715768"/>
            <a:ext cx="5303520" cy="914400"/>
          </a:xfrm>
          <a:prstGeom prst="roundRect">
            <a:avLst>
              <a:gd name="adj" fmla="val 9000"/>
            </a:avLst>
          </a:prstGeom>
          <a:solidFill>
            <a:srgbClr val="F3F6FC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6510528" y="2935224"/>
            <a:ext cx="475488" cy="475488"/>
          </a:xfrm>
          <a:prstGeom prst="ellipse">
            <a:avLst/>
          </a:prstGeom>
          <a:solidFill>
            <a:srgbClr val="141A3C"/>
          </a:solidFill>
          <a:ln/>
        </p:spPr>
      </p:sp>
      <p:sp>
        <p:nvSpPr>
          <p:cNvPr id="27" name="Text 22"/>
          <p:cNvSpPr/>
          <p:nvPr/>
        </p:nvSpPr>
        <p:spPr>
          <a:xfrm>
            <a:off x="6510528" y="293522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D5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28" name="Shape 23"/>
          <p:cNvSpPr/>
          <p:nvPr/>
        </p:nvSpPr>
        <p:spPr>
          <a:xfrm>
            <a:off x="7178040" y="2971800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E7F6F3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4601" y="3068361"/>
            <a:ext cx="209215" cy="209215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7726680" y="2862072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Capability comparison</a:t>
            </a:r>
            <a:endParaRPr lang="en-US" sz="1550" dirty="0"/>
          </a:p>
        </p:txBody>
      </p:sp>
      <p:sp>
        <p:nvSpPr>
          <p:cNvPr id="31" name="Text 25"/>
          <p:cNvSpPr/>
          <p:nvPr/>
        </p:nvSpPr>
        <p:spPr>
          <a:xfrm>
            <a:off x="7726680" y="3218688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table and the Axonius advantage</a:t>
            </a:r>
            <a:endParaRPr lang="en-US" sz="1150" dirty="0"/>
          </a:p>
        </p:txBody>
      </p:sp>
      <p:sp>
        <p:nvSpPr>
          <p:cNvPr id="32" name="Shape 26"/>
          <p:cNvSpPr/>
          <p:nvPr/>
        </p:nvSpPr>
        <p:spPr>
          <a:xfrm>
            <a:off x="548640" y="3831336"/>
            <a:ext cx="5303520" cy="914400"/>
          </a:xfrm>
          <a:prstGeom prst="roundRect">
            <a:avLst>
              <a:gd name="adj" fmla="val 9000"/>
            </a:avLst>
          </a:prstGeom>
          <a:solidFill>
            <a:srgbClr val="F3F6FC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749808" y="4050792"/>
            <a:ext cx="475488" cy="475488"/>
          </a:xfrm>
          <a:prstGeom prst="ellipse">
            <a:avLst/>
          </a:prstGeom>
          <a:solidFill>
            <a:srgbClr val="141A3C"/>
          </a:solidFill>
          <a:ln/>
        </p:spPr>
      </p:sp>
      <p:sp>
        <p:nvSpPr>
          <p:cNvPr id="34" name="Text 28"/>
          <p:cNvSpPr/>
          <p:nvPr/>
        </p:nvSpPr>
        <p:spPr>
          <a:xfrm>
            <a:off x="749808" y="405079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D5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700" dirty="0"/>
          </a:p>
        </p:txBody>
      </p:sp>
      <p:sp>
        <p:nvSpPr>
          <p:cNvPr id="35" name="Shape 29"/>
          <p:cNvSpPr/>
          <p:nvPr/>
        </p:nvSpPr>
        <p:spPr>
          <a:xfrm>
            <a:off x="1417320" y="4087368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E7F6F3"/>
          </a:solidFill>
          <a:ln/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13881" y="4183929"/>
            <a:ext cx="209215" cy="209215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1965960" y="3977640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Exposure &amp; automation</a:t>
            </a:r>
            <a:endParaRPr lang="en-US" sz="1550" dirty="0"/>
          </a:p>
        </p:txBody>
      </p:sp>
      <p:sp>
        <p:nvSpPr>
          <p:cNvPr id="38" name="Text 31"/>
          <p:cNvSpPr/>
          <p:nvPr/>
        </p:nvSpPr>
        <p:spPr>
          <a:xfrm>
            <a:off x="1965960" y="4334256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prioritization &amp; response</a:t>
            </a:r>
            <a:endParaRPr lang="en-US" sz="1150" dirty="0"/>
          </a:p>
        </p:txBody>
      </p:sp>
      <p:sp>
        <p:nvSpPr>
          <p:cNvPr id="39" name="Shape 32"/>
          <p:cNvSpPr/>
          <p:nvPr/>
        </p:nvSpPr>
        <p:spPr>
          <a:xfrm>
            <a:off x="6309360" y="3831336"/>
            <a:ext cx="5303520" cy="914400"/>
          </a:xfrm>
          <a:prstGeom prst="roundRect">
            <a:avLst>
              <a:gd name="adj" fmla="val 9000"/>
            </a:avLst>
          </a:prstGeom>
          <a:solidFill>
            <a:srgbClr val="F3F6FC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40" name="Shape 33"/>
          <p:cNvSpPr/>
          <p:nvPr/>
        </p:nvSpPr>
        <p:spPr>
          <a:xfrm>
            <a:off x="6510528" y="4050792"/>
            <a:ext cx="475488" cy="475488"/>
          </a:xfrm>
          <a:prstGeom prst="ellipse">
            <a:avLst/>
          </a:prstGeom>
          <a:solidFill>
            <a:srgbClr val="141A3C"/>
          </a:solidFill>
          <a:ln/>
        </p:spPr>
      </p:sp>
      <p:sp>
        <p:nvSpPr>
          <p:cNvPr id="41" name="Text 34"/>
          <p:cNvSpPr/>
          <p:nvPr/>
        </p:nvSpPr>
        <p:spPr>
          <a:xfrm>
            <a:off x="6510528" y="405079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D5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700" dirty="0"/>
          </a:p>
        </p:txBody>
      </p:sp>
      <p:sp>
        <p:nvSpPr>
          <p:cNvPr id="42" name="Shape 35"/>
          <p:cNvSpPr/>
          <p:nvPr/>
        </p:nvSpPr>
        <p:spPr>
          <a:xfrm>
            <a:off x="7178040" y="4087368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E7F6F3"/>
          </a:solidFill>
          <a:ln/>
        </p:spPr>
      </p:sp>
      <p:pic>
        <p:nvPicPr>
          <p:cNvPr id="4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74601" y="4183929"/>
            <a:ext cx="209215" cy="209215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7726680" y="3977640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 &amp; compliance</a:t>
            </a:r>
            <a:endParaRPr lang="en-US" sz="1550" dirty="0"/>
          </a:p>
        </p:txBody>
      </p:sp>
      <p:sp>
        <p:nvSpPr>
          <p:cNvPr id="45" name="Text 37"/>
          <p:cNvSpPr/>
          <p:nvPr/>
        </p:nvSpPr>
        <p:spPr>
          <a:xfrm>
            <a:off x="7726680" y="4334256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Time-to-value &amp; SAMA / NCA / NDMO alignment</a:t>
            </a:r>
            <a:endParaRPr lang="en-US" sz="1150" dirty="0"/>
          </a:p>
        </p:txBody>
      </p:sp>
      <p:sp>
        <p:nvSpPr>
          <p:cNvPr id="46" name="Shape 38"/>
          <p:cNvSpPr/>
          <p:nvPr/>
        </p:nvSpPr>
        <p:spPr>
          <a:xfrm>
            <a:off x="548640" y="4946904"/>
            <a:ext cx="5303520" cy="914400"/>
          </a:xfrm>
          <a:prstGeom prst="roundRect">
            <a:avLst>
              <a:gd name="adj" fmla="val 9000"/>
            </a:avLst>
          </a:prstGeom>
          <a:solidFill>
            <a:srgbClr val="F3F6FC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47" name="Shape 39"/>
          <p:cNvSpPr/>
          <p:nvPr/>
        </p:nvSpPr>
        <p:spPr>
          <a:xfrm>
            <a:off x="749808" y="5166360"/>
            <a:ext cx="475488" cy="475488"/>
          </a:xfrm>
          <a:prstGeom prst="ellipse">
            <a:avLst/>
          </a:prstGeom>
          <a:solidFill>
            <a:srgbClr val="141A3C"/>
          </a:solidFill>
          <a:ln/>
        </p:spPr>
      </p:sp>
      <p:sp>
        <p:nvSpPr>
          <p:cNvPr id="48" name="Text 40"/>
          <p:cNvSpPr/>
          <p:nvPr/>
        </p:nvSpPr>
        <p:spPr>
          <a:xfrm>
            <a:off x="749808" y="516636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D5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700" dirty="0"/>
          </a:p>
        </p:txBody>
      </p:sp>
      <p:sp>
        <p:nvSpPr>
          <p:cNvPr id="49" name="Shape 41"/>
          <p:cNvSpPr/>
          <p:nvPr/>
        </p:nvSpPr>
        <p:spPr>
          <a:xfrm>
            <a:off x="1417320" y="5202936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E7F6F3"/>
          </a:solidFill>
          <a:ln/>
        </p:spPr>
      </p:sp>
      <p:pic>
        <p:nvPicPr>
          <p:cNvPr id="5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13881" y="5299497"/>
            <a:ext cx="209215" cy="209215"/>
          </a:xfrm>
          <a:prstGeom prst="rect">
            <a:avLst/>
          </a:prstGeom>
        </p:spPr>
      </p:pic>
      <p:sp>
        <p:nvSpPr>
          <p:cNvPr id="51" name="Text 42"/>
          <p:cNvSpPr/>
          <p:nvPr/>
        </p:nvSpPr>
        <p:spPr>
          <a:xfrm>
            <a:off x="1965960" y="5093208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cost of blind spots</a:t>
            </a:r>
            <a:endParaRPr lang="en-US" sz="1550" dirty="0"/>
          </a:p>
        </p:txBody>
      </p:sp>
      <p:sp>
        <p:nvSpPr>
          <p:cNvPr id="52" name="Text 43"/>
          <p:cNvSpPr/>
          <p:nvPr/>
        </p:nvSpPr>
        <p:spPr>
          <a:xfrm>
            <a:off x="1965960" y="5449824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reconciled visibility changes outcomes</a:t>
            </a:r>
            <a:endParaRPr lang="en-US" sz="1150" dirty="0"/>
          </a:p>
        </p:txBody>
      </p:sp>
      <p:sp>
        <p:nvSpPr>
          <p:cNvPr id="53" name="Shape 44"/>
          <p:cNvSpPr/>
          <p:nvPr/>
        </p:nvSpPr>
        <p:spPr>
          <a:xfrm>
            <a:off x="6309360" y="4946904"/>
            <a:ext cx="5303520" cy="914400"/>
          </a:xfrm>
          <a:prstGeom prst="roundRect">
            <a:avLst>
              <a:gd name="adj" fmla="val 9000"/>
            </a:avLst>
          </a:prstGeom>
          <a:solidFill>
            <a:srgbClr val="F3F6FC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54" name="Shape 45"/>
          <p:cNvSpPr/>
          <p:nvPr/>
        </p:nvSpPr>
        <p:spPr>
          <a:xfrm>
            <a:off x="6510528" y="5166360"/>
            <a:ext cx="475488" cy="475488"/>
          </a:xfrm>
          <a:prstGeom prst="ellipse">
            <a:avLst/>
          </a:prstGeom>
          <a:solidFill>
            <a:srgbClr val="141A3C"/>
          </a:solidFill>
          <a:ln/>
        </p:spPr>
      </p:sp>
      <p:sp>
        <p:nvSpPr>
          <p:cNvPr id="55" name="Text 46"/>
          <p:cNvSpPr/>
          <p:nvPr/>
        </p:nvSpPr>
        <p:spPr>
          <a:xfrm>
            <a:off x="6510528" y="516636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D5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700" dirty="0"/>
          </a:p>
        </p:txBody>
      </p:sp>
      <p:sp>
        <p:nvSpPr>
          <p:cNvPr id="56" name="Shape 47"/>
          <p:cNvSpPr/>
          <p:nvPr/>
        </p:nvSpPr>
        <p:spPr>
          <a:xfrm>
            <a:off x="7178040" y="5202936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E7F6F3"/>
          </a:solidFill>
          <a:ln/>
        </p:spPr>
      </p:sp>
      <p:pic>
        <p:nvPicPr>
          <p:cNvPr id="5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74601" y="5299497"/>
            <a:ext cx="209215" cy="209215"/>
          </a:xfrm>
          <a:prstGeom prst="rect">
            <a:avLst/>
          </a:prstGeom>
        </p:spPr>
      </p:pic>
      <p:sp>
        <p:nvSpPr>
          <p:cNvPr id="58" name="Text 48"/>
          <p:cNvSpPr/>
          <p:nvPr/>
        </p:nvSpPr>
        <p:spPr>
          <a:xfrm>
            <a:off x="7726680" y="5093208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&amp; rollout</a:t>
            </a:r>
            <a:endParaRPr lang="en-US" sz="1550" dirty="0"/>
          </a:p>
        </p:txBody>
      </p:sp>
      <p:sp>
        <p:nvSpPr>
          <p:cNvPr id="59" name="Text 49"/>
          <p:cNvSpPr/>
          <p:nvPr/>
        </p:nvSpPr>
        <p:spPr>
          <a:xfrm>
            <a:off x="7726680" y="5449824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Scorecard, recommendation and rollout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Bottom line up front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50" b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Axonius and ManageEngine solve different problems. </a:t>
            </a:r>
            <a:pPr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ManageEngine is a strong IT-operations toolset. Axonius is a security-grade asset intelligence platform that sits </a:t>
            </a:r>
            <a:pPr indent="0" marL="0">
              <a:lnSpc>
                <a:spcPct val="112000"/>
              </a:lnSpc>
              <a:buNone/>
            </a:pPr>
            <a:r>
              <a:rPr lang="en-US" sz="15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</a:t>
            </a:r>
            <a:pPr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your existing tools — including ManageEngine — to reveal the coverage gaps and exposures no single scanner can see.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3505200" cy="3383280"/>
          </a:xfrm>
          <a:prstGeom prst="roundRect">
            <a:avLst>
              <a:gd name="adj" fmla="val 2703"/>
            </a:avLst>
          </a:prstGeom>
          <a:solidFill>
            <a:srgbClr val="F3F6FC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794AD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468880"/>
            <a:ext cx="3505200" cy="82296"/>
          </a:xfrm>
          <a:prstGeom prst="rect">
            <a:avLst/>
          </a:prstGeom>
          <a:solidFill>
            <a:srgbClr val="0F9488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2852928"/>
            <a:ext cx="731520" cy="731520"/>
          </a:xfrm>
          <a:prstGeom prst="roundRect">
            <a:avLst>
              <a:gd name="adj" fmla="val 50000"/>
            </a:avLst>
          </a:prstGeom>
          <a:solidFill>
            <a:srgbClr val="E7F6F3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965" y="3028493"/>
            <a:ext cx="380390" cy="38039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3767328"/>
            <a:ext cx="2773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reconciled source of truth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914400" y="4462272"/>
            <a:ext cx="2773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Axonius aggregates, de-duplicates and reconciles data from 1,400+ tools into a single asset model — not just the assets one scanner happens to reach.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328160" y="2468880"/>
            <a:ext cx="3505200" cy="3383280"/>
          </a:xfrm>
          <a:prstGeom prst="roundRect">
            <a:avLst>
              <a:gd name="adj" fmla="val 2703"/>
            </a:avLst>
          </a:prstGeom>
          <a:solidFill>
            <a:srgbClr val="F3F6FC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794AD">
                <a:alpha val="2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28160" y="2468880"/>
            <a:ext cx="3505200" cy="82296"/>
          </a:xfrm>
          <a:prstGeom prst="rect">
            <a:avLst/>
          </a:prstGeom>
          <a:solidFill>
            <a:srgbClr val="0F9488"/>
          </a:solidFill>
          <a:ln/>
        </p:spPr>
      </p:sp>
      <p:sp>
        <p:nvSpPr>
          <p:cNvPr id="13" name="Shape 10"/>
          <p:cNvSpPr/>
          <p:nvPr/>
        </p:nvSpPr>
        <p:spPr>
          <a:xfrm>
            <a:off x="4693920" y="2852928"/>
            <a:ext cx="731520" cy="731520"/>
          </a:xfrm>
          <a:prstGeom prst="roundRect">
            <a:avLst>
              <a:gd name="adj" fmla="val 50000"/>
            </a:avLst>
          </a:prstGeom>
          <a:solidFill>
            <a:srgbClr val="E7F6F3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9485" y="3028493"/>
            <a:ext cx="380390" cy="38039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93920" y="3767328"/>
            <a:ext cx="2773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finds what is missing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4693920" y="4462272"/>
            <a:ext cx="2773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Axonius answers “which assets have no EDR, no vuln scan, or aren’t in AD?” — the security coverage gaps ManageEngine structurally can’t surface.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8107680" y="2468880"/>
            <a:ext cx="3505200" cy="3383280"/>
          </a:xfrm>
          <a:prstGeom prst="roundRect">
            <a:avLst>
              <a:gd name="adj" fmla="val 2703"/>
            </a:avLst>
          </a:prstGeom>
          <a:solidFill>
            <a:srgbClr val="F3F6FC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794AD">
                <a:alpha val="2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107680" y="2468880"/>
            <a:ext cx="3505200" cy="82296"/>
          </a:xfrm>
          <a:prstGeom prst="rect">
            <a:avLst/>
          </a:prstGeom>
          <a:solidFill>
            <a:srgbClr val="0F9488"/>
          </a:solidFill>
          <a:ln/>
        </p:spPr>
      </p:sp>
      <p:sp>
        <p:nvSpPr>
          <p:cNvPr id="19" name="Shape 15"/>
          <p:cNvSpPr/>
          <p:nvPr/>
        </p:nvSpPr>
        <p:spPr>
          <a:xfrm>
            <a:off x="8473440" y="2852928"/>
            <a:ext cx="731520" cy="731520"/>
          </a:xfrm>
          <a:prstGeom prst="roundRect">
            <a:avLst>
              <a:gd name="adj" fmla="val 50000"/>
            </a:avLst>
          </a:prstGeom>
          <a:solidFill>
            <a:srgbClr val="E7F6F3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9005" y="3028493"/>
            <a:ext cx="380390" cy="38039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473440" y="3767328"/>
            <a:ext cx="2773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used together</a:t>
            </a:r>
            <a:endParaRPr lang="en-US" sz="1800" dirty="0"/>
          </a:p>
        </p:txBody>
      </p:sp>
      <p:sp>
        <p:nvSpPr>
          <p:cNvPr id="22" name="Text 17"/>
          <p:cNvSpPr/>
          <p:nvPr/>
        </p:nvSpPr>
        <p:spPr>
          <a:xfrm>
            <a:off x="8473440" y="4462272"/>
            <a:ext cx="2773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ManageEngine for endpoint ops, licensing and service desk. Feed it into Axonius as the security system of record. Different jobs, complementary.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tools, two different jobs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them head-to-head only makes sense once you see they were built to answer different questions.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303520" cy="43434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9050">
            <a:solidFill>
              <a:srgbClr val="0F9488"/>
            </a:solidFill>
            <a:prstDash val="solid"/>
          </a:ln>
          <a:effectLst>
            <a:outerShdw sx="100000" sy="100000" kx="0" ky="0" algn="bl" rotWithShape="0" blurRad="114300" dist="38100" dir="5400000">
              <a:srgbClr val="8794AD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920240"/>
            <a:ext cx="5303520" cy="1051560"/>
          </a:xfrm>
          <a:prstGeom prst="roundRect">
            <a:avLst>
              <a:gd name="adj" fmla="val 8696"/>
            </a:avLst>
          </a:prstGeom>
          <a:solidFill>
            <a:srgbClr val="0F9488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468880"/>
            <a:ext cx="5303520" cy="502920"/>
          </a:xfrm>
          <a:prstGeom prst="rect">
            <a:avLst/>
          </a:prstGeom>
          <a:solidFill>
            <a:srgbClr val="0F9488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2176272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463" y="2312335"/>
            <a:ext cx="294803" cy="294803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45920" y="2066544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Axonius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645920" y="248716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3F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CAASM / cyber asset intelligence — a security tool</a:t>
            </a:r>
            <a:endParaRPr lang="en-US" sz="12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3282696"/>
            <a:ext cx="21945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98448" y="3191256"/>
            <a:ext cx="4251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“Are all my assets covered by the controls they should be?”</a:t>
            </a:r>
            <a:endParaRPr lang="en-US" sz="13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3886200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98448" y="3794760"/>
            <a:ext cx="4251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Aggregates existing tools; owns no agents of its own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4489704"/>
            <a:ext cx="219456" cy="21945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298448" y="4398264"/>
            <a:ext cx="4251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Devices, identities, SaaS, cloud, software, IoT/OT, controls</a:t>
            </a:r>
            <a:endParaRPr lang="en-US" sz="13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" y="5093208"/>
            <a:ext cx="219456" cy="219456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298448" y="5001768"/>
            <a:ext cx="4251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coverage gaps, rogue assets and exposure</a:t>
            </a:r>
            <a:endParaRPr lang="en-US" sz="130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688" y="5696712"/>
            <a:ext cx="219456" cy="219456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1298448" y="5605272"/>
            <a:ext cx="4251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automated, cross-tool response and enforcement</a:t>
            </a:r>
            <a:endParaRPr lang="en-US" sz="1300" dirty="0"/>
          </a:p>
        </p:txBody>
      </p:sp>
      <p:sp>
        <p:nvSpPr>
          <p:cNvPr id="22" name="Shape 14"/>
          <p:cNvSpPr/>
          <p:nvPr/>
        </p:nvSpPr>
        <p:spPr>
          <a:xfrm>
            <a:off x="6309360" y="1920240"/>
            <a:ext cx="5303520" cy="43434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9050">
            <a:solidFill>
              <a:srgbClr val="B9791A"/>
            </a:solidFill>
            <a:prstDash val="solid"/>
          </a:ln>
          <a:effectLst>
            <a:outerShdw sx="100000" sy="100000" kx="0" ky="0" algn="bl" rotWithShape="0" blurRad="114300" dist="38100" dir="5400000">
              <a:srgbClr val="8794AD">
                <a:alpha val="28000"/>
              </a:srgbClr>
            </a:outerShdw>
          </a:effectLst>
        </p:spPr>
      </p:sp>
      <p:sp>
        <p:nvSpPr>
          <p:cNvPr id="23" name="Shape 15"/>
          <p:cNvSpPr/>
          <p:nvPr/>
        </p:nvSpPr>
        <p:spPr>
          <a:xfrm>
            <a:off x="6309360" y="1920240"/>
            <a:ext cx="5303520" cy="1051560"/>
          </a:xfrm>
          <a:prstGeom prst="roundRect">
            <a:avLst>
              <a:gd name="adj" fmla="val 8696"/>
            </a:avLst>
          </a:prstGeom>
          <a:solidFill>
            <a:srgbClr val="B9791A"/>
          </a:solidFill>
          <a:ln/>
        </p:spPr>
      </p:sp>
      <p:sp>
        <p:nvSpPr>
          <p:cNvPr id="24" name="Shape 16"/>
          <p:cNvSpPr/>
          <p:nvPr/>
        </p:nvSpPr>
        <p:spPr>
          <a:xfrm>
            <a:off x="6309360" y="2468880"/>
            <a:ext cx="5303520" cy="502920"/>
          </a:xfrm>
          <a:prstGeom prst="rect">
            <a:avLst/>
          </a:prstGeom>
          <a:solidFill>
            <a:srgbClr val="B9791A"/>
          </a:solidFill>
          <a:ln/>
        </p:spPr>
      </p:sp>
      <p:sp>
        <p:nvSpPr>
          <p:cNvPr id="25" name="Shape 17"/>
          <p:cNvSpPr/>
          <p:nvPr/>
        </p:nvSpPr>
        <p:spPr>
          <a:xfrm>
            <a:off x="6675120" y="2176272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11183" y="2312335"/>
            <a:ext cx="294803" cy="294803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7406640" y="2066544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ManageEngine</a:t>
            </a:r>
            <a:endParaRPr lang="en-US" sz="2200" dirty="0"/>
          </a:p>
        </p:txBody>
      </p:sp>
      <p:sp>
        <p:nvSpPr>
          <p:cNvPr id="28" name="Text 19"/>
          <p:cNvSpPr/>
          <p:nvPr/>
        </p:nvSpPr>
        <p:spPr>
          <a:xfrm>
            <a:off x="7406640" y="248716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3F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ITAM + UEM + ITSM — an IT operations suite</a:t>
            </a:r>
            <a:endParaRPr lang="en-US" sz="1250" dirty="0"/>
          </a:p>
        </p:txBody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93408" y="3282696"/>
            <a:ext cx="219456" cy="219456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7059168" y="3191256"/>
            <a:ext cx="4251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hardware and software do we own, and how do we run it?”</a:t>
            </a:r>
            <a:endParaRPr lang="en-US" sz="1300" dirty="0"/>
          </a:p>
        </p:txBody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93408" y="3886200"/>
            <a:ext cx="219456" cy="219456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7059168" y="3794760"/>
            <a:ext cx="4251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Discovers via its own agents + network/SNMP scans</a:t>
            </a:r>
            <a:endParaRPr lang="en-US" sz="1300" dirty="0"/>
          </a:p>
        </p:txBody>
      </p:sp>
      <p:pic>
        <p:nvPicPr>
          <p:cNvPr id="3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93408" y="4489704"/>
            <a:ext cx="219456" cy="219456"/>
          </a:xfrm>
          <a:prstGeom prst="rect">
            <a:avLst/>
          </a:prstGeom>
        </p:spPr>
      </p:pic>
      <p:sp>
        <p:nvSpPr>
          <p:cNvPr id="34" name="Text 22"/>
          <p:cNvSpPr/>
          <p:nvPr/>
        </p:nvSpPr>
        <p:spPr>
          <a:xfrm>
            <a:off x="7059168" y="4398264"/>
            <a:ext cx="4251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Hardware, software, network devices — IT assets</a:t>
            </a:r>
            <a:endParaRPr lang="en-US" sz="1300" dirty="0"/>
          </a:p>
        </p:txBody>
      </p:sp>
      <p:pic>
        <p:nvPicPr>
          <p:cNvPr id="3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93408" y="5093208"/>
            <a:ext cx="219456" cy="219456"/>
          </a:xfrm>
          <a:prstGeom prst="rect">
            <a:avLst/>
          </a:prstGeom>
        </p:spPr>
      </p:pic>
      <p:sp>
        <p:nvSpPr>
          <p:cNvPr id="36" name="Text 23"/>
          <p:cNvSpPr/>
          <p:nvPr/>
        </p:nvSpPr>
        <p:spPr>
          <a:xfrm>
            <a:off x="7059168" y="5001768"/>
            <a:ext cx="4251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Lifecycle, licensing, procurement, warranty, CMDB</a:t>
            </a:r>
            <a:endParaRPr lang="en-US" sz="1300" dirty="0"/>
          </a:p>
        </p:txBody>
      </p:sp>
      <p:pic>
        <p:nvPicPr>
          <p:cNvPr id="37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93408" y="5696712"/>
            <a:ext cx="219456" cy="219456"/>
          </a:xfrm>
          <a:prstGeom prst="rect">
            <a:avLst/>
          </a:prstGeom>
        </p:spPr>
      </p:pic>
      <p:sp>
        <p:nvSpPr>
          <p:cNvPr id="38" name="Text 24"/>
          <p:cNvSpPr/>
          <p:nvPr/>
        </p:nvSpPr>
        <p:spPr>
          <a:xfrm>
            <a:off x="7059168" y="5605272"/>
            <a:ext cx="4251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Patching, software deployment, remote control, help desk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they work: aggregate vs. scan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03520" cy="4709160"/>
          </a:xfrm>
          <a:prstGeom prst="roundRect">
            <a:avLst>
              <a:gd name="adj" fmla="val 1942"/>
            </a:avLst>
          </a:prstGeom>
          <a:solidFill>
            <a:srgbClr val="E7F6F3"/>
          </a:solidFill>
          <a:ln w="12700">
            <a:solidFill>
              <a:srgbClr val="0F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856232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AXONIUS — AGENTLESS AGGREGATION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68680" y="2377440"/>
            <a:ext cx="224028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BFE3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37744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EDR / AV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91840" y="2377440"/>
            <a:ext cx="224028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BFE3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37560" y="237744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(AWS·Azure·GCP)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68680" y="2889504"/>
            <a:ext cx="224028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BFE3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889504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 scanners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91840" y="2889504"/>
            <a:ext cx="224028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BFE3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2889504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/ Identity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68680" y="3401568"/>
            <a:ext cx="224028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BFE3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401568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MDM / UEM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91840" y="3401568"/>
            <a:ext cx="224028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BFE3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37560" y="3401568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apps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68680" y="3913632"/>
            <a:ext cx="224028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BFE3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3913632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/ DHCP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91840" y="3913632"/>
            <a:ext cx="224028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5875">
            <a:solidFill>
              <a:srgbClr val="B979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37560" y="3913632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97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ManageEngine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68680" y="4535424"/>
            <a:ext cx="4663440" cy="566928"/>
          </a:xfrm>
          <a:prstGeom prst="roundRect">
            <a:avLst>
              <a:gd name="adj" fmla="val 12903"/>
            </a:avLst>
          </a:prstGeom>
          <a:solidFill>
            <a:srgbClr val="0F9488"/>
          </a:solidFill>
          <a:ln/>
          <a:effectLst>
            <a:outerShdw sx="100000" sy="100000" kx="0" ky="0" algn="bl" rotWithShape="0" blurRad="76200" dist="25400" dir="5400000">
              <a:srgbClr val="8794AD">
                <a:alpha val="28000"/>
              </a:srgbClr>
            </a:outerShdw>
          </a:effectLst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4681728"/>
            <a:ext cx="274320" cy="27432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417320" y="4535424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· de-duplicate · reconcile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868680" y="5248656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One unified, always-current asset model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868680" y="5632704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new agents to deploy — it reads the tools you already own.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309360" y="1600200"/>
            <a:ext cx="5303520" cy="4709160"/>
          </a:xfrm>
          <a:prstGeom prst="roundRect">
            <a:avLst>
              <a:gd name="adj" fmla="val 1942"/>
            </a:avLst>
          </a:prstGeom>
          <a:solidFill>
            <a:srgbClr val="FBF1E0"/>
          </a:solidFill>
          <a:ln w="12700">
            <a:solidFill>
              <a:srgbClr val="B9791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629400" y="1856232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B97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MANAGEENGINE — SCAN &amp; AGENT BASED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629400" y="2468880"/>
            <a:ext cx="46634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AD6B0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775704" y="2587752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FBF1E0"/>
          </a:solidFill>
          <a:ln/>
        </p:spPr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6654" y="2688702"/>
            <a:ext cx="218724" cy="218724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7342632" y="2468880"/>
            <a:ext cx="3886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agents + run network / SNMP / WMI scans</a:t>
            </a:r>
            <a:endParaRPr lang="en-US" sz="1250" dirty="0"/>
          </a:p>
        </p:txBody>
      </p:sp>
      <p:sp>
        <p:nvSpPr>
          <p:cNvPr id="33" name="Text 29"/>
          <p:cNvSpPr/>
          <p:nvPr/>
        </p:nvSpPr>
        <p:spPr>
          <a:xfrm>
            <a:off x="6629400" y="3108960"/>
            <a:ext cx="4663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97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34" name="Shape 30"/>
          <p:cNvSpPr/>
          <p:nvPr/>
        </p:nvSpPr>
        <p:spPr>
          <a:xfrm>
            <a:off x="6629400" y="3383280"/>
            <a:ext cx="46634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AD6B0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6775704" y="3502152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FBF1E0"/>
          </a:solidFill>
          <a:ln/>
        </p:spPr>
      </p:sp>
      <p:pic>
        <p:nvPicPr>
          <p:cNvPr id="3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6654" y="3603102"/>
            <a:ext cx="218724" cy="218724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7342632" y="3383280"/>
            <a:ext cx="3886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the endpoints &amp; devices it can directly reach</a:t>
            </a:r>
            <a:endParaRPr lang="en-US" sz="1250" dirty="0"/>
          </a:p>
        </p:txBody>
      </p:sp>
      <p:sp>
        <p:nvSpPr>
          <p:cNvPr id="38" name="Text 33"/>
          <p:cNvSpPr/>
          <p:nvPr/>
        </p:nvSpPr>
        <p:spPr>
          <a:xfrm>
            <a:off x="6629400" y="4023360"/>
            <a:ext cx="4663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97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39" name="Shape 34"/>
          <p:cNvSpPr/>
          <p:nvPr/>
        </p:nvSpPr>
        <p:spPr>
          <a:xfrm>
            <a:off x="6629400" y="4297680"/>
            <a:ext cx="46634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AD6B0"/>
            </a:solidFill>
            <a:prstDash val="solid"/>
          </a:ln>
        </p:spPr>
      </p:sp>
      <p:sp>
        <p:nvSpPr>
          <p:cNvPr id="40" name="Shape 35"/>
          <p:cNvSpPr/>
          <p:nvPr/>
        </p:nvSpPr>
        <p:spPr>
          <a:xfrm>
            <a:off x="6775704" y="4416552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FBF1E0"/>
          </a:solidFill>
          <a:ln/>
        </p:spPr>
      </p:sp>
      <p:pic>
        <p:nvPicPr>
          <p:cNvPr id="4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6654" y="4517502"/>
            <a:ext cx="218724" cy="218724"/>
          </a:xfrm>
          <a:prstGeom prst="rect">
            <a:avLst/>
          </a:prstGeom>
        </p:spPr>
      </p:pic>
      <p:sp>
        <p:nvSpPr>
          <p:cNvPr id="42" name="Text 36"/>
          <p:cNvSpPr/>
          <p:nvPr/>
        </p:nvSpPr>
        <p:spPr>
          <a:xfrm>
            <a:off x="7342632" y="4297680"/>
            <a:ext cx="3886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hardware / software inventory &amp; CMDB</a:t>
            </a:r>
            <a:endParaRPr lang="en-US" sz="1250" dirty="0"/>
          </a:p>
        </p:txBody>
      </p:sp>
      <p:sp>
        <p:nvSpPr>
          <p:cNvPr id="43" name="Text 37"/>
          <p:cNvSpPr/>
          <p:nvPr/>
        </p:nvSpPr>
        <p:spPr>
          <a:xfrm>
            <a:off x="6629400" y="4937760"/>
            <a:ext cx="4663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97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44" name="Shape 38"/>
          <p:cNvSpPr/>
          <p:nvPr/>
        </p:nvSpPr>
        <p:spPr>
          <a:xfrm>
            <a:off x="6629400" y="5212080"/>
            <a:ext cx="46634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AD6B0"/>
            </a:solidFill>
            <a:prstDash val="solid"/>
          </a:ln>
        </p:spPr>
      </p:sp>
      <p:sp>
        <p:nvSpPr>
          <p:cNvPr id="45" name="Shape 39"/>
          <p:cNvSpPr/>
          <p:nvPr/>
        </p:nvSpPr>
        <p:spPr>
          <a:xfrm>
            <a:off x="6775704" y="5330952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FBF1E0"/>
          </a:solidFill>
          <a:ln/>
        </p:spPr>
      </p:sp>
      <p:pic>
        <p:nvPicPr>
          <p:cNvPr id="4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76654" y="5431902"/>
            <a:ext cx="218724" cy="218724"/>
          </a:xfrm>
          <a:prstGeom prst="rect">
            <a:avLst/>
          </a:prstGeom>
        </p:spPr>
      </p:pic>
      <p:sp>
        <p:nvSpPr>
          <p:cNvPr id="47" name="Text 40"/>
          <p:cNvSpPr/>
          <p:nvPr/>
        </p:nvSpPr>
        <p:spPr>
          <a:xfrm>
            <a:off x="7342632" y="5212080"/>
            <a:ext cx="3886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lifecycle: patch, license, procure, retire</a:t>
            </a:r>
            <a:endParaRPr lang="en-US" sz="1250" dirty="0"/>
          </a:p>
        </p:txBody>
      </p:sp>
      <p:sp>
        <p:nvSpPr>
          <p:cNvPr id="48" name="Text 41"/>
          <p:cNvSpPr/>
          <p:nvPr/>
        </p:nvSpPr>
        <p:spPr>
          <a:xfrm>
            <a:off x="6629400" y="58521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B97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what it scans — not what other security tools see.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counts as an “asset”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Axonius reconciles far more than IT hardware — 45 asset types across seven domains in one model.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7040880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9050">
            <a:solidFill>
              <a:srgbClr val="0F9488"/>
            </a:solidFill>
            <a:prstDash val="solid"/>
          </a:ln>
          <a:effectLst>
            <a:outerShdw sx="100000" sy="100000" kx="0" ky="0" algn="bl" rotWithShape="0" blurRad="114300" dist="38100" dir="5400000">
              <a:srgbClr val="8794AD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221992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AXONIUS — UNIFIED ASSET FABRIC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14400" y="2697480"/>
            <a:ext cx="1371600" cy="914400"/>
          </a:xfrm>
          <a:prstGeom prst="roundRect">
            <a:avLst>
              <a:gd name="adj" fmla="val 8000"/>
            </a:avLst>
          </a:prstGeom>
          <a:solidFill>
            <a:srgbClr val="E7F6F3"/>
          </a:solidFill>
          <a:ln/>
        </p:spPr>
      </p:sp>
      <p:sp>
        <p:nvSpPr>
          <p:cNvPr id="8" name="Shape 6"/>
          <p:cNvSpPr/>
          <p:nvPr/>
        </p:nvSpPr>
        <p:spPr>
          <a:xfrm>
            <a:off x="1344168" y="2843784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7063" y="2966679"/>
            <a:ext cx="266273" cy="266273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335584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2560320" y="2697480"/>
            <a:ext cx="1371600" cy="914400"/>
          </a:xfrm>
          <a:prstGeom prst="roundRect">
            <a:avLst>
              <a:gd name="adj" fmla="val 8000"/>
            </a:avLst>
          </a:prstGeom>
          <a:solidFill>
            <a:srgbClr val="E7F6F3"/>
          </a:solidFill>
          <a:ln/>
        </p:spPr>
      </p:sp>
      <p:sp>
        <p:nvSpPr>
          <p:cNvPr id="12" name="Shape 9"/>
          <p:cNvSpPr/>
          <p:nvPr/>
        </p:nvSpPr>
        <p:spPr>
          <a:xfrm>
            <a:off x="2990088" y="2843784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2983" y="2966679"/>
            <a:ext cx="266273" cy="26627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560320" y="335584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Identities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4206240" y="2697480"/>
            <a:ext cx="1371600" cy="914400"/>
          </a:xfrm>
          <a:prstGeom prst="roundRect">
            <a:avLst>
              <a:gd name="adj" fmla="val 8000"/>
            </a:avLst>
          </a:prstGeom>
          <a:solidFill>
            <a:srgbClr val="E7F6F3"/>
          </a:solidFill>
          <a:ln/>
        </p:spPr>
      </p:sp>
      <p:sp>
        <p:nvSpPr>
          <p:cNvPr id="16" name="Shape 12"/>
          <p:cNvSpPr/>
          <p:nvPr/>
        </p:nvSpPr>
        <p:spPr>
          <a:xfrm>
            <a:off x="4636008" y="2843784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8903" y="2966679"/>
            <a:ext cx="266273" cy="26627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206240" y="335584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apps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852160" y="2697480"/>
            <a:ext cx="1371600" cy="914400"/>
          </a:xfrm>
          <a:prstGeom prst="roundRect">
            <a:avLst>
              <a:gd name="adj" fmla="val 8000"/>
            </a:avLst>
          </a:prstGeom>
          <a:solidFill>
            <a:srgbClr val="E7F6F3"/>
          </a:solidFill>
          <a:ln/>
        </p:spPr>
      </p:sp>
      <p:sp>
        <p:nvSpPr>
          <p:cNvPr id="20" name="Shape 15"/>
          <p:cNvSpPr/>
          <p:nvPr/>
        </p:nvSpPr>
        <p:spPr>
          <a:xfrm>
            <a:off x="6281928" y="2843784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4823" y="2966679"/>
            <a:ext cx="266273" cy="26627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852160" y="335584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914400" y="3840480"/>
            <a:ext cx="1371600" cy="914400"/>
          </a:xfrm>
          <a:prstGeom prst="roundRect">
            <a:avLst>
              <a:gd name="adj" fmla="val 8000"/>
            </a:avLst>
          </a:prstGeom>
          <a:solidFill>
            <a:srgbClr val="E7F6F3"/>
          </a:solidFill>
          <a:ln/>
        </p:spPr>
      </p:sp>
      <p:sp>
        <p:nvSpPr>
          <p:cNvPr id="24" name="Shape 18"/>
          <p:cNvSpPr/>
          <p:nvPr/>
        </p:nvSpPr>
        <p:spPr>
          <a:xfrm>
            <a:off x="1344168" y="3986784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7063" y="4109679"/>
            <a:ext cx="266273" cy="266273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14400" y="449884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1150" dirty="0"/>
          </a:p>
        </p:txBody>
      </p:sp>
      <p:sp>
        <p:nvSpPr>
          <p:cNvPr id="27" name="Shape 20"/>
          <p:cNvSpPr/>
          <p:nvPr/>
        </p:nvSpPr>
        <p:spPr>
          <a:xfrm>
            <a:off x="2560320" y="3840480"/>
            <a:ext cx="1371600" cy="914400"/>
          </a:xfrm>
          <a:prstGeom prst="roundRect">
            <a:avLst>
              <a:gd name="adj" fmla="val 8000"/>
            </a:avLst>
          </a:prstGeom>
          <a:solidFill>
            <a:srgbClr val="E7F6F3"/>
          </a:solidFill>
          <a:ln/>
        </p:spPr>
      </p:sp>
      <p:sp>
        <p:nvSpPr>
          <p:cNvPr id="28" name="Shape 21"/>
          <p:cNvSpPr/>
          <p:nvPr/>
        </p:nvSpPr>
        <p:spPr>
          <a:xfrm>
            <a:off x="2990088" y="3986784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12983" y="4109679"/>
            <a:ext cx="266273" cy="266273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2560320" y="449884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</a:t>
            </a:r>
            <a:endParaRPr lang="en-US" sz="1150" dirty="0"/>
          </a:p>
        </p:txBody>
      </p:sp>
      <p:sp>
        <p:nvSpPr>
          <p:cNvPr id="31" name="Shape 23"/>
          <p:cNvSpPr/>
          <p:nvPr/>
        </p:nvSpPr>
        <p:spPr>
          <a:xfrm>
            <a:off x="4206240" y="3840480"/>
            <a:ext cx="1371600" cy="914400"/>
          </a:xfrm>
          <a:prstGeom prst="roundRect">
            <a:avLst>
              <a:gd name="adj" fmla="val 8000"/>
            </a:avLst>
          </a:prstGeom>
          <a:solidFill>
            <a:srgbClr val="E7F6F3"/>
          </a:solidFill>
          <a:ln/>
        </p:spPr>
      </p:sp>
      <p:sp>
        <p:nvSpPr>
          <p:cNvPr id="32" name="Shape 24"/>
          <p:cNvSpPr/>
          <p:nvPr/>
        </p:nvSpPr>
        <p:spPr>
          <a:xfrm>
            <a:off x="4636008" y="3986784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8903" y="4109679"/>
            <a:ext cx="266273" cy="266273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4206240" y="449884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</a:t>
            </a:r>
            <a:endParaRPr lang="en-US" sz="1150" dirty="0"/>
          </a:p>
        </p:txBody>
      </p:sp>
      <p:sp>
        <p:nvSpPr>
          <p:cNvPr id="35" name="Shape 26"/>
          <p:cNvSpPr/>
          <p:nvPr/>
        </p:nvSpPr>
        <p:spPr>
          <a:xfrm>
            <a:off x="5852160" y="3840480"/>
            <a:ext cx="1371600" cy="914400"/>
          </a:xfrm>
          <a:prstGeom prst="roundRect">
            <a:avLst>
              <a:gd name="adj" fmla="val 8000"/>
            </a:avLst>
          </a:prstGeom>
          <a:solidFill>
            <a:srgbClr val="E7F6F3"/>
          </a:solidFill>
          <a:ln/>
        </p:spPr>
      </p:sp>
      <p:sp>
        <p:nvSpPr>
          <p:cNvPr id="36" name="Shape 27"/>
          <p:cNvSpPr/>
          <p:nvPr/>
        </p:nvSpPr>
        <p:spPr>
          <a:xfrm>
            <a:off x="6281928" y="3986784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pic>
        <p:nvPicPr>
          <p:cNvPr id="3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4823" y="4109679"/>
            <a:ext cx="266273" cy="266273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5852160" y="449884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</a:t>
            </a:r>
            <a:endParaRPr lang="en-US" sz="1150" dirty="0"/>
          </a:p>
        </p:txBody>
      </p:sp>
      <p:sp>
        <p:nvSpPr>
          <p:cNvPr id="39" name="Text 29"/>
          <p:cNvSpPr/>
          <p:nvPr/>
        </p:nvSpPr>
        <p:spPr>
          <a:xfrm>
            <a:off x="914400" y="5486400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</a:t>
            </a:r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</a:rPr>
              <a:t>  asset types, one reconciled record each</a:t>
            </a:r>
            <a:endParaRPr lang="en-US" sz="3000" dirty="0"/>
          </a:p>
        </p:txBody>
      </p:sp>
      <p:sp>
        <p:nvSpPr>
          <p:cNvPr id="40" name="Shape 30"/>
          <p:cNvSpPr/>
          <p:nvPr/>
        </p:nvSpPr>
        <p:spPr>
          <a:xfrm>
            <a:off x="7955280" y="1965960"/>
            <a:ext cx="3657600" cy="4160520"/>
          </a:xfrm>
          <a:prstGeom prst="roundRect">
            <a:avLst>
              <a:gd name="adj" fmla="val 2500"/>
            </a:avLst>
          </a:prstGeom>
          <a:solidFill>
            <a:srgbClr val="FBF1E0"/>
          </a:solidFill>
          <a:ln w="19050">
            <a:solidFill>
              <a:srgbClr val="B9791A"/>
            </a:solidFill>
            <a:prstDash val="solid"/>
          </a:ln>
        </p:spPr>
      </p:sp>
      <p:sp>
        <p:nvSpPr>
          <p:cNvPr id="41" name="Text 31"/>
          <p:cNvSpPr/>
          <p:nvPr/>
        </p:nvSpPr>
        <p:spPr>
          <a:xfrm>
            <a:off x="8275320" y="222199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80" kern="0" dirty="0">
                <a:solidFill>
                  <a:srgbClr val="B97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MANAGEENGINE — IT ASSET SCOPE</a:t>
            </a:r>
            <a:endParaRPr lang="en-US" sz="1200" dirty="0"/>
          </a:p>
        </p:txBody>
      </p:sp>
      <p:sp>
        <p:nvSpPr>
          <p:cNvPr id="42" name="Shape 32"/>
          <p:cNvSpPr/>
          <p:nvPr/>
        </p:nvSpPr>
        <p:spPr>
          <a:xfrm>
            <a:off x="8275320" y="2743200"/>
            <a:ext cx="3017520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EAD6B0"/>
            </a:solidFill>
            <a:prstDash val="solid"/>
          </a:ln>
        </p:spPr>
      </p:sp>
      <p:sp>
        <p:nvSpPr>
          <p:cNvPr id="43" name="Shape 33"/>
          <p:cNvSpPr/>
          <p:nvPr/>
        </p:nvSpPr>
        <p:spPr>
          <a:xfrm>
            <a:off x="8412480" y="2862072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BF1E0"/>
          </a:solidFill>
          <a:ln/>
        </p:spPr>
      </p:sp>
      <p:pic>
        <p:nvPicPr>
          <p:cNvPr id="4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00262" y="2949854"/>
            <a:ext cx="190195" cy="190195"/>
          </a:xfrm>
          <a:prstGeom prst="rect">
            <a:avLst/>
          </a:prstGeom>
        </p:spPr>
      </p:pic>
      <p:sp>
        <p:nvSpPr>
          <p:cNvPr id="45" name="Text 34"/>
          <p:cNvSpPr/>
          <p:nvPr/>
        </p:nvSpPr>
        <p:spPr>
          <a:xfrm>
            <a:off x="8887968" y="2743200"/>
            <a:ext cx="2468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Workstations &amp; servers</a:t>
            </a:r>
            <a:endParaRPr lang="en-US" sz="1150" dirty="0"/>
          </a:p>
        </p:txBody>
      </p:sp>
      <p:sp>
        <p:nvSpPr>
          <p:cNvPr id="46" name="Shape 35"/>
          <p:cNvSpPr/>
          <p:nvPr/>
        </p:nvSpPr>
        <p:spPr>
          <a:xfrm>
            <a:off x="8275320" y="3401568"/>
            <a:ext cx="3017520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EAD6B0"/>
            </a:solidFill>
            <a:prstDash val="solid"/>
          </a:ln>
        </p:spPr>
      </p:sp>
      <p:sp>
        <p:nvSpPr>
          <p:cNvPr id="47" name="Shape 36"/>
          <p:cNvSpPr/>
          <p:nvPr/>
        </p:nvSpPr>
        <p:spPr>
          <a:xfrm>
            <a:off x="8412480" y="352044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BF1E0"/>
          </a:solidFill>
          <a:ln/>
        </p:spPr>
      </p:sp>
      <p:pic>
        <p:nvPicPr>
          <p:cNvPr id="4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00262" y="3608222"/>
            <a:ext cx="190195" cy="190195"/>
          </a:xfrm>
          <a:prstGeom prst="rect">
            <a:avLst/>
          </a:prstGeom>
        </p:spPr>
      </p:pic>
      <p:sp>
        <p:nvSpPr>
          <p:cNvPr id="49" name="Text 37"/>
          <p:cNvSpPr/>
          <p:nvPr/>
        </p:nvSpPr>
        <p:spPr>
          <a:xfrm>
            <a:off x="8887968" y="3401568"/>
            <a:ext cx="2468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devices (SNMP)</a:t>
            </a:r>
            <a:endParaRPr lang="en-US" sz="1150" dirty="0"/>
          </a:p>
        </p:txBody>
      </p:sp>
      <p:sp>
        <p:nvSpPr>
          <p:cNvPr id="50" name="Shape 38"/>
          <p:cNvSpPr/>
          <p:nvPr/>
        </p:nvSpPr>
        <p:spPr>
          <a:xfrm>
            <a:off x="8275320" y="4059936"/>
            <a:ext cx="3017520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EAD6B0"/>
            </a:solidFill>
            <a:prstDash val="solid"/>
          </a:ln>
        </p:spPr>
      </p:sp>
      <p:sp>
        <p:nvSpPr>
          <p:cNvPr id="51" name="Shape 39"/>
          <p:cNvSpPr/>
          <p:nvPr/>
        </p:nvSpPr>
        <p:spPr>
          <a:xfrm>
            <a:off x="8412480" y="417880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BF1E0"/>
          </a:solidFill>
          <a:ln/>
        </p:spPr>
      </p:sp>
      <p:pic>
        <p:nvPicPr>
          <p:cNvPr id="5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00262" y="4266590"/>
            <a:ext cx="190195" cy="190195"/>
          </a:xfrm>
          <a:prstGeom prst="rect">
            <a:avLst/>
          </a:prstGeom>
        </p:spPr>
      </p:pic>
      <p:sp>
        <p:nvSpPr>
          <p:cNvPr id="53" name="Text 40"/>
          <p:cNvSpPr/>
          <p:nvPr/>
        </p:nvSpPr>
        <p:spPr>
          <a:xfrm>
            <a:off x="8887968" y="4059936"/>
            <a:ext cx="2468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Installed software &amp; licenses</a:t>
            </a:r>
            <a:endParaRPr lang="en-US" sz="1150" dirty="0"/>
          </a:p>
        </p:txBody>
      </p:sp>
      <p:sp>
        <p:nvSpPr>
          <p:cNvPr id="54" name="Shape 41"/>
          <p:cNvSpPr/>
          <p:nvPr/>
        </p:nvSpPr>
        <p:spPr>
          <a:xfrm>
            <a:off x="8275320" y="4718304"/>
            <a:ext cx="3017520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EAD6B0"/>
            </a:solidFill>
            <a:prstDash val="solid"/>
          </a:ln>
        </p:spPr>
      </p:sp>
      <p:sp>
        <p:nvSpPr>
          <p:cNvPr id="55" name="Shape 42"/>
          <p:cNvSpPr/>
          <p:nvPr/>
        </p:nvSpPr>
        <p:spPr>
          <a:xfrm>
            <a:off x="8412480" y="4837176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BF1E0"/>
          </a:solidFill>
          <a:ln/>
        </p:spPr>
      </p:sp>
      <p:pic>
        <p:nvPicPr>
          <p:cNvPr id="56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00262" y="4924958"/>
            <a:ext cx="190195" cy="190195"/>
          </a:xfrm>
          <a:prstGeom prst="rect">
            <a:avLst/>
          </a:prstGeom>
        </p:spPr>
      </p:pic>
      <p:sp>
        <p:nvSpPr>
          <p:cNvPr id="57" name="Text 43"/>
          <p:cNvSpPr/>
          <p:nvPr/>
        </p:nvSpPr>
        <p:spPr>
          <a:xfrm>
            <a:off x="8887968" y="4718304"/>
            <a:ext cx="2468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CMDB configuration items</a:t>
            </a:r>
            <a:endParaRPr lang="en-US" sz="1150" dirty="0"/>
          </a:p>
        </p:txBody>
      </p:sp>
      <p:sp>
        <p:nvSpPr>
          <p:cNvPr id="58" name="Text 44"/>
          <p:cNvSpPr/>
          <p:nvPr/>
        </p:nvSpPr>
        <p:spPr>
          <a:xfrm>
            <a:off x="8275320" y="5559552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0" i="1" dirty="0">
                <a:solidFill>
                  <a:srgbClr val="B97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identities, SaaS or control-coverage view.</a:t>
            </a:r>
            <a:endParaRPr lang="en-US" sz="10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integration ecosystem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868680"/>
          </a:xfrm>
          <a:prstGeom prst="roundRect">
            <a:avLst>
              <a:gd name="adj" fmla="val 10526"/>
            </a:avLst>
          </a:prstGeom>
          <a:solidFill>
            <a:srgbClr val="141A3C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4173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FD5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1,400+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  bi-directional integrations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   — not just fetching data, but pushing fixes and enforcing policy across your stack.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3505200" cy="1481328"/>
          </a:xfrm>
          <a:prstGeom prst="roundRect">
            <a:avLst>
              <a:gd name="adj" fmla="val 5556"/>
            </a:avLst>
          </a:prstGeom>
          <a:solidFill>
            <a:srgbClr val="F3F6FC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2788920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E7F6F3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7311" y="2924983"/>
            <a:ext cx="294803" cy="29480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36192" y="2788920"/>
            <a:ext cx="2316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Endpoint &amp; EDR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41248" y="3429000"/>
            <a:ext cx="295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3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CrowdStrike, SentinelOne, Carbon Black, Defender</a:t>
            </a:r>
            <a:endParaRPr lang="en-US" sz="1130" dirty="0"/>
          </a:p>
        </p:txBody>
      </p:sp>
      <p:sp>
        <p:nvSpPr>
          <p:cNvPr id="11" name="Shape 8"/>
          <p:cNvSpPr/>
          <p:nvPr/>
        </p:nvSpPr>
        <p:spPr>
          <a:xfrm>
            <a:off x="4328160" y="2514600"/>
            <a:ext cx="3505200" cy="1481328"/>
          </a:xfrm>
          <a:prstGeom prst="roundRect">
            <a:avLst>
              <a:gd name="adj" fmla="val 5556"/>
            </a:avLst>
          </a:prstGeom>
          <a:solidFill>
            <a:srgbClr val="F3F6FC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620768" y="2788920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E7F6F3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6831" y="2924983"/>
            <a:ext cx="294803" cy="29480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15712" y="2788920"/>
            <a:ext cx="2316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&amp; virtualization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4620768" y="3429000"/>
            <a:ext cx="295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3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AWS, Azure, GCP, VMware</a:t>
            </a:r>
            <a:endParaRPr lang="en-US" sz="1130" dirty="0"/>
          </a:p>
        </p:txBody>
      </p:sp>
      <p:sp>
        <p:nvSpPr>
          <p:cNvPr id="16" name="Shape 12"/>
          <p:cNvSpPr/>
          <p:nvPr/>
        </p:nvSpPr>
        <p:spPr>
          <a:xfrm>
            <a:off x="8107680" y="2514600"/>
            <a:ext cx="3505200" cy="1481328"/>
          </a:xfrm>
          <a:prstGeom prst="roundRect">
            <a:avLst>
              <a:gd name="adj" fmla="val 5556"/>
            </a:avLst>
          </a:prstGeom>
          <a:solidFill>
            <a:srgbClr val="F3F6FC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400288" y="2788920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E7F6F3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6351" y="2924983"/>
            <a:ext cx="294803" cy="29480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095232" y="2788920"/>
            <a:ext cx="2316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Vulnerability &amp; patch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8400288" y="3429000"/>
            <a:ext cx="295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3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Qualys, Tenable, Rapid7, Kenna</a:t>
            </a:r>
            <a:endParaRPr lang="en-US" sz="1130" dirty="0"/>
          </a:p>
        </p:txBody>
      </p:sp>
      <p:sp>
        <p:nvSpPr>
          <p:cNvPr id="21" name="Shape 16"/>
          <p:cNvSpPr/>
          <p:nvPr/>
        </p:nvSpPr>
        <p:spPr>
          <a:xfrm>
            <a:off x="548640" y="4224528"/>
            <a:ext cx="3505200" cy="1481328"/>
          </a:xfrm>
          <a:prstGeom prst="roundRect">
            <a:avLst>
              <a:gd name="adj" fmla="val 5556"/>
            </a:avLst>
          </a:prstGeom>
          <a:solidFill>
            <a:srgbClr val="F3F6FC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841248" y="4498848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E7F6F3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311" y="4634911"/>
            <a:ext cx="294803" cy="294803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536192" y="4498848"/>
            <a:ext cx="2316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Identity &amp; IAM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841248" y="5138928"/>
            <a:ext cx="295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3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Directory, Okta, Google Workspace</a:t>
            </a:r>
            <a:endParaRPr lang="en-US" sz="1130" dirty="0"/>
          </a:p>
        </p:txBody>
      </p:sp>
      <p:sp>
        <p:nvSpPr>
          <p:cNvPr id="26" name="Shape 20"/>
          <p:cNvSpPr/>
          <p:nvPr/>
        </p:nvSpPr>
        <p:spPr>
          <a:xfrm>
            <a:off x="4328160" y="4224528"/>
            <a:ext cx="3505200" cy="1481328"/>
          </a:xfrm>
          <a:prstGeom prst="roundRect">
            <a:avLst>
              <a:gd name="adj" fmla="val 5556"/>
            </a:avLst>
          </a:prstGeom>
          <a:solidFill>
            <a:srgbClr val="F3F6FC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4620768" y="4498848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E7F6F3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6831" y="4634911"/>
            <a:ext cx="294803" cy="294803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315712" y="4498848"/>
            <a:ext cx="2316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&amp; firewall</a:t>
            </a:r>
            <a:endParaRPr lang="en-US" sz="1500" dirty="0"/>
          </a:p>
        </p:txBody>
      </p:sp>
      <p:sp>
        <p:nvSpPr>
          <p:cNvPr id="30" name="Text 23"/>
          <p:cNvSpPr/>
          <p:nvPr/>
        </p:nvSpPr>
        <p:spPr>
          <a:xfrm>
            <a:off x="4620768" y="5138928"/>
            <a:ext cx="295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3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Cisco, Fortinet, Palo Alto, Aruba</a:t>
            </a:r>
            <a:endParaRPr lang="en-US" sz="1130" dirty="0"/>
          </a:p>
        </p:txBody>
      </p:sp>
      <p:sp>
        <p:nvSpPr>
          <p:cNvPr id="31" name="Shape 24"/>
          <p:cNvSpPr/>
          <p:nvPr/>
        </p:nvSpPr>
        <p:spPr>
          <a:xfrm>
            <a:off x="8107680" y="4224528"/>
            <a:ext cx="3505200" cy="1481328"/>
          </a:xfrm>
          <a:prstGeom prst="roundRect">
            <a:avLst>
              <a:gd name="adj" fmla="val 5556"/>
            </a:avLst>
          </a:prstGeom>
          <a:solidFill>
            <a:srgbClr val="F3F6FC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8400288" y="4498848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E7F6F3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6351" y="4634911"/>
            <a:ext cx="294803" cy="294803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9095232" y="4498848"/>
            <a:ext cx="2316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MDM / UEM / ITAM</a:t>
            </a:r>
            <a:endParaRPr lang="en-US" sz="1500" dirty="0"/>
          </a:p>
        </p:txBody>
      </p:sp>
      <p:sp>
        <p:nvSpPr>
          <p:cNvPr id="35" name="Text 27"/>
          <p:cNvSpPr/>
          <p:nvPr/>
        </p:nvSpPr>
        <p:spPr>
          <a:xfrm>
            <a:off x="8400288" y="5138928"/>
            <a:ext cx="295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3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Intune, Jamf, SCCM — and ManageEngine</a:t>
            </a:r>
            <a:endParaRPr lang="en-US" sz="1130" dirty="0"/>
          </a:p>
        </p:txBody>
      </p:sp>
      <p:sp>
        <p:nvSpPr>
          <p:cNvPr id="36" name="Text 28"/>
          <p:cNvSpPr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B97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ManageEngine integrates mainly within its own product family and a set of connectors — it is a data source, not an aggregation layer.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Side-by-side capabilities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4572000" cy="498348"/>
          </a:xfrm>
          <a:prstGeom prst="rect">
            <a:avLst/>
          </a:prstGeom>
          <a:solidFill>
            <a:srgbClr val="141A3C"/>
          </a:solidFill>
          <a:ln/>
        </p:spPr>
      </p:sp>
      <p:sp>
        <p:nvSpPr>
          <p:cNvPr id="5" name="Shape 3"/>
          <p:cNvSpPr/>
          <p:nvPr/>
        </p:nvSpPr>
        <p:spPr>
          <a:xfrm>
            <a:off x="5120640" y="1481328"/>
            <a:ext cx="3246120" cy="498348"/>
          </a:xfrm>
          <a:prstGeom prst="rect">
            <a:avLst/>
          </a:prstGeom>
          <a:solidFill>
            <a:srgbClr val="0F9488"/>
          </a:solidFill>
          <a:ln/>
        </p:spPr>
      </p:sp>
      <p:sp>
        <p:nvSpPr>
          <p:cNvPr id="6" name="Shape 4"/>
          <p:cNvSpPr/>
          <p:nvPr/>
        </p:nvSpPr>
        <p:spPr>
          <a:xfrm>
            <a:off x="8366760" y="1481328"/>
            <a:ext cx="3246120" cy="498348"/>
          </a:xfrm>
          <a:prstGeom prst="rect">
            <a:avLst/>
          </a:prstGeom>
          <a:solidFill>
            <a:srgbClr val="B9791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81328"/>
            <a:ext cx="420624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120640" y="1481328"/>
            <a:ext cx="324612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Axonius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366760" y="1481328"/>
            <a:ext cx="324612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ManageEngine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1979676"/>
            <a:ext cx="11064240" cy="498348"/>
          </a:xfrm>
          <a:prstGeom prst="rect">
            <a:avLst/>
          </a:prstGeom>
          <a:solidFill>
            <a:srgbClr val="F3F6FC"/>
          </a:solidFill>
          <a:ln w="9525">
            <a:solidFill>
              <a:srgbClr val="E4E9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979676"/>
            <a:ext cx="420624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purpose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120640" y="1979676"/>
            <a:ext cx="324612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visibility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366760" y="1979676"/>
            <a:ext cx="324612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operations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478024"/>
            <a:ext cx="11064240" cy="498348"/>
          </a:xfrm>
          <a:prstGeom prst="rect">
            <a:avLst/>
          </a:prstGeom>
          <a:solidFill>
            <a:srgbClr val="FFFFFF"/>
          </a:solidFill>
          <a:ln w="9525">
            <a:solidFill>
              <a:srgbClr val="E4E9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2478024"/>
            <a:ext cx="420624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approach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120640" y="2478024"/>
            <a:ext cx="324612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Agentless API aggregation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366760" y="2478024"/>
            <a:ext cx="324612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+ network scan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2976372"/>
            <a:ext cx="11064240" cy="498348"/>
          </a:xfrm>
          <a:prstGeom prst="rect">
            <a:avLst/>
          </a:prstGeom>
          <a:solidFill>
            <a:srgbClr val="F3F6FC"/>
          </a:solidFill>
          <a:ln w="9525">
            <a:solidFill>
              <a:srgbClr val="E4E9F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2976372"/>
            <a:ext cx="420624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view across all your tools</a:t>
            </a:r>
            <a:endParaRPr lang="en-US" sz="125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5684" y="3097530"/>
            <a:ext cx="256032" cy="256032"/>
          </a:xfrm>
          <a:prstGeom prst="rect">
            <a:avLst/>
          </a:prstGeom>
        </p:spPr>
      </p:pic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6900" y="3124962"/>
            <a:ext cx="201168" cy="201168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9733788" y="2976372"/>
            <a:ext cx="180594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scans only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548640" y="3474720"/>
            <a:ext cx="11064240" cy="498348"/>
          </a:xfrm>
          <a:prstGeom prst="rect">
            <a:avLst/>
          </a:prstGeom>
          <a:solidFill>
            <a:srgbClr val="FFFFFF"/>
          </a:solidFill>
          <a:ln w="9525">
            <a:solidFill>
              <a:srgbClr val="E4E9F2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731520" y="3474720"/>
            <a:ext cx="420624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control gap analysis</a:t>
            </a:r>
            <a:endParaRPr lang="en-US" sz="1250" dirty="0"/>
          </a:p>
        </p:txBody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5684" y="3595878"/>
            <a:ext cx="256032" cy="256032"/>
          </a:xfrm>
          <a:prstGeom prst="rect">
            <a:avLst/>
          </a:prstGeom>
        </p:spPr>
      </p:pic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89236" y="3623310"/>
            <a:ext cx="201168" cy="201168"/>
          </a:xfrm>
          <a:prstGeom prst="rect">
            <a:avLst/>
          </a:prstGeom>
        </p:spPr>
      </p:pic>
      <p:sp>
        <p:nvSpPr>
          <p:cNvPr id="27" name="Shape 21"/>
          <p:cNvSpPr/>
          <p:nvPr/>
        </p:nvSpPr>
        <p:spPr>
          <a:xfrm>
            <a:off x="548640" y="3973068"/>
            <a:ext cx="11064240" cy="498348"/>
          </a:xfrm>
          <a:prstGeom prst="rect">
            <a:avLst/>
          </a:prstGeom>
          <a:solidFill>
            <a:srgbClr val="F3F6FC"/>
          </a:solidFill>
          <a:ln w="9525">
            <a:solidFill>
              <a:srgbClr val="E4E9F2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731520" y="3973068"/>
            <a:ext cx="420624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Identity, SaaS &amp; cloud posture</a:t>
            </a:r>
            <a:endParaRPr lang="en-US" sz="1250" dirty="0"/>
          </a:p>
        </p:txBody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5684" y="4094226"/>
            <a:ext cx="256032" cy="256032"/>
          </a:xfrm>
          <a:prstGeom prst="rect">
            <a:avLst/>
          </a:prstGeom>
        </p:spPr>
      </p:pic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86900" y="4121658"/>
            <a:ext cx="201168" cy="201168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9733788" y="3973068"/>
            <a:ext cx="180594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</a:t>
            </a:r>
            <a:endParaRPr lang="en-US" sz="1100" dirty="0"/>
          </a:p>
        </p:txBody>
      </p:sp>
      <p:sp>
        <p:nvSpPr>
          <p:cNvPr id="32" name="Shape 24"/>
          <p:cNvSpPr/>
          <p:nvPr/>
        </p:nvSpPr>
        <p:spPr>
          <a:xfrm>
            <a:off x="548640" y="4471416"/>
            <a:ext cx="11064240" cy="498348"/>
          </a:xfrm>
          <a:prstGeom prst="rect">
            <a:avLst/>
          </a:prstGeom>
          <a:solidFill>
            <a:srgbClr val="FFFFFF"/>
          </a:solidFill>
          <a:ln w="9525">
            <a:solidFill>
              <a:srgbClr val="E4E9F2"/>
            </a:solidFill>
            <a:prstDash val="solid"/>
          </a:ln>
        </p:spPr>
      </p:sp>
      <p:sp>
        <p:nvSpPr>
          <p:cNvPr id="33" name="Text 25"/>
          <p:cNvSpPr/>
          <p:nvPr/>
        </p:nvSpPr>
        <p:spPr>
          <a:xfrm>
            <a:off x="731520" y="4471416"/>
            <a:ext cx="420624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Exposure prioritization (beyond CVE)</a:t>
            </a:r>
            <a:endParaRPr lang="en-US" sz="1250" dirty="0"/>
          </a:p>
        </p:txBody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5684" y="4592574"/>
            <a:ext cx="256032" cy="256032"/>
          </a:xfrm>
          <a:prstGeom prst="rect">
            <a:avLst/>
          </a:prstGeom>
        </p:spPr>
      </p:pic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89236" y="4620006"/>
            <a:ext cx="201168" cy="201168"/>
          </a:xfrm>
          <a:prstGeom prst="rect">
            <a:avLst/>
          </a:prstGeom>
        </p:spPr>
      </p:pic>
      <p:sp>
        <p:nvSpPr>
          <p:cNvPr id="36" name="Shape 26"/>
          <p:cNvSpPr/>
          <p:nvPr/>
        </p:nvSpPr>
        <p:spPr>
          <a:xfrm>
            <a:off x="548640" y="4969764"/>
            <a:ext cx="11064240" cy="498348"/>
          </a:xfrm>
          <a:prstGeom prst="rect">
            <a:avLst/>
          </a:prstGeom>
          <a:solidFill>
            <a:srgbClr val="F3F6FC"/>
          </a:solidFill>
          <a:ln w="9525">
            <a:solidFill>
              <a:srgbClr val="E4E9F2"/>
            </a:solidFill>
            <a:prstDash val="solid"/>
          </a:ln>
        </p:spPr>
      </p:sp>
      <p:sp>
        <p:nvSpPr>
          <p:cNvPr id="37" name="Text 27"/>
          <p:cNvSpPr/>
          <p:nvPr/>
        </p:nvSpPr>
        <p:spPr>
          <a:xfrm>
            <a:off x="731520" y="4969764"/>
            <a:ext cx="420624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cross-tool response</a:t>
            </a:r>
            <a:endParaRPr lang="en-US" sz="1250" dirty="0"/>
          </a:p>
        </p:txBody>
      </p:sp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15684" y="5090922"/>
            <a:ext cx="256032" cy="256032"/>
          </a:xfrm>
          <a:prstGeom prst="rect">
            <a:avLst/>
          </a:prstGeom>
        </p:spPr>
      </p:pic>
      <p:pic>
        <p:nvPicPr>
          <p:cNvPr id="3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86900" y="5118354"/>
            <a:ext cx="201168" cy="201168"/>
          </a:xfrm>
          <a:prstGeom prst="rect">
            <a:avLst/>
          </a:prstGeom>
        </p:spPr>
      </p:pic>
      <p:sp>
        <p:nvSpPr>
          <p:cNvPr id="40" name="Text 28"/>
          <p:cNvSpPr/>
          <p:nvPr/>
        </p:nvSpPr>
        <p:spPr>
          <a:xfrm>
            <a:off x="9733788" y="4969764"/>
            <a:ext cx="180594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Endpoint-scoped</a:t>
            </a:r>
            <a:endParaRPr lang="en-US" sz="1100" dirty="0"/>
          </a:p>
        </p:txBody>
      </p:sp>
      <p:sp>
        <p:nvSpPr>
          <p:cNvPr id="41" name="Shape 29"/>
          <p:cNvSpPr/>
          <p:nvPr/>
        </p:nvSpPr>
        <p:spPr>
          <a:xfrm>
            <a:off x="548640" y="5468112"/>
            <a:ext cx="11064240" cy="498348"/>
          </a:xfrm>
          <a:prstGeom prst="rect">
            <a:avLst/>
          </a:prstGeom>
          <a:solidFill>
            <a:srgbClr val="FFFFFF"/>
          </a:solidFill>
          <a:ln w="9525">
            <a:solidFill>
              <a:srgbClr val="E4E9F2"/>
            </a:solidFill>
            <a:prstDash val="solid"/>
          </a:ln>
        </p:spPr>
      </p:sp>
      <p:sp>
        <p:nvSpPr>
          <p:cNvPr id="42" name="Text 30"/>
          <p:cNvSpPr/>
          <p:nvPr/>
        </p:nvSpPr>
        <p:spPr>
          <a:xfrm>
            <a:off x="731520" y="5468112"/>
            <a:ext cx="420624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Patch, deploy &amp; remote control</a:t>
            </a:r>
            <a:endParaRPr lang="en-US" sz="1250" dirty="0"/>
          </a:p>
        </p:txBody>
      </p:sp>
      <p:pic>
        <p:nvPicPr>
          <p:cNvPr id="4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43116" y="5616702"/>
            <a:ext cx="201168" cy="201168"/>
          </a:xfrm>
          <a:prstGeom prst="rect">
            <a:avLst/>
          </a:prstGeom>
        </p:spPr>
      </p:pic>
      <p:pic>
        <p:nvPicPr>
          <p:cNvPr id="44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861804" y="5589270"/>
            <a:ext cx="256032" cy="256032"/>
          </a:xfrm>
          <a:prstGeom prst="rect">
            <a:avLst/>
          </a:prstGeom>
        </p:spPr>
      </p:pic>
      <p:sp>
        <p:nvSpPr>
          <p:cNvPr id="45" name="Shape 31"/>
          <p:cNvSpPr/>
          <p:nvPr/>
        </p:nvSpPr>
        <p:spPr>
          <a:xfrm>
            <a:off x="548640" y="5966460"/>
            <a:ext cx="11064240" cy="498348"/>
          </a:xfrm>
          <a:prstGeom prst="rect">
            <a:avLst/>
          </a:prstGeom>
          <a:solidFill>
            <a:srgbClr val="F3F6FC"/>
          </a:solidFill>
          <a:ln w="9525">
            <a:solidFill>
              <a:srgbClr val="E4E9F2"/>
            </a:solidFill>
            <a:prstDash val="solid"/>
          </a:ln>
        </p:spPr>
      </p:sp>
      <p:sp>
        <p:nvSpPr>
          <p:cNvPr id="46" name="Text 32"/>
          <p:cNvSpPr/>
          <p:nvPr/>
        </p:nvSpPr>
        <p:spPr>
          <a:xfrm>
            <a:off x="731520" y="5966460"/>
            <a:ext cx="420624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Licensing, procurement &amp; help desk</a:t>
            </a:r>
            <a:endParaRPr lang="en-US" sz="1250" dirty="0"/>
          </a:p>
        </p:txBody>
      </p:sp>
      <p:pic>
        <p:nvPicPr>
          <p:cNvPr id="47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43116" y="6115050"/>
            <a:ext cx="201168" cy="201168"/>
          </a:xfrm>
          <a:prstGeom prst="rect">
            <a:avLst/>
          </a:prstGeom>
        </p:spPr>
      </p:pic>
      <p:pic>
        <p:nvPicPr>
          <p:cNvPr id="48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861804" y="6087618"/>
            <a:ext cx="256032" cy="256032"/>
          </a:xfrm>
          <a:prstGeom prst="rect">
            <a:avLst/>
          </a:prstGeom>
        </p:spPr>
      </p:pic>
      <p:pic>
        <p:nvPicPr>
          <p:cNvPr id="49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48640" y="6611112"/>
            <a:ext cx="182880" cy="182880"/>
          </a:xfrm>
          <a:prstGeom prst="rect">
            <a:avLst/>
          </a:prstGeom>
        </p:spPr>
      </p:pic>
      <p:sp>
        <p:nvSpPr>
          <p:cNvPr id="50" name="Text 33"/>
          <p:cNvSpPr/>
          <p:nvPr/>
        </p:nvSpPr>
        <p:spPr>
          <a:xfrm>
            <a:off x="786384" y="655624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/ native</a:t>
            </a:r>
            <a:endParaRPr lang="en-US" sz="1100" dirty="0"/>
          </a:p>
        </p:txBody>
      </p:sp>
      <p:pic>
        <p:nvPicPr>
          <p:cNvPr id="51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926080" y="6620256"/>
            <a:ext cx="164592" cy="164592"/>
          </a:xfrm>
          <a:prstGeom prst="rect">
            <a:avLst/>
          </a:prstGeom>
        </p:spPr>
      </p:pic>
      <p:sp>
        <p:nvSpPr>
          <p:cNvPr id="52" name="Text 34"/>
          <p:cNvSpPr/>
          <p:nvPr/>
        </p:nvSpPr>
        <p:spPr>
          <a:xfrm>
            <a:off x="3154680" y="655624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offered / limited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CASE FOR AXONIUS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Axonius, for a security program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474720" cy="2084832"/>
          </a:xfrm>
          <a:prstGeom prst="roundRect">
            <a:avLst>
              <a:gd name="adj" fmla="val 4386"/>
            </a:avLst>
          </a:prstGeom>
          <a:solidFill>
            <a:srgbClr val="F3F6FC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794AD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92808"/>
            <a:ext cx="658368" cy="658368"/>
          </a:xfrm>
          <a:prstGeom prst="roundRect">
            <a:avLst>
              <a:gd name="adj" fmla="val 50000"/>
            </a:avLst>
          </a:prstGeom>
          <a:solidFill>
            <a:srgbClr val="E7F6F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6688" y="2050816"/>
            <a:ext cx="342351" cy="34235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82496" y="1892808"/>
            <a:ext cx="2103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reconciled inventory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68680" y="2679192"/>
            <a:ext cx="2834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Merges and de-duplicates every source into a single trustworthy record — no more three tools disagreeing on asset counts.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43400" y="1600200"/>
            <a:ext cx="3474720" cy="2084832"/>
          </a:xfrm>
          <a:prstGeom prst="roundRect">
            <a:avLst>
              <a:gd name="adj" fmla="val 4386"/>
            </a:avLst>
          </a:prstGeom>
          <a:solidFill>
            <a:srgbClr val="F3F6FC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794AD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63440" y="1892808"/>
            <a:ext cx="658368" cy="658368"/>
          </a:xfrm>
          <a:prstGeom prst="roundRect">
            <a:avLst>
              <a:gd name="adj" fmla="val 50000"/>
            </a:avLst>
          </a:prstGeom>
          <a:solidFill>
            <a:srgbClr val="E7F6F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1448" y="2050816"/>
            <a:ext cx="342351" cy="34235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77256" y="1892808"/>
            <a:ext cx="2103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Coverage-gap detection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4663440" y="2679192"/>
            <a:ext cx="2834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Instantly flags assets missing EDR, unscanned for vulnerabilities, or absent from AD — the blind spots that become incidents.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38160" y="1600200"/>
            <a:ext cx="3474720" cy="2084832"/>
          </a:xfrm>
          <a:prstGeom prst="roundRect">
            <a:avLst>
              <a:gd name="adj" fmla="val 4386"/>
            </a:avLst>
          </a:prstGeom>
          <a:solidFill>
            <a:srgbClr val="F3F6FC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794AD">
                <a:alpha val="2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58200" y="1892808"/>
            <a:ext cx="658368" cy="658368"/>
          </a:xfrm>
          <a:prstGeom prst="roundRect">
            <a:avLst>
              <a:gd name="adj" fmla="val 50000"/>
            </a:avLst>
          </a:prstGeom>
          <a:solidFill>
            <a:srgbClr val="E7F6F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6208" y="2050816"/>
            <a:ext cx="342351" cy="34235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272016" y="1892808"/>
            <a:ext cx="2103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Unmanaged &amp; rogue asset discovery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8458200" y="2679192"/>
            <a:ext cx="2834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Correlates across cloud, network and identity to find devices no agent ever touched.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4005072"/>
            <a:ext cx="3474720" cy="2084832"/>
          </a:xfrm>
          <a:prstGeom prst="roundRect">
            <a:avLst>
              <a:gd name="adj" fmla="val 4386"/>
            </a:avLst>
          </a:prstGeom>
          <a:solidFill>
            <a:srgbClr val="F3F6FC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794AD">
                <a:alpha val="2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68680" y="4297680"/>
            <a:ext cx="658368" cy="658368"/>
          </a:xfrm>
          <a:prstGeom prst="roundRect">
            <a:avLst>
              <a:gd name="adj" fmla="val 50000"/>
            </a:avLst>
          </a:prstGeom>
          <a:solidFill>
            <a:srgbClr val="E7F6F3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6688" y="4455688"/>
            <a:ext cx="342351" cy="34235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82496" y="4297680"/>
            <a:ext cx="2103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Beyond hardware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868680" y="5084064"/>
            <a:ext cx="2834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Brings identities, SaaS, cloud and OT/IoT into scope — not just IT endpoints.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343400" y="4005072"/>
            <a:ext cx="3474720" cy="2084832"/>
          </a:xfrm>
          <a:prstGeom prst="roundRect">
            <a:avLst>
              <a:gd name="adj" fmla="val 4386"/>
            </a:avLst>
          </a:prstGeom>
          <a:solidFill>
            <a:srgbClr val="F3F6FC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794AD">
                <a:alpha val="2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63440" y="4297680"/>
            <a:ext cx="658368" cy="658368"/>
          </a:xfrm>
          <a:prstGeom prst="roundRect">
            <a:avLst>
              <a:gd name="adj" fmla="val 50000"/>
            </a:avLst>
          </a:prstGeom>
          <a:solidFill>
            <a:srgbClr val="E7F6F3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1448" y="4455688"/>
            <a:ext cx="342351" cy="342351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477256" y="4297680"/>
            <a:ext cx="2103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cross-tool action</a:t>
            </a:r>
            <a:endParaRPr lang="en-US" sz="1550" dirty="0"/>
          </a:p>
        </p:txBody>
      </p:sp>
      <p:sp>
        <p:nvSpPr>
          <p:cNvPr id="28" name="Text 21"/>
          <p:cNvSpPr/>
          <p:nvPr/>
        </p:nvSpPr>
        <p:spPr>
          <a:xfrm>
            <a:off x="4663440" y="5084064"/>
            <a:ext cx="2834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Policy-driven playbooks push fixes and enforce controls across your whole stack.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138160" y="4005072"/>
            <a:ext cx="3474720" cy="2084832"/>
          </a:xfrm>
          <a:prstGeom prst="roundRect">
            <a:avLst>
              <a:gd name="adj" fmla="val 4386"/>
            </a:avLst>
          </a:prstGeom>
          <a:solidFill>
            <a:srgbClr val="F3F6FC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794AD">
                <a:alpha val="2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458200" y="4297680"/>
            <a:ext cx="658368" cy="658368"/>
          </a:xfrm>
          <a:prstGeom prst="roundRect">
            <a:avLst>
              <a:gd name="adj" fmla="val 50000"/>
            </a:avLst>
          </a:prstGeom>
          <a:solidFill>
            <a:srgbClr val="E7F6F3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16208" y="4455688"/>
            <a:ext cx="342351" cy="342351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272016" y="4297680"/>
            <a:ext cx="2103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&amp; compliance readiness</a:t>
            </a:r>
            <a:endParaRPr lang="en-US" sz="1550" dirty="0"/>
          </a:p>
        </p:txBody>
      </p:sp>
      <p:sp>
        <p:nvSpPr>
          <p:cNvPr id="33" name="Text 25"/>
          <p:cNvSpPr/>
          <p:nvPr/>
        </p:nvSpPr>
        <p:spPr>
          <a:xfrm>
            <a:off x="8458200" y="5084064"/>
            <a:ext cx="2834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Continuously validates control coverage and evidences it against regulatory frameworks.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FD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DIFFERENTIATORS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Axonius can do that ManageEngine cannot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aren’t “nice-to-haves” — they are structural: they require aggregating and reconciling the whole security stack, which ManageEngine is not built to do.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349240" cy="1280160"/>
          </a:xfrm>
          <a:prstGeom prst="roundRect">
            <a:avLst>
              <a:gd name="adj" fmla="val 6429"/>
            </a:avLst>
          </a:prstGeom>
          <a:solidFill>
            <a:srgbClr val="1B2450"/>
          </a:solidFill>
          <a:ln w="12700">
            <a:solidFill>
              <a:srgbClr val="2E3A6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304288"/>
            <a:ext cx="694944" cy="694944"/>
          </a:xfrm>
          <a:prstGeom prst="roundRect">
            <a:avLst>
              <a:gd name="adj" fmla="val 50000"/>
            </a:avLst>
          </a:prstGeom>
          <a:solidFill>
            <a:srgbClr val="141A3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747" y="2471075"/>
            <a:ext cx="361371" cy="36137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19072" y="21945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3FD5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 security-control coverage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1719072" y="2560320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you exactly which assets are missing or have a broken EDR, DLP or vuln-scan agent — because Axonius ingests and correlates those tools.</a:t>
            </a:r>
            <a:endParaRPr lang="en-US" sz="1180" dirty="0"/>
          </a:p>
        </p:txBody>
      </p:sp>
      <p:sp>
        <p:nvSpPr>
          <p:cNvPr id="10" name="Shape 7"/>
          <p:cNvSpPr/>
          <p:nvPr/>
        </p:nvSpPr>
        <p:spPr>
          <a:xfrm>
            <a:off x="6263640" y="2011680"/>
            <a:ext cx="5349240" cy="1280160"/>
          </a:xfrm>
          <a:prstGeom prst="roundRect">
            <a:avLst>
              <a:gd name="adj" fmla="val 6429"/>
            </a:avLst>
          </a:prstGeom>
          <a:solidFill>
            <a:srgbClr val="1B2450"/>
          </a:solidFill>
          <a:ln w="12700">
            <a:solidFill>
              <a:srgbClr val="2E3A6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37960" y="2304288"/>
            <a:ext cx="694944" cy="694944"/>
          </a:xfrm>
          <a:prstGeom prst="roundRect">
            <a:avLst>
              <a:gd name="adj" fmla="val 50000"/>
            </a:avLst>
          </a:prstGeom>
          <a:solidFill>
            <a:srgbClr val="141A3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4747" y="2471075"/>
            <a:ext cx="361371" cy="36137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34072" y="21945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3FD5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Reconcile the same asset across tools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7434072" y="2560320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Collapse the ten records ten tools hold on one machine into a single authoritative asset. ManageEngine only knows what it scanned.</a:t>
            </a:r>
            <a:endParaRPr lang="en-US" sz="1180" dirty="0"/>
          </a:p>
        </p:txBody>
      </p:sp>
      <p:sp>
        <p:nvSpPr>
          <p:cNvPr id="15" name="Shape 11"/>
          <p:cNvSpPr/>
          <p:nvPr/>
        </p:nvSpPr>
        <p:spPr>
          <a:xfrm>
            <a:off x="548640" y="3547872"/>
            <a:ext cx="5349240" cy="1280160"/>
          </a:xfrm>
          <a:prstGeom prst="roundRect">
            <a:avLst>
              <a:gd name="adj" fmla="val 6429"/>
            </a:avLst>
          </a:prstGeom>
          <a:solidFill>
            <a:srgbClr val="1B2450"/>
          </a:solidFill>
          <a:ln w="12700">
            <a:solidFill>
              <a:srgbClr val="2E3A6E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22960" y="3840480"/>
            <a:ext cx="694944" cy="694944"/>
          </a:xfrm>
          <a:prstGeom prst="roundRect">
            <a:avLst>
              <a:gd name="adj" fmla="val 50000"/>
            </a:avLst>
          </a:prstGeom>
          <a:solidFill>
            <a:srgbClr val="141A3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747" y="4007267"/>
            <a:ext cx="361371" cy="36137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719072" y="373075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3FD5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Expose the gaps between tools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1719072" y="4096512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assets that exist in one system but not another — the rogue and unmanaged devices that live in the seams.</a:t>
            </a:r>
            <a:endParaRPr lang="en-US" sz="1180" dirty="0"/>
          </a:p>
        </p:txBody>
      </p:sp>
      <p:sp>
        <p:nvSpPr>
          <p:cNvPr id="20" name="Shape 15"/>
          <p:cNvSpPr/>
          <p:nvPr/>
        </p:nvSpPr>
        <p:spPr>
          <a:xfrm>
            <a:off x="6263640" y="3547872"/>
            <a:ext cx="5349240" cy="1280160"/>
          </a:xfrm>
          <a:prstGeom prst="roundRect">
            <a:avLst>
              <a:gd name="adj" fmla="val 6429"/>
            </a:avLst>
          </a:prstGeom>
          <a:solidFill>
            <a:srgbClr val="1B2450"/>
          </a:solidFill>
          <a:ln w="12700">
            <a:solidFill>
              <a:srgbClr val="2E3A6E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537960" y="3840480"/>
            <a:ext cx="694944" cy="694944"/>
          </a:xfrm>
          <a:prstGeom prst="roundRect">
            <a:avLst>
              <a:gd name="adj" fmla="val 50000"/>
            </a:avLst>
          </a:prstGeom>
          <a:solidFill>
            <a:srgbClr val="141A3C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4747" y="4007267"/>
            <a:ext cx="361371" cy="361371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34072" y="373075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3FD5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Cover identity, SaaS &amp; shadow IT</a:t>
            </a:r>
            <a:endParaRPr lang="en-US" sz="1550" dirty="0"/>
          </a:p>
        </p:txBody>
      </p:sp>
      <p:sp>
        <p:nvSpPr>
          <p:cNvPr id="24" name="Text 18"/>
          <p:cNvSpPr/>
          <p:nvPr/>
        </p:nvSpPr>
        <p:spPr>
          <a:xfrm>
            <a:off x="7434072" y="4096512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user accounts, SaaS apps and shadow SaaS (SSPM) — an attack surface ITAM never sees.</a:t>
            </a:r>
            <a:endParaRPr lang="en-US" sz="1180" dirty="0"/>
          </a:p>
        </p:txBody>
      </p:sp>
      <p:sp>
        <p:nvSpPr>
          <p:cNvPr id="25" name="Shape 19"/>
          <p:cNvSpPr/>
          <p:nvPr/>
        </p:nvSpPr>
        <p:spPr>
          <a:xfrm>
            <a:off x="548640" y="5084064"/>
            <a:ext cx="5349240" cy="1280160"/>
          </a:xfrm>
          <a:prstGeom prst="roundRect">
            <a:avLst>
              <a:gd name="adj" fmla="val 6429"/>
            </a:avLst>
          </a:prstGeom>
          <a:solidFill>
            <a:srgbClr val="1B2450"/>
          </a:solidFill>
          <a:ln w="12700">
            <a:solidFill>
              <a:srgbClr val="2E3A6E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822960" y="5376672"/>
            <a:ext cx="694944" cy="694944"/>
          </a:xfrm>
          <a:prstGeom prst="roundRect">
            <a:avLst>
              <a:gd name="adj" fmla="val 50000"/>
            </a:avLst>
          </a:prstGeom>
          <a:solidFill>
            <a:srgbClr val="141A3C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9747" y="5543459"/>
            <a:ext cx="361371" cy="361371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719072" y="5266944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3FD5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Orchestrate response across your stack</a:t>
            </a:r>
            <a:endParaRPr lang="en-US" sz="1550" dirty="0"/>
          </a:p>
        </p:txBody>
      </p:sp>
      <p:sp>
        <p:nvSpPr>
          <p:cNvPr id="29" name="Text 22"/>
          <p:cNvSpPr/>
          <p:nvPr/>
        </p:nvSpPr>
        <p:spPr>
          <a:xfrm>
            <a:off x="1719072" y="5632704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enforcement in other security tools from policy — not just act on its own endpoints.</a:t>
            </a:r>
            <a:endParaRPr lang="en-US" sz="1180" dirty="0"/>
          </a:p>
        </p:txBody>
      </p:sp>
      <p:sp>
        <p:nvSpPr>
          <p:cNvPr id="30" name="Shape 23"/>
          <p:cNvSpPr/>
          <p:nvPr/>
        </p:nvSpPr>
        <p:spPr>
          <a:xfrm>
            <a:off x="6263640" y="5084064"/>
            <a:ext cx="5349240" cy="1280160"/>
          </a:xfrm>
          <a:prstGeom prst="roundRect">
            <a:avLst>
              <a:gd name="adj" fmla="val 6429"/>
            </a:avLst>
          </a:prstGeom>
          <a:solidFill>
            <a:srgbClr val="1B2450"/>
          </a:solidFill>
          <a:ln w="12700">
            <a:solidFill>
              <a:srgbClr val="2E3A6E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6537960" y="5376672"/>
            <a:ext cx="694944" cy="694944"/>
          </a:xfrm>
          <a:prstGeom prst="roundRect">
            <a:avLst>
              <a:gd name="adj" fmla="val 50000"/>
            </a:avLst>
          </a:prstGeom>
          <a:solidFill>
            <a:srgbClr val="141A3C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04747" y="5543459"/>
            <a:ext cx="361371" cy="361371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7434072" y="5266944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3FD5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Sit above ManageEngine itself</a:t>
            </a:r>
            <a:endParaRPr lang="en-US" sz="1550" dirty="0"/>
          </a:p>
        </p:txBody>
      </p:sp>
      <p:sp>
        <p:nvSpPr>
          <p:cNvPr id="34" name="Text 26"/>
          <p:cNvSpPr/>
          <p:nvPr/>
        </p:nvSpPr>
        <p:spPr>
          <a:xfrm>
            <a:off x="7434072" y="5632704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 ManageEngine as one data source among many — Axonius is the layer over your tools, including it.</a:t>
            </a:r>
            <a:endParaRPr lang="en-US" sz="11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Exposure &amp; vulnerability management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Axonius turns scattered findings into a ranked, owned, actionable list — not another dashboard.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6858000" cy="868680"/>
          </a:xfrm>
          <a:prstGeom prst="roundRect">
            <a:avLst>
              <a:gd name="adj" fmla="val 9474"/>
            </a:avLst>
          </a:prstGeom>
          <a:solidFill>
            <a:srgbClr val="F3F6FC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2167128"/>
            <a:ext cx="457200" cy="457200"/>
          </a:xfrm>
          <a:prstGeom prst="ellipse">
            <a:avLst/>
          </a:prstGeom>
          <a:solidFill>
            <a:srgbClr val="0F9488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21671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389888" y="2203704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E7F6F3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6449" y="2300265"/>
            <a:ext cx="209215" cy="20921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920240" y="2075688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Aggregate findings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1920240" y="24231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vulnerabilities &amp; security findings from every scanner into one place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68680" y="280720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48640" y="2990088"/>
            <a:ext cx="6858000" cy="868680"/>
          </a:xfrm>
          <a:prstGeom prst="roundRect">
            <a:avLst>
              <a:gd name="adj" fmla="val 9474"/>
            </a:avLst>
          </a:prstGeom>
          <a:solidFill>
            <a:srgbClr val="F3F6FC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49808" y="3191256"/>
            <a:ext cx="457200" cy="457200"/>
          </a:xfrm>
          <a:prstGeom prst="ellipse">
            <a:avLst/>
          </a:prstGeom>
          <a:solidFill>
            <a:srgbClr val="0F9488"/>
          </a:solidFill>
          <a:ln/>
        </p:spPr>
      </p:sp>
      <p:sp>
        <p:nvSpPr>
          <p:cNvPr id="15" name="Text 12"/>
          <p:cNvSpPr/>
          <p:nvPr/>
        </p:nvSpPr>
        <p:spPr>
          <a:xfrm>
            <a:off x="749808" y="31912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1389888" y="3227832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E7F6F3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6449" y="3324393"/>
            <a:ext cx="209215" cy="209215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920240" y="3099816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 with context</a:t>
            </a:r>
            <a:endParaRPr lang="en-US" sz="1450" dirty="0"/>
          </a:p>
        </p:txBody>
      </p:sp>
      <p:sp>
        <p:nvSpPr>
          <p:cNvPr id="19" name="Text 15"/>
          <p:cNvSpPr/>
          <p:nvPr/>
        </p:nvSpPr>
        <p:spPr>
          <a:xfrm>
            <a:off x="1920240" y="3447288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Axonius Vulnerability Score + asset criticality + threat-intel on active exploitation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868680" y="3831336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548640" y="4014216"/>
            <a:ext cx="6858000" cy="868680"/>
          </a:xfrm>
          <a:prstGeom prst="roundRect">
            <a:avLst>
              <a:gd name="adj" fmla="val 9474"/>
            </a:avLst>
          </a:prstGeom>
          <a:solidFill>
            <a:srgbClr val="F3F6FC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749808" y="4215384"/>
            <a:ext cx="457200" cy="457200"/>
          </a:xfrm>
          <a:prstGeom prst="ellipse">
            <a:avLst/>
          </a:prstGeom>
          <a:solidFill>
            <a:srgbClr val="0F9488"/>
          </a:solidFill>
          <a:ln/>
        </p:spPr>
      </p:sp>
      <p:sp>
        <p:nvSpPr>
          <p:cNvPr id="23" name="Text 19"/>
          <p:cNvSpPr/>
          <p:nvPr/>
        </p:nvSpPr>
        <p:spPr>
          <a:xfrm>
            <a:off x="749808" y="42153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Shape 20"/>
          <p:cNvSpPr/>
          <p:nvPr/>
        </p:nvSpPr>
        <p:spPr>
          <a:xfrm>
            <a:off x="1389888" y="4251960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E7F6F3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6449" y="4348521"/>
            <a:ext cx="209215" cy="209215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1920240" y="4123944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Prioritize by real risk</a:t>
            </a:r>
            <a:endParaRPr lang="en-US" sz="1450" dirty="0"/>
          </a:p>
        </p:txBody>
      </p:sp>
      <p:sp>
        <p:nvSpPr>
          <p:cNvPr id="27" name="Text 22"/>
          <p:cNvSpPr/>
          <p:nvPr/>
        </p:nvSpPr>
        <p:spPr>
          <a:xfrm>
            <a:off x="1920240" y="4471416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Attack-path analysis ranks by exploitability &amp; blast radius, not raw CVSS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868680" y="4855464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29" name="Shape 24"/>
          <p:cNvSpPr/>
          <p:nvPr/>
        </p:nvSpPr>
        <p:spPr>
          <a:xfrm>
            <a:off x="548640" y="5038344"/>
            <a:ext cx="6858000" cy="868680"/>
          </a:xfrm>
          <a:prstGeom prst="roundRect">
            <a:avLst>
              <a:gd name="adj" fmla="val 9474"/>
            </a:avLst>
          </a:prstGeom>
          <a:solidFill>
            <a:srgbClr val="F3F6FC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749808" y="5239512"/>
            <a:ext cx="457200" cy="457200"/>
          </a:xfrm>
          <a:prstGeom prst="ellipse">
            <a:avLst/>
          </a:prstGeom>
          <a:solidFill>
            <a:srgbClr val="0F9488"/>
          </a:solidFill>
          <a:ln/>
        </p:spPr>
      </p:sp>
      <p:sp>
        <p:nvSpPr>
          <p:cNvPr id="31" name="Text 26"/>
          <p:cNvSpPr/>
          <p:nvPr/>
        </p:nvSpPr>
        <p:spPr>
          <a:xfrm>
            <a:off x="749808" y="52395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32" name="Shape 27"/>
          <p:cNvSpPr/>
          <p:nvPr/>
        </p:nvSpPr>
        <p:spPr>
          <a:xfrm>
            <a:off x="1389888" y="5276088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E7F6F3"/>
          </a:solidFill>
          <a:ln/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6449" y="5372649"/>
            <a:ext cx="209215" cy="209215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1920240" y="5148072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Remediate &amp; assign</a:t>
            </a:r>
            <a:endParaRPr lang="en-US" sz="1450" dirty="0"/>
          </a:p>
        </p:txBody>
      </p:sp>
      <p:sp>
        <p:nvSpPr>
          <p:cNvPr id="35" name="Text 29"/>
          <p:cNvSpPr/>
          <p:nvPr/>
        </p:nvSpPr>
        <p:spPr>
          <a:xfrm>
            <a:off x="1920240" y="5495544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AI-recommended fixes, auto-assigned ownership, tracked to closure</a:t>
            </a:r>
            <a:endParaRPr lang="en-US" sz="1100" dirty="0"/>
          </a:p>
        </p:txBody>
      </p:sp>
      <p:sp>
        <p:nvSpPr>
          <p:cNvPr id="36" name="Shape 30"/>
          <p:cNvSpPr/>
          <p:nvPr/>
        </p:nvSpPr>
        <p:spPr>
          <a:xfrm>
            <a:off x="7772400" y="1965960"/>
            <a:ext cx="3840480" cy="2514600"/>
          </a:xfrm>
          <a:prstGeom prst="roundRect">
            <a:avLst>
              <a:gd name="adj" fmla="val 3636"/>
            </a:avLst>
          </a:prstGeom>
          <a:solidFill>
            <a:srgbClr val="141A3C"/>
          </a:solidFill>
          <a:ln/>
          <a:effectLst>
            <a:outerShdw sx="100000" sy="100000" kx="0" ky="0" algn="bl" rotWithShape="0" blurRad="114300" dist="38100" dir="5400000">
              <a:srgbClr val="8794AD">
                <a:alpha val="28000"/>
              </a:srgbClr>
            </a:outerShdw>
          </a:effectLst>
        </p:spPr>
      </p:sp>
      <p:sp>
        <p:nvSpPr>
          <p:cNvPr id="37" name="Text 31"/>
          <p:cNvSpPr/>
          <p:nvPr/>
        </p:nvSpPr>
        <p:spPr>
          <a:xfrm>
            <a:off x="8092440" y="222199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3FD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CVEs</a:t>
            </a:r>
            <a:endParaRPr lang="en-US" sz="1200" dirty="0"/>
          </a:p>
        </p:txBody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8160" y="2679192"/>
            <a:ext cx="182880" cy="182880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8430768" y="26517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hygiene gaps</a:t>
            </a:r>
            <a:endParaRPr lang="en-US" sz="1250" dirty="0"/>
          </a:p>
        </p:txBody>
      </p:sp>
      <p:pic>
        <p:nvPicPr>
          <p:cNvPr id="4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8160" y="3099816"/>
            <a:ext cx="182880" cy="182880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8430768" y="3072384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misconfigurations</a:t>
            </a:r>
            <a:endParaRPr lang="en-US" sz="1250" dirty="0"/>
          </a:p>
        </p:txBody>
      </p:sp>
      <p:pic>
        <p:nvPicPr>
          <p:cNvPr id="4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38160" y="3520440"/>
            <a:ext cx="182880" cy="182880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8430768" y="349300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&amp; TLS issues</a:t>
            </a:r>
            <a:endParaRPr lang="en-US" sz="1250" dirty="0"/>
          </a:p>
        </p:txBody>
      </p:sp>
      <p:pic>
        <p:nvPicPr>
          <p:cNvPr id="4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38160" y="3941064"/>
            <a:ext cx="182880" cy="182880"/>
          </a:xfrm>
          <a:prstGeom prst="rect">
            <a:avLst/>
          </a:prstGeom>
        </p:spPr>
      </p:pic>
      <p:sp>
        <p:nvSpPr>
          <p:cNvPr id="45" name="Text 35"/>
          <p:cNvSpPr/>
          <p:nvPr/>
        </p:nvSpPr>
        <p:spPr>
          <a:xfrm>
            <a:off x="8430768" y="391363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violations &amp; drift</a:t>
            </a:r>
            <a:endParaRPr lang="en-US" sz="1250" dirty="0"/>
          </a:p>
        </p:txBody>
      </p:sp>
      <p:sp>
        <p:nvSpPr>
          <p:cNvPr id="46" name="Shape 36"/>
          <p:cNvSpPr/>
          <p:nvPr/>
        </p:nvSpPr>
        <p:spPr>
          <a:xfrm>
            <a:off x="7772400" y="4663440"/>
            <a:ext cx="3840480" cy="1463040"/>
          </a:xfrm>
          <a:prstGeom prst="roundRect">
            <a:avLst>
              <a:gd name="adj" fmla="val 6250"/>
            </a:avLst>
          </a:prstGeom>
          <a:solidFill>
            <a:srgbClr val="FBF1E0"/>
          </a:solidFill>
          <a:ln w="12700">
            <a:solidFill>
              <a:srgbClr val="B9791A"/>
            </a:solidFill>
            <a:prstDash val="solid"/>
          </a:ln>
        </p:spPr>
      </p:sp>
      <p:sp>
        <p:nvSpPr>
          <p:cNvPr id="47" name="Shape 37"/>
          <p:cNvSpPr/>
          <p:nvPr/>
        </p:nvSpPr>
        <p:spPr>
          <a:xfrm>
            <a:off x="8065008" y="48920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pic>
        <p:nvPicPr>
          <p:cNvPr id="4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74736" y="5001768"/>
            <a:ext cx="237744" cy="237744"/>
          </a:xfrm>
          <a:prstGeom prst="rect">
            <a:avLst/>
          </a:prstGeom>
        </p:spPr>
      </p:pic>
      <p:sp>
        <p:nvSpPr>
          <p:cNvPr id="49" name="Text 38"/>
          <p:cNvSpPr/>
          <p:nvPr/>
        </p:nvSpPr>
        <p:spPr>
          <a:xfrm>
            <a:off x="8641080" y="487375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979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ManageEngine</a:t>
            </a:r>
            <a:endParaRPr lang="en-US" sz="1400" dirty="0"/>
          </a:p>
        </p:txBody>
      </p:sp>
      <p:sp>
        <p:nvSpPr>
          <p:cNvPr id="50" name="Text 39"/>
          <p:cNvSpPr/>
          <p:nvPr/>
        </p:nvSpPr>
        <p:spPr>
          <a:xfrm>
            <a:off x="8092440" y="5276088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6B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deploy patches to its own endpoints — but doesn’t correlate or prioritize exposure across scanners.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Automation &amp; response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Enforcement Center turns a query result into action — bi-directionally, across the tools you already run.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474720" cy="1554480"/>
          </a:xfrm>
          <a:prstGeom prst="roundRect">
            <a:avLst>
              <a:gd name="adj" fmla="val 5294"/>
            </a:avLst>
          </a:prstGeom>
          <a:solidFill>
            <a:srgbClr val="F3F6FC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794AD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24028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E7F6F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2922" y="2371954"/>
            <a:ext cx="285293" cy="28529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22402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Isolate or block a device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41248" y="28803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3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firewall / EDR containment on risky or rogue assets</a:t>
            </a:r>
            <a:endParaRPr lang="en-US" sz="1130" dirty="0"/>
          </a:p>
        </p:txBody>
      </p:sp>
      <p:sp>
        <p:nvSpPr>
          <p:cNvPr id="10" name="Shape 7"/>
          <p:cNvSpPr/>
          <p:nvPr/>
        </p:nvSpPr>
        <p:spPr>
          <a:xfrm>
            <a:off x="4343400" y="1965960"/>
            <a:ext cx="3474720" cy="1554480"/>
          </a:xfrm>
          <a:prstGeom prst="roundRect">
            <a:avLst>
              <a:gd name="adj" fmla="val 5294"/>
            </a:avLst>
          </a:prstGeom>
          <a:solidFill>
            <a:srgbClr val="F3F6FC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794AD">
                <a:alpha val="2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36008" y="224028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E7F6F3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7682" y="2371954"/>
            <a:ext cx="285293" cy="28529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03520" y="22402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Disable or manage accounts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636008" y="28803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3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on identities directly in AD / IdP</a:t>
            </a:r>
            <a:endParaRPr lang="en-US" sz="1130" dirty="0"/>
          </a:p>
        </p:txBody>
      </p:sp>
      <p:sp>
        <p:nvSpPr>
          <p:cNvPr id="15" name="Shape 11"/>
          <p:cNvSpPr/>
          <p:nvPr/>
        </p:nvSpPr>
        <p:spPr>
          <a:xfrm>
            <a:off x="8138160" y="1965960"/>
            <a:ext cx="3474720" cy="1554480"/>
          </a:xfrm>
          <a:prstGeom prst="roundRect">
            <a:avLst>
              <a:gd name="adj" fmla="val 5294"/>
            </a:avLst>
          </a:prstGeom>
          <a:solidFill>
            <a:srgbClr val="F3F6FC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794AD">
                <a:alpha val="2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430768" y="224028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E7F6F3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2442" y="2371954"/>
            <a:ext cx="285293" cy="28529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098280" y="22402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&amp; track tickets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8430768" y="28803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3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tracked ITSM tickets with full asset context</a:t>
            </a:r>
            <a:endParaRPr lang="en-US" sz="1130" dirty="0"/>
          </a:p>
        </p:txBody>
      </p:sp>
      <p:sp>
        <p:nvSpPr>
          <p:cNvPr id="20" name="Shape 15"/>
          <p:cNvSpPr/>
          <p:nvPr/>
        </p:nvSpPr>
        <p:spPr>
          <a:xfrm>
            <a:off x="548640" y="3794760"/>
            <a:ext cx="3474720" cy="1554480"/>
          </a:xfrm>
          <a:prstGeom prst="roundRect">
            <a:avLst>
              <a:gd name="adj" fmla="val 5294"/>
            </a:avLst>
          </a:prstGeom>
          <a:solidFill>
            <a:srgbClr val="F3F6FC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794AD">
                <a:alpha val="2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841248" y="406908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E7F6F3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922" y="4200754"/>
            <a:ext cx="285293" cy="285293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508760" y="40690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Enrich CMDB &amp; SIEM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841248" y="47091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3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reconciled asset data back into downstream systems</a:t>
            </a:r>
            <a:endParaRPr lang="en-US" sz="1130" dirty="0"/>
          </a:p>
        </p:txBody>
      </p:sp>
      <p:sp>
        <p:nvSpPr>
          <p:cNvPr id="25" name="Shape 19"/>
          <p:cNvSpPr/>
          <p:nvPr/>
        </p:nvSpPr>
        <p:spPr>
          <a:xfrm>
            <a:off x="4343400" y="3794760"/>
            <a:ext cx="3474720" cy="1554480"/>
          </a:xfrm>
          <a:prstGeom prst="roundRect">
            <a:avLst>
              <a:gd name="adj" fmla="val 5294"/>
            </a:avLst>
          </a:prstGeom>
          <a:solidFill>
            <a:srgbClr val="F3F6FC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794AD">
                <a:alpha val="28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636008" y="406908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E7F6F3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7682" y="4200754"/>
            <a:ext cx="285293" cy="285293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303520" y="40690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 or verify agents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4636008" y="47091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3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and remediate missing security agents</a:t>
            </a:r>
            <a:endParaRPr lang="en-US" sz="1130" dirty="0"/>
          </a:p>
        </p:txBody>
      </p:sp>
      <p:sp>
        <p:nvSpPr>
          <p:cNvPr id="30" name="Shape 23"/>
          <p:cNvSpPr/>
          <p:nvPr/>
        </p:nvSpPr>
        <p:spPr>
          <a:xfrm>
            <a:off x="8138160" y="3794760"/>
            <a:ext cx="3474720" cy="1554480"/>
          </a:xfrm>
          <a:prstGeom prst="roundRect">
            <a:avLst>
              <a:gd name="adj" fmla="val 5294"/>
            </a:avLst>
          </a:prstGeom>
          <a:solidFill>
            <a:srgbClr val="F3F6FC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794AD">
                <a:alpha val="28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430768" y="406908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E7F6F3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62442" y="4200754"/>
            <a:ext cx="285293" cy="285293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9098280" y="40690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Notify owners &amp; escalate</a:t>
            </a:r>
            <a:endParaRPr lang="en-US" sz="1400" dirty="0"/>
          </a:p>
        </p:txBody>
      </p:sp>
      <p:sp>
        <p:nvSpPr>
          <p:cNvPr id="34" name="Text 26"/>
          <p:cNvSpPr/>
          <p:nvPr/>
        </p:nvSpPr>
        <p:spPr>
          <a:xfrm>
            <a:off x="8430768" y="47091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3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findings to the right owner automatically</a:t>
            </a:r>
            <a:endParaRPr lang="en-US" sz="1130" dirty="0"/>
          </a:p>
        </p:txBody>
      </p:sp>
      <p:sp>
        <p:nvSpPr>
          <p:cNvPr id="35" name="Shape 27"/>
          <p:cNvSpPr/>
          <p:nvPr/>
        </p:nvSpPr>
        <p:spPr>
          <a:xfrm>
            <a:off x="548640" y="5870448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0F9488"/>
          </a:solidFill>
          <a:ln/>
        </p:spPr>
      </p:sp>
      <p:sp>
        <p:nvSpPr>
          <p:cNvPr id="36" name="Text 28"/>
          <p:cNvSpPr/>
          <p:nvPr/>
        </p:nvSpPr>
        <p:spPr>
          <a:xfrm>
            <a:off x="914400" y="5870448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Policy-driven and triggered automatically — ManageEngine automates within the endpoints it manages; Axonius acts across your entire stack.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unlocks day to day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49240" cy="2212848"/>
          </a:xfrm>
          <a:prstGeom prst="roundRect">
            <a:avLst>
              <a:gd name="adj" fmla="val 4132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794AD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47088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E7F6F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4743" y="1983151"/>
            <a:ext cx="294803" cy="2948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72768" y="1828800"/>
            <a:ext cx="4114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“Which laptops have no EDR?”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68680" y="2542032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30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Axonius cross-checks your endpoint inventory against your EDR console and lists every device the agent never reported — in one query.</a:t>
            </a:r>
            <a:endParaRPr lang="en-US" sz="1230" dirty="0"/>
          </a:p>
        </p:txBody>
      </p:sp>
      <p:sp>
        <p:nvSpPr>
          <p:cNvPr id="9" name="Shape 6"/>
          <p:cNvSpPr/>
          <p:nvPr/>
        </p:nvSpPr>
        <p:spPr>
          <a:xfrm>
            <a:off x="868680" y="3310128"/>
            <a:ext cx="4709160" cy="0"/>
          </a:xfrm>
          <a:prstGeom prst="line">
            <a:avLst/>
          </a:prstGeom>
          <a:noFill/>
          <a:ln w="12700">
            <a:solidFill>
              <a:srgbClr val="E4E9F2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383280"/>
            <a:ext cx="182880" cy="1828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15568" y="3328416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i="1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ManageEngine can’t: it doesn’t ingest your EDR.</a:t>
            </a:r>
            <a:endParaRPr lang="en-US" sz="1080" dirty="0"/>
          </a:p>
        </p:txBody>
      </p:sp>
      <p:sp>
        <p:nvSpPr>
          <p:cNvPr id="12" name="Shape 8"/>
          <p:cNvSpPr/>
          <p:nvPr/>
        </p:nvSpPr>
        <p:spPr>
          <a:xfrm>
            <a:off x="6263640" y="1554480"/>
            <a:ext cx="5349240" cy="2212848"/>
          </a:xfrm>
          <a:prstGeom prst="roundRect">
            <a:avLst>
              <a:gd name="adj" fmla="val 4132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794AD">
                <a:alpha val="2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583680" y="1847088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E7F6F3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9743" y="1983151"/>
            <a:ext cx="294803" cy="29480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287768" y="1828800"/>
            <a:ext cx="4114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“What’s on the network we don’t manage?”</a:t>
            </a:r>
            <a:endParaRPr lang="en-US" sz="1550" dirty="0"/>
          </a:p>
        </p:txBody>
      </p:sp>
      <p:sp>
        <p:nvSpPr>
          <p:cNvPr id="16" name="Text 11"/>
          <p:cNvSpPr/>
          <p:nvPr/>
        </p:nvSpPr>
        <p:spPr>
          <a:xfrm>
            <a:off x="6583680" y="2542032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30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Correlating DHCP, cloud, identity and scan data surfaces rogue and unmanaged assets that no single agent covers.</a:t>
            </a:r>
            <a:endParaRPr lang="en-US" sz="1230" dirty="0"/>
          </a:p>
        </p:txBody>
      </p:sp>
      <p:sp>
        <p:nvSpPr>
          <p:cNvPr id="17" name="Shape 12"/>
          <p:cNvSpPr/>
          <p:nvPr/>
        </p:nvSpPr>
        <p:spPr>
          <a:xfrm>
            <a:off x="6583680" y="3310128"/>
            <a:ext cx="4709160" cy="0"/>
          </a:xfrm>
          <a:prstGeom prst="line">
            <a:avLst/>
          </a:prstGeom>
          <a:noFill/>
          <a:ln w="12700">
            <a:solidFill>
              <a:srgbClr val="E4E9F2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3383280"/>
            <a:ext cx="182880" cy="1828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830568" y="3328416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i="1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ManageEngine sees only what it scans.</a:t>
            </a:r>
            <a:endParaRPr lang="en-US" sz="1080" dirty="0"/>
          </a:p>
        </p:txBody>
      </p:sp>
      <p:sp>
        <p:nvSpPr>
          <p:cNvPr id="20" name="Shape 14"/>
          <p:cNvSpPr/>
          <p:nvPr/>
        </p:nvSpPr>
        <p:spPr>
          <a:xfrm>
            <a:off x="548640" y="4087368"/>
            <a:ext cx="5349240" cy="2212848"/>
          </a:xfrm>
          <a:prstGeom prst="roundRect">
            <a:avLst>
              <a:gd name="adj" fmla="val 4132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794AD">
                <a:alpha val="28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868680" y="4379976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E7F6F3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743" y="4516039"/>
            <a:ext cx="294803" cy="294803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572768" y="4361688"/>
            <a:ext cx="4114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“Is every critical asset being scanned?”</a:t>
            </a:r>
            <a:endParaRPr lang="en-US" sz="1550" dirty="0"/>
          </a:p>
        </p:txBody>
      </p:sp>
      <p:sp>
        <p:nvSpPr>
          <p:cNvPr id="24" name="Text 17"/>
          <p:cNvSpPr/>
          <p:nvPr/>
        </p:nvSpPr>
        <p:spPr>
          <a:xfrm>
            <a:off x="868680" y="5074920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30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that vuln-scan, logging and control coverage actually reaches every asset that matters — and auto-remediate the gaps.</a:t>
            </a:r>
            <a:endParaRPr lang="en-US" sz="1230" dirty="0"/>
          </a:p>
        </p:txBody>
      </p:sp>
      <p:sp>
        <p:nvSpPr>
          <p:cNvPr id="25" name="Shape 18"/>
          <p:cNvSpPr/>
          <p:nvPr/>
        </p:nvSpPr>
        <p:spPr>
          <a:xfrm>
            <a:off x="868680" y="5843016"/>
            <a:ext cx="4709160" cy="0"/>
          </a:xfrm>
          <a:prstGeom prst="line">
            <a:avLst/>
          </a:prstGeom>
          <a:noFill/>
          <a:ln w="12700">
            <a:solidFill>
              <a:srgbClr val="E4E9F2"/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5916168"/>
            <a:ext cx="182880" cy="18288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1115568" y="5861304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i="1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ITAM’s remit.</a:t>
            </a:r>
            <a:endParaRPr lang="en-US" sz="1080" dirty="0"/>
          </a:p>
        </p:txBody>
      </p:sp>
      <p:sp>
        <p:nvSpPr>
          <p:cNvPr id="28" name="Shape 20"/>
          <p:cNvSpPr/>
          <p:nvPr/>
        </p:nvSpPr>
        <p:spPr>
          <a:xfrm>
            <a:off x="6263640" y="4087368"/>
            <a:ext cx="5349240" cy="2212848"/>
          </a:xfrm>
          <a:prstGeom prst="roundRect">
            <a:avLst>
              <a:gd name="adj" fmla="val 4132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794AD">
                <a:alpha val="28000"/>
              </a:srgbClr>
            </a:outerShdw>
          </a:effectLst>
        </p:spPr>
      </p:sp>
      <p:sp>
        <p:nvSpPr>
          <p:cNvPr id="29" name="Shape 21"/>
          <p:cNvSpPr/>
          <p:nvPr/>
        </p:nvSpPr>
        <p:spPr>
          <a:xfrm>
            <a:off x="6583680" y="4379976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E7F6F3"/>
          </a:solidFill>
          <a:ln/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19743" y="4516039"/>
            <a:ext cx="294803" cy="294803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7287768" y="4361688"/>
            <a:ext cx="4114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“Prove control coverage for the audit.”</a:t>
            </a:r>
            <a:endParaRPr lang="en-US" sz="1550" dirty="0"/>
          </a:p>
        </p:txBody>
      </p:sp>
      <p:sp>
        <p:nvSpPr>
          <p:cNvPr id="32" name="Text 23"/>
          <p:cNvSpPr/>
          <p:nvPr/>
        </p:nvSpPr>
        <p:spPr>
          <a:xfrm>
            <a:off x="6583680" y="5074920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30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Continuously evidence which assets meet policy and map it to regulatory frameworks — audit-ready, not a spreadsheet scramble.</a:t>
            </a:r>
            <a:endParaRPr lang="en-US" sz="1230" dirty="0"/>
          </a:p>
        </p:txBody>
      </p:sp>
      <p:sp>
        <p:nvSpPr>
          <p:cNvPr id="33" name="Shape 24"/>
          <p:cNvSpPr/>
          <p:nvPr/>
        </p:nvSpPr>
        <p:spPr>
          <a:xfrm>
            <a:off x="6583680" y="5843016"/>
            <a:ext cx="4709160" cy="0"/>
          </a:xfrm>
          <a:prstGeom prst="line">
            <a:avLst/>
          </a:prstGeom>
          <a:noFill/>
          <a:ln w="12700">
            <a:solidFill>
              <a:srgbClr val="E4E9F2"/>
            </a:solidFill>
            <a:prstDash val="solid"/>
          </a:ln>
        </p:spPr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3680" y="5916168"/>
            <a:ext cx="182880" cy="182880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6830568" y="5861304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i="1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ManageEngine reports on inventory, not control posture.</a:t>
            </a:r>
            <a:endParaRPr lang="en-US" sz="10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FD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cost of blind spots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industry’s problem isn’t collecting data — it’s turning it into action. A reconciled asset model is what closes that gap.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2560320" cy="3063240"/>
          </a:xfrm>
          <a:prstGeom prst="roundRect">
            <a:avLst>
              <a:gd name="adj" fmla="val 3571"/>
            </a:avLst>
          </a:prstGeom>
          <a:solidFill>
            <a:srgbClr val="1B2450"/>
          </a:solidFill>
          <a:ln w="12700">
            <a:solidFill>
              <a:srgbClr val="2E3A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37744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FD5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45%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77240" y="333756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 assets &amp; exposures into a single view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429768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8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other 55% work from fragmented reality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3383280" y="2057400"/>
            <a:ext cx="2560320" cy="3063240"/>
          </a:xfrm>
          <a:prstGeom prst="roundRect">
            <a:avLst>
              <a:gd name="adj" fmla="val 3571"/>
            </a:avLst>
          </a:prstGeom>
          <a:solidFill>
            <a:srgbClr val="1B2450"/>
          </a:solidFill>
          <a:ln w="12700">
            <a:solidFill>
              <a:srgbClr val="2E3A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20440" y="237744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FD5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55%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3611880" y="333756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track remediation in spreadsheets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11880" y="429768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8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manual, error-prone, impossible to audit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6217920" y="2057400"/>
            <a:ext cx="2560320" cy="3063240"/>
          </a:xfrm>
          <a:prstGeom prst="roundRect">
            <a:avLst>
              <a:gd name="adj" fmla="val 3571"/>
            </a:avLst>
          </a:prstGeom>
          <a:solidFill>
            <a:srgbClr val="1B2450"/>
          </a:solidFill>
          <a:ln w="12700">
            <a:solidFill>
              <a:srgbClr val="2E3A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237744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FD5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23%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6446520" y="333756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apply exploitability &amp; business impact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46520" y="429768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8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prioritize on raw severity alone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9052560" y="2057400"/>
            <a:ext cx="2560320" cy="3063240"/>
          </a:xfrm>
          <a:prstGeom prst="roundRect">
            <a:avLst>
              <a:gd name="adj" fmla="val 3571"/>
            </a:avLst>
          </a:prstGeom>
          <a:solidFill>
            <a:srgbClr val="1B2450"/>
          </a:solidFill>
          <a:ln w="12700">
            <a:solidFill>
              <a:srgbClr val="2E3A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89720" y="237744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FD5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~50%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9281160" y="333756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consistently assign remediation ownership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281160" y="429768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8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stall with no clear owner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548640" y="61722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C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Axonius 2026 Actionability Report (Ponemon Institute; 662 IT &amp; security professionals).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 &amp; time-to-value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03520" cy="4160520"/>
          </a:xfrm>
          <a:prstGeom prst="roundRect">
            <a:avLst>
              <a:gd name="adj" fmla="val 2198"/>
            </a:avLst>
          </a:prstGeom>
          <a:solidFill>
            <a:srgbClr val="E7F6F3"/>
          </a:solidFill>
          <a:ln w="12700">
            <a:solidFill>
              <a:srgbClr val="0F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874520"/>
            <a:ext cx="603504" cy="60350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521" y="2019361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874520"/>
            <a:ext cx="40233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Axonius — connect, don’t deploy</a:t>
            </a:r>
            <a:endParaRPr lang="en-US" sz="17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724912"/>
            <a:ext cx="201168" cy="2011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34440" y="2660904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Agentless — nothing to install on endpoints</a:t>
            </a:r>
            <a:endParaRPr lang="en-US" sz="13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291840"/>
            <a:ext cx="201168" cy="20116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34440" y="3227832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adapters over API to tools you already own</a:t>
            </a:r>
            <a:endParaRPr lang="en-US" sz="13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858768"/>
            <a:ext cx="201168" cy="20116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34440" y="3794760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in hours to days, not an agent-rollout project</a:t>
            </a:r>
            <a:endParaRPr lang="en-US" sz="13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425696"/>
            <a:ext cx="201168" cy="20116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234440" y="4361688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as SaaS (Axonius-hosted) or on-prem</a:t>
            </a:r>
            <a:endParaRPr lang="en-US" sz="13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4992624"/>
            <a:ext cx="201168" cy="201168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1234440" y="4928616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Widens automatically as you connect more sources</a:t>
            </a:r>
            <a:endParaRPr lang="en-US" sz="1300" dirty="0"/>
          </a:p>
        </p:txBody>
      </p:sp>
      <p:sp>
        <p:nvSpPr>
          <p:cNvPr id="18" name="Shape 10"/>
          <p:cNvSpPr/>
          <p:nvPr/>
        </p:nvSpPr>
        <p:spPr>
          <a:xfrm>
            <a:off x="6309360" y="1600200"/>
            <a:ext cx="5303520" cy="4160520"/>
          </a:xfrm>
          <a:prstGeom prst="roundRect">
            <a:avLst>
              <a:gd name="adj" fmla="val 2198"/>
            </a:avLst>
          </a:prstGeom>
          <a:solidFill>
            <a:srgbClr val="FBF1E0"/>
          </a:solidFill>
          <a:ln w="12700">
            <a:solidFill>
              <a:srgbClr val="B9791A"/>
            </a:solidFill>
            <a:prstDash val="solid"/>
          </a:ln>
        </p:spPr>
      </p:sp>
      <p:sp>
        <p:nvSpPr>
          <p:cNvPr id="19" name="Shape 11"/>
          <p:cNvSpPr/>
          <p:nvPr/>
        </p:nvSpPr>
        <p:spPr>
          <a:xfrm>
            <a:off x="6629400" y="1874520"/>
            <a:ext cx="603504" cy="60350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74241" y="2019361"/>
            <a:ext cx="313822" cy="313822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7360920" y="1874520"/>
            <a:ext cx="40233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979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ManageEngine — install &amp; scan</a:t>
            </a:r>
            <a:endParaRPr lang="en-US" sz="1700" dirty="0"/>
          </a:p>
        </p:txBody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75120" y="2724912"/>
            <a:ext cx="201168" cy="201168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6995160" y="2660904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out agents / configure scans across the estate</a:t>
            </a:r>
            <a:endParaRPr lang="en-US" sz="1300" dirty="0"/>
          </a:p>
        </p:txBody>
      </p:sp>
      <p:pic>
        <p:nvPicPr>
          <p:cNvPr id="2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75120" y="3291840"/>
            <a:ext cx="201168" cy="201168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6995160" y="3227832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limited to what agents &amp; scans reach</a:t>
            </a:r>
            <a:endParaRPr lang="en-US" sz="1300" dirty="0"/>
          </a:p>
        </p:txBody>
      </p:sp>
      <p:pic>
        <p:nvPicPr>
          <p:cNvPr id="2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75120" y="3858768"/>
            <a:ext cx="201168" cy="201168"/>
          </a:xfrm>
          <a:prstGeom prst="rect">
            <a:avLst/>
          </a:prstGeom>
        </p:spPr>
      </p:pic>
      <p:sp>
        <p:nvSpPr>
          <p:cNvPr id="27" name="Text 15"/>
          <p:cNvSpPr/>
          <p:nvPr/>
        </p:nvSpPr>
        <p:spPr>
          <a:xfrm>
            <a:off x="6995160" y="3794760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+ database sizing for large estates</a:t>
            </a:r>
            <a:endParaRPr lang="en-US" sz="1300" dirty="0"/>
          </a:p>
        </p:txBody>
      </p:sp>
      <p:pic>
        <p:nvPicPr>
          <p:cNvPr id="2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75120" y="4425696"/>
            <a:ext cx="201168" cy="201168"/>
          </a:xfrm>
          <a:prstGeom prst="rect">
            <a:avLst/>
          </a:prstGeom>
        </p:spPr>
      </p:pic>
      <p:sp>
        <p:nvSpPr>
          <p:cNvPr id="29" name="Text 16"/>
          <p:cNvSpPr/>
          <p:nvPr/>
        </p:nvSpPr>
        <p:spPr>
          <a:xfrm>
            <a:off x="6995160" y="4361688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 or cloud editions available</a:t>
            </a:r>
            <a:endParaRPr lang="en-US" sz="1300" dirty="0"/>
          </a:p>
        </p:txBody>
      </p:sp>
      <p:pic>
        <p:nvPicPr>
          <p:cNvPr id="3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75120" y="4992624"/>
            <a:ext cx="201168" cy="201168"/>
          </a:xfrm>
          <a:prstGeom prst="rect">
            <a:avLst/>
          </a:prstGeom>
        </p:spPr>
      </p:pic>
      <p:sp>
        <p:nvSpPr>
          <p:cNvPr id="31" name="Text 17"/>
          <p:cNvSpPr/>
          <p:nvPr/>
        </p:nvSpPr>
        <p:spPr>
          <a:xfrm>
            <a:off x="6995160" y="4928616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once deployed — but a heavier rollout</a:t>
            </a:r>
            <a:endParaRPr lang="en-US" sz="1300" dirty="0"/>
          </a:p>
        </p:txBody>
      </p:sp>
      <p:sp>
        <p:nvSpPr>
          <p:cNvPr id="32" name="Text 18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note: on a large estate, planning the Axonius integrations still takes design effort — the payoff is no endpoint-agent rollout.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ALIGNMENT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Compliance in the Saudi financial sector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inventory, control coverage and continuous monitoring are foundational requirements — exactly what Axonius evidences.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3505200" cy="35204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794AD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011680"/>
            <a:ext cx="3505200" cy="868680"/>
          </a:xfrm>
          <a:prstGeom prst="roundRect">
            <a:avLst>
              <a:gd name="adj" fmla="val 10526"/>
            </a:avLst>
          </a:prstGeom>
          <a:solidFill>
            <a:srgbClr val="141A3C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468880"/>
            <a:ext cx="3505200" cy="411480"/>
          </a:xfrm>
          <a:prstGeom prst="rect">
            <a:avLst/>
          </a:prstGeom>
          <a:solidFill>
            <a:srgbClr val="141A3C"/>
          </a:solidFill>
          <a:ln/>
        </p:spPr>
      </p:sp>
      <p:sp>
        <p:nvSpPr>
          <p:cNvPr id="8" name="Shape 6"/>
          <p:cNvSpPr/>
          <p:nvPr/>
        </p:nvSpPr>
        <p:spPr>
          <a:xfrm>
            <a:off x="841248" y="2231136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3FD5C4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6587" y="2336475"/>
            <a:ext cx="228234" cy="22823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71600" y="2194560"/>
            <a:ext cx="2499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SAMA CSF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822960" y="3017520"/>
            <a:ext cx="2956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3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Security Framework — mandatory for banks, insurers and credit bureaus in KSA.</a:t>
            </a:r>
            <a:endParaRPr lang="en-US" sz="113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4041648"/>
            <a:ext cx="182880" cy="1828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97280" y="3968496"/>
            <a:ext cx="2727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asset inventory &amp; ownership</a:t>
            </a:r>
            <a:endParaRPr lang="en-US" sz="115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4498848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97280" y="4425696"/>
            <a:ext cx="2727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coverage &amp; monitoring</a:t>
            </a:r>
            <a:endParaRPr lang="en-US" sz="11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4956048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97280" y="4882896"/>
            <a:ext cx="2727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Risk-based vulnerability management</a:t>
            </a:r>
            <a:endParaRPr lang="en-US" sz="1150" dirty="0"/>
          </a:p>
        </p:txBody>
      </p:sp>
      <p:sp>
        <p:nvSpPr>
          <p:cNvPr id="18" name="Shape 12"/>
          <p:cNvSpPr/>
          <p:nvPr/>
        </p:nvSpPr>
        <p:spPr>
          <a:xfrm>
            <a:off x="4328160" y="2011680"/>
            <a:ext cx="3505200" cy="35204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794AD">
                <a:alpha val="28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4328160" y="2011680"/>
            <a:ext cx="3505200" cy="868680"/>
          </a:xfrm>
          <a:prstGeom prst="roundRect">
            <a:avLst>
              <a:gd name="adj" fmla="val 10526"/>
            </a:avLst>
          </a:prstGeom>
          <a:solidFill>
            <a:srgbClr val="141A3C"/>
          </a:solidFill>
          <a:ln/>
        </p:spPr>
      </p:sp>
      <p:sp>
        <p:nvSpPr>
          <p:cNvPr id="20" name="Shape 14"/>
          <p:cNvSpPr/>
          <p:nvPr/>
        </p:nvSpPr>
        <p:spPr>
          <a:xfrm>
            <a:off x="4328160" y="2468880"/>
            <a:ext cx="3505200" cy="411480"/>
          </a:xfrm>
          <a:prstGeom prst="rect">
            <a:avLst/>
          </a:prstGeom>
          <a:solidFill>
            <a:srgbClr val="141A3C"/>
          </a:solidFill>
          <a:ln/>
        </p:spPr>
      </p:sp>
      <p:sp>
        <p:nvSpPr>
          <p:cNvPr id="21" name="Shape 15"/>
          <p:cNvSpPr/>
          <p:nvPr/>
        </p:nvSpPr>
        <p:spPr>
          <a:xfrm>
            <a:off x="4620768" y="2231136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3FD5C4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6107" y="2336475"/>
            <a:ext cx="228234" cy="22823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151120" y="2194560"/>
            <a:ext cx="2499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NCA ECC</a:t>
            </a:r>
            <a:endParaRPr lang="en-US" sz="1800" dirty="0"/>
          </a:p>
        </p:txBody>
      </p:sp>
      <p:sp>
        <p:nvSpPr>
          <p:cNvPr id="24" name="Text 17"/>
          <p:cNvSpPr/>
          <p:nvPr/>
        </p:nvSpPr>
        <p:spPr>
          <a:xfrm>
            <a:off x="4602480" y="3017520"/>
            <a:ext cx="2956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3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Cybersecurity Controls (114 controls) — Domain 2 covers asset &amp; inventory management.</a:t>
            </a:r>
            <a:endParaRPr lang="en-US" sz="1130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20768" y="4041648"/>
            <a:ext cx="182880" cy="18288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4876800" y="3968496"/>
            <a:ext cx="2727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&amp; inventory management (2-1)</a:t>
            </a:r>
            <a:endParaRPr lang="en-US" sz="1150" dirty="0"/>
          </a:p>
        </p:txBody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20768" y="4498848"/>
            <a:ext cx="182880" cy="18288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4876800" y="4425696"/>
            <a:ext cx="2727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&amp; patch management</a:t>
            </a:r>
            <a:endParaRPr lang="en-US" sz="1150" dirty="0"/>
          </a:p>
        </p:txBody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20768" y="4956048"/>
            <a:ext cx="182880" cy="182880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4876800" y="4882896"/>
            <a:ext cx="2727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controls are operating</a:t>
            </a:r>
            <a:endParaRPr lang="en-US" sz="1150" dirty="0"/>
          </a:p>
        </p:txBody>
      </p:sp>
      <p:sp>
        <p:nvSpPr>
          <p:cNvPr id="31" name="Shape 21"/>
          <p:cNvSpPr/>
          <p:nvPr/>
        </p:nvSpPr>
        <p:spPr>
          <a:xfrm>
            <a:off x="8107680" y="2011680"/>
            <a:ext cx="3505200" cy="35204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794AD">
                <a:alpha val="28000"/>
              </a:srgbClr>
            </a:outerShdw>
          </a:effectLst>
        </p:spPr>
      </p:sp>
      <p:sp>
        <p:nvSpPr>
          <p:cNvPr id="32" name="Shape 22"/>
          <p:cNvSpPr/>
          <p:nvPr/>
        </p:nvSpPr>
        <p:spPr>
          <a:xfrm>
            <a:off x="8107680" y="2011680"/>
            <a:ext cx="3505200" cy="868680"/>
          </a:xfrm>
          <a:prstGeom prst="roundRect">
            <a:avLst>
              <a:gd name="adj" fmla="val 10526"/>
            </a:avLst>
          </a:prstGeom>
          <a:solidFill>
            <a:srgbClr val="141A3C"/>
          </a:solidFill>
          <a:ln/>
        </p:spPr>
      </p:sp>
      <p:sp>
        <p:nvSpPr>
          <p:cNvPr id="33" name="Shape 23"/>
          <p:cNvSpPr/>
          <p:nvPr/>
        </p:nvSpPr>
        <p:spPr>
          <a:xfrm>
            <a:off x="8107680" y="2468880"/>
            <a:ext cx="3505200" cy="411480"/>
          </a:xfrm>
          <a:prstGeom prst="rect">
            <a:avLst/>
          </a:prstGeom>
          <a:solidFill>
            <a:srgbClr val="141A3C"/>
          </a:solidFill>
          <a:ln/>
        </p:spPr>
      </p:sp>
      <p:sp>
        <p:nvSpPr>
          <p:cNvPr id="34" name="Shape 24"/>
          <p:cNvSpPr/>
          <p:nvPr/>
        </p:nvSpPr>
        <p:spPr>
          <a:xfrm>
            <a:off x="8400288" y="2231136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3FD5C4"/>
          </a:solidFill>
          <a:ln/>
        </p:spPr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05627" y="2336475"/>
            <a:ext cx="228234" cy="228234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8930640" y="2194560"/>
            <a:ext cx="2499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NDMO</a:t>
            </a:r>
            <a:endParaRPr lang="en-US" sz="1800" dirty="0"/>
          </a:p>
        </p:txBody>
      </p:sp>
      <p:sp>
        <p:nvSpPr>
          <p:cNvPr id="37" name="Text 26"/>
          <p:cNvSpPr/>
          <p:nvPr/>
        </p:nvSpPr>
        <p:spPr>
          <a:xfrm>
            <a:off x="8382000" y="3017520"/>
            <a:ext cx="2956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3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Data Management &amp; governance standards for data assets.</a:t>
            </a:r>
            <a:endParaRPr lang="en-US" sz="1130" dirty="0"/>
          </a:p>
        </p:txBody>
      </p:sp>
      <p:pic>
        <p:nvPicPr>
          <p:cNvPr id="3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00288" y="4041648"/>
            <a:ext cx="182880" cy="182880"/>
          </a:xfrm>
          <a:prstGeom prst="rect">
            <a:avLst/>
          </a:prstGeom>
        </p:spPr>
      </p:pic>
      <p:sp>
        <p:nvSpPr>
          <p:cNvPr id="39" name="Text 27"/>
          <p:cNvSpPr/>
          <p:nvPr/>
        </p:nvSpPr>
        <p:spPr>
          <a:xfrm>
            <a:off x="8656320" y="3968496"/>
            <a:ext cx="2727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Data-asset cataloguing &amp; ownership</a:t>
            </a:r>
            <a:endParaRPr lang="en-US" sz="1150" dirty="0"/>
          </a:p>
        </p:txBody>
      </p:sp>
      <p:pic>
        <p:nvPicPr>
          <p:cNvPr id="40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00288" y="4498848"/>
            <a:ext cx="182880" cy="182880"/>
          </a:xfrm>
          <a:prstGeom prst="rect">
            <a:avLst/>
          </a:prstGeom>
        </p:spPr>
      </p:pic>
      <p:sp>
        <p:nvSpPr>
          <p:cNvPr id="41" name="Text 28"/>
          <p:cNvSpPr/>
          <p:nvPr/>
        </p:nvSpPr>
        <p:spPr>
          <a:xfrm>
            <a:off x="8656320" y="4425696"/>
            <a:ext cx="2727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Classification-aware inventory</a:t>
            </a:r>
            <a:endParaRPr lang="en-US" sz="1150" dirty="0"/>
          </a:p>
        </p:txBody>
      </p:sp>
      <p:pic>
        <p:nvPicPr>
          <p:cNvPr id="42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00288" y="4956048"/>
            <a:ext cx="182880" cy="182880"/>
          </a:xfrm>
          <a:prstGeom prst="rect">
            <a:avLst/>
          </a:prstGeom>
        </p:spPr>
      </p:pic>
      <p:sp>
        <p:nvSpPr>
          <p:cNvPr id="43" name="Text 29"/>
          <p:cNvSpPr/>
          <p:nvPr/>
        </p:nvSpPr>
        <p:spPr>
          <a:xfrm>
            <a:off x="8656320" y="4882896"/>
            <a:ext cx="2727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Auditable, current records</a:t>
            </a:r>
            <a:endParaRPr lang="en-US" sz="1150" dirty="0"/>
          </a:p>
        </p:txBody>
      </p:sp>
      <p:sp>
        <p:nvSpPr>
          <p:cNvPr id="44" name="Text 30"/>
          <p:cNvSpPr/>
          <p:nvPr/>
        </p:nvSpPr>
        <p:spPr>
          <a:xfrm>
            <a:off x="548640" y="612648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0" i="1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Axonius supports these control objectives and produces audit evidence; it does not by itself confer certification.</a:t>
            </a:r>
            <a:endParaRPr lang="en-US" sz="108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Weighted scorecard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Rated through a security-program lens — weight the criteria to your own mandate.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852160" cy="457200"/>
          </a:xfrm>
          <a:prstGeom prst="rect">
            <a:avLst/>
          </a:prstGeom>
          <a:solidFill>
            <a:srgbClr val="141A3C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0" y="1783080"/>
            <a:ext cx="2606040" cy="457200"/>
          </a:xfrm>
          <a:prstGeom prst="rect">
            <a:avLst/>
          </a:prstGeom>
          <a:solidFill>
            <a:srgbClr val="0F9488"/>
          </a:solidFill>
          <a:ln/>
        </p:spPr>
      </p:sp>
      <p:sp>
        <p:nvSpPr>
          <p:cNvPr id="7" name="Shape 5"/>
          <p:cNvSpPr/>
          <p:nvPr/>
        </p:nvSpPr>
        <p:spPr>
          <a:xfrm>
            <a:off x="9006840" y="1783080"/>
            <a:ext cx="2606040" cy="457200"/>
          </a:xfrm>
          <a:prstGeom prst="rect">
            <a:avLst/>
          </a:prstGeom>
          <a:solidFill>
            <a:srgbClr val="B9791A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7830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0" y="17830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Axonius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006840" y="17830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ManageEngine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240280"/>
            <a:ext cx="11064240" cy="457200"/>
          </a:xfrm>
          <a:prstGeom prst="rect">
            <a:avLst/>
          </a:prstGeom>
          <a:solidFill>
            <a:srgbClr val="F3F6FC"/>
          </a:solidFill>
          <a:ln w="9525">
            <a:solidFill>
              <a:srgbClr val="E4E9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2402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visibility &amp; coverage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9772" y="2377440"/>
            <a:ext cx="182880" cy="182880"/>
          </a:xfrm>
          <a:prstGeom prst="ellipse">
            <a:avLst/>
          </a:prstGeom>
          <a:solidFill>
            <a:srgbClr val="0F9488"/>
          </a:solidFill>
          <a:ln/>
        </p:spPr>
      </p:sp>
      <p:sp>
        <p:nvSpPr>
          <p:cNvPr id="14" name="Shape 12"/>
          <p:cNvSpPr/>
          <p:nvPr/>
        </p:nvSpPr>
        <p:spPr>
          <a:xfrm>
            <a:off x="7612380" y="2377440"/>
            <a:ext cx="182880" cy="182880"/>
          </a:xfrm>
          <a:prstGeom prst="ellipse">
            <a:avLst/>
          </a:prstGeom>
          <a:solidFill>
            <a:srgbClr val="0F9488"/>
          </a:solidFill>
          <a:ln/>
        </p:spPr>
      </p:sp>
      <p:sp>
        <p:nvSpPr>
          <p:cNvPr id="15" name="Shape 13"/>
          <p:cNvSpPr/>
          <p:nvPr/>
        </p:nvSpPr>
        <p:spPr>
          <a:xfrm>
            <a:off x="7904988" y="2377440"/>
            <a:ext cx="182880" cy="182880"/>
          </a:xfrm>
          <a:prstGeom prst="ellipse">
            <a:avLst/>
          </a:prstGeom>
          <a:solidFill>
            <a:srgbClr val="0F9488"/>
          </a:solidFill>
          <a:ln/>
        </p:spPr>
      </p:sp>
      <p:sp>
        <p:nvSpPr>
          <p:cNvPr id="16" name="Shape 14"/>
          <p:cNvSpPr/>
          <p:nvPr/>
        </p:nvSpPr>
        <p:spPr>
          <a:xfrm>
            <a:off x="9925812" y="2377440"/>
            <a:ext cx="182880" cy="182880"/>
          </a:xfrm>
          <a:prstGeom prst="ellipse">
            <a:avLst/>
          </a:prstGeom>
          <a:solidFill>
            <a:srgbClr val="B9791A"/>
          </a:solidFill>
          <a:ln/>
        </p:spPr>
      </p:sp>
      <p:sp>
        <p:nvSpPr>
          <p:cNvPr id="17" name="Shape 15"/>
          <p:cNvSpPr/>
          <p:nvPr/>
        </p:nvSpPr>
        <p:spPr>
          <a:xfrm>
            <a:off x="10218420" y="2377440"/>
            <a:ext cx="182880" cy="182880"/>
          </a:xfrm>
          <a:prstGeom prst="ellipse">
            <a:avLst/>
          </a:prstGeom>
          <a:solidFill>
            <a:srgbClr val="D8DEEA"/>
          </a:solidFill>
          <a:ln/>
        </p:spPr>
      </p:sp>
      <p:sp>
        <p:nvSpPr>
          <p:cNvPr id="18" name="Shape 16"/>
          <p:cNvSpPr/>
          <p:nvPr/>
        </p:nvSpPr>
        <p:spPr>
          <a:xfrm>
            <a:off x="10511028" y="2377440"/>
            <a:ext cx="182880" cy="182880"/>
          </a:xfrm>
          <a:prstGeom prst="ellipse">
            <a:avLst/>
          </a:prstGeom>
          <a:solidFill>
            <a:srgbClr val="D8DEEA"/>
          </a:solidFill>
          <a:ln/>
        </p:spPr>
      </p:sp>
      <p:sp>
        <p:nvSpPr>
          <p:cNvPr id="19" name="Shape 17"/>
          <p:cNvSpPr/>
          <p:nvPr/>
        </p:nvSpPr>
        <p:spPr>
          <a:xfrm>
            <a:off x="548640" y="2697480"/>
            <a:ext cx="110642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9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26974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Exposure prioritization &amp; remediation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319772" y="2834640"/>
            <a:ext cx="182880" cy="182880"/>
          </a:xfrm>
          <a:prstGeom prst="ellipse">
            <a:avLst/>
          </a:prstGeom>
          <a:solidFill>
            <a:srgbClr val="0F9488"/>
          </a:solidFill>
          <a:ln/>
        </p:spPr>
      </p:sp>
      <p:sp>
        <p:nvSpPr>
          <p:cNvPr id="22" name="Shape 20"/>
          <p:cNvSpPr/>
          <p:nvPr/>
        </p:nvSpPr>
        <p:spPr>
          <a:xfrm>
            <a:off x="7612380" y="2834640"/>
            <a:ext cx="182880" cy="182880"/>
          </a:xfrm>
          <a:prstGeom prst="ellipse">
            <a:avLst/>
          </a:prstGeom>
          <a:solidFill>
            <a:srgbClr val="0F9488"/>
          </a:solidFill>
          <a:ln/>
        </p:spPr>
      </p:sp>
      <p:sp>
        <p:nvSpPr>
          <p:cNvPr id="23" name="Shape 21"/>
          <p:cNvSpPr/>
          <p:nvPr/>
        </p:nvSpPr>
        <p:spPr>
          <a:xfrm>
            <a:off x="7904988" y="2834640"/>
            <a:ext cx="182880" cy="182880"/>
          </a:xfrm>
          <a:prstGeom prst="ellipse">
            <a:avLst/>
          </a:prstGeom>
          <a:solidFill>
            <a:srgbClr val="0F9488"/>
          </a:solidFill>
          <a:ln/>
        </p:spPr>
      </p:sp>
      <p:sp>
        <p:nvSpPr>
          <p:cNvPr id="24" name="Shape 22"/>
          <p:cNvSpPr/>
          <p:nvPr/>
        </p:nvSpPr>
        <p:spPr>
          <a:xfrm>
            <a:off x="9925812" y="2834640"/>
            <a:ext cx="182880" cy="182880"/>
          </a:xfrm>
          <a:prstGeom prst="ellipse">
            <a:avLst/>
          </a:prstGeom>
          <a:solidFill>
            <a:srgbClr val="B9791A"/>
          </a:solidFill>
          <a:ln/>
        </p:spPr>
      </p:sp>
      <p:sp>
        <p:nvSpPr>
          <p:cNvPr id="25" name="Shape 23"/>
          <p:cNvSpPr/>
          <p:nvPr/>
        </p:nvSpPr>
        <p:spPr>
          <a:xfrm>
            <a:off x="10218420" y="2834640"/>
            <a:ext cx="182880" cy="182880"/>
          </a:xfrm>
          <a:prstGeom prst="ellipse">
            <a:avLst/>
          </a:prstGeom>
          <a:solidFill>
            <a:srgbClr val="B9791A"/>
          </a:solidFill>
          <a:ln/>
        </p:spPr>
      </p:sp>
      <p:sp>
        <p:nvSpPr>
          <p:cNvPr id="26" name="Shape 24"/>
          <p:cNvSpPr/>
          <p:nvPr/>
        </p:nvSpPr>
        <p:spPr>
          <a:xfrm>
            <a:off x="10511028" y="2834640"/>
            <a:ext cx="182880" cy="182880"/>
          </a:xfrm>
          <a:prstGeom prst="ellipse">
            <a:avLst/>
          </a:prstGeom>
          <a:solidFill>
            <a:srgbClr val="D8DEEA"/>
          </a:solidFill>
          <a:ln/>
        </p:spPr>
      </p:sp>
      <p:sp>
        <p:nvSpPr>
          <p:cNvPr id="27" name="Shape 25"/>
          <p:cNvSpPr/>
          <p:nvPr/>
        </p:nvSpPr>
        <p:spPr>
          <a:xfrm>
            <a:off x="548640" y="3154680"/>
            <a:ext cx="11064240" cy="457200"/>
          </a:xfrm>
          <a:prstGeom prst="rect">
            <a:avLst/>
          </a:prstGeom>
          <a:solidFill>
            <a:srgbClr val="F3F6FC"/>
          </a:solidFill>
          <a:ln w="9525">
            <a:solidFill>
              <a:srgbClr val="E4E9F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31546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integration breadth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319772" y="3291840"/>
            <a:ext cx="182880" cy="182880"/>
          </a:xfrm>
          <a:prstGeom prst="ellipse">
            <a:avLst/>
          </a:prstGeom>
          <a:solidFill>
            <a:srgbClr val="0F9488"/>
          </a:solidFill>
          <a:ln/>
        </p:spPr>
      </p:sp>
      <p:sp>
        <p:nvSpPr>
          <p:cNvPr id="30" name="Shape 28"/>
          <p:cNvSpPr/>
          <p:nvPr/>
        </p:nvSpPr>
        <p:spPr>
          <a:xfrm>
            <a:off x="7612380" y="3291840"/>
            <a:ext cx="182880" cy="182880"/>
          </a:xfrm>
          <a:prstGeom prst="ellipse">
            <a:avLst/>
          </a:prstGeom>
          <a:solidFill>
            <a:srgbClr val="0F9488"/>
          </a:solidFill>
          <a:ln/>
        </p:spPr>
      </p:sp>
      <p:sp>
        <p:nvSpPr>
          <p:cNvPr id="31" name="Shape 29"/>
          <p:cNvSpPr/>
          <p:nvPr/>
        </p:nvSpPr>
        <p:spPr>
          <a:xfrm>
            <a:off x="7904988" y="3291840"/>
            <a:ext cx="182880" cy="182880"/>
          </a:xfrm>
          <a:prstGeom prst="ellipse">
            <a:avLst/>
          </a:prstGeom>
          <a:solidFill>
            <a:srgbClr val="0F9488"/>
          </a:solidFill>
          <a:ln/>
        </p:spPr>
      </p:sp>
      <p:sp>
        <p:nvSpPr>
          <p:cNvPr id="32" name="Shape 30"/>
          <p:cNvSpPr/>
          <p:nvPr/>
        </p:nvSpPr>
        <p:spPr>
          <a:xfrm>
            <a:off x="9925812" y="3291840"/>
            <a:ext cx="182880" cy="182880"/>
          </a:xfrm>
          <a:prstGeom prst="ellipse">
            <a:avLst/>
          </a:prstGeom>
          <a:solidFill>
            <a:srgbClr val="B9791A"/>
          </a:solidFill>
          <a:ln/>
        </p:spPr>
      </p:sp>
      <p:sp>
        <p:nvSpPr>
          <p:cNvPr id="33" name="Shape 31"/>
          <p:cNvSpPr/>
          <p:nvPr/>
        </p:nvSpPr>
        <p:spPr>
          <a:xfrm>
            <a:off x="10218420" y="3291840"/>
            <a:ext cx="182880" cy="182880"/>
          </a:xfrm>
          <a:prstGeom prst="ellipse">
            <a:avLst/>
          </a:prstGeom>
          <a:solidFill>
            <a:srgbClr val="B9791A"/>
          </a:solidFill>
          <a:ln/>
        </p:spPr>
      </p:sp>
      <p:sp>
        <p:nvSpPr>
          <p:cNvPr id="34" name="Shape 32"/>
          <p:cNvSpPr/>
          <p:nvPr/>
        </p:nvSpPr>
        <p:spPr>
          <a:xfrm>
            <a:off x="10511028" y="3291840"/>
            <a:ext cx="182880" cy="182880"/>
          </a:xfrm>
          <a:prstGeom prst="ellipse">
            <a:avLst/>
          </a:prstGeom>
          <a:solidFill>
            <a:srgbClr val="D8DEEA"/>
          </a:solidFill>
          <a:ln/>
        </p:spPr>
      </p:sp>
      <p:sp>
        <p:nvSpPr>
          <p:cNvPr id="35" name="Shape 33"/>
          <p:cNvSpPr/>
          <p:nvPr/>
        </p:nvSpPr>
        <p:spPr>
          <a:xfrm>
            <a:off x="548640" y="3611880"/>
            <a:ext cx="110642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9F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1520" y="36118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&amp; cross-tool response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7319772" y="3749040"/>
            <a:ext cx="182880" cy="182880"/>
          </a:xfrm>
          <a:prstGeom prst="ellipse">
            <a:avLst/>
          </a:prstGeom>
          <a:solidFill>
            <a:srgbClr val="0F9488"/>
          </a:solidFill>
          <a:ln/>
        </p:spPr>
      </p:sp>
      <p:sp>
        <p:nvSpPr>
          <p:cNvPr id="38" name="Shape 36"/>
          <p:cNvSpPr/>
          <p:nvPr/>
        </p:nvSpPr>
        <p:spPr>
          <a:xfrm>
            <a:off x="7612380" y="3749040"/>
            <a:ext cx="182880" cy="182880"/>
          </a:xfrm>
          <a:prstGeom prst="ellipse">
            <a:avLst/>
          </a:prstGeom>
          <a:solidFill>
            <a:srgbClr val="0F9488"/>
          </a:solidFill>
          <a:ln/>
        </p:spPr>
      </p:sp>
      <p:sp>
        <p:nvSpPr>
          <p:cNvPr id="39" name="Shape 37"/>
          <p:cNvSpPr/>
          <p:nvPr/>
        </p:nvSpPr>
        <p:spPr>
          <a:xfrm>
            <a:off x="7904988" y="3749040"/>
            <a:ext cx="182880" cy="182880"/>
          </a:xfrm>
          <a:prstGeom prst="ellipse">
            <a:avLst/>
          </a:prstGeom>
          <a:solidFill>
            <a:srgbClr val="0F9488"/>
          </a:solidFill>
          <a:ln/>
        </p:spPr>
      </p:sp>
      <p:sp>
        <p:nvSpPr>
          <p:cNvPr id="40" name="Shape 38"/>
          <p:cNvSpPr/>
          <p:nvPr/>
        </p:nvSpPr>
        <p:spPr>
          <a:xfrm>
            <a:off x="9925812" y="3749040"/>
            <a:ext cx="182880" cy="182880"/>
          </a:xfrm>
          <a:prstGeom prst="ellipse">
            <a:avLst/>
          </a:prstGeom>
          <a:solidFill>
            <a:srgbClr val="B9791A"/>
          </a:solidFill>
          <a:ln/>
        </p:spPr>
      </p:sp>
      <p:sp>
        <p:nvSpPr>
          <p:cNvPr id="41" name="Shape 39"/>
          <p:cNvSpPr/>
          <p:nvPr/>
        </p:nvSpPr>
        <p:spPr>
          <a:xfrm>
            <a:off x="10218420" y="3749040"/>
            <a:ext cx="182880" cy="182880"/>
          </a:xfrm>
          <a:prstGeom prst="ellipse">
            <a:avLst/>
          </a:prstGeom>
          <a:solidFill>
            <a:srgbClr val="B9791A"/>
          </a:solidFill>
          <a:ln/>
        </p:spPr>
      </p:sp>
      <p:sp>
        <p:nvSpPr>
          <p:cNvPr id="42" name="Shape 40"/>
          <p:cNvSpPr/>
          <p:nvPr/>
        </p:nvSpPr>
        <p:spPr>
          <a:xfrm>
            <a:off x="10511028" y="3749040"/>
            <a:ext cx="182880" cy="182880"/>
          </a:xfrm>
          <a:prstGeom prst="ellipse">
            <a:avLst/>
          </a:prstGeom>
          <a:solidFill>
            <a:srgbClr val="D8DEEA"/>
          </a:solidFill>
          <a:ln/>
        </p:spPr>
      </p:sp>
      <p:sp>
        <p:nvSpPr>
          <p:cNvPr id="43" name="Shape 41"/>
          <p:cNvSpPr/>
          <p:nvPr/>
        </p:nvSpPr>
        <p:spPr>
          <a:xfrm>
            <a:off x="548640" y="4069080"/>
            <a:ext cx="11064240" cy="457200"/>
          </a:xfrm>
          <a:prstGeom prst="rect">
            <a:avLst/>
          </a:prstGeom>
          <a:solidFill>
            <a:srgbClr val="F3F6FC"/>
          </a:solidFill>
          <a:ln w="9525">
            <a:solidFill>
              <a:srgbClr val="E4E9F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31520" y="40690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evidence &amp; audit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7319772" y="4206240"/>
            <a:ext cx="182880" cy="182880"/>
          </a:xfrm>
          <a:prstGeom prst="ellipse">
            <a:avLst/>
          </a:prstGeom>
          <a:solidFill>
            <a:srgbClr val="0F9488"/>
          </a:solidFill>
          <a:ln/>
        </p:spPr>
      </p:sp>
      <p:sp>
        <p:nvSpPr>
          <p:cNvPr id="46" name="Shape 44"/>
          <p:cNvSpPr/>
          <p:nvPr/>
        </p:nvSpPr>
        <p:spPr>
          <a:xfrm>
            <a:off x="7612380" y="4206240"/>
            <a:ext cx="182880" cy="182880"/>
          </a:xfrm>
          <a:prstGeom prst="ellipse">
            <a:avLst/>
          </a:prstGeom>
          <a:solidFill>
            <a:srgbClr val="0F9488"/>
          </a:solidFill>
          <a:ln/>
        </p:spPr>
      </p:sp>
      <p:sp>
        <p:nvSpPr>
          <p:cNvPr id="47" name="Shape 45"/>
          <p:cNvSpPr/>
          <p:nvPr/>
        </p:nvSpPr>
        <p:spPr>
          <a:xfrm>
            <a:off x="7904988" y="4206240"/>
            <a:ext cx="182880" cy="182880"/>
          </a:xfrm>
          <a:prstGeom prst="ellipse">
            <a:avLst/>
          </a:prstGeom>
          <a:solidFill>
            <a:srgbClr val="0F9488"/>
          </a:solidFill>
          <a:ln/>
        </p:spPr>
      </p:sp>
      <p:sp>
        <p:nvSpPr>
          <p:cNvPr id="48" name="Shape 46"/>
          <p:cNvSpPr/>
          <p:nvPr/>
        </p:nvSpPr>
        <p:spPr>
          <a:xfrm>
            <a:off x="9925812" y="4206240"/>
            <a:ext cx="182880" cy="182880"/>
          </a:xfrm>
          <a:prstGeom prst="ellipse">
            <a:avLst/>
          </a:prstGeom>
          <a:solidFill>
            <a:srgbClr val="B9791A"/>
          </a:solidFill>
          <a:ln/>
        </p:spPr>
      </p:sp>
      <p:sp>
        <p:nvSpPr>
          <p:cNvPr id="49" name="Shape 47"/>
          <p:cNvSpPr/>
          <p:nvPr/>
        </p:nvSpPr>
        <p:spPr>
          <a:xfrm>
            <a:off x="10218420" y="4206240"/>
            <a:ext cx="182880" cy="182880"/>
          </a:xfrm>
          <a:prstGeom prst="ellipse">
            <a:avLst/>
          </a:prstGeom>
          <a:solidFill>
            <a:srgbClr val="B9791A"/>
          </a:solidFill>
          <a:ln/>
        </p:spPr>
      </p:sp>
      <p:sp>
        <p:nvSpPr>
          <p:cNvPr id="50" name="Shape 48"/>
          <p:cNvSpPr/>
          <p:nvPr/>
        </p:nvSpPr>
        <p:spPr>
          <a:xfrm>
            <a:off x="10511028" y="4206240"/>
            <a:ext cx="182880" cy="182880"/>
          </a:xfrm>
          <a:prstGeom prst="ellipse">
            <a:avLst/>
          </a:prstGeom>
          <a:solidFill>
            <a:srgbClr val="D8DEEA"/>
          </a:solidFill>
          <a:ln/>
        </p:spPr>
      </p:sp>
      <p:sp>
        <p:nvSpPr>
          <p:cNvPr id="51" name="Shape 49"/>
          <p:cNvSpPr/>
          <p:nvPr/>
        </p:nvSpPr>
        <p:spPr>
          <a:xfrm>
            <a:off x="548640" y="4526280"/>
            <a:ext cx="110642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9F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31520" y="45262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speed to visibility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7319772" y="4663440"/>
            <a:ext cx="182880" cy="182880"/>
          </a:xfrm>
          <a:prstGeom prst="ellipse">
            <a:avLst/>
          </a:prstGeom>
          <a:solidFill>
            <a:srgbClr val="0F9488"/>
          </a:solidFill>
          <a:ln/>
        </p:spPr>
      </p:sp>
      <p:sp>
        <p:nvSpPr>
          <p:cNvPr id="54" name="Shape 52"/>
          <p:cNvSpPr/>
          <p:nvPr/>
        </p:nvSpPr>
        <p:spPr>
          <a:xfrm>
            <a:off x="7612380" y="4663440"/>
            <a:ext cx="182880" cy="182880"/>
          </a:xfrm>
          <a:prstGeom prst="ellipse">
            <a:avLst/>
          </a:prstGeom>
          <a:solidFill>
            <a:srgbClr val="0F9488"/>
          </a:solidFill>
          <a:ln/>
        </p:spPr>
      </p:sp>
      <p:sp>
        <p:nvSpPr>
          <p:cNvPr id="55" name="Shape 53"/>
          <p:cNvSpPr/>
          <p:nvPr/>
        </p:nvSpPr>
        <p:spPr>
          <a:xfrm>
            <a:off x="7904988" y="4663440"/>
            <a:ext cx="182880" cy="182880"/>
          </a:xfrm>
          <a:prstGeom prst="ellipse">
            <a:avLst/>
          </a:prstGeom>
          <a:solidFill>
            <a:srgbClr val="0F9488"/>
          </a:solidFill>
          <a:ln/>
        </p:spPr>
      </p:sp>
      <p:sp>
        <p:nvSpPr>
          <p:cNvPr id="56" name="Shape 54"/>
          <p:cNvSpPr/>
          <p:nvPr/>
        </p:nvSpPr>
        <p:spPr>
          <a:xfrm>
            <a:off x="9925812" y="4663440"/>
            <a:ext cx="182880" cy="182880"/>
          </a:xfrm>
          <a:prstGeom prst="ellipse">
            <a:avLst/>
          </a:prstGeom>
          <a:solidFill>
            <a:srgbClr val="B9791A"/>
          </a:solidFill>
          <a:ln/>
        </p:spPr>
      </p:sp>
      <p:sp>
        <p:nvSpPr>
          <p:cNvPr id="57" name="Shape 55"/>
          <p:cNvSpPr/>
          <p:nvPr/>
        </p:nvSpPr>
        <p:spPr>
          <a:xfrm>
            <a:off x="10218420" y="4663440"/>
            <a:ext cx="182880" cy="182880"/>
          </a:xfrm>
          <a:prstGeom prst="ellipse">
            <a:avLst/>
          </a:prstGeom>
          <a:solidFill>
            <a:srgbClr val="B9791A"/>
          </a:solidFill>
          <a:ln/>
        </p:spPr>
      </p:sp>
      <p:sp>
        <p:nvSpPr>
          <p:cNvPr id="58" name="Shape 56"/>
          <p:cNvSpPr/>
          <p:nvPr/>
        </p:nvSpPr>
        <p:spPr>
          <a:xfrm>
            <a:off x="10511028" y="4663440"/>
            <a:ext cx="182880" cy="182880"/>
          </a:xfrm>
          <a:prstGeom prst="ellipse">
            <a:avLst/>
          </a:prstGeom>
          <a:solidFill>
            <a:srgbClr val="D8DEEA"/>
          </a:solidFill>
          <a:ln/>
        </p:spPr>
      </p:sp>
      <p:sp>
        <p:nvSpPr>
          <p:cNvPr id="59" name="Shape 57"/>
          <p:cNvSpPr/>
          <p:nvPr/>
        </p:nvSpPr>
        <p:spPr>
          <a:xfrm>
            <a:off x="548640" y="4983480"/>
            <a:ext cx="11064240" cy="457200"/>
          </a:xfrm>
          <a:prstGeom prst="rect">
            <a:avLst/>
          </a:prstGeom>
          <a:solidFill>
            <a:srgbClr val="F3F6FC"/>
          </a:solidFill>
          <a:ln w="9525">
            <a:solidFill>
              <a:srgbClr val="E4E9F2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31520" y="49834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management &amp; patching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7319772" y="5120640"/>
            <a:ext cx="182880" cy="182880"/>
          </a:xfrm>
          <a:prstGeom prst="ellipse">
            <a:avLst/>
          </a:prstGeom>
          <a:solidFill>
            <a:srgbClr val="0F9488"/>
          </a:solidFill>
          <a:ln/>
        </p:spPr>
      </p:sp>
      <p:sp>
        <p:nvSpPr>
          <p:cNvPr id="62" name="Shape 60"/>
          <p:cNvSpPr/>
          <p:nvPr/>
        </p:nvSpPr>
        <p:spPr>
          <a:xfrm>
            <a:off x="7612380" y="5120640"/>
            <a:ext cx="182880" cy="182880"/>
          </a:xfrm>
          <a:prstGeom prst="ellipse">
            <a:avLst/>
          </a:prstGeom>
          <a:solidFill>
            <a:srgbClr val="D8DEEA"/>
          </a:solidFill>
          <a:ln/>
        </p:spPr>
      </p:sp>
      <p:sp>
        <p:nvSpPr>
          <p:cNvPr id="63" name="Shape 61"/>
          <p:cNvSpPr/>
          <p:nvPr/>
        </p:nvSpPr>
        <p:spPr>
          <a:xfrm>
            <a:off x="7904988" y="5120640"/>
            <a:ext cx="182880" cy="182880"/>
          </a:xfrm>
          <a:prstGeom prst="ellipse">
            <a:avLst/>
          </a:prstGeom>
          <a:solidFill>
            <a:srgbClr val="D8DEEA"/>
          </a:solidFill>
          <a:ln/>
        </p:spPr>
      </p:sp>
      <p:sp>
        <p:nvSpPr>
          <p:cNvPr id="64" name="Shape 62"/>
          <p:cNvSpPr/>
          <p:nvPr/>
        </p:nvSpPr>
        <p:spPr>
          <a:xfrm>
            <a:off x="9925812" y="5120640"/>
            <a:ext cx="182880" cy="182880"/>
          </a:xfrm>
          <a:prstGeom prst="ellipse">
            <a:avLst/>
          </a:prstGeom>
          <a:solidFill>
            <a:srgbClr val="B9791A"/>
          </a:solidFill>
          <a:ln/>
        </p:spPr>
      </p:sp>
      <p:sp>
        <p:nvSpPr>
          <p:cNvPr id="65" name="Shape 63"/>
          <p:cNvSpPr/>
          <p:nvPr/>
        </p:nvSpPr>
        <p:spPr>
          <a:xfrm>
            <a:off x="10218420" y="5120640"/>
            <a:ext cx="182880" cy="182880"/>
          </a:xfrm>
          <a:prstGeom prst="ellipse">
            <a:avLst/>
          </a:prstGeom>
          <a:solidFill>
            <a:srgbClr val="B9791A"/>
          </a:solidFill>
          <a:ln/>
        </p:spPr>
      </p:sp>
      <p:sp>
        <p:nvSpPr>
          <p:cNvPr id="66" name="Shape 64"/>
          <p:cNvSpPr/>
          <p:nvPr/>
        </p:nvSpPr>
        <p:spPr>
          <a:xfrm>
            <a:off x="10511028" y="5120640"/>
            <a:ext cx="182880" cy="182880"/>
          </a:xfrm>
          <a:prstGeom prst="ellipse">
            <a:avLst/>
          </a:prstGeom>
          <a:solidFill>
            <a:srgbClr val="B9791A"/>
          </a:solidFill>
          <a:ln/>
        </p:spPr>
      </p:sp>
      <p:sp>
        <p:nvSpPr>
          <p:cNvPr id="67" name="Shape 65"/>
          <p:cNvSpPr/>
          <p:nvPr/>
        </p:nvSpPr>
        <p:spPr>
          <a:xfrm>
            <a:off x="548640" y="5440680"/>
            <a:ext cx="110642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9F2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31520" y="54406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Licensing, procurement &amp; ITSM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7319772" y="5577840"/>
            <a:ext cx="182880" cy="182880"/>
          </a:xfrm>
          <a:prstGeom prst="ellipse">
            <a:avLst/>
          </a:prstGeom>
          <a:solidFill>
            <a:srgbClr val="D8DEEA"/>
          </a:solidFill>
          <a:ln/>
        </p:spPr>
      </p:sp>
      <p:sp>
        <p:nvSpPr>
          <p:cNvPr id="70" name="Shape 68"/>
          <p:cNvSpPr/>
          <p:nvPr/>
        </p:nvSpPr>
        <p:spPr>
          <a:xfrm>
            <a:off x="7612380" y="5577840"/>
            <a:ext cx="182880" cy="182880"/>
          </a:xfrm>
          <a:prstGeom prst="ellipse">
            <a:avLst/>
          </a:prstGeom>
          <a:solidFill>
            <a:srgbClr val="D8DEEA"/>
          </a:solidFill>
          <a:ln/>
        </p:spPr>
      </p:sp>
      <p:sp>
        <p:nvSpPr>
          <p:cNvPr id="71" name="Shape 69"/>
          <p:cNvSpPr/>
          <p:nvPr/>
        </p:nvSpPr>
        <p:spPr>
          <a:xfrm>
            <a:off x="7904988" y="5577840"/>
            <a:ext cx="182880" cy="182880"/>
          </a:xfrm>
          <a:prstGeom prst="ellipse">
            <a:avLst/>
          </a:prstGeom>
          <a:solidFill>
            <a:srgbClr val="D8DEEA"/>
          </a:solidFill>
          <a:ln/>
        </p:spPr>
      </p:sp>
      <p:sp>
        <p:nvSpPr>
          <p:cNvPr id="72" name="Shape 70"/>
          <p:cNvSpPr/>
          <p:nvPr/>
        </p:nvSpPr>
        <p:spPr>
          <a:xfrm>
            <a:off x="9925812" y="5577840"/>
            <a:ext cx="182880" cy="182880"/>
          </a:xfrm>
          <a:prstGeom prst="ellipse">
            <a:avLst/>
          </a:prstGeom>
          <a:solidFill>
            <a:srgbClr val="B9791A"/>
          </a:solidFill>
          <a:ln/>
        </p:spPr>
      </p:sp>
      <p:sp>
        <p:nvSpPr>
          <p:cNvPr id="73" name="Shape 71"/>
          <p:cNvSpPr/>
          <p:nvPr/>
        </p:nvSpPr>
        <p:spPr>
          <a:xfrm>
            <a:off x="10218420" y="5577840"/>
            <a:ext cx="182880" cy="182880"/>
          </a:xfrm>
          <a:prstGeom prst="ellipse">
            <a:avLst/>
          </a:prstGeom>
          <a:solidFill>
            <a:srgbClr val="B9791A"/>
          </a:solidFill>
          <a:ln/>
        </p:spPr>
      </p:sp>
      <p:sp>
        <p:nvSpPr>
          <p:cNvPr id="74" name="Shape 72"/>
          <p:cNvSpPr/>
          <p:nvPr/>
        </p:nvSpPr>
        <p:spPr>
          <a:xfrm>
            <a:off x="10511028" y="5577840"/>
            <a:ext cx="182880" cy="182880"/>
          </a:xfrm>
          <a:prstGeom prst="ellipse">
            <a:avLst/>
          </a:prstGeom>
          <a:solidFill>
            <a:srgbClr val="B9791A"/>
          </a:solidFill>
          <a:ln/>
        </p:spPr>
      </p:sp>
      <p:sp>
        <p:nvSpPr>
          <p:cNvPr id="75" name="Text 73"/>
          <p:cNvSpPr/>
          <p:nvPr/>
        </p:nvSpPr>
        <p:spPr>
          <a:xfrm>
            <a:off x="548640" y="6044184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filled = stronger fit.  Ratings reflect a security-team priority set; a pure IT-ops mandate shifts the weighting toward ManageEngine.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97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FAIR 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ManageEngine is the right tool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Axonius doesn’t replace ManageEngine — there are jobs it does that Axonius deliberately doesn’t.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49240" cy="1234440"/>
          </a:xfrm>
          <a:prstGeom prst="roundRect">
            <a:avLst>
              <a:gd name="adj" fmla="val 7407"/>
            </a:avLst>
          </a:prstGeom>
          <a:solidFill>
            <a:srgbClr val="FBF1E0"/>
          </a:solidFill>
          <a:ln w="12700">
            <a:solidFill>
              <a:srgbClr val="EAD6B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276856"/>
            <a:ext cx="603504" cy="60350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521" y="2421697"/>
            <a:ext cx="313822" cy="31382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27632" y="2167128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B979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Endpoint management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1627632" y="2569464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6B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Patching, software deployment and remote control via Endpoint Central.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1965960"/>
            <a:ext cx="5349240" cy="1234440"/>
          </a:xfrm>
          <a:prstGeom prst="roundRect">
            <a:avLst>
              <a:gd name="adj" fmla="val 7407"/>
            </a:avLst>
          </a:prstGeom>
          <a:solidFill>
            <a:srgbClr val="FBF1E0"/>
          </a:solidFill>
          <a:ln w="12700">
            <a:solidFill>
              <a:srgbClr val="EAD6B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83680" y="2276856"/>
            <a:ext cx="603504" cy="60350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8521" y="2421697"/>
            <a:ext cx="313822" cy="31382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342632" y="2167128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B979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service management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7342632" y="2569464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6B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desk, tickets and workflows through ServiceDesk Plus.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548640" y="3474720"/>
            <a:ext cx="5349240" cy="1234440"/>
          </a:xfrm>
          <a:prstGeom prst="roundRect">
            <a:avLst>
              <a:gd name="adj" fmla="val 7407"/>
            </a:avLst>
          </a:prstGeom>
          <a:solidFill>
            <a:srgbClr val="FBF1E0"/>
          </a:solidFill>
          <a:ln w="12700">
            <a:solidFill>
              <a:srgbClr val="EAD6B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68680" y="3785616"/>
            <a:ext cx="603504" cy="60350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521" y="3930457"/>
            <a:ext cx="313822" cy="31382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27632" y="3675888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B979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Licensing &amp; procurement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1627632" y="4078224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6B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 compliance, purchase orders, contracts, vendor &amp; warranty tracking.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263640" y="3474720"/>
            <a:ext cx="5349240" cy="1234440"/>
          </a:xfrm>
          <a:prstGeom prst="roundRect">
            <a:avLst>
              <a:gd name="adj" fmla="val 7407"/>
            </a:avLst>
          </a:prstGeom>
          <a:solidFill>
            <a:srgbClr val="FBF1E0"/>
          </a:solidFill>
          <a:ln w="12700">
            <a:solidFill>
              <a:srgbClr val="EAD6B0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583680" y="3785616"/>
            <a:ext cx="603504" cy="60350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8521" y="3930457"/>
            <a:ext cx="313822" cy="31382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342632" y="3675888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B979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ITAM lifecycle &amp; CMDB</a:t>
            </a:r>
            <a:endParaRPr lang="en-US" sz="1550" dirty="0"/>
          </a:p>
        </p:txBody>
      </p:sp>
      <p:sp>
        <p:nvSpPr>
          <p:cNvPr id="24" name="Text 18"/>
          <p:cNvSpPr/>
          <p:nvPr/>
        </p:nvSpPr>
        <p:spPr>
          <a:xfrm>
            <a:off x="7342632" y="4078224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6B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Cradle-to-grave IT asset lifecycle and a configuration database for operations.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548640" y="4937760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141A3C"/>
          </a:solidFill>
          <a:ln/>
        </p:spPr>
      </p:sp>
      <p:sp>
        <p:nvSpPr>
          <p:cNvPr id="26" name="Text 20"/>
          <p:cNvSpPr/>
          <p:nvPr/>
        </p:nvSpPr>
        <p:spPr>
          <a:xfrm>
            <a:off x="914400" y="5084064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FD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to be fair about Axonius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914400" y="5376672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cost scales with asset count ·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design takes planning on large estates ·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it’s a security layer, not an endpoint-management or ITSM replacement.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1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-2194560"/>
            <a:ext cx="6400800" cy="64008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6692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FD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Choose by the job to be done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303520" cy="2331720"/>
          </a:xfrm>
          <a:prstGeom prst="roundRect">
            <a:avLst>
              <a:gd name="adj" fmla="val 3922"/>
            </a:avLst>
          </a:prstGeom>
          <a:solidFill>
            <a:srgbClr val="1B2450"/>
          </a:solidFill>
          <a:ln w="19050">
            <a:solidFill>
              <a:srgbClr val="3FD5C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121408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3FD5C4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" y="2275027"/>
            <a:ext cx="332842" cy="33284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2139696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FD5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Lead with Axonius when…</a:t>
            </a:r>
            <a:endParaRPr lang="en-US" sz="17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953512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07008" y="288036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 is security visibility &amp; attack-surface reduction</a:t>
            </a:r>
            <a:endParaRPr lang="en-US" sz="12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337560"/>
            <a:ext cx="201168" cy="2011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07008" y="3264408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control-coverage validation and gap detection</a:t>
            </a:r>
            <a:endParaRPr lang="en-US" sz="12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721608"/>
            <a:ext cx="201168" cy="20116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07008" y="3648456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must evidence compliance across the environment</a:t>
            </a:r>
            <a:endParaRPr lang="en-US" sz="1250" dirty="0"/>
          </a:p>
        </p:txBody>
      </p:sp>
      <p:sp>
        <p:nvSpPr>
          <p:cNvPr id="15" name="Shape 9"/>
          <p:cNvSpPr/>
          <p:nvPr/>
        </p:nvSpPr>
        <p:spPr>
          <a:xfrm>
            <a:off x="6309360" y="1828800"/>
            <a:ext cx="5303520" cy="2331720"/>
          </a:xfrm>
          <a:prstGeom prst="roundRect">
            <a:avLst>
              <a:gd name="adj" fmla="val 3922"/>
            </a:avLst>
          </a:prstGeom>
          <a:solidFill>
            <a:srgbClr val="1B2450"/>
          </a:solidFill>
          <a:ln w="19050">
            <a:solidFill>
              <a:srgbClr val="E8A94E"/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>
            <a:off x="6629400" y="2121408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E8A94E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3019" y="2275027"/>
            <a:ext cx="332842" cy="33284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7452360" y="2139696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A9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Lead with ManageEngine when…</a:t>
            </a:r>
            <a:endParaRPr lang="en-US" sz="170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5120" y="2953512"/>
            <a:ext cx="201168" cy="201168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967728" y="288036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 is IT asset lifecycle &amp; inventory</a:t>
            </a:r>
            <a:endParaRPr lang="en-US" sz="1250" dirty="0"/>
          </a:p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75120" y="3337560"/>
            <a:ext cx="201168" cy="201168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6967728" y="3264408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patching, deployment or remote control</a:t>
            </a:r>
            <a:endParaRPr lang="en-US" sz="1250" dirty="0"/>
          </a:p>
        </p:txBody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75120" y="3721608"/>
            <a:ext cx="201168" cy="201168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6967728" y="3648456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run a help desk, licensing and procurement</a:t>
            </a:r>
            <a:endParaRPr lang="en-US" sz="1250" dirty="0"/>
          </a:p>
        </p:txBody>
      </p:sp>
      <p:sp>
        <p:nvSpPr>
          <p:cNvPr id="25" name="Shape 15"/>
          <p:cNvSpPr/>
          <p:nvPr/>
        </p:nvSpPr>
        <p:spPr>
          <a:xfrm>
            <a:off x="548640" y="448056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0F9488"/>
          </a:solidFill>
          <a:ln/>
          <a:effectLst>
            <a:outerShdw sx="100000" sy="100000" kx="0" ky="0" algn="bl" rotWithShape="0" blurRad="101600" dist="38100" dir="5400000">
              <a:srgbClr val="8794AD">
                <a:alpha val="28000"/>
              </a:srgbClr>
            </a:outerShdw>
          </a:effectLst>
        </p:spPr>
      </p:sp>
      <p:sp>
        <p:nvSpPr>
          <p:cNvPr id="26" name="Text 16"/>
          <p:cNvSpPr/>
          <p:nvPr/>
        </p:nvSpPr>
        <p:spPr>
          <a:xfrm>
            <a:off x="960120" y="4681728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F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verdict</a:t>
            </a:r>
            <a:endParaRPr lang="en-US" sz="1200" dirty="0"/>
          </a:p>
        </p:txBody>
      </p:sp>
      <p:sp>
        <p:nvSpPr>
          <p:cNvPr id="27" name="Text 17"/>
          <p:cNvSpPr/>
          <p:nvPr/>
        </p:nvSpPr>
        <p:spPr>
          <a:xfrm>
            <a:off x="960120" y="498348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security-led program, Axonius delivers capabilities ManageEngine structurally cannot — and it can consume ManageEngine as a source. Ideal end state: both, with Axonius as the security system of record.</a:t>
            </a:r>
            <a:endParaRPr lang="en-US" sz="14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41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FD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pragmatic adoption path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don’t rip anything out — you layer Axonius over what you already run, ManageEngine included.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1B2450"/>
          </a:solidFill>
          <a:ln w="12700">
            <a:solidFill>
              <a:srgbClr val="2E3A6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08760" y="2468880"/>
            <a:ext cx="640080" cy="640080"/>
          </a:xfrm>
          <a:prstGeom prst="ellipse">
            <a:avLst/>
          </a:prstGeom>
          <a:solidFill>
            <a:srgbClr val="0F9488"/>
          </a:solidFill>
          <a:ln/>
        </p:spPr>
      </p:sp>
      <p:sp>
        <p:nvSpPr>
          <p:cNvPr id="7" name="Text 5"/>
          <p:cNvSpPr/>
          <p:nvPr/>
        </p:nvSpPr>
        <p:spPr>
          <a:xfrm>
            <a:off x="1508760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527048" y="3246120"/>
            <a:ext cx="603504" cy="603504"/>
          </a:xfrm>
          <a:prstGeom prst="roundRect">
            <a:avLst>
              <a:gd name="adj" fmla="val 50000"/>
            </a:avLst>
          </a:prstGeom>
          <a:solidFill>
            <a:srgbClr val="141A3C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1889" y="3390961"/>
            <a:ext cx="313822" cy="31382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85800" y="39776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D5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777240" y="4389120"/>
            <a:ext cx="2103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Axonius with your existing tools over API — EDR, cloud, identity, vuln scanners and ManageEngine.</a:t>
            </a:r>
            <a:endParaRPr lang="en-US" sz="11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6392" y="3639312"/>
            <a:ext cx="219456" cy="219456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383280" y="219456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1B2450"/>
          </a:solidFill>
          <a:ln w="12700">
            <a:solidFill>
              <a:srgbClr val="2E3A6E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343400" y="2468880"/>
            <a:ext cx="640080" cy="640080"/>
          </a:xfrm>
          <a:prstGeom prst="ellipse">
            <a:avLst/>
          </a:prstGeom>
          <a:solidFill>
            <a:srgbClr val="0F9488"/>
          </a:solidFill>
          <a:ln/>
        </p:spPr>
      </p:sp>
      <p:sp>
        <p:nvSpPr>
          <p:cNvPr id="15" name="Text 11"/>
          <p:cNvSpPr/>
          <p:nvPr/>
        </p:nvSpPr>
        <p:spPr>
          <a:xfrm>
            <a:off x="4343400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6" name="Shape 12"/>
          <p:cNvSpPr/>
          <p:nvPr/>
        </p:nvSpPr>
        <p:spPr>
          <a:xfrm>
            <a:off x="4361688" y="3246120"/>
            <a:ext cx="603504" cy="603504"/>
          </a:xfrm>
          <a:prstGeom prst="roundRect">
            <a:avLst>
              <a:gd name="adj" fmla="val 50000"/>
            </a:avLst>
          </a:prstGeom>
          <a:solidFill>
            <a:srgbClr val="141A3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6529" y="3390961"/>
            <a:ext cx="313822" cy="31382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520440" y="39776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D5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Reconcile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3611880" y="4389120"/>
            <a:ext cx="2103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the single reconciled inventory and let coverage gaps, rogue assets and exposures surface automatically.</a:t>
            </a:r>
            <a:endParaRPr lang="en-US" sz="11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1032" y="3639312"/>
            <a:ext cx="219456" cy="219456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6217920" y="219456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1B2450"/>
          </a:solidFill>
          <a:ln w="12700">
            <a:solidFill>
              <a:srgbClr val="2E3A6E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7178040" y="2468880"/>
            <a:ext cx="640080" cy="640080"/>
          </a:xfrm>
          <a:prstGeom prst="ellipse">
            <a:avLst/>
          </a:prstGeom>
          <a:solidFill>
            <a:srgbClr val="0F9488"/>
          </a:solidFill>
          <a:ln/>
        </p:spPr>
      </p:sp>
      <p:sp>
        <p:nvSpPr>
          <p:cNvPr id="23" name="Text 17"/>
          <p:cNvSpPr/>
          <p:nvPr/>
        </p:nvSpPr>
        <p:spPr>
          <a:xfrm>
            <a:off x="7178040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24" name="Shape 18"/>
          <p:cNvSpPr/>
          <p:nvPr/>
        </p:nvSpPr>
        <p:spPr>
          <a:xfrm>
            <a:off x="7196328" y="3246120"/>
            <a:ext cx="603504" cy="603504"/>
          </a:xfrm>
          <a:prstGeom prst="roundRect">
            <a:avLst>
              <a:gd name="adj" fmla="val 50000"/>
            </a:avLst>
          </a:prstGeom>
          <a:solidFill>
            <a:srgbClr val="141A3C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1169" y="3390961"/>
            <a:ext cx="313822" cy="31382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355080" y="39776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D5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</a:t>
            </a:r>
            <a:endParaRPr lang="en-US" sz="1700" dirty="0"/>
          </a:p>
        </p:txBody>
      </p:sp>
      <p:sp>
        <p:nvSpPr>
          <p:cNvPr id="27" name="Text 20"/>
          <p:cNvSpPr/>
          <p:nvPr/>
        </p:nvSpPr>
        <p:spPr>
          <a:xfrm>
            <a:off x="6446520" y="4389120"/>
            <a:ext cx="2103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on policy-driven enforcement and remediation ownership across the stack; retire the spreadsheets.</a:t>
            </a:r>
            <a:endParaRPr lang="en-US" sz="1100" dirty="0"/>
          </a:p>
        </p:txBody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05672" y="3639312"/>
            <a:ext cx="219456" cy="219456"/>
          </a:xfrm>
          <a:prstGeom prst="rect">
            <a:avLst/>
          </a:prstGeom>
        </p:spPr>
      </p:pic>
      <p:sp>
        <p:nvSpPr>
          <p:cNvPr id="29" name="Shape 21"/>
          <p:cNvSpPr/>
          <p:nvPr/>
        </p:nvSpPr>
        <p:spPr>
          <a:xfrm>
            <a:off x="9052560" y="219456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1B2450"/>
          </a:solidFill>
          <a:ln w="12700">
            <a:solidFill>
              <a:srgbClr val="2E3A6E"/>
            </a:solidFill>
            <a:prstDash val="solid"/>
          </a:ln>
        </p:spPr>
      </p:sp>
      <p:sp>
        <p:nvSpPr>
          <p:cNvPr id="30" name="Shape 22"/>
          <p:cNvSpPr/>
          <p:nvPr/>
        </p:nvSpPr>
        <p:spPr>
          <a:xfrm>
            <a:off x="10012680" y="2468880"/>
            <a:ext cx="640080" cy="640080"/>
          </a:xfrm>
          <a:prstGeom prst="ellipse">
            <a:avLst/>
          </a:prstGeom>
          <a:solidFill>
            <a:srgbClr val="0F9488"/>
          </a:solidFill>
          <a:ln/>
        </p:spPr>
      </p:sp>
      <p:sp>
        <p:nvSpPr>
          <p:cNvPr id="31" name="Text 23"/>
          <p:cNvSpPr/>
          <p:nvPr/>
        </p:nvSpPr>
        <p:spPr>
          <a:xfrm>
            <a:off x="10012680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32" name="Shape 24"/>
          <p:cNvSpPr/>
          <p:nvPr/>
        </p:nvSpPr>
        <p:spPr>
          <a:xfrm>
            <a:off x="10030968" y="3246120"/>
            <a:ext cx="603504" cy="603504"/>
          </a:xfrm>
          <a:prstGeom prst="roundRect">
            <a:avLst>
              <a:gd name="adj" fmla="val 50000"/>
            </a:avLst>
          </a:prstGeom>
          <a:solidFill>
            <a:srgbClr val="141A3C"/>
          </a:solidFill>
          <a:ln/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75809" y="3390961"/>
            <a:ext cx="313822" cy="313822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9189720" y="39776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D5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</a:t>
            </a:r>
            <a:endParaRPr lang="en-US" sz="1700" dirty="0"/>
          </a:p>
        </p:txBody>
      </p:sp>
      <p:sp>
        <p:nvSpPr>
          <p:cNvPr id="35" name="Text 26"/>
          <p:cNvSpPr/>
          <p:nvPr/>
        </p:nvSpPr>
        <p:spPr>
          <a:xfrm>
            <a:off x="9281160" y="4389120"/>
            <a:ext cx="2103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control coverage continuously and map it to SAMA / NCA / NDMO for audit-ready assurance.</a:t>
            </a:r>
            <a:endParaRPr lang="en-US" sz="1100" dirty="0"/>
          </a:p>
        </p:txBody>
      </p:sp>
      <p:sp>
        <p:nvSpPr>
          <p:cNvPr id="36" name="Text 27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your highest-risk domain (endpoints or identities), prove the coverage gap it surfaces, then expand.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2026-07-20T09:29:16Z</dcterms:created>
  <dcterms:modified xsi:type="dcterms:W3CDTF">2026-07-20T09:29:16Z</dcterms:modified>
</cp:coreProperties>
</file>