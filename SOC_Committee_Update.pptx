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8.xml" ContentType="application/vnd.openxmlformats-officedocument.drawingml.chart+xml"/>
  <Override PartName="/ppt/charts/chart9.xml" ContentType="application/vnd.openxmlformats-officedocument.drawingml.chart+xml"/>
  <Override PartName="/ppt/charts/chart10.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11.xml" ContentType="application/vnd.openxmlformats-officedocument.drawingml.chart+xml"/>
  <Override PartName="/ppt/charts/chart12.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charts/chart13.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charts/chart14.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22.xml" ContentType="application/vnd.openxmlformats-officedocument.presentationml.slide+xml"/>
  <Override PartName="/ppt/slides/slide23.xml" ContentType="application/vnd.openxmlformats-officedocument.presentationml.slide+xml"/>
  <Override PartName="/ppt/notesSlides/notesSlide22.xml" ContentType="application/vnd.openxmlformats-officedocument.presentationml.notes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78" r:id="rId29"/>
    <p:sldId id="259" r:id="rId5"/>
    <p:sldId id="260" r:id="rId6"/>
    <p:sldId id="261" r:id="rId7"/>
    <p:sldId id="277" r:id="rId28"/>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  <Relationship Id="rId28" Type="http://schemas.openxmlformats.org/officeDocument/2006/relationships/slide" Target="slides/slide22.xml"/>
  <Relationship Id="rId29" Type="http://schemas.openxmlformats.org/officeDocument/2006/relationships/slide" Target="slides/slide23.xml"/>
</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_rels/chart11.xml.rels><?xml version="1.0" encoding="UTF-8" standalone="yes"?><Relationships xmlns="http://schemas.openxmlformats.org/package/2006/relationships"><Relationship Id="rId1" Type="http://schemas.openxmlformats.org/officeDocument/2006/relationships/package" Target="../embeddings/Microsoft_Excel_Worksheet11.xlsx"/></Relationships>
</file>

<file path=ppt/charts/_rels/chart12.xml.rels><?xml version="1.0" encoding="UTF-8" standalone="yes"?><Relationships xmlns="http://schemas.openxmlformats.org/package/2006/relationships"><Relationship Id="rId1" Type="http://schemas.openxmlformats.org/officeDocument/2006/relationships/package" Target="../embeddings/Microsoft_Excel_Worksheet12.xlsx"/></Relationships>
</file>

<file path=ppt/charts/_rels/chart13.xml.rels><?xml version="1.0" encoding="UTF-8" standalone="yes"?><Relationships xmlns="http://schemas.openxmlformats.org/package/2006/relationships"><Relationship Id="rId1" Type="http://schemas.openxmlformats.org/officeDocument/2006/relationships/package" Target="../embeddings/Microsoft_Excel_Worksheet13.xlsx"/></Relationships>
</file>

<file path=ppt/charts/_rels/chart14.xml.rels><?xml version="1.0" encoding="UTF-8" standalone="yes"?><Relationships xmlns="http://schemas.openxmlformats.org/package/2006/relationships"><Relationship Id="rId1" Type="http://schemas.openxmlformats.org/officeDocument/2006/relationships/package" Target="../embeddings/Microsoft_Excel_Worksheet1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2"/>
          <c:y val="0.02"/>
          <c:w val="0.96"/>
          <c:h val="0.96"/>
        </c:manualLayout>
      </c:layout>
      <c:doughnutChart>
        <c:varyColors val="1"/>
        <c:ser>
          <c:idx val="0"/>
          <c:order val="0"/>
          <c:tx>
            <c:strRef>
              <c:f>Sheet1!$B$1</c:f>
              <c:strCache>
                <c:ptCount val="1"/>
                <c:pt idx="0">
                  <c:v>Coverage</c:v>
                </c:pt>
              </c:strCache>
            </c:strRef>
          </c:tx>
          <c:spPr>
            <a:ln>
              <a:noFill/>
            </a:ln>
          </c:spPr>
          <c:dPt>
            <c:idx val="0"/>
            <c:bubble3D val="0"/>
            <c:spPr>
              <a:solidFill>
                <a:srgbClr val="3DBE8B"/>
              </a:solidFill>
              <a:ln>
                <a:noFill/>
              </a:ln>
            </c:spPr>
          </c:dPt>
          <c:dPt>
            <c:idx val="1"/>
            <c:bubble3D val="0"/>
            <c:spPr>
              <a:solidFill>
                <a:srgbClr val="E8A13D"/>
              </a:solidFill>
              <a:ln>
                <a:noFill/>
              </a:ln>
            </c:spPr>
          </c:dPt>
          <c:dPt>
            <c:idx val="2"/>
            <c:bubble3D val="0"/>
            <c:spPr>
              <a:solidFill>
                <a:srgbClr val="D9412B"/>
              </a:solidFill>
              <a:ln>
                <a:noFill/>
              </a:ln>
            </c:spPr>
          </c:dPt>
          <c:dPt>
            <c:idx val="3"/>
            <c:bubble3D val="0"/>
            <c:spPr>
              <a:solidFill>
                <a:srgbClr val="E7EAF1"/>
              </a:solidFill>
              <a:ln>
                <a:noFill/>
              </a:ln>
            </c:spPr>
          </c:dPt>
          <c:dPt>
            <c:idx val="4"/>
            <c:bubble3D val="0"/>
            <c:spPr>
              <a:noFill/>
              <a:ln>
                <a:noFill/>
              </a:ln>
            </c:spPr>
          </c:dPt>
          <c:dLbls>
            <c:dLbl>
              <c:idx val="4"/>
              <c:layout>
                <c:manualLayout>
                  <c:x val="0"/>
                  <c:y val="-0.52"/>
                </c:manualLayout>
              </c:layout>
              <c:spPr>
                <a:noFill/>
                <a:ln>
                  <a:noFill/>
                </a:ln>
              </c:spPr>
              <c:txPr>
                <a:bodyPr wrap="none"/>
                <a:lstStyle/>
                <a:p>
                  <a:pPr>
                    <a:defRPr sz="2400" b="1">
                      <a:solidFill>
                        <a:srgbClr val="1B2A4A"/>
                      </a:solidFill>
                      <a:latin typeface="Calibri"/>
                      <a:cs typeface="Calibri"/>
                    </a:defRPr>
                  </a:pPr>
                  <a:endParaRPr lang="en-US"/>
                </a:p>
              </c:txPr>
              <c:showLegendKey val="0"/>
              <c:showVal val="0"/>
              <c:showCatName val="1"/>
              <c:showSerName val="0"/>
              <c:showPercent val="0"/>
              <c:showBubbleSize val="0"/>
            </c:dLbl>
            <c:spPr>
              <a:noFill/>
              <a:ln>
                <a:noFill/>
              </a:ln>
            </c:spPr>
            <c:txPr>
              <a:bodyPr wrap="none"/>
              <a:lstStyle/>
              <a:p>
                <a:pPr>
                  <a:defRPr sz="2400" b="1">
                    <a:solidFill>
                      <a:srgbClr val="1B2A4A"/>
                    </a:solidFill>
                    <a:latin typeface="Calibri"/>
                    <a:cs typeface="Calibri"/>
                  </a:defRPr>
                </a:pPr>
                <a:endParaRPr lang="en-US"/>
              </a:p>
            </c:txPr>
            <c:showLegendKey val="0"/>
            <c:showVal val="0"/>
            <c:showCatName val="0"/>
            <c:showSerName val="0"/>
            <c:showPercent val="0"/>
            <c:showBubbleSize val="0"/>
            <c:showLeaderLines val="0"/>
          </c:dLbls>
          <c:cat>
            <c:strRef>
              <c:f>Sheet1!$A$2:$A$6</c:f>
              <c:strCache>
                <c:ptCount val="5"/>
                <c:pt idx="0">
                  <c:v>Green</c:v>
                </c:pt>
                <c:pt idx="1">
                  <c:v>Amber</c:v>
                </c:pt>
                <c:pt idx="2">
                  <c:v>Red</c:v>
                </c:pt>
                <c:pt idx="3">
                  <c:v>Remaining</c:v>
                </c:pt>
                <c:pt idx="4">
                  <c:v>80%</c:v>
                </c:pt>
              </c:strCache>
            </c:strRef>
          </c:cat>
          <c:val>
            <c:numRef>
              <c:f>Sheet1!$B$2:$B$6</c:f>
              <c:numCache>
                <c:formatCode>General</c:formatCode>
                <c:ptCount val="5"/>
                <c:pt idx="0">
                  <c:v>0</c:v>
                </c:pt>
                <c:pt idx="1">
                  <c:v>80</c:v>
                </c:pt>
                <c:pt idx="2">
                  <c:v>0</c:v>
                </c:pt>
                <c:pt idx="3">
                  <c:v>20</c:v>
                </c:pt>
                <c:pt idx="4">
                  <c:v>100</c:v>
                </c:pt>
              </c:numCache>
            </c:numRef>
          </c:val>
        </c:ser>
        <c:dLbls>
          <c:showLegendKey val="0"/>
          <c:showVal val="0"/>
          <c:showCatName val="0"/>
          <c:showSerName val="0"/>
          <c:showPercent val="0"/>
          <c:showBubbleSize val="0"/>
          <c:showLeaderLines val="0"/>
        </c:dLbls>
        <c:firstSliceAng val="270"/>
        <c:holeSize val="72"/>
      </c:doughnutChart>
      <c:spPr>
        <a:noFill/>
        <a:ln>
          <a:noFill/>
        </a:ln>
      </c:spPr>
    </c:plotArea>
    <c:plotVisOnly val="1"/>
    <c:dispBlanksAs val="gap"/>
  </c:chart>
  <c:spPr>
    <a:noFill/>
    <a:ln>
      <a:noFill/>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2"/>
          <c:y val="0.02"/>
          <c:w val="0.96"/>
          <c:h val="0.96"/>
        </c:manualLayout>
      </c:layout>
      <c:doughnutChart>
        <c:varyColors val="1"/>
        <c:ser>
          <c:idx val="0"/>
          <c:order val="0"/>
          <c:tx>
            <c:strRef>
              <c:f>Sheet1!$B$1</c:f>
              <c:strCache>
                <c:ptCount val="1"/>
                <c:pt idx="0">
                  <c:v>Coverage</c:v>
                </c:pt>
              </c:strCache>
            </c:strRef>
          </c:tx>
          <c:spPr>
            <a:ln>
              <a:noFill/>
            </a:ln>
          </c:spPr>
          <c:dPt>
            <c:idx val="0"/>
            <c:bubble3D val="0"/>
            <c:spPr>
              <a:solidFill>
                <a:srgbClr val="3DBE8B"/>
              </a:solidFill>
              <a:ln>
                <a:noFill/>
              </a:ln>
            </c:spPr>
          </c:dPt>
          <c:dPt>
            <c:idx val="1"/>
            <c:bubble3D val="0"/>
            <c:spPr>
              <a:solidFill>
                <a:srgbClr val="E8A13D"/>
              </a:solidFill>
              <a:ln>
                <a:noFill/>
              </a:ln>
            </c:spPr>
          </c:dPt>
          <c:dPt>
            <c:idx val="2"/>
            <c:bubble3D val="0"/>
            <c:spPr>
              <a:solidFill>
                <a:srgbClr val="D9412B"/>
              </a:solidFill>
              <a:ln>
                <a:noFill/>
              </a:ln>
            </c:spPr>
          </c:dPt>
          <c:dPt>
            <c:idx val="3"/>
            <c:bubble3D val="0"/>
            <c:spPr>
              <a:solidFill>
                <a:srgbClr val="E7EAF1"/>
              </a:solidFill>
              <a:ln>
                <a:noFill/>
              </a:ln>
            </c:spPr>
          </c:dPt>
          <c:dPt>
            <c:idx val="4"/>
            <c:bubble3D val="0"/>
            <c:spPr>
              <a:noFill/>
              <a:ln>
                <a:noFill/>
              </a:ln>
            </c:spPr>
          </c:dPt>
          <c:dLbls>
            <c:dLbl>
              <c:idx val="4"/>
              <c:layout>
                <c:manualLayout>
                  <c:x val="0"/>
                  <c:y val="-0.52"/>
                </c:manualLayout>
              </c:layout>
              <c:spPr>
                <a:noFill/>
                <a:ln>
                  <a:noFill/>
                </a:ln>
              </c:spPr>
              <c:txPr>
                <a:bodyPr wrap="none"/>
                <a:lstStyle/>
                <a:p>
                  <a:pPr>
                    <a:defRPr sz="2400" b="1">
                      <a:solidFill>
                        <a:srgbClr val="1B2A4A"/>
                      </a:solidFill>
                      <a:latin typeface="Calibri"/>
                      <a:cs typeface="Calibri"/>
                    </a:defRPr>
                  </a:pPr>
                  <a:endParaRPr lang="en-US"/>
                </a:p>
              </c:txPr>
              <c:showLegendKey val="0"/>
              <c:showVal val="0"/>
              <c:showCatName val="1"/>
              <c:showSerName val="0"/>
              <c:showPercent val="0"/>
              <c:showBubbleSize val="0"/>
            </c:dLbl>
            <c:spPr>
              <a:noFill/>
              <a:ln>
                <a:noFill/>
              </a:ln>
            </c:spPr>
            <c:txPr>
              <a:bodyPr wrap="none"/>
              <a:lstStyle/>
              <a:p>
                <a:pPr>
                  <a:defRPr sz="2400" b="1">
                    <a:solidFill>
                      <a:srgbClr val="1B2A4A"/>
                    </a:solidFill>
                    <a:latin typeface="Calibri"/>
                    <a:cs typeface="Calibri"/>
                  </a:defRPr>
                </a:pPr>
                <a:endParaRPr lang="en-US"/>
              </a:p>
            </c:txPr>
            <c:showLegendKey val="0"/>
            <c:showVal val="0"/>
            <c:showCatName val="0"/>
            <c:showSerName val="0"/>
            <c:showPercent val="0"/>
            <c:showBubbleSize val="0"/>
            <c:showLeaderLines val="0"/>
          </c:dLbls>
          <c:cat>
            <c:strRef>
              <c:f>Sheet1!$A$2:$A$6</c:f>
              <c:strCache>
                <c:ptCount val="5"/>
                <c:pt idx="0">
                  <c:v>Green</c:v>
                </c:pt>
                <c:pt idx="1">
                  <c:v>Amber</c:v>
                </c:pt>
                <c:pt idx="2">
                  <c:v>Red</c:v>
                </c:pt>
                <c:pt idx="3">
                  <c:v>Remaining</c:v>
                </c:pt>
                <c:pt idx="4">
                  <c:v>80%</c:v>
                </c:pt>
              </c:strCache>
            </c:strRef>
          </c:cat>
          <c:val>
            <c:numRef>
              <c:f>Sheet1!$B$2:$B$6</c:f>
              <c:numCache>
                <c:formatCode>General</c:formatCode>
                <c:ptCount val="5"/>
                <c:pt idx="0">
                  <c:v>0</c:v>
                </c:pt>
                <c:pt idx="1">
                  <c:v>80</c:v>
                </c:pt>
                <c:pt idx="2">
                  <c:v>0</c:v>
                </c:pt>
                <c:pt idx="3">
                  <c:v>20</c:v>
                </c:pt>
                <c:pt idx="4">
                  <c:v>100</c:v>
                </c:pt>
              </c:numCache>
            </c:numRef>
          </c:val>
        </c:ser>
        <c:dLbls>
          <c:showLegendKey val="0"/>
          <c:showVal val="0"/>
          <c:showCatName val="0"/>
          <c:showSerName val="0"/>
          <c:showPercent val="0"/>
          <c:showBubbleSize val="0"/>
          <c:showLeaderLines val="0"/>
        </c:dLbls>
        <c:firstSliceAng val="270"/>
        <c:holeSize val="72"/>
      </c:doughnutChart>
      <c:spPr>
        <a:noFill/>
        <a:ln>
          <a:noFill/>
        </a:ln>
      </c:spPr>
    </c:plotArea>
    <c:plotVisOnly val="1"/>
    <c:dispBlanksAs val="gap"/>
  </c:chart>
  <c:spPr>
    <a:noFill/>
    <a:ln>
      <a:noFill/>
    </a:ln>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2"/>
          <c:y val="0.02"/>
          <c:w val="0.96"/>
          <c:h val="0.96"/>
        </c:manualLayout>
      </c:layout>
      <c:doughnutChart>
        <c:varyColors val="1"/>
        <c:ser>
          <c:idx val="0"/>
          <c:order val="0"/>
          <c:tx>
            <c:strRef>
              <c:f>Sheet1!$B$1</c:f>
              <c:strCache>
                <c:ptCount val="1"/>
                <c:pt idx="0">
                  <c:v>Coverage</c:v>
                </c:pt>
              </c:strCache>
            </c:strRef>
          </c:tx>
          <c:spPr>
            <a:ln>
              <a:noFill/>
            </a:ln>
          </c:spPr>
          <c:dPt>
            <c:idx val="0"/>
            <c:bubble3D val="0"/>
            <c:spPr>
              <a:solidFill>
                <a:srgbClr val="3DBE8B"/>
              </a:solidFill>
              <a:ln>
                <a:noFill/>
              </a:ln>
            </c:spPr>
          </c:dPt>
          <c:dPt>
            <c:idx val="1"/>
            <c:bubble3D val="0"/>
            <c:spPr>
              <a:solidFill>
                <a:srgbClr val="E8A13D"/>
              </a:solidFill>
              <a:ln>
                <a:noFill/>
              </a:ln>
            </c:spPr>
          </c:dPt>
          <c:dPt>
            <c:idx val="2"/>
            <c:bubble3D val="0"/>
            <c:spPr>
              <a:solidFill>
                <a:srgbClr val="D9412B"/>
              </a:solidFill>
              <a:ln>
                <a:noFill/>
              </a:ln>
            </c:spPr>
          </c:dPt>
          <c:dPt>
            <c:idx val="3"/>
            <c:bubble3D val="0"/>
            <c:spPr>
              <a:solidFill>
                <a:srgbClr val="E7EAF1"/>
              </a:solidFill>
              <a:ln>
                <a:noFill/>
              </a:ln>
            </c:spPr>
          </c:dPt>
          <c:dPt>
            <c:idx val="4"/>
            <c:bubble3D val="0"/>
            <c:spPr>
              <a:noFill/>
              <a:ln>
                <a:noFill/>
              </a:ln>
            </c:spPr>
          </c:dPt>
          <c:dLbls>
            <c:dLbl>
              <c:idx val="4"/>
              <c:layout>
                <c:manualLayout>
                  <c:x val="0"/>
                  <c:y val="-0.52"/>
                </c:manualLayout>
              </c:layout>
              <c:spPr>
                <a:noFill/>
                <a:ln>
                  <a:noFill/>
                </a:ln>
              </c:spPr>
              <c:txPr>
                <a:bodyPr wrap="none"/>
                <a:lstStyle/>
                <a:p>
                  <a:pPr>
                    <a:defRPr sz="2400" b="1">
                      <a:solidFill>
                        <a:srgbClr val="1B2A4A"/>
                      </a:solidFill>
                      <a:latin typeface="Calibri"/>
                      <a:cs typeface="Calibri"/>
                    </a:defRPr>
                  </a:pPr>
                  <a:endParaRPr lang="en-US"/>
                </a:p>
              </c:txPr>
              <c:showLegendKey val="0"/>
              <c:showVal val="0"/>
              <c:showCatName val="1"/>
              <c:showSerName val="0"/>
              <c:showPercent val="0"/>
              <c:showBubbleSize val="0"/>
            </c:dLbl>
            <c:spPr>
              <a:noFill/>
              <a:ln>
                <a:noFill/>
              </a:ln>
            </c:spPr>
            <c:txPr>
              <a:bodyPr wrap="none"/>
              <a:lstStyle/>
              <a:p>
                <a:pPr>
                  <a:defRPr sz="2400" b="1">
                    <a:solidFill>
                      <a:srgbClr val="1B2A4A"/>
                    </a:solidFill>
                    <a:latin typeface="Calibri"/>
                    <a:cs typeface="Calibri"/>
                  </a:defRPr>
                </a:pPr>
                <a:endParaRPr lang="en-US"/>
              </a:p>
            </c:txPr>
            <c:showLegendKey val="0"/>
            <c:showVal val="0"/>
            <c:showCatName val="0"/>
            <c:showSerName val="0"/>
            <c:showPercent val="0"/>
            <c:showBubbleSize val="0"/>
            <c:showLeaderLines val="0"/>
          </c:dLbls>
          <c:cat>
            <c:strRef>
              <c:f>Sheet1!$A$2:$A$6</c:f>
              <c:strCache>
                <c:ptCount val="5"/>
                <c:pt idx="0">
                  <c:v>Green</c:v>
                </c:pt>
                <c:pt idx="1">
                  <c:v>Amber</c:v>
                </c:pt>
                <c:pt idx="2">
                  <c:v>Red</c:v>
                </c:pt>
                <c:pt idx="3">
                  <c:v>Remaining</c:v>
                </c:pt>
                <c:pt idx="4">
                  <c:v>100%</c:v>
                </c:pt>
              </c:strCache>
            </c:strRef>
          </c:cat>
          <c:val>
            <c:numRef>
              <c:f>Sheet1!$B$2:$B$6</c:f>
              <c:numCache>
                <c:formatCode>General</c:formatCode>
                <c:ptCount val="5"/>
                <c:pt idx="0">
                  <c:v>100</c:v>
                </c:pt>
                <c:pt idx="1">
                  <c:v>0</c:v>
                </c:pt>
                <c:pt idx="2">
                  <c:v>0</c:v>
                </c:pt>
                <c:pt idx="3">
                  <c:v>0</c:v>
                </c:pt>
                <c:pt idx="4">
                  <c:v>100</c:v>
                </c:pt>
              </c:numCache>
            </c:numRef>
          </c:val>
        </c:ser>
        <c:dLbls>
          <c:showLegendKey val="0"/>
          <c:showVal val="0"/>
          <c:showCatName val="0"/>
          <c:showSerName val="0"/>
          <c:showPercent val="0"/>
          <c:showBubbleSize val="0"/>
          <c:showLeaderLines val="0"/>
        </c:dLbls>
        <c:firstSliceAng val="270"/>
        <c:holeSize val="72"/>
      </c:doughnutChart>
      <c:spPr>
        <a:noFill/>
        <a:ln>
          <a:noFill/>
        </a:ln>
      </c:spPr>
    </c:plotArea>
    <c:plotVisOnly val="1"/>
    <c:dispBlanksAs val="gap"/>
  </c:chart>
  <c:spPr>
    <a:noFill/>
    <a:ln>
      <a:noFill/>
    </a:ln>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2"/>
          <c:y val="0.02"/>
          <c:w val="0.96"/>
          <c:h val="0.96"/>
        </c:manualLayout>
      </c:layout>
      <c:doughnutChart>
        <c:varyColors val="1"/>
        <c:ser>
          <c:idx val="0"/>
          <c:order val="0"/>
          <c:tx>
            <c:strRef>
              <c:f>Sheet1!$B$1</c:f>
              <c:strCache>
                <c:ptCount val="1"/>
                <c:pt idx="0">
                  <c:v>Coverage</c:v>
                </c:pt>
              </c:strCache>
            </c:strRef>
          </c:tx>
          <c:spPr>
            <a:ln>
              <a:noFill/>
            </a:ln>
          </c:spPr>
          <c:dPt>
            <c:idx val="0"/>
            <c:bubble3D val="0"/>
            <c:spPr>
              <a:solidFill>
                <a:srgbClr val="3DBE8B"/>
              </a:solidFill>
              <a:ln>
                <a:noFill/>
              </a:ln>
            </c:spPr>
          </c:dPt>
          <c:dPt>
            <c:idx val="1"/>
            <c:bubble3D val="0"/>
            <c:spPr>
              <a:solidFill>
                <a:srgbClr val="E8A13D"/>
              </a:solidFill>
              <a:ln>
                <a:noFill/>
              </a:ln>
            </c:spPr>
          </c:dPt>
          <c:dPt>
            <c:idx val="2"/>
            <c:bubble3D val="0"/>
            <c:spPr>
              <a:solidFill>
                <a:srgbClr val="D9412B"/>
              </a:solidFill>
              <a:ln>
                <a:noFill/>
              </a:ln>
            </c:spPr>
          </c:dPt>
          <c:dPt>
            <c:idx val="3"/>
            <c:bubble3D val="0"/>
            <c:spPr>
              <a:solidFill>
                <a:srgbClr val="E7EAF1"/>
              </a:solidFill>
              <a:ln>
                <a:noFill/>
              </a:ln>
            </c:spPr>
          </c:dPt>
          <c:dPt>
            <c:idx val="4"/>
            <c:bubble3D val="0"/>
            <c:spPr>
              <a:noFill/>
              <a:ln>
                <a:noFill/>
              </a:ln>
            </c:spPr>
          </c:dPt>
          <c:dLbls>
            <c:dLbl>
              <c:idx val="4"/>
              <c:layout>
                <c:manualLayout>
                  <c:x val="0"/>
                  <c:y val="-0.52"/>
                </c:manualLayout>
              </c:layout>
              <c:spPr>
                <a:noFill/>
                <a:ln>
                  <a:noFill/>
                </a:ln>
              </c:spPr>
              <c:txPr>
                <a:bodyPr wrap="none"/>
                <a:lstStyle/>
                <a:p>
                  <a:pPr>
                    <a:defRPr sz="2400" b="1">
                      <a:solidFill>
                        <a:srgbClr val="1B2A4A"/>
                      </a:solidFill>
                      <a:latin typeface="Calibri"/>
                      <a:cs typeface="Calibri"/>
                    </a:defRPr>
                  </a:pPr>
                  <a:endParaRPr lang="en-US"/>
                </a:p>
              </c:txPr>
              <c:showLegendKey val="0"/>
              <c:showVal val="0"/>
              <c:showCatName val="1"/>
              <c:showSerName val="0"/>
              <c:showPercent val="0"/>
              <c:showBubbleSize val="0"/>
            </c:dLbl>
            <c:spPr>
              <a:noFill/>
              <a:ln>
                <a:noFill/>
              </a:ln>
            </c:spPr>
            <c:txPr>
              <a:bodyPr wrap="none"/>
              <a:lstStyle/>
              <a:p>
                <a:pPr>
                  <a:defRPr sz="2400" b="1">
                    <a:solidFill>
                      <a:srgbClr val="1B2A4A"/>
                    </a:solidFill>
                    <a:latin typeface="Calibri"/>
                    <a:cs typeface="Calibri"/>
                  </a:defRPr>
                </a:pPr>
                <a:endParaRPr lang="en-US"/>
              </a:p>
            </c:txPr>
            <c:showLegendKey val="0"/>
            <c:showVal val="0"/>
            <c:showCatName val="0"/>
            <c:showSerName val="0"/>
            <c:showPercent val="0"/>
            <c:showBubbleSize val="0"/>
            <c:showLeaderLines val="0"/>
          </c:dLbls>
          <c:cat>
            <c:strRef>
              <c:f>Sheet1!$A$2:$A$6</c:f>
              <c:strCache>
                <c:ptCount val="5"/>
                <c:pt idx="0">
                  <c:v>Green</c:v>
                </c:pt>
                <c:pt idx="1">
                  <c:v>Amber</c:v>
                </c:pt>
                <c:pt idx="2">
                  <c:v>Red</c:v>
                </c:pt>
                <c:pt idx="3">
                  <c:v>Remaining</c:v>
                </c:pt>
                <c:pt idx="4">
                  <c:v>100%</c:v>
                </c:pt>
              </c:strCache>
            </c:strRef>
          </c:cat>
          <c:val>
            <c:numRef>
              <c:f>Sheet1!$B$2:$B$6</c:f>
              <c:numCache>
                <c:formatCode>General</c:formatCode>
                <c:ptCount val="5"/>
                <c:pt idx="0">
                  <c:v>100</c:v>
                </c:pt>
                <c:pt idx="1">
                  <c:v>0</c:v>
                </c:pt>
                <c:pt idx="2">
                  <c:v>0</c:v>
                </c:pt>
                <c:pt idx="3">
                  <c:v>0</c:v>
                </c:pt>
                <c:pt idx="4">
                  <c:v>100</c:v>
                </c:pt>
              </c:numCache>
            </c:numRef>
          </c:val>
        </c:ser>
        <c:dLbls>
          <c:showLegendKey val="0"/>
          <c:showVal val="0"/>
          <c:showCatName val="0"/>
          <c:showSerName val="0"/>
          <c:showPercent val="0"/>
          <c:showBubbleSize val="0"/>
          <c:showLeaderLines val="0"/>
        </c:dLbls>
        <c:firstSliceAng val="270"/>
        <c:holeSize val="72"/>
      </c:doughnutChart>
      <c:spPr>
        <a:noFill/>
        <a:ln>
          <a:noFill/>
        </a:ln>
      </c:spPr>
    </c:plotArea>
    <c:plotVisOnly val="1"/>
    <c:dispBlanksAs val="gap"/>
  </c:chart>
  <c:spPr>
    <a:noFill/>
    <a:ln>
      <a:noFill/>
    </a:ln>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2"/>
          <c:y val="0.02"/>
          <c:w val="0.96"/>
          <c:h val="0.96"/>
        </c:manualLayout>
      </c:layout>
      <c:doughnutChart>
        <c:varyColors val="1"/>
        <c:ser>
          <c:idx val="0"/>
          <c:order val="0"/>
          <c:tx>
            <c:strRef>
              <c:f>Sheet1!$B$1</c:f>
              <c:strCache>
                <c:ptCount val="1"/>
                <c:pt idx="0">
                  <c:v>Coverage</c:v>
                </c:pt>
              </c:strCache>
            </c:strRef>
          </c:tx>
          <c:spPr>
            <a:ln>
              <a:noFill/>
            </a:ln>
          </c:spPr>
          <c:dPt>
            <c:idx val="0"/>
            <c:bubble3D val="0"/>
            <c:spPr>
              <a:solidFill>
                <a:srgbClr val="3DBE8B"/>
              </a:solidFill>
              <a:ln>
                <a:noFill/>
              </a:ln>
            </c:spPr>
          </c:dPt>
          <c:dPt>
            <c:idx val="1"/>
            <c:bubble3D val="0"/>
            <c:spPr>
              <a:solidFill>
                <a:srgbClr val="E8A13D"/>
              </a:solidFill>
              <a:ln>
                <a:noFill/>
              </a:ln>
            </c:spPr>
          </c:dPt>
          <c:dPt>
            <c:idx val="2"/>
            <c:bubble3D val="0"/>
            <c:spPr>
              <a:solidFill>
                <a:srgbClr val="D9412B"/>
              </a:solidFill>
              <a:ln>
                <a:noFill/>
              </a:ln>
            </c:spPr>
          </c:dPt>
          <c:dPt>
            <c:idx val="3"/>
            <c:bubble3D val="0"/>
            <c:spPr>
              <a:solidFill>
                <a:srgbClr val="E7EAF1"/>
              </a:solidFill>
              <a:ln>
                <a:noFill/>
              </a:ln>
            </c:spPr>
          </c:dPt>
          <c:dPt>
            <c:idx val="4"/>
            <c:bubble3D val="0"/>
            <c:spPr>
              <a:noFill/>
              <a:ln>
                <a:noFill/>
              </a:ln>
            </c:spPr>
          </c:dPt>
          <c:dLbls>
            <c:dLbl>
              <c:idx val="4"/>
              <c:layout>
                <c:manualLayout>
                  <c:x val="0"/>
                  <c:y val="-0.52"/>
                </c:manualLayout>
              </c:layout>
              <c:spPr>
                <a:noFill/>
                <a:ln>
                  <a:noFill/>
                </a:ln>
              </c:spPr>
              <c:txPr>
                <a:bodyPr wrap="none"/>
                <a:lstStyle/>
                <a:p>
                  <a:pPr>
                    <a:defRPr sz="2400" b="1">
                      <a:solidFill>
                        <a:srgbClr val="1B2A4A"/>
                      </a:solidFill>
                      <a:latin typeface="Calibri"/>
                      <a:cs typeface="Calibri"/>
                    </a:defRPr>
                  </a:pPr>
                  <a:endParaRPr lang="en-US"/>
                </a:p>
              </c:txPr>
              <c:showLegendKey val="0"/>
              <c:showVal val="0"/>
              <c:showCatName val="1"/>
              <c:showSerName val="0"/>
              <c:showPercent val="0"/>
              <c:showBubbleSize val="0"/>
            </c:dLbl>
            <c:spPr>
              <a:noFill/>
              <a:ln>
                <a:noFill/>
              </a:ln>
            </c:spPr>
            <c:txPr>
              <a:bodyPr wrap="none"/>
              <a:lstStyle/>
              <a:p>
                <a:pPr>
                  <a:defRPr sz="2400" b="1">
                    <a:solidFill>
                      <a:srgbClr val="1B2A4A"/>
                    </a:solidFill>
                    <a:latin typeface="Calibri"/>
                    <a:cs typeface="Calibri"/>
                  </a:defRPr>
                </a:pPr>
                <a:endParaRPr lang="en-US"/>
              </a:p>
            </c:txPr>
            <c:showLegendKey val="0"/>
            <c:showVal val="0"/>
            <c:showCatName val="0"/>
            <c:showSerName val="0"/>
            <c:showPercent val="0"/>
            <c:showBubbleSize val="0"/>
            <c:showLeaderLines val="0"/>
          </c:dLbls>
          <c:cat>
            <c:strRef>
              <c:f>Sheet1!$A$2:$A$6</c:f>
              <c:strCache>
                <c:ptCount val="5"/>
                <c:pt idx="0">
                  <c:v>Green</c:v>
                </c:pt>
                <c:pt idx="1">
                  <c:v>Amber</c:v>
                </c:pt>
                <c:pt idx="2">
                  <c:v>Red</c:v>
                </c:pt>
                <c:pt idx="3">
                  <c:v>Remaining</c:v>
                </c:pt>
                <c:pt idx="4">
                  <c:v>100%</c:v>
                </c:pt>
              </c:strCache>
            </c:strRef>
          </c:cat>
          <c:val>
            <c:numRef>
              <c:f>Sheet1!$B$2:$B$6</c:f>
              <c:numCache>
                <c:formatCode>General</c:formatCode>
                <c:ptCount val="5"/>
                <c:pt idx="0">
                  <c:v>100</c:v>
                </c:pt>
                <c:pt idx="1">
                  <c:v>0</c:v>
                </c:pt>
                <c:pt idx="2">
                  <c:v>0</c:v>
                </c:pt>
                <c:pt idx="3">
                  <c:v>0</c:v>
                </c:pt>
                <c:pt idx="4">
                  <c:v>100</c:v>
                </c:pt>
              </c:numCache>
            </c:numRef>
          </c:val>
        </c:ser>
        <c:dLbls>
          <c:showLegendKey val="0"/>
          <c:showVal val="0"/>
          <c:showCatName val="0"/>
          <c:showSerName val="0"/>
          <c:showPercent val="0"/>
          <c:showBubbleSize val="0"/>
          <c:showLeaderLines val="0"/>
        </c:dLbls>
        <c:firstSliceAng val="270"/>
        <c:holeSize val="72"/>
      </c:doughnutChart>
      <c:spPr>
        <a:noFill/>
        <a:ln>
          <a:noFill/>
        </a:ln>
      </c:spPr>
    </c:plotArea>
    <c:plotVisOnly val="1"/>
    <c:dispBlanksAs val="gap"/>
  </c:chart>
  <c:spPr>
    <a:noFill/>
    <a:ln>
      <a:noFill/>
    </a:ln>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2"/>
          <c:y val="0.02"/>
          <c:w val="0.96"/>
          <c:h val="0.96"/>
        </c:manualLayout>
      </c:layout>
      <c:doughnutChart>
        <c:varyColors val="1"/>
        <c:ser>
          <c:idx val="0"/>
          <c:order val="0"/>
          <c:tx>
            <c:strRef>
              <c:f>Sheet1!$B$1</c:f>
              <c:strCache>
                <c:ptCount val="1"/>
                <c:pt idx="0">
                  <c:v>Coverage</c:v>
                </c:pt>
              </c:strCache>
            </c:strRef>
          </c:tx>
          <c:spPr>
            <a:ln>
              <a:noFill/>
            </a:ln>
          </c:spPr>
          <c:dPt>
            <c:idx val="0"/>
            <c:bubble3D val="0"/>
            <c:spPr>
              <a:solidFill>
                <a:srgbClr val="3DBE8B"/>
              </a:solidFill>
              <a:ln>
                <a:noFill/>
              </a:ln>
            </c:spPr>
          </c:dPt>
          <c:dPt>
            <c:idx val="1"/>
            <c:bubble3D val="0"/>
            <c:spPr>
              <a:solidFill>
                <a:srgbClr val="E8A13D"/>
              </a:solidFill>
              <a:ln>
                <a:noFill/>
              </a:ln>
            </c:spPr>
          </c:dPt>
          <c:dPt>
            <c:idx val="2"/>
            <c:bubble3D val="0"/>
            <c:spPr>
              <a:solidFill>
                <a:srgbClr val="D9412B"/>
              </a:solidFill>
              <a:ln>
                <a:noFill/>
              </a:ln>
            </c:spPr>
          </c:dPt>
          <c:dPt>
            <c:idx val="3"/>
            <c:bubble3D val="0"/>
            <c:spPr>
              <a:solidFill>
                <a:srgbClr val="E7EAF1"/>
              </a:solidFill>
              <a:ln>
                <a:noFill/>
              </a:ln>
            </c:spPr>
          </c:dPt>
          <c:dPt>
            <c:idx val="4"/>
            <c:bubble3D val="0"/>
            <c:spPr>
              <a:noFill/>
              <a:ln>
                <a:noFill/>
              </a:ln>
            </c:spPr>
          </c:dPt>
          <c:dLbls>
            <c:dLbl>
              <c:idx val="4"/>
              <c:layout>
                <c:manualLayout>
                  <c:x val="0"/>
                  <c:y val="-0.52"/>
                </c:manualLayout>
              </c:layout>
              <c:spPr>
                <a:noFill/>
                <a:ln>
                  <a:noFill/>
                </a:ln>
              </c:spPr>
              <c:txPr>
                <a:bodyPr wrap="none"/>
                <a:lstStyle/>
                <a:p>
                  <a:pPr>
                    <a:defRPr sz="2400" b="1">
                      <a:solidFill>
                        <a:srgbClr val="1B2A4A"/>
                      </a:solidFill>
                      <a:latin typeface="Calibri"/>
                      <a:cs typeface="Calibri"/>
                    </a:defRPr>
                  </a:pPr>
                  <a:endParaRPr lang="en-US"/>
                </a:p>
              </c:txPr>
              <c:showLegendKey val="0"/>
              <c:showVal val="0"/>
              <c:showCatName val="1"/>
              <c:showSerName val="0"/>
              <c:showPercent val="0"/>
              <c:showBubbleSize val="0"/>
            </c:dLbl>
            <c:spPr>
              <a:noFill/>
              <a:ln>
                <a:noFill/>
              </a:ln>
            </c:spPr>
            <c:txPr>
              <a:bodyPr wrap="none"/>
              <a:lstStyle/>
              <a:p>
                <a:pPr>
                  <a:defRPr sz="2400" b="1">
                    <a:solidFill>
                      <a:srgbClr val="1B2A4A"/>
                    </a:solidFill>
                    <a:latin typeface="Calibri"/>
                    <a:cs typeface="Calibri"/>
                  </a:defRPr>
                </a:pPr>
                <a:endParaRPr lang="en-US"/>
              </a:p>
            </c:txPr>
            <c:showLegendKey val="0"/>
            <c:showVal val="0"/>
            <c:showCatName val="0"/>
            <c:showSerName val="0"/>
            <c:showPercent val="0"/>
            <c:showBubbleSize val="0"/>
            <c:showLeaderLines val="0"/>
          </c:dLbls>
          <c:cat>
            <c:strRef>
              <c:f>Sheet1!$A$2:$A$6</c:f>
              <c:strCache>
                <c:ptCount val="5"/>
                <c:pt idx="0">
                  <c:v>Green</c:v>
                </c:pt>
                <c:pt idx="1">
                  <c:v>Amber</c:v>
                </c:pt>
                <c:pt idx="2">
                  <c:v>Red</c:v>
                </c:pt>
                <c:pt idx="3">
                  <c:v>Remaining</c:v>
                </c:pt>
                <c:pt idx="4">
                  <c:v>100%</c:v>
                </c:pt>
              </c:strCache>
            </c:strRef>
          </c:cat>
          <c:val>
            <c:numRef>
              <c:f>Sheet1!$B$2:$B$6</c:f>
              <c:numCache>
                <c:formatCode>General</c:formatCode>
                <c:ptCount val="5"/>
                <c:pt idx="0">
                  <c:v>100</c:v>
                </c:pt>
                <c:pt idx="1">
                  <c:v>0</c:v>
                </c:pt>
                <c:pt idx="2">
                  <c:v>0</c:v>
                </c:pt>
                <c:pt idx="3">
                  <c:v>0</c:v>
                </c:pt>
                <c:pt idx="4">
                  <c:v>100</c:v>
                </c:pt>
              </c:numCache>
            </c:numRef>
          </c:val>
        </c:ser>
        <c:dLbls>
          <c:showLegendKey val="0"/>
          <c:showVal val="0"/>
          <c:showCatName val="0"/>
          <c:showSerName val="0"/>
          <c:showPercent val="0"/>
          <c:showBubbleSize val="0"/>
          <c:showLeaderLines val="0"/>
        </c:dLbls>
        <c:firstSliceAng val="270"/>
        <c:holeSize val="72"/>
      </c:doughnutChart>
      <c:spPr>
        <a:noFill/>
        <a:ln>
          <a:noFill/>
        </a:ln>
      </c:spPr>
    </c:plotArea>
    <c:plotVisOnly val="1"/>
    <c:dispBlanksAs val="gap"/>
  </c:chart>
  <c:spPr>
    <a:noFill/>
    <a:ln>
      <a:noFill/>
    </a:ln>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2"/>
          <c:y val="0.02"/>
          <c:w val="0.96"/>
          <c:h val="0.96"/>
        </c:manualLayout>
      </c:layout>
      <c:doughnutChart>
        <c:varyColors val="1"/>
        <c:ser>
          <c:idx val="0"/>
          <c:order val="0"/>
          <c:tx>
            <c:strRef>
              <c:f>Sheet1!$B$1</c:f>
              <c:strCache>
                <c:ptCount val="1"/>
                <c:pt idx="0">
                  <c:v>Coverage</c:v>
                </c:pt>
              </c:strCache>
            </c:strRef>
          </c:tx>
          <c:spPr>
            <a:ln>
              <a:noFill/>
            </a:ln>
          </c:spPr>
          <c:dPt>
            <c:idx val="0"/>
            <c:bubble3D val="0"/>
            <c:spPr>
              <a:solidFill>
                <a:srgbClr val="3DBE8B"/>
              </a:solidFill>
              <a:ln>
                <a:noFill/>
              </a:ln>
            </c:spPr>
          </c:dPt>
          <c:dPt>
            <c:idx val="1"/>
            <c:bubble3D val="0"/>
            <c:spPr>
              <a:solidFill>
                <a:srgbClr val="E8A13D"/>
              </a:solidFill>
              <a:ln>
                <a:noFill/>
              </a:ln>
            </c:spPr>
          </c:dPt>
          <c:dPt>
            <c:idx val="2"/>
            <c:bubble3D val="0"/>
            <c:spPr>
              <a:solidFill>
                <a:srgbClr val="D9412B"/>
              </a:solidFill>
              <a:ln>
                <a:noFill/>
              </a:ln>
            </c:spPr>
          </c:dPt>
          <c:dPt>
            <c:idx val="3"/>
            <c:bubble3D val="0"/>
            <c:spPr>
              <a:solidFill>
                <a:srgbClr val="E7EAF1"/>
              </a:solidFill>
              <a:ln>
                <a:noFill/>
              </a:ln>
            </c:spPr>
          </c:dPt>
          <c:dPt>
            <c:idx val="4"/>
            <c:bubble3D val="0"/>
            <c:spPr>
              <a:noFill/>
              <a:ln>
                <a:noFill/>
              </a:ln>
            </c:spPr>
          </c:dPt>
          <c:dLbls>
            <c:dLbl>
              <c:idx val="4"/>
              <c:layout>
                <c:manualLayout>
                  <c:x val="0"/>
                  <c:y val="-0.52"/>
                </c:manualLayout>
              </c:layout>
              <c:spPr>
                <a:noFill/>
                <a:ln>
                  <a:noFill/>
                </a:ln>
              </c:spPr>
              <c:txPr>
                <a:bodyPr wrap="none"/>
                <a:lstStyle/>
                <a:p>
                  <a:pPr>
                    <a:defRPr sz="2000" b="1">
                      <a:solidFill>
                        <a:srgbClr val="1B2A4A"/>
                      </a:solidFill>
                      <a:latin typeface="Calibri"/>
                      <a:cs typeface="Calibri"/>
                    </a:defRPr>
                  </a:pPr>
                  <a:endParaRPr lang="en-US"/>
                </a:p>
              </c:txPr>
              <c:showLegendKey val="0"/>
              <c:showVal val="0"/>
              <c:showCatName val="1"/>
              <c:showSerName val="0"/>
              <c:showPercent val="0"/>
              <c:showBubbleSize val="0"/>
            </c:dLbl>
            <c:spPr>
              <a:noFill/>
              <a:ln>
                <a:noFill/>
              </a:ln>
            </c:spPr>
            <c:txPr>
              <a:bodyPr wrap="none"/>
              <a:lstStyle/>
              <a:p>
                <a:pPr>
                  <a:defRPr sz="2000" b="1">
                    <a:solidFill>
                      <a:srgbClr val="1B2A4A"/>
                    </a:solidFill>
                    <a:latin typeface="Calibri"/>
                    <a:cs typeface="Calibri"/>
                  </a:defRPr>
                </a:pPr>
                <a:endParaRPr lang="en-US"/>
              </a:p>
            </c:txPr>
            <c:showLegendKey val="0"/>
            <c:showVal val="0"/>
            <c:showCatName val="0"/>
            <c:showSerName val="0"/>
            <c:showPercent val="0"/>
            <c:showBubbleSize val="0"/>
            <c:showLeaderLines val="0"/>
          </c:dLbls>
          <c:cat>
            <c:strRef>
              <c:f>Sheet1!$A$2:$A$6</c:f>
              <c:strCache>
                <c:ptCount val="5"/>
                <c:pt idx="0">
                  <c:v>Green</c:v>
                </c:pt>
                <c:pt idx="1">
                  <c:v>Amber</c:v>
                </c:pt>
                <c:pt idx="2">
                  <c:v>Red</c:v>
                </c:pt>
                <c:pt idx="3">
                  <c:v>Remaining</c:v>
                </c:pt>
                <c:pt idx="4">
                  <c:v>96%</c:v>
                </c:pt>
              </c:strCache>
            </c:strRef>
          </c:cat>
          <c:val>
            <c:numRef>
              <c:f>Sheet1!$B$2:$B$6</c:f>
              <c:numCache>
                <c:formatCode>General</c:formatCode>
                <c:ptCount val="5"/>
                <c:pt idx="0">
                  <c:v>96</c:v>
                </c:pt>
                <c:pt idx="1">
                  <c:v>0</c:v>
                </c:pt>
                <c:pt idx="2">
                  <c:v>0</c:v>
                </c:pt>
                <c:pt idx="3">
                  <c:v>4</c:v>
                </c:pt>
                <c:pt idx="4">
                  <c:v>100</c:v>
                </c:pt>
              </c:numCache>
            </c:numRef>
          </c:val>
        </c:ser>
        <c:dLbls>
          <c:showLegendKey val="0"/>
          <c:showVal val="0"/>
          <c:showCatName val="0"/>
          <c:showSerName val="0"/>
          <c:showPercent val="0"/>
          <c:showBubbleSize val="0"/>
          <c:showLeaderLines val="0"/>
        </c:dLbls>
        <c:firstSliceAng val="270"/>
        <c:holeSize val="72"/>
      </c:doughnutChart>
      <c:spPr>
        <a:noFill/>
        <a:ln>
          <a:noFill/>
        </a:ln>
      </c:spPr>
    </c:plotArea>
    <c:plotVisOnly val="1"/>
    <c:dispBlanksAs val="gap"/>
  </c:chart>
  <c:spPr>
    <a:noFill/>
    <a:ln>
      <a:noFill/>
    </a:ln>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2"/>
          <c:y val="0.02"/>
          <c:w val="0.96"/>
          <c:h val="0.96"/>
        </c:manualLayout>
      </c:layout>
      <c:doughnutChart>
        <c:varyColors val="1"/>
        <c:ser>
          <c:idx val="0"/>
          <c:order val="0"/>
          <c:tx>
            <c:strRef>
              <c:f>Sheet1!$B$1</c:f>
              <c:strCache>
                <c:ptCount val="1"/>
                <c:pt idx="0">
                  <c:v>Coverage</c:v>
                </c:pt>
              </c:strCache>
            </c:strRef>
          </c:tx>
          <c:spPr>
            <a:ln>
              <a:noFill/>
            </a:ln>
          </c:spPr>
          <c:dPt>
            <c:idx val="0"/>
            <c:bubble3D val="0"/>
            <c:spPr>
              <a:solidFill>
                <a:srgbClr val="3DBE8B"/>
              </a:solidFill>
              <a:ln>
                <a:noFill/>
              </a:ln>
            </c:spPr>
          </c:dPt>
          <c:dPt>
            <c:idx val="1"/>
            <c:bubble3D val="0"/>
            <c:spPr>
              <a:solidFill>
                <a:srgbClr val="E8A13D"/>
              </a:solidFill>
              <a:ln>
                <a:noFill/>
              </a:ln>
            </c:spPr>
          </c:dPt>
          <c:dPt>
            <c:idx val="2"/>
            <c:bubble3D val="0"/>
            <c:spPr>
              <a:solidFill>
                <a:srgbClr val="D9412B"/>
              </a:solidFill>
              <a:ln>
                <a:noFill/>
              </a:ln>
            </c:spPr>
          </c:dPt>
          <c:dPt>
            <c:idx val="3"/>
            <c:bubble3D val="0"/>
            <c:spPr>
              <a:solidFill>
                <a:srgbClr val="E7EAF1"/>
              </a:solidFill>
              <a:ln>
                <a:noFill/>
              </a:ln>
            </c:spPr>
          </c:dPt>
          <c:dPt>
            <c:idx val="4"/>
            <c:bubble3D val="0"/>
            <c:spPr>
              <a:noFill/>
              <a:ln>
                <a:noFill/>
              </a:ln>
            </c:spPr>
          </c:dPt>
          <c:dLbls>
            <c:dLbl>
              <c:idx val="4"/>
              <c:layout>
                <c:manualLayout>
                  <c:x val="0"/>
                  <c:y val="-0.52"/>
                </c:manualLayout>
              </c:layout>
              <c:spPr>
                <a:noFill/>
                <a:ln>
                  <a:noFill/>
                </a:ln>
              </c:spPr>
              <c:txPr>
                <a:bodyPr wrap="none"/>
                <a:lstStyle/>
                <a:p>
                  <a:pPr>
                    <a:defRPr sz="2200" b="1">
                      <a:solidFill>
                        <a:srgbClr val="1B2A4A"/>
                      </a:solidFill>
                      <a:latin typeface="Calibri"/>
                      <a:cs typeface="Calibri"/>
                    </a:defRPr>
                  </a:pPr>
                  <a:endParaRPr lang="en-US"/>
                </a:p>
              </c:txPr>
              <c:showLegendKey val="0"/>
              <c:showVal val="0"/>
              <c:showCatName val="1"/>
              <c:showSerName val="0"/>
              <c:showPercent val="0"/>
              <c:showBubbleSize val="0"/>
            </c:dLbl>
            <c:spPr>
              <a:noFill/>
              <a:ln>
                <a:noFill/>
              </a:ln>
            </c:spPr>
            <c:txPr>
              <a:bodyPr wrap="none"/>
              <a:lstStyle/>
              <a:p>
                <a:pPr>
                  <a:defRPr sz="2200" b="1">
                    <a:solidFill>
                      <a:srgbClr val="1B2A4A"/>
                    </a:solidFill>
                    <a:latin typeface="Calibri"/>
                    <a:cs typeface="Calibri"/>
                  </a:defRPr>
                </a:pPr>
                <a:endParaRPr lang="en-US"/>
              </a:p>
            </c:txPr>
            <c:showLegendKey val="0"/>
            <c:showVal val="0"/>
            <c:showCatName val="0"/>
            <c:showSerName val="0"/>
            <c:showPercent val="0"/>
            <c:showBubbleSize val="0"/>
            <c:showLeaderLines val="0"/>
          </c:dLbls>
          <c:cat>
            <c:strRef>
              <c:f>Sheet1!$A$2:$A$6</c:f>
              <c:strCache>
                <c:ptCount val="5"/>
                <c:pt idx="0">
                  <c:v>Green</c:v>
                </c:pt>
                <c:pt idx="1">
                  <c:v>Amber</c:v>
                </c:pt>
                <c:pt idx="2">
                  <c:v>Red</c:v>
                </c:pt>
                <c:pt idx="3">
                  <c:v>Remaining</c:v>
                </c:pt>
                <c:pt idx="4">
                  <c:v>XX%</c:v>
                </c:pt>
              </c:strCache>
            </c:strRef>
          </c:cat>
          <c:val>
            <c:numRef>
              <c:f>Sheet1!$B$2:$B$6</c:f>
              <c:numCache>
                <c:formatCode>General</c:formatCode>
                <c:ptCount val="5"/>
                <c:pt idx="0">
                  <c:v>0</c:v>
                </c:pt>
                <c:pt idx="1">
                  <c:v>0</c:v>
                </c:pt>
                <c:pt idx="2">
                  <c:v>0</c:v>
                </c:pt>
                <c:pt idx="3">
                  <c:v>100</c:v>
                </c:pt>
                <c:pt idx="4">
                  <c:v>100</c:v>
                </c:pt>
              </c:numCache>
            </c:numRef>
          </c:val>
        </c:ser>
        <c:dLbls>
          <c:showLegendKey val="0"/>
          <c:showVal val="0"/>
          <c:showCatName val="0"/>
          <c:showSerName val="0"/>
          <c:showPercent val="0"/>
          <c:showBubbleSize val="0"/>
          <c:showLeaderLines val="0"/>
        </c:dLbls>
        <c:firstSliceAng val="270"/>
        <c:holeSize val="72"/>
      </c:doughnutChart>
      <c:spPr>
        <a:noFill/>
        <a:ln>
          <a:noFill/>
        </a:ln>
      </c:spPr>
    </c:plotArea>
    <c:plotVisOnly val="1"/>
    <c:dispBlanksAs val="gap"/>
  </c:chart>
  <c:spPr>
    <a:noFill/>
    <a:ln>
      <a:noFill/>
    </a:ln>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2"/>
          <c:y val="0.02"/>
          <c:w val="0.96"/>
          <c:h val="0.96"/>
        </c:manualLayout>
      </c:layout>
      <c:doughnutChart>
        <c:varyColors val="1"/>
        <c:ser>
          <c:idx val="0"/>
          <c:order val="0"/>
          <c:tx>
            <c:strRef>
              <c:f>Sheet1!$B$1</c:f>
              <c:strCache>
                <c:ptCount val="1"/>
                <c:pt idx="0">
                  <c:v>Coverage</c:v>
                </c:pt>
              </c:strCache>
            </c:strRef>
          </c:tx>
          <c:spPr>
            <a:ln>
              <a:noFill/>
            </a:ln>
          </c:spPr>
          <c:dPt>
            <c:idx val="0"/>
            <c:bubble3D val="0"/>
            <c:spPr>
              <a:solidFill>
                <a:srgbClr val="3DBE8B"/>
              </a:solidFill>
              <a:ln>
                <a:noFill/>
              </a:ln>
            </c:spPr>
          </c:dPt>
          <c:dPt>
            <c:idx val="1"/>
            <c:bubble3D val="0"/>
            <c:spPr>
              <a:solidFill>
                <a:srgbClr val="E8A13D"/>
              </a:solidFill>
              <a:ln>
                <a:noFill/>
              </a:ln>
            </c:spPr>
          </c:dPt>
          <c:dPt>
            <c:idx val="2"/>
            <c:bubble3D val="0"/>
            <c:spPr>
              <a:solidFill>
                <a:srgbClr val="D9412B"/>
              </a:solidFill>
              <a:ln>
                <a:noFill/>
              </a:ln>
            </c:spPr>
          </c:dPt>
          <c:dPt>
            <c:idx val="3"/>
            <c:bubble3D val="0"/>
            <c:spPr>
              <a:solidFill>
                <a:srgbClr val="E7EAF1"/>
              </a:solidFill>
              <a:ln>
                <a:noFill/>
              </a:ln>
            </c:spPr>
          </c:dPt>
          <c:dPt>
            <c:idx val="4"/>
            <c:bubble3D val="0"/>
            <c:spPr>
              <a:noFill/>
              <a:ln>
                <a:noFill/>
              </a:ln>
            </c:spPr>
          </c:dPt>
          <c:dLbls>
            <c:dLbl>
              <c:idx val="4"/>
              <c:layout>
                <c:manualLayout>
                  <c:x val="0"/>
                  <c:y val="-0.52"/>
                </c:manualLayout>
              </c:layout>
              <c:spPr>
                <a:noFill/>
                <a:ln>
                  <a:noFill/>
                </a:ln>
              </c:spPr>
              <c:txPr>
                <a:bodyPr wrap="none"/>
                <a:lstStyle/>
                <a:p>
                  <a:pPr>
                    <a:defRPr sz="2200" b="1">
                      <a:solidFill>
                        <a:srgbClr val="1B2A4A"/>
                      </a:solidFill>
                      <a:latin typeface="Calibri"/>
                      <a:cs typeface="Calibri"/>
                    </a:defRPr>
                  </a:pPr>
                  <a:endParaRPr lang="en-US"/>
                </a:p>
              </c:txPr>
              <c:showLegendKey val="0"/>
              <c:showVal val="0"/>
              <c:showCatName val="1"/>
              <c:showSerName val="0"/>
              <c:showPercent val="0"/>
              <c:showBubbleSize val="0"/>
            </c:dLbl>
            <c:spPr>
              <a:noFill/>
              <a:ln>
                <a:noFill/>
              </a:ln>
            </c:spPr>
            <c:txPr>
              <a:bodyPr wrap="none"/>
              <a:lstStyle/>
              <a:p>
                <a:pPr>
                  <a:defRPr sz="2200" b="1">
                    <a:solidFill>
                      <a:srgbClr val="1B2A4A"/>
                    </a:solidFill>
                    <a:latin typeface="Calibri"/>
                    <a:cs typeface="Calibri"/>
                  </a:defRPr>
                </a:pPr>
                <a:endParaRPr lang="en-US"/>
              </a:p>
            </c:txPr>
            <c:showLegendKey val="0"/>
            <c:showVal val="0"/>
            <c:showCatName val="0"/>
            <c:showSerName val="0"/>
            <c:showPercent val="0"/>
            <c:showBubbleSize val="0"/>
            <c:showLeaderLines val="0"/>
          </c:dLbls>
          <c:cat>
            <c:strRef>
              <c:f>Sheet1!$A$2:$A$6</c:f>
              <c:strCache>
                <c:ptCount val="5"/>
                <c:pt idx="0">
                  <c:v>Green</c:v>
                </c:pt>
                <c:pt idx="1">
                  <c:v>Amber</c:v>
                </c:pt>
                <c:pt idx="2">
                  <c:v>Red</c:v>
                </c:pt>
                <c:pt idx="3">
                  <c:v>Remaining</c:v>
                </c:pt>
                <c:pt idx="4">
                  <c:v>XX%</c:v>
                </c:pt>
              </c:strCache>
            </c:strRef>
          </c:cat>
          <c:val>
            <c:numRef>
              <c:f>Sheet1!$B$2:$B$6</c:f>
              <c:numCache>
                <c:formatCode>General</c:formatCode>
                <c:ptCount val="5"/>
                <c:pt idx="0">
                  <c:v>0</c:v>
                </c:pt>
                <c:pt idx="1">
                  <c:v>0</c:v>
                </c:pt>
                <c:pt idx="2">
                  <c:v>0</c:v>
                </c:pt>
                <c:pt idx="3">
                  <c:v>100</c:v>
                </c:pt>
                <c:pt idx="4">
                  <c:v>100</c:v>
                </c:pt>
              </c:numCache>
            </c:numRef>
          </c:val>
        </c:ser>
        <c:dLbls>
          <c:showLegendKey val="0"/>
          <c:showVal val="0"/>
          <c:showCatName val="0"/>
          <c:showSerName val="0"/>
          <c:showPercent val="0"/>
          <c:showBubbleSize val="0"/>
          <c:showLeaderLines val="0"/>
        </c:dLbls>
        <c:firstSliceAng val="270"/>
        <c:holeSize val="72"/>
      </c:doughnutChart>
      <c:spPr>
        <a:noFill/>
        <a:ln>
          <a:noFill/>
        </a:ln>
      </c:spPr>
    </c:plotArea>
    <c:plotVisOnly val="1"/>
    <c:dispBlanksAs val="gap"/>
  </c:chart>
  <c:spPr>
    <a:noFill/>
    <a:ln>
      <a:noFill/>
    </a:ln>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2"/>
          <c:y val="0.02"/>
          <c:w val="0.96"/>
          <c:h val="0.96"/>
        </c:manualLayout>
      </c:layout>
      <c:doughnutChart>
        <c:varyColors val="1"/>
        <c:ser>
          <c:idx val="0"/>
          <c:order val="0"/>
          <c:tx>
            <c:strRef>
              <c:f>Sheet1!$B$1</c:f>
              <c:strCache>
                <c:ptCount val="1"/>
                <c:pt idx="0">
                  <c:v>Coverage</c:v>
                </c:pt>
              </c:strCache>
            </c:strRef>
          </c:tx>
          <c:spPr>
            <a:ln>
              <a:noFill/>
            </a:ln>
          </c:spPr>
          <c:dPt>
            <c:idx val="0"/>
            <c:bubble3D val="0"/>
            <c:spPr>
              <a:solidFill>
                <a:srgbClr val="3DBE8B"/>
              </a:solidFill>
              <a:ln>
                <a:noFill/>
              </a:ln>
            </c:spPr>
          </c:dPt>
          <c:dPt>
            <c:idx val="1"/>
            <c:bubble3D val="0"/>
            <c:spPr>
              <a:solidFill>
                <a:srgbClr val="E8A13D"/>
              </a:solidFill>
              <a:ln>
                <a:noFill/>
              </a:ln>
            </c:spPr>
          </c:dPt>
          <c:dPt>
            <c:idx val="2"/>
            <c:bubble3D val="0"/>
            <c:spPr>
              <a:solidFill>
                <a:srgbClr val="D9412B"/>
              </a:solidFill>
              <a:ln>
                <a:noFill/>
              </a:ln>
            </c:spPr>
          </c:dPt>
          <c:dPt>
            <c:idx val="3"/>
            <c:bubble3D val="0"/>
            <c:spPr>
              <a:solidFill>
                <a:srgbClr val="E7EAF1"/>
              </a:solidFill>
              <a:ln>
                <a:noFill/>
              </a:ln>
            </c:spPr>
          </c:dPt>
          <c:dPt>
            <c:idx val="4"/>
            <c:bubble3D val="0"/>
            <c:spPr>
              <a:noFill/>
              <a:ln>
                <a:noFill/>
              </a:ln>
            </c:spPr>
          </c:dPt>
          <c:dLbls>
            <c:dLbl>
              <c:idx val="4"/>
              <c:layout>
                <c:manualLayout>
                  <c:x val="0"/>
                  <c:y val="-0.52"/>
                </c:manualLayout>
              </c:layout>
              <c:spPr>
                <a:noFill/>
                <a:ln>
                  <a:noFill/>
                </a:ln>
              </c:spPr>
              <c:txPr>
                <a:bodyPr wrap="none"/>
                <a:lstStyle/>
                <a:p>
                  <a:pPr>
                    <a:defRPr sz="2200" b="1">
                      <a:solidFill>
                        <a:srgbClr val="1B2A4A"/>
                      </a:solidFill>
                      <a:latin typeface="Calibri"/>
                      <a:cs typeface="Calibri"/>
                    </a:defRPr>
                  </a:pPr>
                  <a:endParaRPr lang="en-US"/>
                </a:p>
              </c:txPr>
              <c:showLegendKey val="0"/>
              <c:showVal val="0"/>
              <c:showCatName val="1"/>
              <c:showSerName val="0"/>
              <c:showPercent val="0"/>
              <c:showBubbleSize val="0"/>
            </c:dLbl>
            <c:spPr>
              <a:noFill/>
              <a:ln>
                <a:noFill/>
              </a:ln>
            </c:spPr>
            <c:txPr>
              <a:bodyPr wrap="none"/>
              <a:lstStyle/>
              <a:p>
                <a:pPr>
                  <a:defRPr sz="2200" b="1">
                    <a:solidFill>
                      <a:srgbClr val="1B2A4A"/>
                    </a:solidFill>
                    <a:latin typeface="Calibri"/>
                    <a:cs typeface="Calibri"/>
                  </a:defRPr>
                </a:pPr>
                <a:endParaRPr lang="en-US"/>
              </a:p>
            </c:txPr>
            <c:showLegendKey val="0"/>
            <c:showVal val="0"/>
            <c:showCatName val="0"/>
            <c:showSerName val="0"/>
            <c:showPercent val="0"/>
            <c:showBubbleSize val="0"/>
            <c:showLeaderLines val="0"/>
          </c:dLbls>
          <c:cat>
            <c:strRef>
              <c:f>Sheet1!$A$2:$A$6</c:f>
              <c:strCache>
                <c:ptCount val="5"/>
                <c:pt idx="0">
                  <c:v>Green</c:v>
                </c:pt>
                <c:pt idx="1">
                  <c:v>Amber</c:v>
                </c:pt>
                <c:pt idx="2">
                  <c:v>Red</c:v>
                </c:pt>
                <c:pt idx="3">
                  <c:v>Remaining</c:v>
                </c:pt>
                <c:pt idx="4">
                  <c:v>XX%</c:v>
                </c:pt>
              </c:strCache>
            </c:strRef>
          </c:cat>
          <c:val>
            <c:numRef>
              <c:f>Sheet1!$B$2:$B$6</c:f>
              <c:numCache>
                <c:formatCode>General</c:formatCode>
                <c:ptCount val="5"/>
                <c:pt idx="0">
                  <c:v>0</c:v>
                </c:pt>
                <c:pt idx="1">
                  <c:v>0</c:v>
                </c:pt>
                <c:pt idx="2">
                  <c:v>0</c:v>
                </c:pt>
                <c:pt idx="3">
                  <c:v>100</c:v>
                </c:pt>
                <c:pt idx="4">
                  <c:v>100</c:v>
                </c:pt>
              </c:numCache>
            </c:numRef>
          </c:val>
        </c:ser>
        <c:dLbls>
          <c:showLegendKey val="0"/>
          <c:showVal val="0"/>
          <c:showCatName val="0"/>
          <c:showSerName val="0"/>
          <c:showPercent val="0"/>
          <c:showBubbleSize val="0"/>
          <c:showLeaderLines val="0"/>
        </c:dLbls>
        <c:firstSliceAng val="270"/>
        <c:holeSize val="72"/>
      </c:doughnutChart>
      <c:spPr>
        <a:noFill/>
        <a:ln>
          <a:noFill/>
        </a:ln>
      </c:spPr>
    </c:plotArea>
    <c:plotVisOnly val="1"/>
    <c:dispBlanksAs val="gap"/>
  </c:chart>
  <c:spPr>
    <a:noFill/>
    <a:ln>
      <a:noFill/>
    </a:ln>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2"/>
          <c:y val="0.02"/>
          <c:w val="0.96"/>
          <c:h val="0.96"/>
        </c:manualLayout>
      </c:layout>
      <c:doughnutChart>
        <c:varyColors val="1"/>
        <c:ser>
          <c:idx val="0"/>
          <c:order val="0"/>
          <c:tx>
            <c:strRef>
              <c:f>Sheet1!$B$1</c:f>
              <c:strCache>
                <c:ptCount val="1"/>
                <c:pt idx="0">
                  <c:v>Coverage</c:v>
                </c:pt>
              </c:strCache>
            </c:strRef>
          </c:tx>
          <c:spPr>
            <a:ln>
              <a:noFill/>
            </a:ln>
          </c:spPr>
          <c:dPt>
            <c:idx val="0"/>
            <c:bubble3D val="0"/>
            <c:spPr>
              <a:solidFill>
                <a:srgbClr val="3DBE8B"/>
              </a:solidFill>
              <a:ln>
                <a:noFill/>
              </a:ln>
            </c:spPr>
          </c:dPt>
          <c:dPt>
            <c:idx val="1"/>
            <c:bubble3D val="0"/>
            <c:spPr>
              <a:solidFill>
                <a:srgbClr val="E8A13D"/>
              </a:solidFill>
              <a:ln>
                <a:noFill/>
              </a:ln>
            </c:spPr>
          </c:dPt>
          <c:dPt>
            <c:idx val="2"/>
            <c:bubble3D val="0"/>
            <c:spPr>
              <a:solidFill>
                <a:srgbClr val="D9412B"/>
              </a:solidFill>
              <a:ln>
                <a:noFill/>
              </a:ln>
            </c:spPr>
          </c:dPt>
          <c:dPt>
            <c:idx val="3"/>
            <c:bubble3D val="0"/>
            <c:spPr>
              <a:solidFill>
                <a:srgbClr val="E7EAF1"/>
              </a:solidFill>
              <a:ln>
                <a:noFill/>
              </a:ln>
            </c:spPr>
          </c:dPt>
          <c:dPt>
            <c:idx val="4"/>
            <c:bubble3D val="0"/>
            <c:spPr>
              <a:noFill/>
              <a:ln>
                <a:noFill/>
              </a:ln>
            </c:spPr>
          </c:dPt>
          <c:dLbls>
            <c:dLbl>
              <c:idx val="4"/>
              <c:layout>
                <c:manualLayout>
                  <c:x val="0"/>
                  <c:y val="-0.52"/>
                </c:manualLayout>
              </c:layout>
              <c:spPr>
                <a:noFill/>
                <a:ln>
                  <a:noFill/>
                </a:ln>
              </c:spPr>
              <c:txPr>
                <a:bodyPr wrap="none"/>
                <a:lstStyle/>
                <a:p>
                  <a:pPr>
                    <a:defRPr sz="2400" b="1">
                      <a:solidFill>
                        <a:srgbClr val="1B2A4A"/>
                      </a:solidFill>
                      <a:latin typeface="Calibri"/>
                      <a:cs typeface="Calibri"/>
                    </a:defRPr>
                  </a:pPr>
                  <a:endParaRPr lang="en-US"/>
                </a:p>
              </c:txPr>
              <c:showLegendKey val="0"/>
              <c:showVal val="0"/>
              <c:showCatName val="1"/>
              <c:showSerName val="0"/>
              <c:showPercent val="0"/>
              <c:showBubbleSize val="0"/>
            </c:dLbl>
            <c:spPr>
              <a:noFill/>
              <a:ln>
                <a:noFill/>
              </a:ln>
            </c:spPr>
            <c:txPr>
              <a:bodyPr wrap="none"/>
              <a:lstStyle/>
              <a:p>
                <a:pPr>
                  <a:defRPr sz="2400" b="1">
                    <a:solidFill>
                      <a:srgbClr val="1B2A4A"/>
                    </a:solidFill>
                    <a:latin typeface="Calibri"/>
                    <a:cs typeface="Calibri"/>
                  </a:defRPr>
                </a:pPr>
                <a:endParaRPr lang="en-US"/>
              </a:p>
            </c:txPr>
            <c:showLegendKey val="0"/>
            <c:showVal val="0"/>
            <c:showCatName val="0"/>
            <c:showSerName val="0"/>
            <c:showPercent val="0"/>
            <c:showBubbleSize val="0"/>
            <c:showLeaderLines val="0"/>
          </c:dLbls>
          <c:cat>
            <c:strRef>
              <c:f>Sheet1!$A$2:$A$6</c:f>
              <c:strCache>
                <c:ptCount val="5"/>
                <c:pt idx="0">
                  <c:v>Green</c:v>
                </c:pt>
                <c:pt idx="1">
                  <c:v>Amber</c:v>
                </c:pt>
                <c:pt idx="2">
                  <c:v>Red</c:v>
                </c:pt>
                <c:pt idx="3">
                  <c:v>Remaining</c:v>
                </c:pt>
                <c:pt idx="4">
                  <c:v>XX%</c:v>
                </c:pt>
              </c:strCache>
            </c:strRef>
          </c:cat>
          <c:val>
            <c:numRef>
              <c:f>Sheet1!$B$2:$B$6</c:f>
              <c:numCache>
                <c:formatCode>General</c:formatCode>
                <c:ptCount val="5"/>
                <c:pt idx="0">
                  <c:v>0</c:v>
                </c:pt>
                <c:pt idx="1">
                  <c:v>0</c:v>
                </c:pt>
                <c:pt idx="2">
                  <c:v>0</c:v>
                </c:pt>
                <c:pt idx="3">
                  <c:v>100</c:v>
                </c:pt>
                <c:pt idx="4">
                  <c:v>100</c:v>
                </c:pt>
              </c:numCache>
            </c:numRef>
          </c:val>
        </c:ser>
        <c:dLbls>
          <c:showLegendKey val="0"/>
          <c:showVal val="0"/>
          <c:showCatName val="0"/>
          <c:showSerName val="0"/>
          <c:showPercent val="0"/>
          <c:showBubbleSize val="0"/>
          <c:showLeaderLines val="0"/>
        </c:dLbls>
        <c:firstSliceAng val="270"/>
        <c:holeSize val="72"/>
      </c:doughnutChart>
      <c:spPr>
        <a:noFill/>
        <a:ln>
          <a:noFill/>
        </a:ln>
      </c:spPr>
    </c:plotArea>
    <c:plotVisOnly val="1"/>
    <c:dispBlanksAs val="gap"/>
  </c:chart>
  <c:spPr>
    <a:noFill/>
    <a:ln>
      <a:noFill/>
    </a:ln>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manualLayout>
          <c:layoutTarget val="inner"/>
          <c:xMode val="edge"/>
          <c:yMode val="edge"/>
          <c:x val="0.02"/>
          <c:y val="0.02"/>
          <c:w val="0.96"/>
          <c:h val="0.96"/>
        </c:manualLayout>
      </c:layout>
      <c:doughnutChart>
        <c:varyColors val="1"/>
        <c:ser>
          <c:idx val="0"/>
          <c:order val="0"/>
          <c:tx>
            <c:strRef>
              <c:f>Sheet1!$B$1</c:f>
              <c:strCache>
                <c:ptCount val="1"/>
                <c:pt idx="0">
                  <c:v>Coverage</c:v>
                </c:pt>
              </c:strCache>
            </c:strRef>
          </c:tx>
          <c:spPr>
            <a:ln>
              <a:noFill/>
            </a:ln>
          </c:spPr>
          <c:dPt>
            <c:idx val="0"/>
            <c:bubble3D val="0"/>
            <c:spPr>
              <a:solidFill>
                <a:srgbClr val="3DBE8B"/>
              </a:solidFill>
              <a:ln>
                <a:noFill/>
              </a:ln>
            </c:spPr>
          </c:dPt>
          <c:dPt>
            <c:idx val="1"/>
            <c:bubble3D val="0"/>
            <c:spPr>
              <a:solidFill>
                <a:srgbClr val="E8A13D"/>
              </a:solidFill>
              <a:ln>
                <a:noFill/>
              </a:ln>
            </c:spPr>
          </c:dPt>
          <c:dPt>
            <c:idx val="2"/>
            <c:bubble3D val="0"/>
            <c:spPr>
              <a:solidFill>
                <a:srgbClr val="D9412B"/>
              </a:solidFill>
              <a:ln>
                <a:noFill/>
              </a:ln>
            </c:spPr>
          </c:dPt>
          <c:dPt>
            <c:idx val="3"/>
            <c:bubble3D val="0"/>
            <c:spPr>
              <a:solidFill>
                <a:srgbClr val="E7EAF1"/>
              </a:solidFill>
              <a:ln>
                <a:noFill/>
              </a:ln>
            </c:spPr>
          </c:dPt>
          <c:dPt>
            <c:idx val="4"/>
            <c:bubble3D val="0"/>
            <c:spPr>
              <a:noFill/>
              <a:ln>
                <a:noFill/>
              </a:ln>
            </c:spPr>
          </c:dPt>
          <c:dLbls>
            <c:dLbl>
              <c:idx val="4"/>
              <c:layout>
                <c:manualLayout>
                  <c:x val="0"/>
                  <c:y val="-0.52"/>
                </c:manualLayout>
              </c:layout>
              <c:spPr>
                <a:noFill/>
                <a:ln>
                  <a:noFill/>
                </a:ln>
              </c:spPr>
              <c:txPr>
                <a:bodyPr wrap="none"/>
                <a:lstStyle/>
                <a:p>
                  <a:pPr>
                    <a:defRPr sz="2400" b="1">
                      <a:solidFill>
                        <a:srgbClr val="1B2A4A"/>
                      </a:solidFill>
                      <a:latin typeface="Calibri"/>
                      <a:cs typeface="Calibri"/>
                    </a:defRPr>
                  </a:pPr>
                  <a:endParaRPr lang="en-US"/>
                </a:p>
              </c:txPr>
              <c:showLegendKey val="0"/>
              <c:showVal val="0"/>
              <c:showCatName val="1"/>
              <c:showSerName val="0"/>
              <c:showPercent val="0"/>
              <c:showBubbleSize val="0"/>
            </c:dLbl>
            <c:spPr>
              <a:noFill/>
              <a:ln>
                <a:noFill/>
              </a:ln>
            </c:spPr>
            <c:txPr>
              <a:bodyPr wrap="none"/>
              <a:lstStyle/>
              <a:p>
                <a:pPr>
                  <a:defRPr sz="2400" b="1">
                    <a:solidFill>
                      <a:srgbClr val="1B2A4A"/>
                    </a:solidFill>
                    <a:latin typeface="Calibri"/>
                    <a:cs typeface="Calibri"/>
                  </a:defRPr>
                </a:pPr>
                <a:endParaRPr lang="en-US"/>
              </a:p>
            </c:txPr>
            <c:showLegendKey val="0"/>
            <c:showVal val="0"/>
            <c:showCatName val="0"/>
            <c:showSerName val="0"/>
            <c:showPercent val="0"/>
            <c:showBubbleSize val="0"/>
            <c:showLeaderLines val="0"/>
          </c:dLbls>
          <c:cat>
            <c:strRef>
              <c:f>Sheet1!$A$2:$A$6</c:f>
              <c:strCache>
                <c:ptCount val="5"/>
                <c:pt idx="0">
                  <c:v>Green</c:v>
                </c:pt>
                <c:pt idx="1">
                  <c:v>Amber</c:v>
                </c:pt>
                <c:pt idx="2">
                  <c:v>Red</c:v>
                </c:pt>
                <c:pt idx="3">
                  <c:v>Remaining</c:v>
                </c:pt>
                <c:pt idx="4">
                  <c:v>XX%</c:v>
                </c:pt>
              </c:strCache>
            </c:strRef>
          </c:cat>
          <c:val>
            <c:numRef>
              <c:f>Sheet1!$B$2:$B$6</c:f>
              <c:numCache>
                <c:formatCode>General</c:formatCode>
                <c:ptCount val="5"/>
                <c:pt idx="0">
                  <c:v>0</c:v>
                </c:pt>
                <c:pt idx="1">
                  <c:v>0</c:v>
                </c:pt>
                <c:pt idx="2">
                  <c:v>0</c:v>
                </c:pt>
                <c:pt idx="3">
                  <c:v>100</c:v>
                </c:pt>
                <c:pt idx="4">
                  <c:v>100</c:v>
                </c:pt>
              </c:numCache>
            </c:numRef>
          </c:val>
        </c:ser>
        <c:dLbls>
          <c:showLegendKey val="0"/>
          <c:showVal val="0"/>
          <c:showCatName val="0"/>
          <c:showSerName val="0"/>
          <c:showPercent val="0"/>
          <c:showBubbleSize val="0"/>
          <c:showLeaderLines val="0"/>
        </c:dLbls>
        <c:firstSliceAng val="270"/>
        <c:holeSize val="72"/>
      </c:doughnutChart>
      <c:spPr>
        <a:noFill/>
        <a:ln>
          <a:noFill/>
        </a:ln>
      </c:spPr>
    </c:plotArea>
    <c:plotVisOnly val="1"/>
    <c:dispBlanksAs val="gap"/>
  </c:chart>
  <c:spPr>
    <a:noFill/>
    <a:ln>
      <a:noFill/>
    </a:ln>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Incidents</c:v>
                </c:pt>
              </c:strCache>
            </c:strRef>
          </c:tx>
          <c:spPr>
            <a:solidFill>
              <a:schemeClr val="accent1"/>
            </a:solidFill>
            <a:ln w="9525" cap="flat">
              <a:solidFill>
                <a:srgbClr val="F9F9F9"/>
              </a:solidFill>
              <a:prstDash val="solid"/>
              <a:round/>
            </a:ln>
            <a:effectLst/>
          </c:spPr>
          <c:dPt>
            <c:idx val="0"/>
            <c:bubble3D val="0"/>
            <c:spPr>
              <a:solidFill>
                <a:srgbClr val="D9412B"/>
              </a:solidFill>
              <a:ln w="19050" cap="flat">
                <a:solidFill>
                  <a:srgbClr val="F4F7FC"/>
                </a:solidFill>
                <a:prstDash val="solid"/>
                <a:round/>
              </a:ln>
              <a:effectLst/>
            </c:spPr>
          </c:dPt>
          <c:dPt>
            <c:idx val="1"/>
            <c:bubble3D val="0"/>
            <c:spPr>
              <a:solidFill>
                <a:srgbClr val="E8842C"/>
              </a:solidFill>
              <a:ln w="19050" cap="flat">
                <a:solidFill>
                  <a:srgbClr val="F4F7FC"/>
                </a:solidFill>
                <a:prstDash val="solid"/>
                <a:round/>
              </a:ln>
              <a:effectLst/>
            </c:spPr>
          </c:dPt>
          <c:dPt>
            <c:idx val="2"/>
            <c:bubble3D val="0"/>
            <c:spPr>
              <a:solidFill>
                <a:srgbClr val="EBCB3B"/>
              </a:solidFill>
              <a:ln w="19050" cap="flat">
                <a:solidFill>
                  <a:srgbClr val="F4F7FC"/>
                </a:solidFill>
                <a:prstDash val="solid"/>
                <a:round/>
              </a:ln>
              <a:effectLst/>
            </c:spPr>
          </c:dPt>
          <c:dLbls>
            <c:dLbl>
              <c:idx val="0"/>
              <c:numFmt formatCode="0%" sourceLinked="0"/>
              <c:spPr/>
              <c:txPr>
                <a:bodyPr/>
                <a:lstStyle/>
                <a:p>
                  <a:pPr>
                    <a:defRPr sz="1200" b="1" i="0" u="none" strike="noStrike">
                      <a:solidFill>
                        <a:srgbClr val="FFFFFF"/>
                      </a:solidFill>
                      <a:latin typeface="Calibri"/>
                    </a:defRPr>
                  </a:pPr>
                </a:p>
              </c:txPr>
              <c:showLegendKey val="0"/>
              <c:showVal val="0"/>
              <c:showCatName val="0"/>
              <c:showSerName val="0"/>
              <c:showPercent val="1"/>
              <c:showBubbleSize val="0"/>
            </c:dLbl>
            <c:dLbl>
              <c:idx val="1"/>
              <c:numFmt formatCode="0%" sourceLinked="0"/>
              <c:spPr/>
              <c:txPr>
                <a:bodyPr/>
                <a:lstStyle/>
                <a:p>
                  <a:pPr>
                    <a:defRPr sz="1200" b="1" i="0" u="none" strike="noStrike">
                      <a:solidFill>
                        <a:srgbClr val="FFFFFF"/>
                      </a:solidFill>
                      <a:latin typeface="Calibri"/>
                    </a:defRPr>
                  </a:pPr>
                </a:p>
              </c:txPr>
              <c:showLegendKey val="0"/>
              <c:showVal val="0"/>
              <c:showCatName val="0"/>
              <c:showSerName val="0"/>
              <c:showPercent val="1"/>
              <c:showBubbleSize val="0"/>
            </c:dLbl>
            <c:dLbl>
              <c:idx val="2"/>
              <c:numFmt formatCode="0%" sourceLinked="0"/>
              <c:spPr/>
              <c:txPr>
                <a:bodyPr/>
                <a:lstStyle/>
                <a:p>
                  <a:pPr>
                    <a:defRPr sz="1200" b="1" i="0" u="none" strike="noStrike">
                      <a:solidFill>
                        <a:srgbClr val="FFFFFF"/>
                      </a:solidFill>
                      <a:latin typeface="Calibri"/>
                    </a:defRPr>
                  </a:pPr>
                </a:p>
              </c:txPr>
              <c:showLegendKey val="0"/>
              <c:showVal val="0"/>
              <c:showCatName val="0"/>
              <c:showSerName val="0"/>
              <c:showPercent val="1"/>
              <c:showBubbleSize val="0"/>
            </c:dLbl>
            <c:numFmt formatCode="0%"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High</c:v>
                </c:pt>
                <c:pt idx="1">
                  <c:v>Medium</c:v>
                </c:pt>
                <c:pt idx="2">
                  <c:v>Low</c:v>
                </c:pt>
              </c:strCache>
            </c:strRef>
          </c:cat>
          <c:val>
            <c:numRef>
              <c:f>Sheet1!$B$2:$B$4</c:f>
              <c:numCache>
                <c:ptCount val="3"/>
                <c:pt idx="0">
                  <c:v>13568</c:v>
                </c:pt>
                <c:pt idx="1">
                  <c:v>26248</c:v>
                </c:pt>
                <c:pt idx="2">
                  <c:v>8688</c:v>
                </c:pt>
              </c:numCache>
            </c:numRef>
          </c:val>
        </c:ser>
        <c:firstSliceAng val="0"/>
        <c:holeSize val="55"/>
      </c:doughnutChart>
      <c:spPr>
        <a:noFill/>
        <a:ln>
          <a:noFill/>
        </a:ln>
        <a:effectLst/>
      </c:spPr>
    </c:plotArea>
    <c:legend>
      <c:legendPos val="b"/>
      <c:overlay val="0"/>
      <c:txPr>
        <a:bodyPr/>
        <a:lstStyle/>
        <a:p>
          <a:pPr>
            <a:defRPr sz="1200">
              <a:solidFill>
                <a:srgbClr val="1E293B"/>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Incidents</c:v>
                </c:pt>
              </c:strCache>
            </c:strRef>
          </c:tx>
          <c:spPr>
            <a:solidFill>
              <a:srgbClr val="1B2A4A"/>
            </a:solidFill>
            <a:effectLst/>
          </c:spPr>
          <c:invertIfNegative val="0"/>
          <c:dLbls>
            <c:numFmt formatCode="#,##0" sourceLinked="0"/>
            <c:txPr>
              <a:bodyPr/>
              <a:lstStyle/>
              <a:p>
                <a:pPr>
                  <a:defRPr b="0" i="0" strike="noStrike" sz="1200" u="none">
                    <a:solidFill>
                      <a:srgbClr val="1E293B"/>
                    </a:solidFill>
                    <a:latin typeface="Calibri"/>
                  </a:defRPr>
                </a:pPr>
              </a:p>
            </c:txPr>
            <c:showLegendKey val="0"/>
            <c:showVal val="1"/>
            <c:showCatName val="0"/>
            <c:showSerName val="0"/>
            <c:showPercent val="0"/>
            <c:showBubbleSize val="0"/>
            <c:showLeaderLines val="0"/>
          </c:dLbls>
          <c:cat>
            <c:multiLvlStrRef>
              <c:f>Sheet1!$A$2:$A$7</c:f>
              <c:multiLvlStrCache>
                <c:ptCount val="6"/>
                <c:lvl>
                  <c:pt idx="0">
                    <c:v>Network email</c:v>
                  </c:pt>
                  <c:pt idx="1">
                    <c:v>Endpoint email</c:v>
                  </c:pt>
                  <c:pt idx="2">
                    <c:v>HTTPS</c:v>
                  </c:pt>
                  <c:pt idx="3">
                    <c:v>Endpoint printing</c:v>
                  </c:pt>
                  <c:pt idx="4">
                    <c:v>Endpoint HTTPS</c:v>
                  </c:pt>
                  <c:pt idx="5">
                    <c:v>Other</c:v>
                  </c:pt>
                </c:lvl>
              </c:multiLvlStrCache>
            </c:multiLvlStrRef>
          </c:cat>
          <c:val>
            <c:numRef>
              <c:f>Sheet1!$B$2:$B$7</c:f>
              <c:numCache>
                <c:formatCode>General</c:formatCode>
                <c:ptCount val="6"/>
                <c:pt idx="0">
                  <c:v>14925</c:v>
                </c:pt>
                <c:pt idx="1">
                  <c:v>13950</c:v>
                </c:pt>
                <c:pt idx="2">
                  <c:v>7976</c:v>
                </c:pt>
                <c:pt idx="3">
                  <c:v>5018</c:v>
                </c:pt>
                <c:pt idx="4">
                  <c:v>4729</c:v>
                </c:pt>
                <c:pt idx="5">
                  <c:v>1906</c:v>
                </c:pt>
              </c:numCache>
            </c:numRef>
          </c:val>
        </c:ser>
        <c:dLbls>
          <c:numFmt formatCode="#,##0" sourceLinked="0"/>
          <c:txPr>
            <a:bodyPr/>
            <a:lstStyle/>
            <a:p>
              <a:pPr>
                <a:defRPr b="0" i="0" strike="noStrike" sz="1200" u="none">
                  <a:solidFill>
                    <a:srgbClr val="1E293B"/>
                  </a:solidFill>
                  <a:latin typeface="Calibri"/>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E293B"/>
                </a:solidFill>
                <a:latin typeface="Calibri"/>
              </a:defRPr>
            </a:pPr>
            <a:endParaRPr lang="en-US"/>
          </a:p>
        </c:txPr>
        <c:crossAx val="2094734552"/>
        <c:crosses val="autoZero"/>
        <c:auto val="1"/>
        <c:lblAlgn val="ctr"/>
        <c:noMultiLvlLbl val="1"/>
      </c:catAx>
      <c:valAx>
        <c:axId val="2094734552"/>
        <c:scaling>
          <c:orientation val="minMax"/>
          <c:max val="1750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figure here is taken from the detail slides. The CTI tile is waiting on the CTI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figures (from the August deck): SIEM 667,608 false-positive events eliminated, 64,284 new alert baseline; EDR 134,000 to 3 alerts per day. Amber XX values (use case counts, MITRE coverage) need your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values on this slide are to be filled in: report names, periods, dates, status, and the three KPIs.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Coverage figures carried over from the August deck: confirm they are still current. Licensed EPS (amber) needs your number; drag the bar's right edge to match once you have it. To update a gauge: right-click it, choose Edit Data, and change the yellow cell. The arc, the colour and the number all update. The green and amber levels are in the two cells below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amber values to be filled in: KPIs and the playbook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Story: last committee we presented the Exotech SOC AI product. Since then we decided to explore other options for three reasons: cost, time to build and optimise the agent for our environment, and playbook development effort.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content on this slide is taken from the COGNNA website (agentic AI page and home page). The three percentages are the vendor's own marketing figures.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Platform and agent features are from Palo Alto's Cortex XSIAM and AgentiX pages. The two 'why it stands out' points are from our own discussions with Palo Alto. Note: XSIAM is positioned as a SIEM-replacement platform, so adopting it is a bigger change than adding an AI layer on top of QRadar; the roadmap covers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rows 'Time to build and optimise', 'Playbook development' and 'Cost' map directly to the three reasons we moved away from Exotech.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Channel coverage percentages and licence figures (amber) need your numbers. To update a gauge: right-click it, choose Edit Data, and type the percentage in the yellow cell.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the EDR '3 alerts per day' figure is real. Coverage, licence, NDR platform name and NDR figures (amber) need your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SOC investigation report. Deletion counts: 28 Aug 100+49 = 149; 29 Aug midday 77+500+342+100+41+22 = 1,082; 29 Aug evening 500+339 = 839; total 2,070. Vendor logons came from 10.0.220.250 using the shared admin account. Two other administrator logons were recorded in the window (28 Aug 22:57 and 30 Aug 10:30); no deletions are attributed to them in the report. Names are left off the slide: add them if the committee needs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Immediate actions and the SIEM monitoring item come from the investigation report. RBAC and Change Request control are your points. Blocking deletion, change management for policy changes and controlled vendor access are added suggestions: remove any that do not fit.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Forcepoint DLP report. Severity counts sum to 48,504. Action counts sum to 57,670, which is higher than the incident total, so some incidents appear under more than one action: confirm with the DLP team before quoting action percentages. 1,223 = Blocked 875 + Quarantined 271 + Denied 77. Reporting period (amber) to be filled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Forcepoint DLP report. 'Other' (1,906) is calculated as the total 48,504 minus the top five channels, matching the 3.9% in the report. Email share: 14,925 + 13,950 = 28,875 = 59.5%. Top-5 sources total 3,500; high severity 2,988 = 85.4%. HTTPS (7,976) equals the Monitor Mode count on the previous slide, which suggests the HTTPS channel is running in monitor mode: worth confirming.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CTI content to be filled in: threat actors, geopolitical points, and impact assessment.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amber values to be filled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amber values to be filled in. Rename the four control rows to match your enforcement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Drafted from the content of this deck. Items 1 and 2 follow from the incident recommendations and the AI comparison slide; confirm they match what you want to ask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figure is taken from the detail slides. The Green/Amber ratings and their short labels are my assessment: Posture is Amber for the application coverage gap, Monitoring is Green on the strength of the tuning results with the AI transition noted, IR Readiness is Amber because the response worked but the governance gaps behind the DLP incident are still open. Change a rating by editing the pill text and its fill colour. Amber XX items are waiting on your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6419088"/>
            <a:ext cx="73152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SIMAH  |  Cybersecurity Committee  |  SOC Update  |  Confidential</a:t>
            </a:r>
            <a:endParaRPr lang="en-US" sz="1000" dirty="0"/>
          </a:p>
        </p:txBody>
      </p:sp>
      <p:sp>
        <p:nvSpPr>
          <p:cNvPr id="3" name="Text 1"/>
          <p:cNvSpPr/>
          <p:nvPr>
            <p:ph idx="101" type="title" hasCustomPrompt="1"/>
          </p:nvPr>
        </p:nvSpPr>
        <p:spPr>
          <a:xfrm>
            <a:off x="1143000" y="274320"/>
            <a:ext cx="7223760" cy="603504"/>
          </a:xfrm>
          <a:prstGeom prst="rect">
            <a:avLst/>
          </a:prstGeom>
          <a:noFill/>
          <a:ln/>
        </p:spPr>
        <p:txBody>
          <a:bodyPr wrap="square" rtlCol="0"/>
          <a:lstStyle>
            <a:lvl1pPr algn="l" indent="0" marL="0">
              <a:buNone/>
              <a:defRPr lang="en-US" sz="3000" b="1" dirty="0">
                <a:solidFill>
                  <a:srgbClr val="1B2A4A"/>
                </a:solidFill>
                <a:latin typeface="Calibri" pitchFamily="34" charset="0"/>
                <a:ea typeface="Calibri" pitchFamily="34" charset="-122"/>
                <a:cs typeface="Calibri"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DARK">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457200" y="6419088"/>
            <a:ext cx="7315200" cy="274320"/>
          </a:xfrm>
          <a:prstGeom prst="rect">
            <a:avLst/>
          </a:prstGeom>
          <a:noFill/>
          <a:ln/>
        </p:spPr>
        <p:txBody>
          <a:bodyPr wrap="square" lIns="0" tIns="0" rIns="0" bIns="0" rtlCol="0" anchor="ctr"/>
          <a:lstStyle/>
          <a:p>
            <a:pPr indent="0" marL="0">
              <a:buNone/>
            </a:pPr>
            <a:r>
              <a:rPr lang="en-US" sz="1000" dirty="0">
                <a:solidFill>
                  <a:srgbClr val="CADCFC"/>
                </a:solidFill>
                <a:latin typeface="Calibri" pitchFamily="34" charset="0"/>
                <a:ea typeface="Calibri" pitchFamily="34" charset="-122"/>
                <a:cs typeface="Calibri" pitchFamily="34" charset="-120"/>
              </a:rPr>
              <a:t>SIMAH  |  Cybersecurity Committee  |  SOC Update  |  Confidential</a:t>
            </a:r>
            <a:endParaRPr lang="en-US" sz="1000" dirty="0"/>
          </a:p>
        </p:txBody>
      </p:sp>
      <p:sp>
        <p:nvSpPr>
          <p:cNvPr id="3" name="Text 1"/>
          <p:cNvSpPr/>
          <p:nvPr>
            <p:ph idx="101" type="title" hasCustomPrompt="1"/>
          </p:nvPr>
        </p:nvSpPr>
        <p:spPr>
          <a:xfrm>
            <a:off x="1143000" y="274320"/>
            <a:ext cx="7223760" cy="603504"/>
          </a:xfrm>
          <a:prstGeom prst="rect">
            <a:avLst/>
          </a:prstGeom>
          <a:noFill/>
          <a:ln/>
        </p:spPr>
        <p:txBody>
          <a:bodyPr wrap="square" rtlCol="0"/>
          <a:lstStyle>
            <a:lvl1pPr algn="l" indent="0" marL="0">
              <a:buNone/>
              <a:defRPr lang="en-US" sz="3000" b="1" dirty="0">
                <a:solidFill>
                  <a:srgbClr val="FFFFFF"/>
                </a:solidFill>
                <a:latin typeface="Calibri" pitchFamily="34" charset="0"/>
                <a:ea typeface="Calibri" pitchFamily="34" charset="-122"/>
                <a:cs typeface="Calibri"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rgbClr val="1B2A4A"/>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2.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slideLayout" Target="../slideLayouts/slideLayout2.xml"/><Relationship Id="rId1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chart" Target="/ppt/charts/chart1.xml"/><Relationship Id="rId3" Type="http://schemas.openxmlformats.org/officeDocument/2006/relationships/chart" Target="/ppt/charts/chart2.xml"/><Relationship Id="rId4" Type="http://schemas.openxmlformats.org/officeDocument/2006/relationships/chart" Target="/ppt/charts/chart3.xml"/><Relationship Id="rId5" Type="http://schemas.openxmlformats.org/officeDocument/2006/relationships/chart" Target="/ppt/charts/chart4.xml"/><Relationship Id="rId6" Type="http://schemas.openxmlformats.org/officeDocument/2006/relationships/chart" Target="/ppt/charts/chart5.xml"/><Relationship Id="rId7" Type="http://schemas.openxmlformats.org/officeDocument/2006/relationships/chart" Target="/ppt/charts/chart6.xml"/><Relationship Id="rId8" Type="http://schemas.openxmlformats.org/officeDocument/2006/relationships/chart" Target="/ppt/charts/chart7.xml"/><Relationship Id="rId1" Type="http://schemas.openxmlformats.org/officeDocument/2006/relationships/image" Target="../media/image-6-1.png"/><Relationship Id="rId9" Type="http://schemas.openxmlformats.org/officeDocument/2006/relationships/image" Target="../media/image-6-2.png"/><Relationship Id="rId10" Type="http://schemas.openxmlformats.org/officeDocument/2006/relationships/image" Target="../media/image-6-3.png"/><Relationship Id="rId11" Type="http://schemas.openxmlformats.org/officeDocument/2006/relationships/image" Target="../media/image-6-4.png"/><Relationship Id="rId12" Type="http://schemas.openxmlformats.org/officeDocument/2006/relationships/slideLayout" Target="../slideLayouts/slideLayout2.xml"/><Relationship Id="rId1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slideLayout" Target="../slideLayouts/slideLayout2.xml"/><Relationship Id="rId1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2.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slideLayout" Target="../slideLayouts/slideLayout2.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3" Type="http://schemas.openxmlformats.org/officeDocument/2006/relationships/chart" Target="/ppt/charts/chart8.xml"/><Relationship Id="rId5" Type="http://schemas.openxmlformats.org/officeDocument/2006/relationships/chart" Target="/ppt/charts/chart9.xml"/><Relationship Id="rId7" Type="http://schemas.openxmlformats.org/officeDocument/2006/relationships/chart" Target="/ppt/charts/chart10.xml"/><Relationship Id="rId1" Type="http://schemas.openxmlformats.org/officeDocument/2006/relationships/image" Target="../media/image-12-1.png"/><Relationship Id="rId2" Type="http://schemas.openxmlformats.org/officeDocument/2006/relationships/image" Target="../media/image-12-2.png"/><Relationship Id="rId4" Type="http://schemas.openxmlformats.org/officeDocument/2006/relationships/image" Target="../media/image-12-3.png"/><Relationship Id="rId6" Type="http://schemas.openxmlformats.org/officeDocument/2006/relationships/image" Target="../media/image-12-4.png"/><Relationship Id="rId8" Type="http://schemas.openxmlformats.org/officeDocument/2006/relationships/image" Target="../media/image-12-5.png"/><Relationship Id="rId9" Type="http://schemas.openxmlformats.org/officeDocument/2006/relationships/image" Target="../media/image-12-6.png"/><Relationship Id="rId10" Type="http://schemas.openxmlformats.org/officeDocument/2006/relationships/slideLayout" Target="../slideLayouts/slideLayout2.xml"/><Relationship Id="rId11"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chart" Target="/ppt/charts/chart11.xml"/><Relationship Id="rId5" Type="http://schemas.openxmlformats.org/officeDocument/2006/relationships/chart" Target="/ppt/charts/chart12.xml"/><Relationship Id="rId1" Type="http://schemas.openxmlformats.org/officeDocument/2006/relationships/image" Target="../media/image-13-1.png"/><Relationship Id="rId2" Type="http://schemas.openxmlformats.org/officeDocument/2006/relationships/image" Target="../media/image-13-2.png"/><Relationship Id="rId4" Type="http://schemas.openxmlformats.org/officeDocument/2006/relationships/image" Target="../media/image-13-3.png"/><Relationship Id="rId6" Type="http://schemas.openxmlformats.org/officeDocument/2006/relationships/slideLayout" Target="../slideLayouts/slideLayout2.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image" Target="../media/image-15-9.png"/><Relationship Id="rId10" Type="http://schemas.openxmlformats.org/officeDocument/2006/relationships/image" Target="../media/image-15-10.png"/><Relationship Id="rId11" Type="http://schemas.openxmlformats.org/officeDocument/2006/relationships/slideLayout" Target="../slideLayouts/slideLayout2.xml"/><Relationship Id="rId1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2" Type="http://schemas.openxmlformats.org/officeDocument/2006/relationships/chart" Target="/ppt/charts/chart13.xml"/><Relationship Id="rId1" Type="http://schemas.openxmlformats.org/officeDocument/2006/relationships/image" Target="../media/image-16-1.png"/><Relationship Id="rId3" Type="http://schemas.openxmlformats.org/officeDocument/2006/relationships/slideLayout" Target="../slideLayouts/slideLayout2.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2" Type="http://schemas.openxmlformats.org/officeDocument/2006/relationships/chart" Target="/ppt/charts/chart14.xml"/><Relationship Id="rId1" Type="http://schemas.openxmlformats.org/officeDocument/2006/relationships/image" Target="../media/image-17-1.png"/><Relationship Id="rId3" Type="http://schemas.openxmlformats.org/officeDocument/2006/relationships/image" Target="../media/image-17-2.png"/><Relationship Id="rId4" Type="http://schemas.openxmlformats.org/officeDocument/2006/relationships/slideLayout" Target="../slideLayouts/slideLayout2.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slideLayout" Target="../slideLayouts/slideLayout2.xml"/><Relationship Id="rId7"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2.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image" Target="../media/image-20-4.png"/><Relationship Id="rId5" Type="http://schemas.openxmlformats.org/officeDocument/2006/relationships/image" Target="../media/image-20-5.png"/><Relationship Id="rId6" Type="http://schemas.openxmlformats.org/officeDocument/2006/relationships/image" Target="../media/image-20-6.png"/><Relationship Id="rId7" Type="http://schemas.openxmlformats.org/officeDocument/2006/relationships/image" Target="../media/image-20-7.png"/><Relationship Id="rId8" Type="http://schemas.openxmlformats.org/officeDocument/2006/relationships/image" Target="../media/image-20-8.png"/><Relationship Id="rId9" Type="http://schemas.openxmlformats.org/officeDocument/2006/relationships/image" Target="../media/image-20-9.png"/><Relationship Id="rId10" Type="http://schemas.openxmlformats.org/officeDocument/2006/relationships/slideLayout" Target="../slideLayouts/slideLayout2.xml"/><Relationship Id="rId11"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gap-1.png"/><Relationship Id="rId2" Type="http://schemas.openxmlformats.org/officeDocument/2006/relationships/image" Target="../media/image-gap-2.png"/><Relationship Id="rId3" Type="http://schemas.openxmlformats.org/officeDocument/2006/relationships/image" Target="../media/image-gap-3.png"/><Relationship Id="rId4" Type="http://schemas.openxmlformats.org/officeDocument/2006/relationships/image" Target="../media/image-gap-4.png"/><Relationship Id="rId5" Type="http://schemas.openxmlformats.org/officeDocument/2006/relationships/image" Target="../media/image-gap-5.png"/><Relationship Id="rId6" Type="http://schemas.openxmlformats.org/officeDocument/2006/relationships/image" Target="../media/image-gap-6.png"/><Relationship Id="rId7" Type="http://schemas.openxmlformats.org/officeDocument/2006/relationships/image" Target="../media/image-gap-7.png"/><Relationship Id="rId8" Type="http://schemas.openxmlformats.org/officeDocument/2006/relationships/image" Target="../media/image-gap-8.png"/><Relationship Id="rId9" Type="http://schemas.openxmlformats.org/officeDocument/2006/relationships/image" Target="../media/image-gap-9.png"/><Relationship Id="rId10" Type="http://schemas.openxmlformats.org/officeDocument/2006/relationships/image" Target="../media/image-gap-10.png"/><Relationship Id="rId11" Type="http://schemas.openxmlformats.org/officeDocument/2006/relationships/image" Target="../media/image-gap-11.png"/><Relationship Id="rId12" Type="http://schemas.openxmlformats.org/officeDocument/2006/relationships/image" Target="../media/image-gap-12.png"/><Relationship Id="rId13" Type="http://schemas.openxmlformats.org/officeDocument/2006/relationships/image" Target="../media/image-gap-13.png"/><Relationship Id="rId14" Type="http://schemas.openxmlformats.org/officeDocument/2006/relationships/image" Target="../media/image-gap-14.png"/><Relationship Id="rId15" Type="http://schemas.openxmlformats.org/officeDocument/2006/relationships/image" Target="../media/image-gap-15.png"/><Relationship Id="rId16" Type="http://schemas.openxmlformats.org/officeDocument/2006/relationships/image" Target="../media/image-gap-16.png"/><Relationship Id="rId17" Type="http://schemas.openxmlformats.org/officeDocument/2006/relationships/image" Target="../media/image-gap-17.png"/><Relationship Id="rId18" Type="http://schemas.openxmlformats.org/officeDocument/2006/relationships/image" Target="../media/image-gap-18.png"/><Relationship Id="rId19" Type="http://schemas.openxmlformats.org/officeDocument/2006/relationships/image" Target="../media/image-gap-19.png"/><Relationship Id="rId20" Type="http://schemas.openxmlformats.org/officeDocument/2006/relationships/image" Target="../media/image-gap-20.png"/><Relationship Id="rId21" Type="http://schemas.openxmlformats.org/officeDocument/2006/relationships/image" Target="../media/image-gap-21.png"/><Relationship Id="rId22" Type="http://schemas.openxmlformats.org/officeDocument/2006/relationships/image" Target="../media/image-gap-22.png"/><Relationship Id="rId23" Type="http://schemas.openxmlformats.org/officeDocument/2006/relationships/image" Target="../media/image-gap-23.png"/><Relationship Id="rId24" Type="http://schemas.openxmlformats.org/officeDocument/2006/relationships/image" Target="../media/image-gap-24.png"/><Relationship Id="rId25"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image" Target="../media/image-sum-1.png"/><Relationship Id="rId2" Type="http://schemas.openxmlformats.org/officeDocument/2006/relationships/image" Target="../media/image-sum-2.png"/><Relationship Id="rId3" Type="http://schemas.openxmlformats.org/officeDocument/2006/relationships/image" Target="../media/image-sum-3.png"/><Relationship Id="rId4" Type="http://schemas.openxmlformats.org/officeDocument/2006/relationships/image" Target="../media/image-sum-4.png"/><Relationship Id="rId5" Type="http://schemas.openxmlformats.org/officeDocument/2006/relationships/image" Target="../media/image-sum-5.png"/><Relationship Id="rId6" Type="http://schemas.openxmlformats.org/officeDocument/2006/relationships/image" Target="../media/image-sum-6.png"/><Relationship Id="rId7" Type="http://schemas.openxmlformats.org/officeDocument/2006/relationships/image" Target="../media/image-sum-7.png"/><Relationship Id="rId8" Type="http://schemas.openxmlformats.org/officeDocument/2006/relationships/image" Target="../media/image-sum-8.png"/><Relationship Id="rId9" Type="http://schemas.openxmlformats.org/officeDocument/2006/relationships/image" Target="../media/image-sum-9.png"/><Relationship Id="rId10" Type="http://schemas.openxmlformats.org/officeDocument/2006/relationships/image" Target="../media/image-sum-10.png"/><Relationship Id="rId11" Type="http://schemas.openxmlformats.org/officeDocument/2006/relationships/image" Target="../media/image-sum-11.png"/><Relationship Id="rId12" Type="http://schemas.openxmlformats.org/officeDocument/2006/relationships/image" Target="../media/image-sum-12.png"/><Relationship Id="rId13" Type="http://schemas.openxmlformats.org/officeDocument/2006/relationships/image" Target="../media/image-sum-13.png"/><Relationship Id="rId14" Type="http://schemas.openxmlformats.org/officeDocument/2006/relationships/image" Target="../media/image-sum-14.png"/><Relationship Id="rId15" Type="http://schemas.openxmlformats.org/officeDocument/2006/relationships/image" Target="../media/image-sum-15.png"/><Relationship Id="rId16" Type="http://schemas.openxmlformats.org/officeDocument/2006/relationships/image" Target="../media/image-sum-16.png"/><Relationship Id="rId17" Type="http://schemas.openxmlformats.org/officeDocument/2006/relationships/image" Target="../media/image-sum-17.png"/><Relationship Id="rId18" Type="http://schemas.openxmlformats.org/officeDocument/2006/relationships/slideLayout" Target="../slideLayouts/slideLayout2.xml"/><Relationship Id="rId19"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822960" y="1371600"/>
            <a:ext cx="914400" cy="914400"/>
          </a:xfrm>
          <a:prstGeom prst="ellipse">
            <a:avLst/>
          </a:prstGeom>
          <a:solidFill>
            <a:srgbClr val="2A8C96"/>
          </a:solidFill>
          <a:ln/>
        </p:spPr>
      </p:sp>
      <p:pic>
        <p:nvPicPr>
          <p:cNvPr id="3" name="Image 0" descr="preencoded.png">    </p:cNvPr>
          <p:cNvPicPr>
            <a:picLocks noChangeAspect="1"/>
          </p:cNvPicPr>
          <p:nvPr/>
        </p:nvPicPr>
        <p:blipFill>
          <a:blip r:embed="rId1"/>
          <a:stretch>
            <a:fillRect/>
          </a:stretch>
        </p:blipFill>
        <p:spPr>
          <a:xfrm>
            <a:off x="1051560" y="1600200"/>
            <a:ext cx="457200" cy="457200"/>
          </a:xfrm>
          <a:prstGeom prst="rect">
            <a:avLst/>
          </a:prstGeom>
        </p:spPr>
      </p:pic>
      <p:pic>
        <p:nvPicPr>
          <p:cNvPr id="4" name="Image 1" descr="preencoded.png">    </p:cNvPr>
          <p:cNvPicPr>
            <a:picLocks noChangeAspect="1"/>
          </p:cNvPicPr>
          <p:nvPr/>
        </p:nvPicPr>
        <p:blipFill>
          <a:blip r:embed="rId2">
            <a:alphaModFix amt="7000"/>
          </a:blip>
          <a:stretch>
            <a:fillRect/>
          </a:stretch>
        </p:blipFill>
        <p:spPr>
          <a:xfrm>
            <a:off x="7955280" y="1417320"/>
            <a:ext cx="3657600" cy="3657600"/>
          </a:xfrm>
          <a:prstGeom prst="rect">
            <a:avLst/>
          </a:prstGeom>
        </p:spPr>
      </p:pic>
      <p:sp>
        <p:nvSpPr>
          <p:cNvPr id="5" name="Text 1"/>
          <p:cNvSpPr txBox="1"/>
          <p:nvPr/>
        </p:nvSpPr>
        <p:spPr>
          <a:xfrm>
            <a:off x="822960" y="2606040"/>
            <a:ext cx="9144000" cy="365760"/>
          </a:xfrm>
          <a:prstGeom prst="rect">
            <a:avLst/>
          </a:prstGeom>
          <a:noFill/>
          <a:ln/>
        </p:spPr>
        <p:txBody>
          <a:bodyPr wrap="square" lIns="0" tIns="0" rIns="0" bIns="0" rtlCol="0" anchor="ctr"/>
          <a:lstStyle/>
          <a:p>
            <a:pPr indent="0" marL="0">
              <a:buNone/>
            </a:pPr>
            <a:r>
              <a:rPr lang="en-US" sz="1600" b="1" spc="400" kern="0" dirty="0">
                <a:solidFill>
                  <a:srgbClr val="7FD3DB"/>
                </a:solidFill>
                <a:latin typeface="Calibri" pitchFamily="34" charset="0"/>
                <a:ea typeface="Calibri" pitchFamily="34" charset="-122"/>
                <a:cs typeface="Calibri" pitchFamily="34" charset="-120"/>
              </a:rPr>
              <a:t>CYBERSECURITY COMMITTEE</a:t>
            </a:r>
            <a:endParaRPr lang="en-US" sz="1600" dirty="0"/>
          </a:p>
        </p:txBody>
      </p:sp>
      <p:sp>
        <p:nvSpPr>
          <p:cNvPr id="6" name="Text 2"/>
          <p:cNvSpPr txBox="1"/>
          <p:nvPr/>
        </p:nvSpPr>
        <p:spPr>
          <a:xfrm>
            <a:off x="822960" y="3017520"/>
            <a:ext cx="10058400" cy="914400"/>
          </a:xfrm>
          <a:prstGeom prst="rect">
            <a:avLst/>
          </a:prstGeom>
          <a:noFill/>
          <a:ln/>
        </p:spPr>
        <p:txBody>
          <a:bodyPr wrap="square" lIns="0" tIns="0" rIns="0" bIns="0" rtlCol="0" anchor="ctr"/>
          <a:lstStyle/>
          <a:p>
            <a:pPr indent="0" marL="0">
              <a:buNone/>
            </a:pPr>
            <a:r>
              <a:rPr lang="en-US" sz="5400" b="1" dirty="0">
                <a:solidFill>
                  <a:srgbClr val="FFFFFF"/>
                </a:solidFill>
                <a:latin typeface="Calibri" pitchFamily="34" charset="0"/>
                <a:ea typeface="Calibri" pitchFamily="34" charset="-122"/>
                <a:cs typeface="Calibri" pitchFamily="34" charset="-120"/>
              </a:rPr>
              <a:t>SOC Update</a:t>
            </a:r>
            <a:endParaRPr lang="en-US" sz="5400" dirty="0"/>
          </a:p>
        </p:txBody>
      </p:sp>
      <p:sp>
        <p:nvSpPr>
          <p:cNvPr id="7" name="Text 3"/>
          <p:cNvSpPr txBox="1"/>
          <p:nvPr/>
        </p:nvSpPr>
        <p:spPr>
          <a:xfrm>
            <a:off x="822960" y="4023360"/>
            <a:ext cx="10515600" cy="411480"/>
          </a:xfrm>
          <a:prstGeom prst="rect">
            <a:avLst/>
          </a:prstGeom>
          <a:noFill/>
          <a:ln/>
        </p:spPr>
        <p:txBody>
          <a:bodyPr wrap="square" lIns="0" tIns="0" rIns="0" bIns="0" rtlCol="0" anchor="ctr"/>
          <a:lstStyle/>
          <a:p>
            <a:pPr indent="0" marL="0">
              <a:buNone/>
            </a:pPr>
            <a:r>
              <a:rPr lang="en-US" sz="1800" dirty="0">
                <a:solidFill>
                  <a:srgbClr val="CADCFC"/>
                </a:solidFill>
                <a:latin typeface="Calibri" pitchFamily="34" charset="0"/>
                <a:ea typeface="Calibri" pitchFamily="34" charset="-122"/>
                <a:cs typeface="Calibri" pitchFamily="34" charset="-120"/>
              </a:rPr>
              <a:t>SOC Operations  ·  SOC Technology  ·  Incident Response  ·  Cyber Threat Intelligence</a:t>
            </a:r>
            <a:endParaRPr lang="en-US" sz="1800" dirty="0"/>
          </a:p>
        </p:txBody>
      </p:sp>
      <p:sp>
        <p:nvSpPr>
          <p:cNvPr id="8" name="Text 4"/>
          <p:cNvSpPr txBox="1"/>
          <p:nvPr/>
        </p:nvSpPr>
        <p:spPr>
          <a:xfrm>
            <a:off x="822960" y="5852160"/>
            <a:ext cx="10058400" cy="32004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SIMAH  |  Security Operations Center  |  October 2026  |  Confidential</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457200" y="310896"/>
            <a:ext cx="530352" cy="530352"/>
          </a:xfrm>
          <a:prstGeom prst="ellipse">
            <a:avLst/>
          </a:prstGeom>
          <a:solidFill>
            <a:srgbClr val="1B2A4A"/>
          </a:solidFill>
          <a:ln/>
        </p:spPr>
      </p:sp>
      <p:pic>
        <p:nvPicPr>
          <p:cNvPr id="3" name="Image 0" descr="preencoded.png">    </p:cNvPr>
          <p:cNvPicPr>
            <a:picLocks noChangeAspect="1"/>
          </p:cNvPicPr>
          <p:nvPr/>
        </p:nvPicPr>
        <p:blipFill>
          <a:blip r:embed="rId1"/>
          <a:stretch>
            <a:fillRect/>
          </a:stretch>
        </p:blipFill>
        <p:spPr>
          <a:xfrm>
            <a:off x="589788" y="443484"/>
            <a:ext cx="265176" cy="265176"/>
          </a:xfrm>
          <a:prstGeom prst="rect">
            <a:avLst/>
          </a:prstGeom>
        </p:spPr>
      </p:pic>
      <p:sp>
        <p:nvSpPr>
          <p:cNvPr id="4" name="Text 1"/>
          <p:cNvSpPr/>
          <p:nvPr>
            <p:ph idx="101" type="title" hasCustomPrompt="1"/>
          </p:nvPr>
        </p:nvSpPr>
        <p:spPr>
          <a:xfrm>
            <a:off x="1143000" y="274320"/>
            <a:ext cx="7223760" cy="603504"/>
          </a:xfrm>
          <a:prstGeom prst="rect">
            <a:avLst/>
          </a:prstGeom>
          <a:noFill/>
          <a:ln/>
        </p:spPr>
        <p:txBody>
          <a:bodyPr wrap="square" lIns="0" tIns="0" rIns="0" bIns="0" rtlCol="0" anchor="ctr"/>
          <a:lstStyle/>
          <a:p>
            <a:pPr algn="l" indent="0" marL="0">
              <a:buNone/>
            </a:pPr>
            <a:r>
              <a:rPr lang="en-US" sz="3000" b="1" dirty="0">
                <a:solidFill>
                  <a:srgbClr val="1B2A4A"/>
                </a:solidFill>
                <a:latin typeface="Calibri" pitchFamily="34" charset="0"/>
                <a:ea typeface="Calibri" pitchFamily="34" charset="-122"/>
                <a:cs typeface="Calibri" pitchFamily="34" charset="-120"/>
              </a:rPr>
              <a:t>Agenda</a:t>
            </a:r>
            <a:endParaRPr lang="en-US" sz="3000" dirty="0"/>
          </a:p>
        </p:txBody>
      </p:sp>
      <p:sp>
        <p:nvSpPr>
          <p:cNvPr id="5" name="Text 2"/>
          <p:cNvSpPr txBox="1"/>
          <p:nvPr/>
        </p:nvSpPr>
        <p:spPr>
          <a:xfrm>
            <a:off x="8458200" y="384048"/>
            <a:ext cx="3273552" cy="384048"/>
          </a:xfrm>
          <a:prstGeom prst="rect">
            <a:avLst/>
          </a:prstGeom>
          <a:noFill/>
          <a:ln/>
        </p:spPr>
        <p:txBody>
          <a:bodyPr wrap="square" lIns="0" tIns="0" rIns="0" bIns="0" rtlCol="0" anchor="ctr"/>
          <a:lstStyle/>
          <a:p>
            <a:pPr algn="r" indent="0" marL="0">
              <a:buNone/>
            </a:pPr>
            <a:r>
              <a:rPr lang="en-US" sz="1200" dirty="0">
                <a:solidFill>
                  <a:srgbClr val="64748B"/>
                </a:solidFill>
                <a:latin typeface="Calibri" pitchFamily="34" charset="0"/>
                <a:ea typeface="Calibri" pitchFamily="34" charset="-122"/>
                <a:cs typeface="Calibri" pitchFamily="34" charset="-120"/>
              </a:rPr>
              <a:t>Cybersecurity Committee  |  SOC</a:t>
            </a:r>
            <a:endParaRPr lang="en-US" sz="1200" dirty="0"/>
          </a:p>
        </p:txBody>
      </p:sp>
      <p:sp>
        <p:nvSpPr>
          <p:cNvPr id="6" name="Text 3"/>
          <p:cNvSpPr txBox="1"/>
          <p:nvPr/>
        </p:nvSpPr>
        <p:spPr>
          <a:xfrm>
            <a:off x="457200" y="932688"/>
            <a:ext cx="11274552" cy="310896"/>
          </a:xfrm>
          <a:prstGeom prst="rect">
            <a:avLst/>
          </a:prstGeom>
          <a:noFill/>
          <a:ln/>
        </p:spPr>
        <p:txBody>
          <a:bodyPr wrap="square" lIns="0" tIns="0" rIns="0" bIns="0" rtlCol="0" anchor="ctr"/>
          <a:lstStyle/>
          <a:p>
            <a:pPr indent="0" marL="0">
              <a:buNone/>
            </a:pPr>
            <a:r>
              <a:rPr lang="en-US" sz="1500" dirty="0">
                <a:solidFill>
                  <a:srgbClr val="64748B"/>
                </a:solidFill>
                <a:latin typeface="Calibri" pitchFamily="34" charset="0"/>
                <a:ea typeface="Calibri" pitchFamily="34" charset="-122"/>
                <a:cs typeface="Calibri" pitchFamily="34" charset="-120"/>
              </a:rPr>
              <a:t>Four areas covered in this update</a:t>
            </a:r>
            <a:endParaRPr lang="en-US" sz="1500" dirty="0"/>
          </a:p>
        </p:txBody>
      </p:sp>
      <p:sp>
        <p:nvSpPr>
          <p:cNvPr id="7" name="Shape 4"/>
          <p:cNvSpPr/>
          <p:nvPr/>
        </p:nvSpPr>
        <p:spPr>
          <a:xfrm>
            <a:off x="457200" y="1463040"/>
            <a:ext cx="2651760" cy="4572000"/>
          </a:xfrm>
          <a:prstGeom prst="roundRect">
            <a:avLst>
              <a:gd name="adj" fmla="val 2414"/>
            </a:avLst>
          </a:prstGeom>
          <a:solidFill>
            <a:srgbClr val="F4F7FC"/>
          </a:solidFill>
          <a:ln w="9525">
            <a:solidFill>
              <a:srgbClr val="DCE3EE"/>
            </a:solidFill>
            <a:prstDash val="solid"/>
          </a:ln>
        </p:spPr>
      </p:sp>
      <p:sp>
        <p:nvSpPr>
          <p:cNvPr id="8" name="Shape 5"/>
          <p:cNvSpPr/>
          <p:nvPr/>
        </p:nvSpPr>
        <p:spPr>
          <a:xfrm>
            <a:off x="731520" y="1755648"/>
            <a:ext cx="603504" cy="603504"/>
          </a:xfrm>
          <a:prstGeom prst="ellipse">
            <a:avLst/>
          </a:prstGeom>
          <a:solidFill>
            <a:srgbClr val="1B2A4A"/>
          </a:solidFill>
          <a:ln/>
        </p:spPr>
      </p:sp>
      <p:pic>
        <p:nvPicPr>
          <p:cNvPr id="9" name="Image 1" descr="preencoded.png">    </p:cNvPr>
          <p:cNvPicPr>
            <a:picLocks noChangeAspect="1"/>
          </p:cNvPicPr>
          <p:nvPr/>
        </p:nvPicPr>
        <p:blipFill>
          <a:blip r:embed="rId2"/>
          <a:stretch>
            <a:fillRect/>
          </a:stretch>
        </p:blipFill>
        <p:spPr>
          <a:xfrm>
            <a:off x="886968" y="1911096"/>
            <a:ext cx="292608" cy="292608"/>
          </a:xfrm>
          <a:prstGeom prst="rect">
            <a:avLst/>
          </a:prstGeom>
        </p:spPr>
      </p:pic>
      <p:sp>
        <p:nvSpPr>
          <p:cNvPr id="10" name="Text 6"/>
          <p:cNvSpPr txBox="1"/>
          <p:nvPr/>
        </p:nvSpPr>
        <p:spPr>
          <a:xfrm>
            <a:off x="2194560" y="1755648"/>
            <a:ext cx="640080" cy="603504"/>
          </a:xfrm>
          <a:prstGeom prst="rect">
            <a:avLst/>
          </a:prstGeom>
          <a:noFill/>
          <a:ln/>
        </p:spPr>
        <p:txBody>
          <a:bodyPr wrap="square" lIns="0" tIns="0" rIns="0" bIns="0" rtlCol="0" anchor="ctr"/>
          <a:lstStyle/>
          <a:p>
            <a:pPr algn="r" indent="0" marL="0">
              <a:buNone/>
            </a:pPr>
            <a:r>
              <a:rPr lang="en-US" sz="2800" b="1" dirty="0">
                <a:solidFill>
                  <a:srgbClr val="C3CDE0"/>
                </a:solidFill>
                <a:latin typeface="Calibri" pitchFamily="34" charset="0"/>
                <a:ea typeface="Calibri" pitchFamily="34" charset="-122"/>
                <a:cs typeface="Calibri" pitchFamily="34" charset="-120"/>
              </a:rPr>
              <a:t>01</a:t>
            </a:r>
            <a:endParaRPr lang="en-US" sz="2800" dirty="0"/>
          </a:p>
        </p:txBody>
      </p:sp>
      <p:sp>
        <p:nvSpPr>
          <p:cNvPr id="11" name="Text 7"/>
          <p:cNvSpPr txBox="1"/>
          <p:nvPr/>
        </p:nvSpPr>
        <p:spPr>
          <a:xfrm>
            <a:off x="731520" y="2514600"/>
            <a:ext cx="2103120" cy="640080"/>
          </a:xfrm>
          <a:prstGeom prst="rect">
            <a:avLst/>
          </a:prstGeom>
          <a:noFill/>
          <a:ln/>
        </p:spPr>
        <p:txBody>
          <a:bodyPr wrap="square" lIns="0" tIns="0" rIns="0" bIns="0" rtlCol="0" anchor="t"/>
          <a:lstStyle/>
          <a:p>
            <a:pPr indent="0" marL="0">
              <a:buNone/>
            </a:pPr>
            <a:r>
              <a:rPr lang="en-US" sz="1900" b="1" dirty="0">
                <a:solidFill>
                  <a:srgbClr val="1B2A4A"/>
                </a:solidFill>
                <a:latin typeface="Calibri" pitchFamily="34" charset="0"/>
                <a:ea typeface="Calibri" pitchFamily="34" charset="-122"/>
                <a:cs typeface="Calibri" pitchFamily="34" charset="-120"/>
              </a:rPr>
              <a:t>SOC</a:t>
            </a:r>
            <a:endParaRPr lang="en-US" sz="1900" dirty="0"/>
          </a:p>
        </p:txBody>
      </p:sp>
      <p:sp>
        <p:nvSpPr>
          <p:cNvPr id="12" name="Text 8"/>
          <p:cNvSpPr txBox="1"/>
          <p:nvPr/>
        </p:nvSpPr>
        <p:spPr>
          <a:xfrm>
            <a:off x="731520" y="3246120"/>
            <a:ext cx="2194560" cy="256032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Detection engineering: fine-tuning &amp; use case creation</a:t>
            </a:r>
            <a:endParaRPr lang="en-US" sz="1300" dirty="0"/>
          </a:p>
          <a:p>
            <a:pPr marL="342900" indent="-342900">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SAMA reports</a:t>
            </a:r>
            <a:endParaRPr lang="en-US" sz="1300" dirty="0"/>
          </a:p>
        </p:txBody>
      </p:sp>
      <p:sp>
        <p:nvSpPr>
          <p:cNvPr id="13" name="Shape 9"/>
          <p:cNvSpPr/>
          <p:nvPr/>
        </p:nvSpPr>
        <p:spPr>
          <a:xfrm>
            <a:off x="3331464" y="1463040"/>
            <a:ext cx="2651760" cy="4572000"/>
          </a:xfrm>
          <a:prstGeom prst="roundRect">
            <a:avLst>
              <a:gd name="adj" fmla="val 2414"/>
            </a:avLst>
          </a:prstGeom>
          <a:solidFill>
            <a:srgbClr val="F4F7FC"/>
          </a:solidFill>
          <a:ln w="9525">
            <a:solidFill>
              <a:srgbClr val="DCE3EE"/>
            </a:solidFill>
            <a:prstDash val="solid"/>
          </a:ln>
        </p:spPr>
      </p:sp>
      <p:sp>
        <p:nvSpPr>
          <p:cNvPr id="14" name="Shape 10"/>
          <p:cNvSpPr/>
          <p:nvPr/>
        </p:nvSpPr>
        <p:spPr>
          <a:xfrm>
            <a:off x="3605784" y="1755648"/>
            <a:ext cx="603504" cy="603504"/>
          </a:xfrm>
          <a:prstGeom prst="ellipse">
            <a:avLst/>
          </a:prstGeom>
          <a:solidFill>
            <a:srgbClr val="1B2A4A"/>
          </a:solidFill>
          <a:ln/>
        </p:spPr>
      </p:sp>
      <p:pic>
        <p:nvPicPr>
          <p:cNvPr id="15" name="Image 2" descr="preencoded.png">    </p:cNvPr>
          <p:cNvPicPr>
            <a:picLocks noChangeAspect="1"/>
          </p:cNvPicPr>
          <p:nvPr/>
        </p:nvPicPr>
        <p:blipFill>
          <a:blip r:embed="rId3"/>
          <a:stretch>
            <a:fillRect/>
          </a:stretch>
        </p:blipFill>
        <p:spPr>
          <a:xfrm>
            <a:off x="3761232" y="1911096"/>
            <a:ext cx="292608" cy="292608"/>
          </a:xfrm>
          <a:prstGeom prst="rect">
            <a:avLst/>
          </a:prstGeom>
        </p:spPr>
      </p:pic>
      <p:sp>
        <p:nvSpPr>
          <p:cNvPr id="16" name="Text 11"/>
          <p:cNvSpPr txBox="1"/>
          <p:nvPr/>
        </p:nvSpPr>
        <p:spPr>
          <a:xfrm>
            <a:off x="5068824" y="1755648"/>
            <a:ext cx="640080" cy="603504"/>
          </a:xfrm>
          <a:prstGeom prst="rect">
            <a:avLst/>
          </a:prstGeom>
          <a:noFill/>
          <a:ln/>
        </p:spPr>
        <p:txBody>
          <a:bodyPr wrap="square" lIns="0" tIns="0" rIns="0" bIns="0" rtlCol="0" anchor="ctr"/>
          <a:lstStyle/>
          <a:p>
            <a:pPr algn="r" indent="0" marL="0">
              <a:buNone/>
            </a:pPr>
            <a:r>
              <a:rPr lang="en-US" sz="2800" b="1" dirty="0">
                <a:solidFill>
                  <a:srgbClr val="C3CDE0"/>
                </a:solidFill>
                <a:latin typeface="Calibri" pitchFamily="34" charset="0"/>
                <a:ea typeface="Calibri" pitchFamily="34" charset="-122"/>
                <a:cs typeface="Calibri" pitchFamily="34" charset="-120"/>
              </a:rPr>
              <a:t>02</a:t>
            </a:r>
            <a:endParaRPr lang="en-US" sz="2800" dirty="0"/>
          </a:p>
        </p:txBody>
      </p:sp>
      <p:sp>
        <p:nvSpPr>
          <p:cNvPr id="17" name="Text 12"/>
          <p:cNvSpPr txBox="1"/>
          <p:nvPr/>
        </p:nvSpPr>
        <p:spPr>
          <a:xfrm>
            <a:off x="3605784" y="2514600"/>
            <a:ext cx="2103120" cy="640080"/>
          </a:xfrm>
          <a:prstGeom prst="rect">
            <a:avLst/>
          </a:prstGeom>
          <a:noFill/>
          <a:ln/>
        </p:spPr>
        <p:txBody>
          <a:bodyPr wrap="square" lIns="0" tIns="0" rIns="0" bIns="0" rtlCol="0" anchor="t"/>
          <a:lstStyle/>
          <a:p>
            <a:pPr indent="0" marL="0">
              <a:buNone/>
            </a:pPr>
            <a:r>
              <a:rPr lang="en-US" sz="1900" b="1" dirty="0">
                <a:solidFill>
                  <a:srgbClr val="1B2A4A"/>
                </a:solidFill>
                <a:latin typeface="Calibri" pitchFamily="34" charset="0"/>
                <a:ea typeface="Calibri" pitchFamily="34" charset="-122"/>
                <a:cs typeface="Calibri" pitchFamily="34" charset="-120"/>
              </a:rPr>
              <a:t>SOC Technology</a:t>
            </a:r>
            <a:endParaRPr lang="en-US" sz="1900" dirty="0"/>
          </a:p>
        </p:txBody>
      </p:sp>
      <p:sp>
        <p:nvSpPr>
          <p:cNvPr id="18" name="Text 13"/>
          <p:cNvSpPr txBox="1"/>
          <p:nvPr/>
        </p:nvSpPr>
        <p:spPr>
          <a:xfrm>
            <a:off x="3605784" y="3246120"/>
            <a:ext cx="2194560" cy="256032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SIEM: coverage &amp; licence</a:t>
            </a:r>
            <a:endParaRPr lang="en-US" sz="1300" dirty="0"/>
          </a:p>
          <a:p>
            <a:pPr marL="342900" indent="-342900">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SOAR</a:t>
            </a:r>
            <a:endParaRPr lang="en-US" sz="1300" dirty="0"/>
          </a:p>
          <a:p>
            <a:pPr marL="342900" indent="-342900">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AI: vendor options</a:t>
            </a:r>
            <a:endParaRPr lang="en-US" sz="1300" dirty="0"/>
          </a:p>
          <a:p>
            <a:pPr marL="342900" indent="-342900">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DLP: coverage &amp; licence</a:t>
            </a:r>
            <a:endParaRPr lang="en-US" sz="1300" dirty="0"/>
          </a:p>
          <a:p>
            <a:pPr marL="342900" indent="-342900">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EDR &amp; NDR: coverage &amp; licence</a:t>
            </a:r>
            <a:endParaRPr lang="en-US" sz="1300" dirty="0"/>
          </a:p>
        </p:txBody>
      </p:sp>
      <p:sp>
        <p:nvSpPr>
          <p:cNvPr id="19" name="Shape 14"/>
          <p:cNvSpPr/>
          <p:nvPr/>
        </p:nvSpPr>
        <p:spPr>
          <a:xfrm>
            <a:off x="6205728" y="1463040"/>
            <a:ext cx="2651760" cy="4572000"/>
          </a:xfrm>
          <a:prstGeom prst="roundRect">
            <a:avLst>
              <a:gd name="adj" fmla="val 2414"/>
            </a:avLst>
          </a:prstGeom>
          <a:solidFill>
            <a:srgbClr val="F4F7FC"/>
          </a:solidFill>
          <a:ln w="9525">
            <a:solidFill>
              <a:srgbClr val="DCE3EE"/>
            </a:solidFill>
            <a:prstDash val="solid"/>
          </a:ln>
        </p:spPr>
      </p:sp>
      <p:sp>
        <p:nvSpPr>
          <p:cNvPr id="20" name="Shape 15"/>
          <p:cNvSpPr/>
          <p:nvPr/>
        </p:nvSpPr>
        <p:spPr>
          <a:xfrm>
            <a:off x="6480048" y="1755648"/>
            <a:ext cx="603504" cy="603504"/>
          </a:xfrm>
          <a:prstGeom prst="ellipse">
            <a:avLst/>
          </a:prstGeom>
          <a:solidFill>
            <a:srgbClr val="1B2A4A"/>
          </a:solidFill>
          <a:ln/>
        </p:spPr>
      </p:sp>
      <p:pic>
        <p:nvPicPr>
          <p:cNvPr id="21" name="Image 3" descr="preencoded.png">    </p:cNvPr>
          <p:cNvPicPr>
            <a:picLocks noChangeAspect="1"/>
          </p:cNvPicPr>
          <p:nvPr/>
        </p:nvPicPr>
        <p:blipFill>
          <a:blip r:embed="rId4"/>
          <a:stretch>
            <a:fillRect/>
          </a:stretch>
        </p:blipFill>
        <p:spPr>
          <a:xfrm>
            <a:off x="6635496" y="1911096"/>
            <a:ext cx="292608" cy="292608"/>
          </a:xfrm>
          <a:prstGeom prst="rect">
            <a:avLst/>
          </a:prstGeom>
        </p:spPr>
      </p:pic>
      <p:sp>
        <p:nvSpPr>
          <p:cNvPr id="22" name="Text 16"/>
          <p:cNvSpPr txBox="1"/>
          <p:nvPr/>
        </p:nvSpPr>
        <p:spPr>
          <a:xfrm>
            <a:off x="7943088" y="1755648"/>
            <a:ext cx="640080" cy="603504"/>
          </a:xfrm>
          <a:prstGeom prst="rect">
            <a:avLst/>
          </a:prstGeom>
          <a:noFill/>
          <a:ln/>
        </p:spPr>
        <p:txBody>
          <a:bodyPr wrap="square" lIns="0" tIns="0" rIns="0" bIns="0" rtlCol="0" anchor="ctr"/>
          <a:lstStyle/>
          <a:p>
            <a:pPr algn="r" indent="0" marL="0">
              <a:buNone/>
            </a:pPr>
            <a:r>
              <a:rPr lang="en-US" sz="2800" b="1" dirty="0">
                <a:solidFill>
                  <a:srgbClr val="C3CDE0"/>
                </a:solidFill>
                <a:latin typeface="Calibri" pitchFamily="34" charset="0"/>
                <a:ea typeface="Calibri" pitchFamily="34" charset="-122"/>
                <a:cs typeface="Calibri" pitchFamily="34" charset="-120"/>
              </a:rPr>
              <a:t>03</a:t>
            </a:r>
            <a:endParaRPr lang="en-US" sz="2800" dirty="0"/>
          </a:p>
        </p:txBody>
      </p:sp>
      <p:sp>
        <p:nvSpPr>
          <p:cNvPr id="23" name="Text 17"/>
          <p:cNvSpPr txBox="1"/>
          <p:nvPr/>
        </p:nvSpPr>
        <p:spPr>
          <a:xfrm>
            <a:off x="6480048" y="2514600"/>
            <a:ext cx="2103120" cy="640080"/>
          </a:xfrm>
          <a:prstGeom prst="rect">
            <a:avLst/>
          </a:prstGeom>
          <a:noFill/>
          <a:ln/>
        </p:spPr>
        <p:txBody>
          <a:bodyPr wrap="square" lIns="0" tIns="0" rIns="0" bIns="0" rtlCol="0" anchor="t"/>
          <a:lstStyle/>
          <a:p>
            <a:pPr indent="0" marL="0">
              <a:buNone/>
            </a:pPr>
            <a:r>
              <a:rPr lang="en-US" sz="1900" b="1" dirty="0">
                <a:solidFill>
                  <a:srgbClr val="1B2A4A"/>
                </a:solidFill>
                <a:latin typeface="Calibri" pitchFamily="34" charset="0"/>
                <a:ea typeface="Calibri" pitchFamily="34" charset="-122"/>
                <a:cs typeface="Calibri" pitchFamily="34" charset="-120"/>
              </a:rPr>
              <a:t>Incident Response</a:t>
            </a:r>
            <a:endParaRPr lang="en-US" sz="1900" dirty="0"/>
          </a:p>
        </p:txBody>
      </p:sp>
      <p:sp>
        <p:nvSpPr>
          <p:cNvPr id="24" name="Text 18"/>
          <p:cNvSpPr txBox="1"/>
          <p:nvPr/>
        </p:nvSpPr>
        <p:spPr>
          <a:xfrm>
            <a:off x="6480048" y="3246120"/>
            <a:ext cx="2194560" cy="256032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Notable event: DLP incident deletion</a:t>
            </a:r>
            <a:endParaRPr lang="en-US" sz="1300" dirty="0"/>
          </a:p>
          <a:p>
            <a:pPr marL="342900" indent="-342900">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Recommendations</a:t>
            </a:r>
            <a:endParaRPr lang="en-US" sz="1300" dirty="0"/>
          </a:p>
          <a:p>
            <a:pPr marL="342900" indent="-342900">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DLP incidents</a:t>
            </a:r>
            <a:endParaRPr lang="en-US" sz="1300" dirty="0"/>
          </a:p>
        </p:txBody>
      </p:sp>
      <p:sp>
        <p:nvSpPr>
          <p:cNvPr id="25" name="Shape 19"/>
          <p:cNvSpPr/>
          <p:nvPr/>
        </p:nvSpPr>
        <p:spPr>
          <a:xfrm>
            <a:off x="9079992" y="1463040"/>
            <a:ext cx="2651760" cy="4572000"/>
          </a:xfrm>
          <a:prstGeom prst="roundRect">
            <a:avLst>
              <a:gd name="adj" fmla="val 2414"/>
            </a:avLst>
          </a:prstGeom>
          <a:solidFill>
            <a:srgbClr val="F4F7FC"/>
          </a:solidFill>
          <a:ln w="9525">
            <a:solidFill>
              <a:srgbClr val="DCE3EE"/>
            </a:solidFill>
            <a:prstDash val="solid"/>
          </a:ln>
        </p:spPr>
      </p:sp>
      <p:sp>
        <p:nvSpPr>
          <p:cNvPr id="26" name="Shape 20"/>
          <p:cNvSpPr/>
          <p:nvPr/>
        </p:nvSpPr>
        <p:spPr>
          <a:xfrm>
            <a:off x="9354312" y="1755648"/>
            <a:ext cx="603504" cy="603504"/>
          </a:xfrm>
          <a:prstGeom prst="ellipse">
            <a:avLst/>
          </a:prstGeom>
          <a:solidFill>
            <a:srgbClr val="1B2A4A"/>
          </a:solidFill>
          <a:ln/>
        </p:spPr>
      </p:sp>
      <p:pic>
        <p:nvPicPr>
          <p:cNvPr id="27" name="Image 4" descr="preencoded.png">    </p:cNvPr>
          <p:cNvPicPr>
            <a:picLocks noChangeAspect="1"/>
          </p:cNvPicPr>
          <p:nvPr/>
        </p:nvPicPr>
        <p:blipFill>
          <a:blip r:embed="rId5"/>
          <a:stretch>
            <a:fillRect/>
          </a:stretch>
        </p:blipFill>
        <p:spPr>
          <a:xfrm>
            <a:off x="9509760" y="1911096"/>
            <a:ext cx="292608" cy="292608"/>
          </a:xfrm>
          <a:prstGeom prst="rect">
            <a:avLst/>
          </a:prstGeom>
        </p:spPr>
      </p:pic>
      <p:sp>
        <p:nvSpPr>
          <p:cNvPr id="28" name="Text 21"/>
          <p:cNvSpPr txBox="1"/>
          <p:nvPr/>
        </p:nvSpPr>
        <p:spPr>
          <a:xfrm>
            <a:off x="10817352" y="1755648"/>
            <a:ext cx="640080" cy="603504"/>
          </a:xfrm>
          <a:prstGeom prst="rect">
            <a:avLst/>
          </a:prstGeom>
          <a:noFill/>
          <a:ln/>
        </p:spPr>
        <p:txBody>
          <a:bodyPr wrap="square" lIns="0" tIns="0" rIns="0" bIns="0" rtlCol="0" anchor="ctr"/>
          <a:lstStyle/>
          <a:p>
            <a:pPr algn="r" indent="0" marL="0">
              <a:buNone/>
            </a:pPr>
            <a:r>
              <a:rPr lang="en-US" sz="2800" b="1" dirty="0">
                <a:solidFill>
                  <a:srgbClr val="C3CDE0"/>
                </a:solidFill>
                <a:latin typeface="Calibri" pitchFamily="34" charset="0"/>
                <a:ea typeface="Calibri" pitchFamily="34" charset="-122"/>
                <a:cs typeface="Calibri" pitchFamily="34" charset="-120"/>
              </a:rPr>
              <a:t>04</a:t>
            </a:r>
            <a:endParaRPr lang="en-US" sz="2800" dirty="0"/>
          </a:p>
        </p:txBody>
      </p:sp>
      <p:sp>
        <p:nvSpPr>
          <p:cNvPr id="29" name="Text 22"/>
          <p:cNvSpPr txBox="1"/>
          <p:nvPr/>
        </p:nvSpPr>
        <p:spPr>
          <a:xfrm>
            <a:off x="9354312" y="2514600"/>
            <a:ext cx="2103120" cy="640080"/>
          </a:xfrm>
          <a:prstGeom prst="rect">
            <a:avLst/>
          </a:prstGeom>
          <a:noFill/>
          <a:ln/>
        </p:spPr>
        <p:txBody>
          <a:bodyPr wrap="square" lIns="0" tIns="0" rIns="0" bIns="0" rtlCol="0" anchor="t"/>
          <a:lstStyle/>
          <a:p>
            <a:pPr indent="0" marL="0">
              <a:buNone/>
            </a:pPr>
            <a:r>
              <a:rPr lang="en-US" sz="1900" b="1" dirty="0">
                <a:solidFill>
                  <a:srgbClr val="1B2A4A"/>
                </a:solidFill>
                <a:latin typeface="Calibri" pitchFamily="34" charset="0"/>
                <a:ea typeface="Calibri" pitchFamily="34" charset="-122"/>
                <a:cs typeface="Calibri" pitchFamily="34" charset="-120"/>
              </a:rPr>
              <a:t>Cyber Threat Intelligence</a:t>
            </a:r>
            <a:endParaRPr lang="en-US" sz="1900" dirty="0"/>
          </a:p>
        </p:txBody>
      </p:sp>
      <p:sp>
        <p:nvSpPr>
          <p:cNvPr id="30" name="Text 23"/>
          <p:cNvSpPr txBox="1"/>
          <p:nvPr/>
        </p:nvSpPr>
        <p:spPr>
          <a:xfrm>
            <a:off x="9354312" y="3246120"/>
            <a:ext cx="2194560" cy="256032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Threat actors</a:t>
            </a:r>
            <a:endParaRPr lang="en-US" sz="1300" dirty="0"/>
          </a:p>
          <a:p>
            <a:pPr marL="342900" indent="-342900">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Geopolitical situation</a:t>
            </a:r>
            <a:endParaRPr lang="en-US" sz="1300" dirty="0"/>
          </a:p>
          <a:p>
            <a:pPr marL="342900" indent="-342900">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Recent breaches &amp; vulnerabilities</a:t>
            </a:r>
            <a:endParaRPr lang="en-US" sz="1300" dirty="0"/>
          </a:p>
          <a:p>
            <a:pPr marL="342900" indent="-342900">
              <a:spcAft>
                <a:spcPts val="800"/>
              </a:spcAft>
              <a:buSzPct val="100000"/>
              <a:buChar char="•"/>
            </a:pPr>
            <a:r>
              <a:rPr lang="en-US" sz="1300" dirty="0">
                <a:solidFill>
                  <a:srgbClr val="1E293B"/>
                </a:solidFill>
                <a:latin typeface="Calibri" pitchFamily="34" charset="0"/>
                <a:ea typeface="Calibri" pitchFamily="34" charset="-122"/>
                <a:cs typeface="Calibri" pitchFamily="34" charset="-120"/>
              </a:rPr>
              <a:t>Intel feeds, auto-blocking &amp; zero-days</a:t>
            </a:r>
            <a:endParaRPr lang="en-US" sz="13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57200" y="310896"/>
            <a:ext cx="530352" cy="530352"/>
          </a:xfrm>
          <a:prstGeom prst="ellipse">
            <a:avLst/>
          </a:prstGeom>
          <a:solidFill>
            <a:srgbClr val="1B2A4A"/>
          </a:solidFill>
          <a:ln/>
        </p:spPr>
      </p:sp>
      <p:pic>
        <p:nvPicPr>
          <p:cNvPr id="3" name="Image 0" descr="preencoded.png">    </p:cNvPr>
          <p:cNvPicPr>
            <a:picLocks noChangeAspect="1"/>
          </p:cNvPicPr>
          <p:nvPr/>
        </p:nvPicPr>
        <p:blipFill>
          <a:blip r:embed="rId1"/>
          <a:stretch>
            <a:fillRect/>
          </a:stretch>
        </p:blipFill>
        <p:spPr>
          <a:xfrm>
            <a:off x="589788" y="443484"/>
            <a:ext cx="265176" cy="265176"/>
          </a:xfrm>
          <a:prstGeom prst="rect">
            <a:avLst/>
          </a:prstGeom>
        </p:spPr>
      </p:pic>
      <p:sp>
        <p:nvSpPr>
          <p:cNvPr id="4" name="Text 1"/>
          <p:cNvSpPr/>
          <p:nvPr>
            <p:ph idx="101" type="title" hasCustomPrompt="1"/>
          </p:nvPr>
        </p:nvSpPr>
        <p:spPr>
          <a:xfrm>
            <a:off x="1143000" y="274320"/>
            <a:ext cx="7223760" cy="603504"/>
          </a:xfrm>
          <a:prstGeom prst="rect">
            <a:avLst/>
          </a:prstGeom>
          <a:noFill/>
          <a:ln/>
        </p:spPr>
        <p:txBody>
          <a:bodyPr wrap="square" lIns="0" tIns="0" rIns="0" bIns="0" rtlCol="0" anchor="ctr"/>
          <a:lstStyle/>
          <a:p>
            <a:pPr algn="l" indent="0" marL="0">
              <a:buNone/>
            </a:pPr>
            <a:r>
              <a:rPr lang="en-US" sz="3000" b="1" dirty="0">
                <a:solidFill>
                  <a:srgbClr val="1B2A4A"/>
                </a:solidFill>
                <a:latin typeface="Calibri" pitchFamily="34" charset="0"/>
                <a:ea typeface="Calibri" pitchFamily="34" charset="-122"/>
                <a:cs typeface="Calibri" pitchFamily="34" charset="-120"/>
              </a:rPr>
              <a:t>Executive Summary</a:t>
            </a:r>
            <a:endParaRPr lang="en-US" sz="3000" dirty="0"/>
          </a:p>
        </p:txBody>
      </p:sp>
      <p:sp>
        <p:nvSpPr>
          <p:cNvPr id="5" name="Text 2"/>
          <p:cNvSpPr txBox="1"/>
          <p:nvPr/>
        </p:nvSpPr>
        <p:spPr>
          <a:xfrm>
            <a:off x="8458200" y="384048"/>
            <a:ext cx="3273552" cy="384048"/>
          </a:xfrm>
          <a:prstGeom prst="rect">
            <a:avLst/>
          </a:prstGeom>
          <a:noFill/>
          <a:ln/>
        </p:spPr>
        <p:txBody>
          <a:bodyPr wrap="square" lIns="0" tIns="0" rIns="0" bIns="0" rtlCol="0" anchor="ctr"/>
          <a:lstStyle/>
          <a:p>
            <a:pPr algn="r" indent="0" marL="0">
              <a:buNone/>
            </a:pPr>
            <a:r>
              <a:rPr lang="en-US" sz="1200" dirty="0">
                <a:solidFill>
                  <a:srgbClr val="64748B"/>
                </a:solidFill>
                <a:latin typeface="Calibri" pitchFamily="34" charset="0"/>
                <a:ea typeface="Calibri" pitchFamily="34" charset="-122"/>
                <a:cs typeface="Calibri" pitchFamily="34" charset="-120"/>
              </a:rPr>
              <a:t>Cybersecurity Committee  |  SOC</a:t>
            </a:r>
            <a:endParaRPr lang="en-US" sz="1200" dirty="0"/>
          </a:p>
        </p:txBody>
      </p:sp>
      <p:sp>
        <p:nvSpPr>
          <p:cNvPr id="6" name="Text 3"/>
          <p:cNvSpPr txBox="1"/>
          <p:nvPr/>
        </p:nvSpPr>
        <p:spPr>
          <a:xfrm>
            <a:off x="457200" y="932688"/>
            <a:ext cx="11274552" cy="310896"/>
          </a:xfrm>
          <a:prstGeom prst="rect">
            <a:avLst/>
          </a:prstGeom>
          <a:noFill/>
          <a:ln/>
        </p:spPr>
        <p:txBody>
          <a:bodyPr wrap="square" lIns="0" tIns="0" rIns="0" bIns="0" rtlCol="0" anchor="ctr"/>
          <a:lstStyle/>
          <a:p>
            <a:pPr indent="0" marL="0">
              <a:buNone/>
            </a:pPr>
            <a:r>
              <a:rPr lang="en-US" sz="1500" dirty="0">
                <a:solidFill>
                  <a:srgbClr val="64748B"/>
                </a:solidFill>
                <a:latin typeface="Calibri" pitchFamily="34" charset="0"/>
                <a:ea typeface="Calibri" pitchFamily="34" charset="-122"/>
                <a:cs typeface="Calibri" pitchFamily="34" charset="-120"/>
              </a:rPr>
              <a:t>The six points to take from this update</a:t>
            </a:r>
            <a:endParaRPr lang="en-US" sz="1500" dirty="0"/>
          </a:p>
        </p:txBody>
      </p:sp>
      <p:sp>
        <p:nvSpPr>
          <p:cNvPr id="7" name="Shape 4"/>
          <p:cNvSpPr/>
          <p:nvPr/>
        </p:nvSpPr>
        <p:spPr>
          <a:xfrm>
            <a:off x="457200" y="1417320"/>
            <a:ext cx="3630168" cy="2176272"/>
          </a:xfrm>
          <a:prstGeom prst="roundRect">
            <a:avLst>
              <a:gd name="adj" fmla="val 2941"/>
            </a:avLst>
          </a:prstGeom>
          <a:solidFill>
            <a:srgbClr val="F4F7FC"/>
          </a:solidFill>
          <a:ln w="9525">
            <a:solidFill>
              <a:srgbClr val="DCE3EE"/>
            </a:solidFill>
            <a:prstDash val="solid"/>
          </a:ln>
        </p:spPr>
      </p:sp>
      <p:sp>
        <p:nvSpPr>
          <p:cNvPr id="8" name="Shape 5"/>
          <p:cNvSpPr/>
          <p:nvPr/>
        </p:nvSpPr>
        <p:spPr>
          <a:xfrm>
            <a:off x="713232" y="1691640"/>
            <a:ext cx="45720" cy="219456"/>
          </a:xfrm>
          <a:prstGeom prst="rect">
            <a:avLst/>
          </a:prstGeom>
          <a:solidFill>
            <a:srgbClr val="2A8C96"/>
          </a:solidFill>
          <a:ln/>
        </p:spPr>
      </p:sp>
      <p:sp>
        <p:nvSpPr>
          <p:cNvPr id="9" name="Text 6"/>
          <p:cNvSpPr txBox="1"/>
          <p:nvPr/>
        </p:nvSpPr>
        <p:spPr>
          <a:xfrm>
            <a:off x="841248" y="1673352"/>
            <a:ext cx="2990088" cy="256032"/>
          </a:xfrm>
          <a:prstGeom prst="rect">
            <a:avLst/>
          </a:prstGeom>
          <a:noFill/>
          <a:ln/>
        </p:spPr>
        <p:txBody>
          <a:bodyPr wrap="square" lIns="0" tIns="0" rIns="0" bIns="0" rtlCol="0" anchor="ctr"/>
          <a:lstStyle/>
          <a:p>
            <a:pPr indent="0" marL="0">
              <a:buNone/>
            </a:pPr>
            <a:r>
              <a:rPr lang="en-US" sz="1050" b="1" spc="200" kern="0" dirty="0">
                <a:solidFill>
                  <a:srgbClr val="2A8C96"/>
                </a:solidFill>
                <a:latin typeface="Calibri" pitchFamily="34" charset="0"/>
                <a:ea typeface="Calibri" pitchFamily="34" charset="-122"/>
                <a:cs typeface="Calibri" pitchFamily="34" charset="-120"/>
              </a:rPr>
              <a:t>DETECTION ENGINEERING</a:t>
            </a:r>
            <a:endParaRPr lang="en-US" sz="1050" dirty="0"/>
          </a:p>
        </p:txBody>
      </p:sp>
      <p:sp>
        <p:nvSpPr>
          <p:cNvPr id="10" name="Text 7"/>
          <p:cNvSpPr txBox="1"/>
          <p:nvPr/>
        </p:nvSpPr>
        <p:spPr>
          <a:xfrm>
            <a:off x="713232" y="2020824"/>
            <a:ext cx="3118104" cy="640080"/>
          </a:xfrm>
          <a:prstGeom prst="rect">
            <a:avLst/>
          </a:prstGeom>
          <a:noFill/>
          <a:ln/>
        </p:spPr>
        <p:txBody>
          <a:bodyPr wrap="square" lIns="0" tIns="0" rIns="0" bIns="0" rtlCol="0" anchor="ctr"/>
          <a:lstStyle/>
          <a:p>
            <a:pPr indent="0" marL="0">
              <a:buNone/>
            </a:pPr>
            <a:r>
              <a:rPr lang="en-US" sz="3400" b="1" dirty="0">
                <a:solidFill>
                  <a:srgbClr val="1B2A4A"/>
                </a:solidFill>
                <a:latin typeface="Calibri" pitchFamily="34" charset="0"/>
                <a:ea typeface="Calibri" pitchFamily="34" charset="-122"/>
                <a:cs typeface="Calibri" pitchFamily="34" charset="-120"/>
              </a:rPr>
              <a:t>667,608</a:t>
            </a:r>
            <a:endParaRPr lang="en-US" sz="3400" dirty="0"/>
          </a:p>
        </p:txBody>
      </p:sp>
      <p:sp>
        <p:nvSpPr>
          <p:cNvPr id="11" name="Text 8"/>
          <p:cNvSpPr txBox="1"/>
          <p:nvPr/>
        </p:nvSpPr>
        <p:spPr>
          <a:xfrm>
            <a:off x="713232" y="2715768"/>
            <a:ext cx="3118104" cy="731520"/>
          </a:xfrm>
          <a:prstGeom prst="rect">
            <a:avLst/>
          </a:prstGeom>
          <a:noFill/>
          <a:ln/>
        </p:spPr>
        <p:txBody>
          <a:bodyPr wrap="square" lIns="0" tIns="0" rIns="0" bIns="0" rtlCol="0" anchor="t"/>
          <a:lstStyle/>
          <a:p>
            <a:pPr indent="0" marL="0">
              <a:buNone/>
            </a:pPr>
            <a:r>
              <a:rPr lang="en-US" sz="1250" dirty="0">
                <a:solidFill>
                  <a:srgbClr val="64748B"/>
                </a:solidFill>
                <a:latin typeface="Calibri" pitchFamily="34" charset="0"/>
                <a:ea typeface="Calibri" pitchFamily="34" charset="-122"/>
                <a:cs typeface="Calibri" pitchFamily="34" charset="-120"/>
              </a:rPr>
              <a:t>false-positive events removed from the SIEM. EDR alerts cut from 134,000 to 3 per day.</a:t>
            </a:r>
            <a:endParaRPr lang="en-US" sz="1250" dirty="0"/>
          </a:p>
        </p:txBody>
      </p:sp>
      <p:sp>
        <p:nvSpPr>
          <p:cNvPr id="12" name="Shape 9"/>
          <p:cNvSpPr/>
          <p:nvPr/>
        </p:nvSpPr>
        <p:spPr>
          <a:xfrm>
            <a:off x="4279392" y="1417320"/>
            <a:ext cx="3630168" cy="2176272"/>
          </a:xfrm>
          <a:prstGeom prst="roundRect">
            <a:avLst>
              <a:gd name="adj" fmla="val 2941"/>
            </a:avLst>
          </a:prstGeom>
          <a:solidFill>
            <a:srgbClr val="F4F7FC"/>
          </a:solidFill>
          <a:ln w="9525">
            <a:solidFill>
              <a:srgbClr val="DCE3EE"/>
            </a:solidFill>
            <a:prstDash val="solid"/>
          </a:ln>
        </p:spPr>
      </p:sp>
      <p:sp>
        <p:nvSpPr>
          <p:cNvPr id="13" name="Shape 10"/>
          <p:cNvSpPr/>
          <p:nvPr/>
        </p:nvSpPr>
        <p:spPr>
          <a:xfrm>
            <a:off x="4535424" y="1691640"/>
            <a:ext cx="45720" cy="219456"/>
          </a:xfrm>
          <a:prstGeom prst="rect">
            <a:avLst/>
          </a:prstGeom>
          <a:solidFill>
            <a:srgbClr val="2A8C96"/>
          </a:solidFill>
          <a:ln/>
        </p:spPr>
      </p:sp>
      <p:sp>
        <p:nvSpPr>
          <p:cNvPr id="14" name="Text 11"/>
          <p:cNvSpPr txBox="1"/>
          <p:nvPr/>
        </p:nvSpPr>
        <p:spPr>
          <a:xfrm>
            <a:off x="4663440" y="1673352"/>
            <a:ext cx="2990088" cy="256032"/>
          </a:xfrm>
          <a:prstGeom prst="rect">
            <a:avLst/>
          </a:prstGeom>
          <a:noFill/>
          <a:ln/>
        </p:spPr>
        <p:txBody>
          <a:bodyPr wrap="square" lIns="0" tIns="0" rIns="0" bIns="0" rtlCol="0" anchor="ctr"/>
          <a:lstStyle/>
          <a:p>
            <a:pPr indent="0" marL="0">
              <a:buNone/>
            </a:pPr>
            <a:r>
              <a:rPr lang="en-US" sz="1050" b="1" spc="200" kern="0" dirty="0">
                <a:solidFill>
                  <a:srgbClr val="2A8C96"/>
                </a:solidFill>
                <a:latin typeface="Calibri" pitchFamily="34" charset="0"/>
                <a:ea typeface="Calibri" pitchFamily="34" charset="-122"/>
                <a:cs typeface="Calibri" pitchFamily="34" charset="-120"/>
              </a:rPr>
              <a:t>SIEM COVERAGE</a:t>
            </a:r>
            <a:endParaRPr lang="en-US" sz="1050" dirty="0"/>
          </a:p>
        </p:txBody>
      </p:sp>
      <p:sp>
        <p:nvSpPr>
          <p:cNvPr id="15" name="Text 12"/>
          <p:cNvSpPr txBox="1"/>
          <p:nvPr/>
        </p:nvSpPr>
        <p:spPr>
          <a:xfrm>
            <a:off x="4535424" y="2020824"/>
            <a:ext cx="3118104" cy="640080"/>
          </a:xfrm>
          <a:prstGeom prst="rect">
            <a:avLst/>
          </a:prstGeom>
          <a:noFill/>
          <a:ln/>
        </p:spPr>
        <p:txBody>
          <a:bodyPr wrap="square" lIns="0" tIns="0" rIns="0" bIns="0" rtlCol="0" anchor="ctr"/>
          <a:lstStyle/>
          <a:p>
            <a:pPr indent="0" marL="0">
              <a:buNone/>
            </a:pPr>
            <a:r>
              <a:rPr lang="en-US" sz="3400" b="1" dirty="0">
                <a:solidFill>
                  <a:srgbClr val="1B2A4A"/>
                </a:solidFill>
                <a:latin typeface="Calibri" pitchFamily="34" charset="0"/>
                <a:ea typeface="Calibri" pitchFamily="34" charset="-122"/>
                <a:cs typeface="Calibri" pitchFamily="34" charset="-120"/>
              </a:rPr>
              <a:t>96%</a:t>
            </a:r>
            <a:endParaRPr lang="en-US" sz="3400" dirty="0"/>
          </a:p>
        </p:txBody>
      </p:sp>
      <p:sp>
        <p:nvSpPr>
          <p:cNvPr id="16" name="Text 13"/>
          <p:cNvSpPr txBox="1"/>
          <p:nvPr/>
        </p:nvSpPr>
        <p:spPr>
          <a:xfrm>
            <a:off x="4535424" y="2715768"/>
            <a:ext cx="3118104" cy="731520"/>
          </a:xfrm>
          <a:prstGeom prst="rect">
            <a:avLst/>
          </a:prstGeom>
          <a:noFill/>
          <a:ln/>
        </p:spPr>
        <p:txBody>
          <a:bodyPr wrap="square" lIns="0" tIns="0" rIns="0" bIns="0" rtlCol="0" anchor="t"/>
          <a:lstStyle/>
          <a:p>
            <a:pPr indent="0" marL="0">
              <a:buNone/>
            </a:pPr>
            <a:r>
              <a:rPr lang="en-US" sz="1250" dirty="0">
                <a:solidFill>
                  <a:srgbClr val="64748B"/>
                </a:solidFill>
                <a:latin typeface="Calibri" pitchFamily="34" charset="0"/>
                <a:ea typeface="Calibri" pitchFamily="34" charset="-122"/>
                <a:cs typeface="Calibri" pitchFamily="34" charset="-120"/>
              </a:rPr>
              <a:t>of the estate onboarded across 3,258 log sources. Applications and Databases are at 80%, below the 90% target.</a:t>
            </a:r>
            <a:endParaRPr lang="en-US" sz="1250" dirty="0"/>
          </a:p>
        </p:txBody>
      </p:sp>
      <p:sp>
        <p:nvSpPr>
          <p:cNvPr id="17" name="Shape 14"/>
          <p:cNvSpPr/>
          <p:nvPr/>
        </p:nvSpPr>
        <p:spPr>
          <a:xfrm>
            <a:off x="8101584" y="1417320"/>
            <a:ext cx="3630168" cy="2176272"/>
          </a:xfrm>
          <a:prstGeom prst="roundRect">
            <a:avLst>
              <a:gd name="adj" fmla="val 2941"/>
            </a:avLst>
          </a:prstGeom>
          <a:solidFill>
            <a:srgbClr val="F4F7FC"/>
          </a:solidFill>
          <a:ln w="9525">
            <a:solidFill>
              <a:srgbClr val="DCE3EE"/>
            </a:solidFill>
            <a:prstDash val="solid"/>
          </a:ln>
        </p:spPr>
      </p:sp>
      <p:sp>
        <p:nvSpPr>
          <p:cNvPr id="18" name="Shape 15"/>
          <p:cNvSpPr/>
          <p:nvPr/>
        </p:nvSpPr>
        <p:spPr>
          <a:xfrm>
            <a:off x="8357616" y="1691640"/>
            <a:ext cx="45720" cy="219456"/>
          </a:xfrm>
          <a:prstGeom prst="rect">
            <a:avLst/>
          </a:prstGeom>
          <a:solidFill>
            <a:srgbClr val="2A8C96"/>
          </a:solidFill>
          <a:ln/>
        </p:spPr>
      </p:sp>
      <p:sp>
        <p:nvSpPr>
          <p:cNvPr id="19" name="Text 16"/>
          <p:cNvSpPr txBox="1"/>
          <p:nvPr/>
        </p:nvSpPr>
        <p:spPr>
          <a:xfrm>
            <a:off x="8485632" y="1673352"/>
            <a:ext cx="2990088" cy="256032"/>
          </a:xfrm>
          <a:prstGeom prst="rect">
            <a:avLst/>
          </a:prstGeom>
          <a:noFill/>
          <a:ln/>
        </p:spPr>
        <p:txBody>
          <a:bodyPr wrap="square" lIns="0" tIns="0" rIns="0" bIns="0" rtlCol="0" anchor="ctr"/>
          <a:lstStyle/>
          <a:p>
            <a:pPr indent="0" marL="0">
              <a:buNone/>
            </a:pPr>
            <a:r>
              <a:rPr lang="en-US" sz="1050" b="1" spc="200" kern="0" dirty="0">
                <a:solidFill>
                  <a:srgbClr val="2A8C96"/>
                </a:solidFill>
                <a:latin typeface="Calibri" pitchFamily="34" charset="0"/>
                <a:ea typeface="Calibri" pitchFamily="34" charset="-122"/>
                <a:cs typeface="Calibri" pitchFamily="34" charset="-120"/>
              </a:rPr>
              <a:t>SOC AI</a:t>
            </a:r>
            <a:endParaRPr lang="en-US" sz="1050" dirty="0"/>
          </a:p>
        </p:txBody>
      </p:sp>
      <p:sp>
        <p:nvSpPr>
          <p:cNvPr id="20" name="Text 17"/>
          <p:cNvSpPr txBox="1"/>
          <p:nvPr/>
        </p:nvSpPr>
        <p:spPr>
          <a:xfrm>
            <a:off x="8357616" y="2020824"/>
            <a:ext cx="3118104" cy="640080"/>
          </a:xfrm>
          <a:prstGeom prst="rect">
            <a:avLst/>
          </a:prstGeom>
          <a:noFill/>
          <a:ln/>
        </p:spPr>
        <p:txBody>
          <a:bodyPr wrap="square" lIns="0" tIns="0" rIns="0" bIns="0" rtlCol="0" anchor="ctr"/>
          <a:lstStyle/>
          <a:p>
            <a:pPr indent="0" marL="0">
              <a:buNone/>
            </a:pPr>
            <a:r>
              <a:rPr lang="en-US" sz="3400" b="1" dirty="0">
                <a:solidFill>
                  <a:srgbClr val="1B2A4A"/>
                </a:solidFill>
                <a:latin typeface="Calibri" pitchFamily="34" charset="0"/>
                <a:ea typeface="Calibri" pitchFamily="34" charset="-122"/>
                <a:cs typeface="Calibri" pitchFamily="34" charset="-120"/>
              </a:rPr>
              <a:t>2 options</a:t>
            </a:r>
            <a:endParaRPr lang="en-US" sz="3400" dirty="0"/>
          </a:p>
        </p:txBody>
      </p:sp>
      <p:sp>
        <p:nvSpPr>
          <p:cNvPr id="21" name="Text 18"/>
          <p:cNvSpPr txBox="1"/>
          <p:nvPr/>
        </p:nvSpPr>
        <p:spPr>
          <a:xfrm>
            <a:off x="8357616" y="2715768"/>
            <a:ext cx="3118104" cy="731520"/>
          </a:xfrm>
          <a:prstGeom prst="rect">
            <a:avLst/>
          </a:prstGeom>
          <a:noFill/>
          <a:ln/>
        </p:spPr>
        <p:txBody>
          <a:bodyPr wrap="square" lIns="0" tIns="0" rIns="0" bIns="0" rtlCol="0" anchor="t"/>
          <a:lstStyle/>
          <a:p>
            <a:pPr indent="0" marL="0">
              <a:buNone/>
            </a:pPr>
            <a:r>
              <a:rPr lang="en-US" sz="1250" dirty="0">
                <a:solidFill>
                  <a:srgbClr val="64748B"/>
                </a:solidFill>
                <a:latin typeface="Calibri" pitchFamily="34" charset="0"/>
                <a:ea typeface="Calibri" pitchFamily="34" charset="-122"/>
                <a:cs typeface="Calibri" pitchFamily="34" charset="-120"/>
              </a:rPr>
              <a:t>under evaluation, COGNNA and Palo Alto Cortex XSIAM, after the decision to move on from Exotech.</a:t>
            </a:r>
            <a:endParaRPr lang="en-US" sz="1250" dirty="0"/>
          </a:p>
        </p:txBody>
      </p:sp>
      <p:sp>
        <p:nvSpPr>
          <p:cNvPr id="22" name="Shape 19"/>
          <p:cNvSpPr/>
          <p:nvPr/>
        </p:nvSpPr>
        <p:spPr>
          <a:xfrm>
            <a:off x="457200" y="3776472"/>
            <a:ext cx="3630168" cy="2176272"/>
          </a:xfrm>
          <a:prstGeom prst="roundRect">
            <a:avLst>
              <a:gd name="adj" fmla="val 2941"/>
            </a:avLst>
          </a:prstGeom>
          <a:solidFill>
            <a:srgbClr val="F4F7FC"/>
          </a:solidFill>
          <a:ln w="9525">
            <a:solidFill>
              <a:srgbClr val="DCE3EE"/>
            </a:solidFill>
            <a:prstDash val="solid"/>
          </a:ln>
        </p:spPr>
      </p:sp>
      <p:sp>
        <p:nvSpPr>
          <p:cNvPr id="23" name="Shape 20"/>
          <p:cNvSpPr/>
          <p:nvPr/>
        </p:nvSpPr>
        <p:spPr>
          <a:xfrm>
            <a:off x="713232" y="4050792"/>
            <a:ext cx="45720" cy="219456"/>
          </a:xfrm>
          <a:prstGeom prst="rect">
            <a:avLst/>
          </a:prstGeom>
          <a:solidFill>
            <a:srgbClr val="2A8C96"/>
          </a:solidFill>
          <a:ln/>
        </p:spPr>
      </p:sp>
      <p:sp>
        <p:nvSpPr>
          <p:cNvPr id="24" name="Text 21"/>
          <p:cNvSpPr txBox="1"/>
          <p:nvPr/>
        </p:nvSpPr>
        <p:spPr>
          <a:xfrm>
            <a:off x="841248" y="4032504"/>
            <a:ext cx="2990088" cy="256032"/>
          </a:xfrm>
          <a:prstGeom prst="rect">
            <a:avLst/>
          </a:prstGeom>
          <a:noFill/>
          <a:ln/>
        </p:spPr>
        <p:txBody>
          <a:bodyPr wrap="square" lIns="0" tIns="0" rIns="0" bIns="0" rtlCol="0" anchor="ctr"/>
          <a:lstStyle/>
          <a:p>
            <a:pPr indent="0" marL="0">
              <a:buNone/>
            </a:pPr>
            <a:r>
              <a:rPr lang="en-US" sz="1050" b="1" spc="200" kern="0" dirty="0">
                <a:solidFill>
                  <a:srgbClr val="2A8C96"/>
                </a:solidFill>
                <a:latin typeface="Calibri" pitchFamily="34" charset="0"/>
                <a:ea typeface="Calibri" pitchFamily="34" charset="-122"/>
                <a:cs typeface="Calibri" pitchFamily="34" charset="-120"/>
              </a:rPr>
              <a:t>NOTABLE INCIDENT</a:t>
            </a:r>
            <a:endParaRPr lang="en-US" sz="1050" dirty="0"/>
          </a:p>
        </p:txBody>
      </p:sp>
      <p:sp>
        <p:nvSpPr>
          <p:cNvPr id="25" name="Text 22"/>
          <p:cNvSpPr txBox="1"/>
          <p:nvPr/>
        </p:nvSpPr>
        <p:spPr>
          <a:xfrm>
            <a:off x="713232" y="4379976"/>
            <a:ext cx="3118104" cy="640080"/>
          </a:xfrm>
          <a:prstGeom prst="rect">
            <a:avLst/>
          </a:prstGeom>
          <a:noFill/>
          <a:ln/>
        </p:spPr>
        <p:txBody>
          <a:bodyPr wrap="square" lIns="0" tIns="0" rIns="0" bIns="0" rtlCol="0" anchor="ctr"/>
          <a:lstStyle/>
          <a:p>
            <a:pPr indent="0" marL="0">
              <a:buNone/>
            </a:pPr>
            <a:r>
              <a:rPr lang="en-US" sz="3400" b="1" dirty="0">
                <a:solidFill>
                  <a:srgbClr val="1B2A4A"/>
                </a:solidFill>
                <a:latin typeface="Calibri" pitchFamily="34" charset="0"/>
                <a:ea typeface="Calibri" pitchFamily="34" charset="-122"/>
                <a:cs typeface="Calibri" pitchFamily="34" charset="-120"/>
              </a:rPr>
              <a:t>2,070</a:t>
            </a:r>
            <a:endParaRPr lang="en-US" sz="3400" dirty="0"/>
          </a:p>
        </p:txBody>
      </p:sp>
      <p:sp>
        <p:nvSpPr>
          <p:cNvPr id="26" name="Text 23"/>
          <p:cNvSpPr txBox="1"/>
          <p:nvPr/>
        </p:nvSpPr>
        <p:spPr>
          <a:xfrm>
            <a:off x="713232" y="5074920"/>
            <a:ext cx="3118104" cy="731520"/>
          </a:xfrm>
          <a:prstGeom prst="rect">
            <a:avLst/>
          </a:prstGeom>
          <a:noFill/>
          <a:ln/>
        </p:spPr>
        <p:txBody>
          <a:bodyPr wrap="square" lIns="0" tIns="0" rIns="0" bIns="0" rtlCol="0" anchor="t"/>
          <a:lstStyle/>
          <a:p>
            <a:pPr indent="0" marL="0">
              <a:buNone/>
            </a:pPr>
            <a:r>
              <a:rPr lang="en-US" sz="1250" dirty="0">
                <a:solidFill>
                  <a:srgbClr val="64748B"/>
                </a:solidFill>
                <a:latin typeface="Calibri" pitchFamily="34" charset="0"/>
                <a:ea typeface="Calibri" pitchFamily="34" charset="-122"/>
                <a:cs typeface="Calibri" pitchFamily="34" charset="-120"/>
              </a:rPr>
              <a:t>DLP incident records deleted through a shared super-admin account. Nine recommendations tabled.</a:t>
            </a:r>
            <a:endParaRPr lang="en-US" sz="1250" dirty="0"/>
          </a:p>
        </p:txBody>
      </p:sp>
      <p:sp>
        <p:nvSpPr>
          <p:cNvPr id="27" name="Shape 24"/>
          <p:cNvSpPr/>
          <p:nvPr/>
        </p:nvSpPr>
        <p:spPr>
          <a:xfrm>
            <a:off x="4279392" y="3776472"/>
            <a:ext cx="3630168" cy="2176272"/>
          </a:xfrm>
          <a:prstGeom prst="roundRect">
            <a:avLst>
              <a:gd name="adj" fmla="val 2941"/>
            </a:avLst>
          </a:prstGeom>
          <a:solidFill>
            <a:srgbClr val="F4F7FC"/>
          </a:solidFill>
          <a:ln w="9525">
            <a:solidFill>
              <a:srgbClr val="DCE3EE"/>
            </a:solidFill>
            <a:prstDash val="solid"/>
          </a:ln>
        </p:spPr>
      </p:sp>
      <p:sp>
        <p:nvSpPr>
          <p:cNvPr id="28" name="Shape 25"/>
          <p:cNvSpPr/>
          <p:nvPr/>
        </p:nvSpPr>
        <p:spPr>
          <a:xfrm>
            <a:off x="4535424" y="4050792"/>
            <a:ext cx="45720" cy="219456"/>
          </a:xfrm>
          <a:prstGeom prst="rect">
            <a:avLst/>
          </a:prstGeom>
          <a:solidFill>
            <a:srgbClr val="2A8C96"/>
          </a:solidFill>
          <a:ln/>
        </p:spPr>
      </p:sp>
      <p:sp>
        <p:nvSpPr>
          <p:cNvPr id="29" name="Text 26"/>
          <p:cNvSpPr txBox="1"/>
          <p:nvPr/>
        </p:nvSpPr>
        <p:spPr>
          <a:xfrm>
            <a:off x="4663440" y="4032504"/>
            <a:ext cx="2990088" cy="256032"/>
          </a:xfrm>
          <a:prstGeom prst="rect">
            <a:avLst/>
          </a:prstGeom>
          <a:noFill/>
          <a:ln/>
        </p:spPr>
        <p:txBody>
          <a:bodyPr wrap="square" lIns="0" tIns="0" rIns="0" bIns="0" rtlCol="0" anchor="ctr"/>
          <a:lstStyle/>
          <a:p>
            <a:pPr indent="0" marL="0">
              <a:buNone/>
            </a:pPr>
            <a:r>
              <a:rPr lang="en-US" sz="1050" b="1" spc="200" kern="0" dirty="0">
                <a:solidFill>
                  <a:srgbClr val="2A8C96"/>
                </a:solidFill>
                <a:latin typeface="Calibri" pitchFamily="34" charset="0"/>
                <a:ea typeface="Calibri" pitchFamily="34" charset="-122"/>
                <a:cs typeface="Calibri" pitchFamily="34" charset="-120"/>
              </a:rPr>
              <a:t>DLP INCIDENTS</a:t>
            </a:r>
            <a:endParaRPr lang="en-US" sz="1050" dirty="0"/>
          </a:p>
        </p:txBody>
      </p:sp>
      <p:sp>
        <p:nvSpPr>
          <p:cNvPr id="30" name="Text 27"/>
          <p:cNvSpPr txBox="1"/>
          <p:nvPr/>
        </p:nvSpPr>
        <p:spPr>
          <a:xfrm>
            <a:off x="4535424" y="4379976"/>
            <a:ext cx="3118104" cy="640080"/>
          </a:xfrm>
          <a:prstGeom prst="rect">
            <a:avLst/>
          </a:prstGeom>
          <a:noFill/>
          <a:ln/>
        </p:spPr>
        <p:txBody>
          <a:bodyPr wrap="square" lIns="0" tIns="0" rIns="0" bIns="0" rtlCol="0" anchor="ctr"/>
          <a:lstStyle/>
          <a:p>
            <a:pPr indent="0" marL="0">
              <a:buNone/>
            </a:pPr>
            <a:r>
              <a:rPr lang="en-US" sz="3400" b="1" dirty="0">
                <a:solidFill>
                  <a:srgbClr val="1B2A4A"/>
                </a:solidFill>
                <a:latin typeface="Calibri" pitchFamily="34" charset="0"/>
                <a:ea typeface="Calibri" pitchFamily="34" charset="-122"/>
                <a:cs typeface="Calibri" pitchFamily="34" charset="-120"/>
              </a:rPr>
              <a:t>48,504</a:t>
            </a:r>
            <a:endParaRPr lang="en-US" sz="3400" dirty="0"/>
          </a:p>
        </p:txBody>
      </p:sp>
      <p:sp>
        <p:nvSpPr>
          <p:cNvPr id="31" name="Text 28"/>
          <p:cNvSpPr txBox="1"/>
          <p:nvPr/>
        </p:nvSpPr>
        <p:spPr>
          <a:xfrm>
            <a:off x="4535424" y="5074920"/>
            <a:ext cx="3118104" cy="731520"/>
          </a:xfrm>
          <a:prstGeom prst="rect">
            <a:avLst/>
          </a:prstGeom>
          <a:noFill/>
          <a:ln/>
        </p:spPr>
        <p:txBody>
          <a:bodyPr wrap="square" lIns="0" tIns="0" rIns="0" bIns="0" rtlCol="0" anchor="t"/>
          <a:lstStyle/>
          <a:p>
            <a:pPr indent="0" marL="0">
              <a:buNone/>
            </a:pPr>
            <a:r>
              <a:rPr lang="en-US" sz="1250" dirty="0">
                <a:solidFill>
                  <a:srgbClr val="64748B"/>
                </a:solidFill>
                <a:latin typeface="Calibri" pitchFamily="34" charset="0"/>
                <a:ea typeface="Calibri" pitchFamily="34" charset="-122"/>
                <a:cs typeface="Calibri" pitchFamily="34" charset="-120"/>
              </a:rPr>
              <a:t>incidents recorded, 28% of them high severity. Email accounts for 59.5% of the volume.</a:t>
            </a:r>
            <a:endParaRPr lang="en-US" sz="1250" dirty="0"/>
          </a:p>
        </p:txBody>
      </p:sp>
      <p:sp>
        <p:nvSpPr>
          <p:cNvPr id="32" name="Shape 29"/>
          <p:cNvSpPr/>
          <p:nvPr/>
        </p:nvSpPr>
        <p:spPr>
          <a:xfrm>
            <a:off x="8101584" y="3776472"/>
            <a:ext cx="3630168" cy="2176272"/>
          </a:xfrm>
          <a:prstGeom prst="roundRect">
            <a:avLst>
              <a:gd name="adj" fmla="val 2941"/>
            </a:avLst>
          </a:prstGeom>
          <a:solidFill>
            <a:srgbClr val="F4F7FC"/>
          </a:solidFill>
          <a:ln w="9525">
            <a:solidFill>
              <a:srgbClr val="DCE3EE"/>
            </a:solidFill>
            <a:prstDash val="solid"/>
          </a:ln>
        </p:spPr>
      </p:sp>
      <p:sp>
        <p:nvSpPr>
          <p:cNvPr id="33" name="Shape 30"/>
          <p:cNvSpPr/>
          <p:nvPr/>
        </p:nvSpPr>
        <p:spPr>
          <a:xfrm>
            <a:off x="8357616" y="4050792"/>
            <a:ext cx="45720" cy="219456"/>
          </a:xfrm>
          <a:prstGeom prst="rect">
            <a:avLst/>
          </a:prstGeom>
          <a:solidFill>
            <a:srgbClr val="2A8C96"/>
          </a:solidFill>
          <a:ln/>
        </p:spPr>
      </p:sp>
      <p:sp>
        <p:nvSpPr>
          <p:cNvPr id="34" name="Text 31"/>
          <p:cNvSpPr txBox="1"/>
          <p:nvPr/>
        </p:nvSpPr>
        <p:spPr>
          <a:xfrm>
            <a:off x="8485632" y="4032504"/>
            <a:ext cx="2990088" cy="256032"/>
          </a:xfrm>
          <a:prstGeom prst="rect">
            <a:avLst/>
          </a:prstGeom>
          <a:noFill/>
          <a:ln/>
        </p:spPr>
        <p:txBody>
          <a:bodyPr wrap="square" lIns="0" tIns="0" rIns="0" bIns="0" rtlCol="0" anchor="ctr"/>
          <a:lstStyle/>
          <a:p>
            <a:pPr indent="0" marL="0">
              <a:buNone/>
            </a:pPr>
            <a:r>
              <a:rPr lang="en-US" sz="1050" b="1" spc="200" kern="0" dirty="0">
                <a:solidFill>
                  <a:srgbClr val="2A8C96"/>
                </a:solidFill>
                <a:latin typeface="Calibri" pitchFamily="34" charset="0"/>
                <a:ea typeface="Calibri" pitchFamily="34" charset="-122"/>
                <a:cs typeface="Calibri" pitchFamily="34" charset="-120"/>
              </a:rPr>
              <a:t>THREAT INTELLIGENCE</a:t>
            </a:r>
            <a:endParaRPr lang="en-US" sz="1050" dirty="0"/>
          </a:p>
        </p:txBody>
      </p:sp>
      <p:sp>
        <p:nvSpPr>
          <p:cNvPr id="35" name="Text 32"/>
          <p:cNvSpPr txBox="1"/>
          <p:nvPr/>
        </p:nvSpPr>
        <p:spPr>
          <a:xfrm>
            <a:off x="8357616" y="4379976"/>
            <a:ext cx="3118104" cy="640080"/>
          </a:xfrm>
          <a:prstGeom prst="rect">
            <a:avLst/>
          </a:prstGeom>
          <a:noFill/>
          <a:ln/>
        </p:spPr>
        <p:txBody>
          <a:bodyPr wrap="square" lIns="0" tIns="0" rIns="0" bIns="0" rtlCol="0" anchor="ctr"/>
          <a:lstStyle/>
          <a:p>
            <a:pPr indent="0" marL="0">
              <a:buNone/>
            </a:pPr>
            <a:r>
              <a:rPr lang="en-US" sz="3400" b="1" dirty="0">
                <a:solidFill>
                  <a:srgbClr val="B97A1F"/>
                </a:solidFill>
                <a:latin typeface="Calibri" pitchFamily="34" charset="0"/>
                <a:ea typeface="Calibri" pitchFamily="34" charset="-122"/>
                <a:cs typeface="Calibri" pitchFamily="34" charset="-120"/>
              </a:rPr>
              <a:t>XX</a:t>
            </a:r>
            <a:endParaRPr lang="en-US" sz="3400" dirty="0"/>
          </a:p>
        </p:txBody>
      </p:sp>
      <p:sp>
        <p:nvSpPr>
          <p:cNvPr id="36" name="Text 33"/>
          <p:cNvSpPr txBox="1"/>
          <p:nvPr/>
        </p:nvSpPr>
        <p:spPr>
          <a:xfrm>
            <a:off x="8357616" y="5074920"/>
            <a:ext cx="3118104" cy="731520"/>
          </a:xfrm>
          <a:prstGeom prst="rect">
            <a:avLst/>
          </a:prstGeom>
          <a:noFill/>
          <a:ln/>
        </p:spPr>
        <p:txBody>
          <a:bodyPr wrap="square" lIns="0" tIns="0" rIns="0" bIns="0" rtlCol="0" anchor="t"/>
          <a:lstStyle/>
          <a:p>
            <a:pPr indent="0" marL="0">
              <a:buNone/>
            </a:pPr>
            <a:r>
              <a:rPr lang="en-US" sz="1250" dirty="0">
                <a:solidFill>
                  <a:srgbClr val="B97A1F"/>
                </a:solidFill>
                <a:latin typeface="Calibri" pitchFamily="34" charset="0"/>
                <a:ea typeface="Calibri" pitchFamily="34" charset="-122"/>
                <a:cs typeface="Calibri" pitchFamily="34" charset="-120"/>
              </a:rPr>
              <a:t>[CTI headline for the period]</a:t>
            </a:r>
            <a:endParaRPr lang="en-US" sz="125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57200" y="310896"/>
            <a:ext cx="530352" cy="530352"/>
          </a:xfrm>
          <a:prstGeom prst="ellipse">
            <a:avLst/>
          </a:prstGeom>
          <a:solidFill>
            <a:srgbClr val="1B2A4A"/>
          </a:solidFill>
          <a:ln/>
        </p:spPr>
      </p:sp>
      <p:pic>
        <p:nvPicPr>
          <p:cNvPr id="3" name="Image 0" descr="preencoded.png">    </p:cNvPr>
          <p:cNvPicPr>
            <a:picLocks noChangeAspect="1"/>
          </p:cNvPicPr>
          <p:nvPr/>
        </p:nvPicPr>
        <p:blipFill>
          <a:blip r:embed="rId1"/>
          <a:stretch>
            <a:fillRect/>
          </a:stretch>
        </p:blipFill>
        <p:spPr>
          <a:xfrm>
            <a:off x="589788" y="443484"/>
            <a:ext cx="265176" cy="265176"/>
          </a:xfrm>
          <a:prstGeom prst="rect">
            <a:avLst/>
          </a:prstGeom>
        </p:spPr>
      </p:pic>
      <p:sp>
        <p:nvSpPr>
          <p:cNvPr id="4" name="Text 1"/>
          <p:cNvSpPr/>
          <p:nvPr>
            <p:ph idx="101" type="title" hasCustomPrompt="1"/>
          </p:nvPr>
        </p:nvSpPr>
        <p:spPr>
          <a:xfrm>
            <a:off x="1143000" y="274320"/>
            <a:ext cx="7223760" cy="603504"/>
          </a:xfrm>
          <a:prstGeom prst="rect">
            <a:avLst/>
          </a:prstGeom>
          <a:noFill/>
          <a:ln/>
        </p:spPr>
        <p:txBody>
          <a:bodyPr wrap="square" lIns="0" tIns="0" rIns="0" bIns="0" rtlCol="0" anchor="ctr"/>
          <a:lstStyle/>
          <a:p>
            <a:pPr algn="l" indent="0" marL="0">
              <a:buNone/>
            </a:pPr>
            <a:r>
              <a:rPr lang="en-US" sz="3000" b="1" dirty="0">
                <a:solidFill>
                  <a:srgbClr val="1B2A4A"/>
                </a:solidFill>
                <a:latin typeface="Calibri" pitchFamily="34" charset="0"/>
                <a:ea typeface="Calibri" pitchFamily="34" charset="-122"/>
                <a:cs typeface="Calibri" pitchFamily="34" charset="-120"/>
              </a:rPr>
              <a:t>Detection Engineering</a:t>
            </a:r>
            <a:endParaRPr lang="en-US" sz="3000" dirty="0"/>
          </a:p>
        </p:txBody>
      </p:sp>
      <p:sp>
        <p:nvSpPr>
          <p:cNvPr id="5" name="Text 2"/>
          <p:cNvSpPr txBox="1"/>
          <p:nvPr/>
        </p:nvSpPr>
        <p:spPr>
          <a:xfrm>
            <a:off x="8458200" y="384048"/>
            <a:ext cx="3273552" cy="384048"/>
          </a:xfrm>
          <a:prstGeom prst="rect">
            <a:avLst/>
          </a:prstGeom>
          <a:noFill/>
          <a:ln/>
        </p:spPr>
        <p:txBody>
          <a:bodyPr wrap="square" lIns="0" tIns="0" rIns="0" bIns="0" rtlCol="0" anchor="ctr"/>
          <a:lstStyle/>
          <a:p>
            <a:pPr algn="r" indent="0" marL="0">
              <a:buNone/>
            </a:pPr>
            <a:r>
              <a:rPr lang="en-US" sz="1200" dirty="0">
                <a:solidFill>
                  <a:srgbClr val="64748B"/>
                </a:solidFill>
                <a:latin typeface="Calibri" pitchFamily="34" charset="0"/>
                <a:ea typeface="Calibri" pitchFamily="34" charset="-122"/>
                <a:cs typeface="Calibri" pitchFamily="34" charset="-120"/>
              </a:rPr>
              <a:t>SOC  |  Detection Engineering</a:t>
            </a:r>
            <a:endParaRPr lang="en-US" sz="1200" dirty="0"/>
          </a:p>
        </p:txBody>
      </p:sp>
      <p:sp>
        <p:nvSpPr>
          <p:cNvPr id="6" name="Text 3"/>
          <p:cNvSpPr txBox="1"/>
          <p:nvPr/>
        </p:nvSpPr>
        <p:spPr>
          <a:xfrm>
            <a:off x="457200" y="932688"/>
            <a:ext cx="11274552" cy="310896"/>
          </a:xfrm>
          <a:prstGeom prst="rect">
            <a:avLst/>
          </a:prstGeom>
          <a:noFill/>
          <a:ln/>
        </p:spPr>
        <p:txBody>
          <a:bodyPr wrap="square" lIns="0" tIns="0" rIns="0" bIns="0" rtlCol="0" anchor="ctr"/>
          <a:lstStyle/>
          <a:p>
            <a:pPr indent="0" marL="0">
              <a:buNone/>
            </a:pPr>
            <a:r>
              <a:rPr lang="en-US" sz="1500" dirty="0">
                <a:solidFill>
                  <a:srgbClr val="64748B"/>
                </a:solidFill>
                <a:latin typeface="Calibri" pitchFamily="34" charset="0"/>
                <a:ea typeface="Calibri" pitchFamily="34" charset="-122"/>
                <a:cs typeface="Calibri" pitchFamily="34" charset="-120"/>
              </a:rPr>
              <a:t>Fine-tuning existing detections and building new use cases</a:t>
            </a:r>
            <a:endParaRPr lang="en-US" sz="1500" dirty="0"/>
          </a:p>
        </p:txBody>
      </p:sp>
      <p:sp>
        <p:nvSpPr>
          <p:cNvPr id="7" name="Text 4"/>
          <p:cNvSpPr txBox="1"/>
          <p:nvPr/>
        </p:nvSpPr>
        <p:spPr>
          <a:xfrm>
            <a:off x="457200" y="1371600"/>
            <a:ext cx="5486400" cy="292608"/>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Fine-Tuning Impact</a:t>
            </a:r>
            <a:endParaRPr lang="en-US" sz="1600" dirty="0"/>
          </a:p>
        </p:txBody>
      </p:sp>
      <p:sp>
        <p:nvSpPr>
          <p:cNvPr id="8" name="Text 5"/>
          <p:cNvSpPr txBox="1"/>
          <p:nvPr/>
        </p:nvSpPr>
        <p:spPr>
          <a:xfrm>
            <a:off x="6245352" y="1371600"/>
            <a:ext cx="5486400" cy="292608"/>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Use Case Creation</a:t>
            </a:r>
            <a:endParaRPr lang="en-US" sz="1600" dirty="0"/>
          </a:p>
        </p:txBody>
      </p:sp>
      <p:sp>
        <p:nvSpPr>
          <p:cNvPr id="9" name="Shape 6"/>
          <p:cNvSpPr/>
          <p:nvPr/>
        </p:nvSpPr>
        <p:spPr>
          <a:xfrm>
            <a:off x="457200" y="1755648"/>
            <a:ext cx="5486400" cy="2011680"/>
          </a:xfrm>
          <a:prstGeom prst="roundRect">
            <a:avLst>
              <a:gd name="adj" fmla="val 3182"/>
            </a:avLst>
          </a:prstGeom>
          <a:solidFill>
            <a:srgbClr val="F4F7FC"/>
          </a:solidFill>
          <a:ln w="9525">
            <a:solidFill>
              <a:srgbClr val="DCE3EE"/>
            </a:solidFill>
            <a:prstDash val="solid"/>
          </a:ln>
        </p:spPr>
      </p:sp>
      <p:sp>
        <p:nvSpPr>
          <p:cNvPr id="10" name="Shape 7"/>
          <p:cNvSpPr/>
          <p:nvPr/>
        </p:nvSpPr>
        <p:spPr>
          <a:xfrm>
            <a:off x="658368" y="1920240"/>
            <a:ext cx="457200" cy="457200"/>
          </a:xfrm>
          <a:prstGeom prst="ellipse">
            <a:avLst/>
          </a:prstGeom>
          <a:solidFill>
            <a:srgbClr val="1B2A4A"/>
          </a:solidFill>
          <a:ln/>
        </p:spPr>
      </p:sp>
      <p:pic>
        <p:nvPicPr>
          <p:cNvPr id="11" name="Image 1" descr="preencoded.png">    </p:cNvPr>
          <p:cNvPicPr>
            <a:picLocks noChangeAspect="1"/>
          </p:cNvPicPr>
          <p:nvPr/>
        </p:nvPicPr>
        <p:blipFill>
          <a:blip r:embed="rId2"/>
          <a:stretch>
            <a:fillRect/>
          </a:stretch>
        </p:blipFill>
        <p:spPr>
          <a:xfrm>
            <a:off x="768096" y="2029968"/>
            <a:ext cx="237744" cy="237744"/>
          </a:xfrm>
          <a:prstGeom prst="rect">
            <a:avLst/>
          </a:prstGeom>
        </p:spPr>
      </p:pic>
      <p:sp>
        <p:nvSpPr>
          <p:cNvPr id="12" name="Text 8"/>
          <p:cNvSpPr txBox="1"/>
          <p:nvPr/>
        </p:nvSpPr>
        <p:spPr>
          <a:xfrm>
            <a:off x="1243584" y="1920240"/>
            <a:ext cx="3657600" cy="457200"/>
          </a:xfrm>
          <a:prstGeom prst="rect">
            <a:avLst/>
          </a:prstGeom>
          <a:noFill/>
          <a:ln/>
        </p:spPr>
        <p:txBody>
          <a:bodyPr wrap="square" lIns="0" tIns="0" rIns="0" bIns="0"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SIEM  |  QRadar</a:t>
            </a:r>
            <a:endParaRPr lang="en-US" sz="1500" dirty="0"/>
          </a:p>
        </p:txBody>
      </p:sp>
      <p:sp>
        <p:nvSpPr>
          <p:cNvPr id="13" name="Text 9"/>
          <p:cNvSpPr txBox="1"/>
          <p:nvPr/>
        </p:nvSpPr>
        <p:spPr>
          <a:xfrm>
            <a:off x="658368" y="2514600"/>
            <a:ext cx="2468880" cy="1097280"/>
          </a:xfrm>
          <a:prstGeom prst="rect">
            <a:avLst/>
          </a:prstGeom>
          <a:noFill/>
          <a:ln/>
        </p:spPr>
        <p:txBody>
          <a:bodyPr wrap="square" lIns="0" tIns="0" rIns="0" bIns="0" rtlCol="0" anchor="ctr"/>
          <a:lstStyle/>
          <a:p>
            <a:pPr indent="0" marL="0">
              <a:buNone/>
            </a:pPr>
            <a:r>
              <a:rPr lang="en-US" sz="3600" b="1" dirty="0">
                <a:solidFill>
                  <a:srgbClr val="2E8B57"/>
                </a:solidFill>
                <a:latin typeface="Calibri" pitchFamily="34" charset="0"/>
                <a:ea typeface="Calibri" pitchFamily="34" charset="-122"/>
                <a:cs typeface="Calibri" pitchFamily="34" charset="-120"/>
              </a:rPr>
              <a:t>667,608</a:t>
            </a:r>
            <a:endParaRPr lang="en-US" sz="3600" dirty="0"/>
          </a:p>
          <a:p>
            <a:pPr indent="0" marL="0">
              <a:buNone/>
            </a:pPr>
            <a:r>
              <a:rPr lang="en-US" sz="1200" dirty="0">
                <a:solidFill>
                  <a:srgbClr val="64748B"/>
                </a:solidFill>
                <a:latin typeface="Calibri" pitchFamily="34" charset="0"/>
                <a:ea typeface="Calibri" pitchFamily="34" charset="-122"/>
                <a:cs typeface="Calibri" pitchFamily="34" charset="-120"/>
              </a:rPr>
              <a:t>False-positive events eliminated</a:t>
            </a:r>
            <a:endParaRPr lang="en-US" sz="3600" dirty="0"/>
          </a:p>
        </p:txBody>
      </p:sp>
      <p:sp>
        <p:nvSpPr>
          <p:cNvPr id="14" name="Text 10"/>
          <p:cNvSpPr txBox="1"/>
          <p:nvPr/>
        </p:nvSpPr>
        <p:spPr>
          <a:xfrm>
            <a:off x="3310128" y="2514600"/>
            <a:ext cx="2468880" cy="1097280"/>
          </a:xfrm>
          <a:prstGeom prst="rect">
            <a:avLst/>
          </a:prstGeom>
          <a:noFill/>
          <a:ln/>
        </p:spPr>
        <p:txBody>
          <a:bodyPr wrap="square" lIns="0" tIns="0" rIns="0" bIns="0" rtlCol="0" anchor="ctr"/>
          <a:lstStyle/>
          <a:p>
            <a:pPr indent="0" marL="0">
              <a:buNone/>
            </a:pPr>
            <a:r>
              <a:rPr lang="en-US" sz="3600" b="1" dirty="0">
                <a:solidFill>
                  <a:srgbClr val="1B2A4A"/>
                </a:solidFill>
                <a:latin typeface="Calibri" pitchFamily="34" charset="0"/>
                <a:ea typeface="Calibri" pitchFamily="34" charset="-122"/>
                <a:cs typeface="Calibri" pitchFamily="34" charset="-120"/>
              </a:rPr>
              <a:t>64,284</a:t>
            </a:r>
            <a:endParaRPr lang="en-US" sz="3600" dirty="0"/>
          </a:p>
          <a:p>
            <a:pPr indent="0" marL="0">
              <a:buNone/>
            </a:pPr>
            <a:r>
              <a:rPr lang="en-US" sz="1200" dirty="0">
                <a:solidFill>
                  <a:srgbClr val="64748B"/>
                </a:solidFill>
                <a:latin typeface="Calibri" pitchFamily="34" charset="0"/>
                <a:ea typeface="Calibri" pitchFamily="34" charset="-122"/>
                <a:cs typeface="Calibri" pitchFamily="34" charset="-120"/>
              </a:rPr>
              <a:t>New total alert baseline</a:t>
            </a:r>
            <a:endParaRPr lang="en-US" sz="3600" dirty="0"/>
          </a:p>
        </p:txBody>
      </p:sp>
      <p:sp>
        <p:nvSpPr>
          <p:cNvPr id="15" name="Shape 11"/>
          <p:cNvSpPr/>
          <p:nvPr/>
        </p:nvSpPr>
        <p:spPr>
          <a:xfrm>
            <a:off x="457200" y="3931920"/>
            <a:ext cx="5486400" cy="2011680"/>
          </a:xfrm>
          <a:prstGeom prst="roundRect">
            <a:avLst>
              <a:gd name="adj" fmla="val 3182"/>
            </a:avLst>
          </a:prstGeom>
          <a:solidFill>
            <a:srgbClr val="F4F7FC"/>
          </a:solidFill>
          <a:ln w="9525">
            <a:solidFill>
              <a:srgbClr val="DCE3EE"/>
            </a:solidFill>
            <a:prstDash val="solid"/>
          </a:ln>
        </p:spPr>
      </p:sp>
      <p:sp>
        <p:nvSpPr>
          <p:cNvPr id="16" name="Shape 12"/>
          <p:cNvSpPr/>
          <p:nvPr/>
        </p:nvSpPr>
        <p:spPr>
          <a:xfrm>
            <a:off x="658368" y="4096512"/>
            <a:ext cx="457200" cy="457200"/>
          </a:xfrm>
          <a:prstGeom prst="ellipse">
            <a:avLst/>
          </a:prstGeom>
          <a:solidFill>
            <a:srgbClr val="1B2A4A"/>
          </a:solidFill>
          <a:ln/>
        </p:spPr>
      </p:sp>
      <p:pic>
        <p:nvPicPr>
          <p:cNvPr id="17" name="Image 2" descr="preencoded.png">    </p:cNvPr>
          <p:cNvPicPr>
            <a:picLocks noChangeAspect="1"/>
          </p:cNvPicPr>
          <p:nvPr/>
        </p:nvPicPr>
        <p:blipFill>
          <a:blip r:embed="rId3"/>
          <a:stretch>
            <a:fillRect/>
          </a:stretch>
        </p:blipFill>
        <p:spPr>
          <a:xfrm>
            <a:off x="768096" y="4206240"/>
            <a:ext cx="237744" cy="237744"/>
          </a:xfrm>
          <a:prstGeom prst="rect">
            <a:avLst/>
          </a:prstGeom>
        </p:spPr>
      </p:pic>
      <p:sp>
        <p:nvSpPr>
          <p:cNvPr id="18" name="Text 13"/>
          <p:cNvSpPr txBox="1"/>
          <p:nvPr/>
        </p:nvSpPr>
        <p:spPr>
          <a:xfrm>
            <a:off x="1243584" y="4096512"/>
            <a:ext cx="2377440" cy="457200"/>
          </a:xfrm>
          <a:prstGeom prst="rect">
            <a:avLst/>
          </a:prstGeom>
          <a:noFill/>
          <a:ln/>
        </p:spPr>
        <p:txBody>
          <a:bodyPr wrap="square" lIns="0" tIns="0" rIns="0" bIns="0"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EDR  |  Carbon Black</a:t>
            </a:r>
            <a:endParaRPr lang="en-US" sz="1500" dirty="0"/>
          </a:p>
        </p:txBody>
      </p:sp>
      <p:sp>
        <p:nvSpPr>
          <p:cNvPr id="19" name="Shape 14"/>
          <p:cNvSpPr/>
          <p:nvPr/>
        </p:nvSpPr>
        <p:spPr>
          <a:xfrm>
            <a:off x="3657600" y="4187952"/>
            <a:ext cx="2084832" cy="274320"/>
          </a:xfrm>
          <a:prstGeom prst="roundRect">
            <a:avLst>
              <a:gd name="adj" fmla="val 50000"/>
            </a:avLst>
          </a:prstGeom>
          <a:solidFill>
            <a:srgbClr val="E6F4EA"/>
          </a:solidFill>
          <a:ln/>
        </p:spPr>
      </p:sp>
      <p:sp>
        <p:nvSpPr>
          <p:cNvPr id="20" name="Text 15"/>
          <p:cNvSpPr txBox="1"/>
          <p:nvPr/>
        </p:nvSpPr>
        <p:spPr>
          <a:xfrm>
            <a:off x="3657600" y="4187952"/>
            <a:ext cx="2084832" cy="274320"/>
          </a:xfrm>
          <a:prstGeom prst="rect">
            <a:avLst/>
          </a:prstGeom>
          <a:noFill/>
          <a:ln/>
        </p:spPr>
        <p:txBody>
          <a:bodyPr wrap="square" lIns="0" tIns="0" rIns="0" bIns="0" rtlCol="0" anchor="ctr"/>
          <a:lstStyle/>
          <a:p>
            <a:pPr algn="ctr" indent="0" marL="0">
              <a:buNone/>
            </a:pPr>
            <a:r>
              <a:rPr lang="en-US" sz="1100" b="1" dirty="0">
                <a:solidFill>
                  <a:srgbClr val="2E8B57"/>
                </a:solidFill>
                <a:latin typeface="Calibri" pitchFamily="34" charset="0"/>
                <a:ea typeface="Calibri" pitchFamily="34" charset="-122"/>
                <a:cs typeface="Calibri" pitchFamily="34" charset="-120"/>
              </a:rPr>
              <a:t>&gt; 99.99% noise reduction</a:t>
            </a:r>
            <a:endParaRPr lang="en-US" sz="1100" dirty="0"/>
          </a:p>
        </p:txBody>
      </p:sp>
      <p:sp>
        <p:nvSpPr>
          <p:cNvPr id="21" name="Text 16"/>
          <p:cNvSpPr txBox="1"/>
          <p:nvPr/>
        </p:nvSpPr>
        <p:spPr>
          <a:xfrm>
            <a:off x="658368" y="4690872"/>
            <a:ext cx="2286000" cy="1097280"/>
          </a:xfrm>
          <a:prstGeom prst="rect">
            <a:avLst/>
          </a:prstGeom>
          <a:noFill/>
          <a:ln/>
        </p:spPr>
        <p:txBody>
          <a:bodyPr wrap="square" lIns="0" tIns="0" rIns="0" bIns="0" rtlCol="0" anchor="ctr"/>
          <a:lstStyle/>
          <a:p>
            <a:pPr indent="0" marL="0">
              <a:buNone/>
            </a:pPr>
            <a:r>
              <a:rPr lang="en-US" sz="3600" b="1" dirty="0">
                <a:solidFill>
                  <a:srgbClr val="64748B"/>
                </a:solidFill>
                <a:latin typeface="Calibri" pitchFamily="34" charset="0"/>
                <a:ea typeface="Calibri" pitchFamily="34" charset="-122"/>
                <a:cs typeface="Calibri" pitchFamily="34" charset="-120"/>
              </a:rPr>
              <a:t>134,000</a:t>
            </a:r>
            <a:endParaRPr lang="en-US" sz="3600" dirty="0"/>
          </a:p>
          <a:p>
            <a:pPr indent="0" marL="0">
              <a:buNone/>
            </a:pPr>
            <a:r>
              <a:rPr lang="en-US" sz="1200" dirty="0">
                <a:solidFill>
                  <a:srgbClr val="64748B"/>
                </a:solidFill>
                <a:latin typeface="Calibri" pitchFamily="34" charset="0"/>
                <a:ea typeface="Calibri" pitchFamily="34" charset="-122"/>
                <a:cs typeface="Calibri" pitchFamily="34" charset="-120"/>
              </a:rPr>
              <a:t>Alerts per day before tuning</a:t>
            </a:r>
            <a:endParaRPr lang="en-US" sz="3600" dirty="0"/>
          </a:p>
        </p:txBody>
      </p:sp>
      <p:sp>
        <p:nvSpPr>
          <p:cNvPr id="22" name="Shape 17"/>
          <p:cNvSpPr/>
          <p:nvPr/>
        </p:nvSpPr>
        <p:spPr>
          <a:xfrm>
            <a:off x="3017520" y="5029200"/>
            <a:ext cx="548640" cy="329184"/>
          </a:xfrm>
          <a:prstGeom prst="rightArrow">
            <a:avLst/>
          </a:prstGeom>
          <a:solidFill>
            <a:srgbClr val="2A8C96"/>
          </a:solidFill>
          <a:ln/>
        </p:spPr>
      </p:sp>
      <p:sp>
        <p:nvSpPr>
          <p:cNvPr id="23" name="Text 18"/>
          <p:cNvSpPr txBox="1"/>
          <p:nvPr/>
        </p:nvSpPr>
        <p:spPr>
          <a:xfrm>
            <a:off x="3794760" y="4690872"/>
            <a:ext cx="2011680" cy="1097280"/>
          </a:xfrm>
          <a:prstGeom prst="rect">
            <a:avLst/>
          </a:prstGeom>
          <a:noFill/>
          <a:ln/>
        </p:spPr>
        <p:txBody>
          <a:bodyPr wrap="square" lIns="0" tIns="0" rIns="0" bIns="0" rtlCol="0" anchor="ctr"/>
          <a:lstStyle/>
          <a:p>
            <a:pPr indent="0" marL="0">
              <a:buNone/>
            </a:pPr>
            <a:r>
              <a:rPr lang="en-US" sz="3600" b="1" dirty="0">
                <a:solidFill>
                  <a:srgbClr val="2E8B57"/>
                </a:solidFill>
                <a:latin typeface="Calibri" pitchFamily="34" charset="0"/>
                <a:ea typeface="Calibri" pitchFamily="34" charset="-122"/>
                <a:cs typeface="Calibri" pitchFamily="34" charset="-120"/>
              </a:rPr>
              <a:t>3</a:t>
            </a:r>
            <a:endParaRPr lang="en-US" sz="3600" dirty="0"/>
          </a:p>
          <a:p>
            <a:pPr indent="0" marL="0">
              <a:buNone/>
            </a:pPr>
            <a:r>
              <a:rPr lang="en-US" sz="1200" dirty="0">
                <a:solidFill>
                  <a:srgbClr val="64748B"/>
                </a:solidFill>
                <a:latin typeface="Calibri" pitchFamily="34" charset="0"/>
                <a:ea typeface="Calibri" pitchFamily="34" charset="-122"/>
                <a:cs typeface="Calibri" pitchFamily="34" charset="-120"/>
              </a:rPr>
              <a:t>Alerts per day after tuning</a:t>
            </a:r>
            <a:endParaRPr lang="en-US" sz="3600" dirty="0"/>
          </a:p>
        </p:txBody>
      </p:sp>
      <p:sp>
        <p:nvSpPr>
          <p:cNvPr id="24" name="Shape 19"/>
          <p:cNvSpPr/>
          <p:nvPr/>
        </p:nvSpPr>
        <p:spPr>
          <a:xfrm>
            <a:off x="6245352" y="1755648"/>
            <a:ext cx="1719072" cy="1600200"/>
          </a:xfrm>
          <a:prstGeom prst="roundRect">
            <a:avLst>
              <a:gd name="adj" fmla="val 4000"/>
            </a:avLst>
          </a:prstGeom>
          <a:solidFill>
            <a:srgbClr val="F4F7FC"/>
          </a:solidFill>
          <a:ln w="9525">
            <a:solidFill>
              <a:srgbClr val="DCE3EE"/>
            </a:solidFill>
            <a:prstDash val="solid"/>
          </a:ln>
        </p:spPr>
      </p:sp>
      <p:pic>
        <p:nvPicPr>
          <p:cNvPr id="25" name="Image 3" descr="preencoded.png">    </p:cNvPr>
          <p:cNvPicPr>
            <a:picLocks noChangeAspect="1"/>
          </p:cNvPicPr>
          <p:nvPr/>
        </p:nvPicPr>
        <p:blipFill>
          <a:blip r:embed="rId4"/>
          <a:stretch>
            <a:fillRect/>
          </a:stretch>
        </p:blipFill>
        <p:spPr>
          <a:xfrm>
            <a:off x="6428232" y="1920240"/>
            <a:ext cx="274320" cy="274320"/>
          </a:xfrm>
          <a:prstGeom prst="rect">
            <a:avLst/>
          </a:prstGeom>
        </p:spPr>
      </p:pic>
      <p:sp>
        <p:nvSpPr>
          <p:cNvPr id="26" name="Text 20"/>
          <p:cNvSpPr txBox="1"/>
          <p:nvPr/>
        </p:nvSpPr>
        <p:spPr>
          <a:xfrm>
            <a:off x="6428232" y="2267712"/>
            <a:ext cx="1399032" cy="1005840"/>
          </a:xfrm>
          <a:prstGeom prst="rect">
            <a:avLst/>
          </a:prstGeom>
          <a:noFill/>
          <a:ln/>
        </p:spPr>
        <p:txBody>
          <a:bodyPr wrap="square" lIns="0" tIns="0" rIns="0" bIns="0" rtlCol="0" anchor="t"/>
          <a:lstStyle/>
          <a:p>
            <a:pPr indent="0" marL="0">
              <a:buNone/>
            </a:pPr>
            <a:r>
              <a:rPr lang="en-US" sz="3000" b="1" dirty="0">
                <a:solidFill>
                  <a:srgbClr val="B97A1F"/>
                </a:solidFill>
                <a:latin typeface="Calibri" pitchFamily="34" charset="0"/>
                <a:ea typeface="Calibri" pitchFamily="34" charset="-122"/>
                <a:cs typeface="Calibri" pitchFamily="34" charset="-120"/>
              </a:rPr>
              <a:t>XX</a:t>
            </a:r>
            <a:endParaRPr lang="en-US" sz="3000" dirty="0"/>
          </a:p>
          <a:p>
            <a:pPr indent="0" marL="0">
              <a:buNone/>
            </a:pPr>
            <a:r>
              <a:rPr lang="en-US" sz="1200" dirty="0">
                <a:solidFill>
                  <a:srgbClr val="64748B"/>
                </a:solidFill>
                <a:latin typeface="Calibri" pitchFamily="34" charset="0"/>
                <a:ea typeface="Calibri" pitchFamily="34" charset="-122"/>
                <a:cs typeface="Calibri" pitchFamily="34" charset="-120"/>
              </a:rPr>
              <a:t>New use cases deployed</a:t>
            </a:r>
            <a:endParaRPr lang="en-US" sz="3000" dirty="0"/>
          </a:p>
        </p:txBody>
      </p:sp>
      <p:sp>
        <p:nvSpPr>
          <p:cNvPr id="27" name="Shape 21"/>
          <p:cNvSpPr/>
          <p:nvPr/>
        </p:nvSpPr>
        <p:spPr>
          <a:xfrm>
            <a:off x="8129016" y="1755648"/>
            <a:ext cx="1719072" cy="1600200"/>
          </a:xfrm>
          <a:prstGeom prst="roundRect">
            <a:avLst>
              <a:gd name="adj" fmla="val 4000"/>
            </a:avLst>
          </a:prstGeom>
          <a:solidFill>
            <a:srgbClr val="F4F7FC"/>
          </a:solidFill>
          <a:ln w="9525">
            <a:solidFill>
              <a:srgbClr val="DCE3EE"/>
            </a:solidFill>
            <a:prstDash val="solid"/>
          </a:ln>
        </p:spPr>
      </p:sp>
      <p:pic>
        <p:nvPicPr>
          <p:cNvPr id="28" name="Image 4" descr="preencoded.png">    </p:cNvPr>
          <p:cNvPicPr>
            <a:picLocks noChangeAspect="1"/>
          </p:cNvPicPr>
          <p:nvPr/>
        </p:nvPicPr>
        <p:blipFill>
          <a:blip r:embed="rId5"/>
          <a:stretch>
            <a:fillRect/>
          </a:stretch>
        </p:blipFill>
        <p:spPr>
          <a:xfrm>
            <a:off x="8311896" y="1920240"/>
            <a:ext cx="274320" cy="274320"/>
          </a:xfrm>
          <a:prstGeom prst="rect">
            <a:avLst/>
          </a:prstGeom>
        </p:spPr>
      </p:pic>
      <p:sp>
        <p:nvSpPr>
          <p:cNvPr id="29" name="Text 22"/>
          <p:cNvSpPr txBox="1"/>
          <p:nvPr/>
        </p:nvSpPr>
        <p:spPr>
          <a:xfrm>
            <a:off x="8311896" y="2267712"/>
            <a:ext cx="1399032" cy="1005840"/>
          </a:xfrm>
          <a:prstGeom prst="rect">
            <a:avLst/>
          </a:prstGeom>
          <a:noFill/>
          <a:ln/>
        </p:spPr>
        <p:txBody>
          <a:bodyPr wrap="square" lIns="0" tIns="0" rIns="0" bIns="0" rtlCol="0" anchor="t"/>
          <a:lstStyle/>
          <a:p>
            <a:pPr indent="0" marL="0">
              <a:buNone/>
            </a:pPr>
            <a:r>
              <a:rPr lang="en-US" sz="3000" b="1" dirty="0">
                <a:solidFill>
                  <a:srgbClr val="B97A1F"/>
                </a:solidFill>
                <a:latin typeface="Calibri" pitchFamily="34" charset="0"/>
                <a:ea typeface="Calibri" pitchFamily="34" charset="-122"/>
                <a:cs typeface="Calibri" pitchFamily="34" charset="-120"/>
              </a:rPr>
              <a:t>XX</a:t>
            </a:r>
            <a:endParaRPr lang="en-US" sz="3000" dirty="0"/>
          </a:p>
          <a:p>
            <a:pPr indent="0" marL="0">
              <a:buNone/>
            </a:pPr>
            <a:r>
              <a:rPr lang="en-US" sz="1200" dirty="0">
                <a:solidFill>
                  <a:srgbClr val="64748B"/>
                </a:solidFill>
                <a:latin typeface="Calibri" pitchFamily="34" charset="0"/>
                <a:ea typeface="Calibri" pitchFamily="34" charset="-122"/>
                <a:cs typeface="Calibri" pitchFamily="34" charset="-120"/>
              </a:rPr>
              <a:t>Existing use cases tuned</a:t>
            </a:r>
            <a:endParaRPr lang="en-US" sz="3000" dirty="0"/>
          </a:p>
        </p:txBody>
      </p:sp>
      <p:sp>
        <p:nvSpPr>
          <p:cNvPr id="30" name="Shape 23"/>
          <p:cNvSpPr/>
          <p:nvPr/>
        </p:nvSpPr>
        <p:spPr>
          <a:xfrm>
            <a:off x="10012680" y="1755648"/>
            <a:ext cx="1719072" cy="1600200"/>
          </a:xfrm>
          <a:prstGeom prst="roundRect">
            <a:avLst>
              <a:gd name="adj" fmla="val 4000"/>
            </a:avLst>
          </a:prstGeom>
          <a:solidFill>
            <a:srgbClr val="F4F7FC"/>
          </a:solidFill>
          <a:ln w="9525">
            <a:solidFill>
              <a:srgbClr val="DCE3EE"/>
            </a:solidFill>
            <a:prstDash val="solid"/>
          </a:ln>
        </p:spPr>
      </p:sp>
      <p:pic>
        <p:nvPicPr>
          <p:cNvPr id="31" name="Image 5" descr="preencoded.png">    </p:cNvPr>
          <p:cNvPicPr>
            <a:picLocks noChangeAspect="1"/>
          </p:cNvPicPr>
          <p:nvPr/>
        </p:nvPicPr>
        <p:blipFill>
          <a:blip r:embed="rId6"/>
          <a:stretch>
            <a:fillRect/>
          </a:stretch>
        </p:blipFill>
        <p:spPr>
          <a:xfrm>
            <a:off x="10195560" y="1920240"/>
            <a:ext cx="274320" cy="274320"/>
          </a:xfrm>
          <a:prstGeom prst="rect">
            <a:avLst/>
          </a:prstGeom>
        </p:spPr>
      </p:pic>
      <p:sp>
        <p:nvSpPr>
          <p:cNvPr id="32" name="Text 24"/>
          <p:cNvSpPr txBox="1"/>
          <p:nvPr/>
        </p:nvSpPr>
        <p:spPr>
          <a:xfrm>
            <a:off x="10195560" y="2267712"/>
            <a:ext cx="1399032" cy="1005840"/>
          </a:xfrm>
          <a:prstGeom prst="rect">
            <a:avLst/>
          </a:prstGeom>
          <a:noFill/>
          <a:ln/>
        </p:spPr>
        <p:txBody>
          <a:bodyPr wrap="square" lIns="0" tIns="0" rIns="0" bIns="0" rtlCol="0" anchor="t"/>
          <a:lstStyle/>
          <a:p>
            <a:pPr indent="0" marL="0">
              <a:buNone/>
            </a:pPr>
            <a:r>
              <a:rPr lang="en-US" sz="3000" b="1" dirty="0">
                <a:solidFill>
                  <a:srgbClr val="B97A1F"/>
                </a:solidFill>
                <a:latin typeface="Calibri" pitchFamily="34" charset="0"/>
                <a:ea typeface="Calibri" pitchFamily="34" charset="-122"/>
                <a:cs typeface="Calibri" pitchFamily="34" charset="-120"/>
              </a:rPr>
              <a:t>XX</a:t>
            </a:r>
            <a:endParaRPr lang="en-US" sz="3000" dirty="0"/>
          </a:p>
          <a:p>
            <a:pPr indent="0" marL="0">
              <a:buNone/>
            </a:pPr>
            <a:r>
              <a:rPr lang="en-US" sz="1200" dirty="0">
                <a:solidFill>
                  <a:srgbClr val="64748B"/>
                </a:solidFill>
                <a:latin typeface="Calibri" pitchFamily="34" charset="0"/>
                <a:ea typeface="Calibri" pitchFamily="34" charset="-122"/>
                <a:cs typeface="Calibri" pitchFamily="34" charset="-120"/>
              </a:rPr>
              <a:t>MITRE ATT&amp;CK techniques covered</a:t>
            </a:r>
            <a:endParaRPr lang="en-US" sz="3000" dirty="0"/>
          </a:p>
        </p:txBody>
      </p:sp>
      <p:sp>
        <p:nvSpPr>
          <p:cNvPr id="33" name="Shape 25"/>
          <p:cNvSpPr/>
          <p:nvPr/>
        </p:nvSpPr>
        <p:spPr>
          <a:xfrm>
            <a:off x="6245352" y="3520440"/>
            <a:ext cx="5486400" cy="2423160"/>
          </a:xfrm>
          <a:prstGeom prst="roundRect">
            <a:avLst>
              <a:gd name="adj" fmla="val 2642"/>
            </a:avLst>
          </a:prstGeom>
          <a:solidFill>
            <a:srgbClr val="F4F7FC"/>
          </a:solidFill>
          <a:ln w="9525">
            <a:solidFill>
              <a:srgbClr val="DCE3EE"/>
            </a:solidFill>
            <a:prstDash val="solid"/>
          </a:ln>
        </p:spPr>
      </p:sp>
      <p:sp>
        <p:nvSpPr>
          <p:cNvPr id="34" name="Text 26"/>
          <p:cNvSpPr txBox="1"/>
          <p:nvPr/>
        </p:nvSpPr>
        <p:spPr>
          <a:xfrm>
            <a:off x="6446520" y="3639312"/>
            <a:ext cx="5029200" cy="329184"/>
          </a:xfrm>
          <a:prstGeom prst="rect">
            <a:avLst/>
          </a:prstGeom>
          <a:noFill/>
          <a:ln/>
        </p:spPr>
        <p:txBody>
          <a:bodyPr wrap="square" lIns="0" tIns="0" rIns="0" bIns="0"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Use case lifecycle</a:t>
            </a:r>
            <a:endParaRPr lang="en-US" sz="1500" dirty="0"/>
          </a:p>
        </p:txBody>
      </p:sp>
      <p:sp>
        <p:nvSpPr>
          <p:cNvPr id="35" name="Shape 27"/>
          <p:cNvSpPr/>
          <p:nvPr/>
        </p:nvSpPr>
        <p:spPr>
          <a:xfrm>
            <a:off x="6702552" y="4160520"/>
            <a:ext cx="512064" cy="512064"/>
          </a:xfrm>
          <a:prstGeom prst="ellipse">
            <a:avLst/>
          </a:prstGeom>
          <a:solidFill>
            <a:srgbClr val="1B2A4A"/>
          </a:solidFill>
          <a:ln/>
        </p:spPr>
      </p:sp>
      <p:pic>
        <p:nvPicPr>
          <p:cNvPr id="36" name="Image 6" descr="preencoded.png">    </p:cNvPr>
          <p:cNvPicPr>
            <a:picLocks noChangeAspect="1"/>
          </p:cNvPicPr>
          <p:nvPr/>
        </p:nvPicPr>
        <p:blipFill>
          <a:blip r:embed="rId7"/>
          <a:stretch>
            <a:fillRect/>
          </a:stretch>
        </p:blipFill>
        <p:spPr>
          <a:xfrm>
            <a:off x="6830568" y="4288536"/>
            <a:ext cx="256032" cy="256032"/>
          </a:xfrm>
          <a:prstGeom prst="rect">
            <a:avLst/>
          </a:prstGeom>
        </p:spPr>
      </p:pic>
      <p:sp>
        <p:nvSpPr>
          <p:cNvPr id="37" name="Shape 28"/>
          <p:cNvSpPr/>
          <p:nvPr/>
        </p:nvSpPr>
        <p:spPr>
          <a:xfrm>
            <a:off x="7251192" y="4416552"/>
            <a:ext cx="457200" cy="0"/>
          </a:xfrm>
          <a:prstGeom prst="line">
            <a:avLst/>
          </a:prstGeom>
          <a:noFill/>
          <a:ln w="19050">
            <a:solidFill>
              <a:srgbClr val="B8C4D9"/>
            </a:solidFill>
            <a:prstDash val="solid"/>
            <a:tailEnd type="triangle"/>
          </a:ln>
        </p:spPr>
      </p:sp>
      <p:sp>
        <p:nvSpPr>
          <p:cNvPr id="38" name="Text 29"/>
          <p:cNvSpPr txBox="1"/>
          <p:nvPr/>
        </p:nvSpPr>
        <p:spPr>
          <a:xfrm>
            <a:off x="6446520" y="4773168"/>
            <a:ext cx="1024128" cy="1005840"/>
          </a:xfrm>
          <a:prstGeom prst="rect">
            <a:avLst/>
          </a:prstGeom>
          <a:noFill/>
          <a:ln/>
        </p:spPr>
        <p:txBody>
          <a:bodyPr wrap="square" lIns="0" tIns="0" rIns="0" bIns="0" rtlCol="0" anchor="t"/>
          <a:lstStyle/>
          <a:p>
            <a:pPr algn="ctr" indent="0" marL="0">
              <a:buNone/>
            </a:pPr>
            <a:r>
              <a:rPr lang="en-US" sz="1250" b="1" dirty="0">
                <a:solidFill>
                  <a:srgbClr val="1B2A4A"/>
                </a:solidFill>
                <a:latin typeface="Calibri" pitchFamily="34" charset="0"/>
                <a:ea typeface="Calibri" pitchFamily="34" charset="-122"/>
                <a:cs typeface="Calibri" pitchFamily="34" charset="-120"/>
              </a:rPr>
              <a:t>Threat input</a:t>
            </a:r>
            <a:endParaRPr lang="en-US" sz="1250" dirty="0"/>
          </a:p>
          <a:p>
            <a:pPr algn="ctr" indent="0" marL="0">
              <a:buNone/>
            </a:pPr>
            <a:r>
              <a:rPr lang="en-US" sz="1050" dirty="0">
                <a:solidFill>
                  <a:srgbClr val="64748B"/>
                </a:solidFill>
                <a:latin typeface="Calibri" pitchFamily="34" charset="0"/>
                <a:ea typeface="Calibri" pitchFamily="34" charset="-122"/>
                <a:cs typeface="Calibri" pitchFamily="34" charset="-120"/>
              </a:rPr>
              <a:t>CTI, incidents, hunts</a:t>
            </a:r>
            <a:endParaRPr lang="en-US" sz="1250" dirty="0"/>
          </a:p>
        </p:txBody>
      </p:sp>
      <p:sp>
        <p:nvSpPr>
          <p:cNvPr id="39" name="Shape 30"/>
          <p:cNvSpPr/>
          <p:nvPr/>
        </p:nvSpPr>
        <p:spPr>
          <a:xfrm>
            <a:off x="7735824" y="4160520"/>
            <a:ext cx="512064" cy="512064"/>
          </a:xfrm>
          <a:prstGeom prst="ellipse">
            <a:avLst/>
          </a:prstGeom>
          <a:solidFill>
            <a:srgbClr val="2A8C96"/>
          </a:solidFill>
          <a:ln/>
        </p:spPr>
      </p:sp>
      <p:pic>
        <p:nvPicPr>
          <p:cNvPr id="40" name="Image 7" descr="preencoded.png">    </p:cNvPr>
          <p:cNvPicPr>
            <a:picLocks noChangeAspect="1"/>
          </p:cNvPicPr>
          <p:nvPr/>
        </p:nvPicPr>
        <p:blipFill>
          <a:blip r:embed="rId8"/>
          <a:stretch>
            <a:fillRect/>
          </a:stretch>
        </p:blipFill>
        <p:spPr>
          <a:xfrm>
            <a:off x="7863840" y="4288536"/>
            <a:ext cx="256032" cy="256032"/>
          </a:xfrm>
          <a:prstGeom prst="rect">
            <a:avLst/>
          </a:prstGeom>
        </p:spPr>
      </p:pic>
      <p:sp>
        <p:nvSpPr>
          <p:cNvPr id="41" name="Shape 31"/>
          <p:cNvSpPr/>
          <p:nvPr/>
        </p:nvSpPr>
        <p:spPr>
          <a:xfrm>
            <a:off x="8284464" y="4416552"/>
            <a:ext cx="457200" cy="0"/>
          </a:xfrm>
          <a:prstGeom prst="line">
            <a:avLst/>
          </a:prstGeom>
          <a:noFill/>
          <a:ln w="19050">
            <a:solidFill>
              <a:srgbClr val="B8C4D9"/>
            </a:solidFill>
            <a:prstDash val="solid"/>
            <a:tailEnd type="triangle"/>
          </a:ln>
        </p:spPr>
      </p:sp>
      <p:sp>
        <p:nvSpPr>
          <p:cNvPr id="42" name="Text 32"/>
          <p:cNvSpPr txBox="1"/>
          <p:nvPr/>
        </p:nvSpPr>
        <p:spPr>
          <a:xfrm>
            <a:off x="7479792" y="4773168"/>
            <a:ext cx="1024128" cy="1005840"/>
          </a:xfrm>
          <a:prstGeom prst="rect">
            <a:avLst/>
          </a:prstGeom>
          <a:noFill/>
          <a:ln/>
        </p:spPr>
        <p:txBody>
          <a:bodyPr wrap="square" lIns="0" tIns="0" rIns="0" bIns="0" rtlCol="0" anchor="t"/>
          <a:lstStyle/>
          <a:p>
            <a:pPr algn="ctr" indent="0" marL="0">
              <a:buNone/>
            </a:pPr>
            <a:r>
              <a:rPr lang="en-US" sz="1250" b="1" dirty="0">
                <a:solidFill>
                  <a:srgbClr val="1B2A4A"/>
                </a:solidFill>
                <a:latin typeface="Calibri" pitchFamily="34" charset="0"/>
                <a:ea typeface="Calibri" pitchFamily="34" charset="-122"/>
                <a:cs typeface="Calibri" pitchFamily="34" charset="-120"/>
              </a:rPr>
              <a:t>Design</a:t>
            </a:r>
            <a:endParaRPr lang="en-US" sz="1250" dirty="0"/>
          </a:p>
          <a:p>
            <a:pPr algn="ctr" indent="0" marL="0">
              <a:buNone/>
            </a:pPr>
            <a:r>
              <a:rPr lang="en-US" sz="1050" dirty="0">
                <a:solidFill>
                  <a:srgbClr val="64748B"/>
                </a:solidFill>
                <a:latin typeface="Calibri" pitchFamily="34" charset="0"/>
                <a:ea typeface="Calibri" pitchFamily="34" charset="-122"/>
                <a:cs typeface="Calibri" pitchFamily="34" charset="-120"/>
              </a:rPr>
              <a:t>Logic and data sources</a:t>
            </a:r>
            <a:endParaRPr lang="en-US" sz="1250" dirty="0"/>
          </a:p>
        </p:txBody>
      </p:sp>
      <p:sp>
        <p:nvSpPr>
          <p:cNvPr id="43" name="Shape 33"/>
          <p:cNvSpPr/>
          <p:nvPr/>
        </p:nvSpPr>
        <p:spPr>
          <a:xfrm>
            <a:off x="8769096" y="4160520"/>
            <a:ext cx="512064" cy="512064"/>
          </a:xfrm>
          <a:prstGeom prst="ellipse">
            <a:avLst/>
          </a:prstGeom>
          <a:solidFill>
            <a:srgbClr val="1B2A4A"/>
          </a:solidFill>
          <a:ln/>
        </p:spPr>
      </p:sp>
      <p:pic>
        <p:nvPicPr>
          <p:cNvPr id="44" name="Image 8" descr="preencoded.png">    </p:cNvPr>
          <p:cNvPicPr>
            <a:picLocks noChangeAspect="1"/>
          </p:cNvPicPr>
          <p:nvPr/>
        </p:nvPicPr>
        <p:blipFill>
          <a:blip r:embed="rId9"/>
          <a:stretch>
            <a:fillRect/>
          </a:stretch>
        </p:blipFill>
        <p:spPr>
          <a:xfrm>
            <a:off x="8897112" y="4288536"/>
            <a:ext cx="256032" cy="256032"/>
          </a:xfrm>
          <a:prstGeom prst="rect">
            <a:avLst/>
          </a:prstGeom>
        </p:spPr>
      </p:pic>
      <p:sp>
        <p:nvSpPr>
          <p:cNvPr id="45" name="Shape 34"/>
          <p:cNvSpPr/>
          <p:nvPr/>
        </p:nvSpPr>
        <p:spPr>
          <a:xfrm>
            <a:off x="9317736" y="4416552"/>
            <a:ext cx="457200" cy="0"/>
          </a:xfrm>
          <a:prstGeom prst="line">
            <a:avLst/>
          </a:prstGeom>
          <a:noFill/>
          <a:ln w="19050">
            <a:solidFill>
              <a:srgbClr val="B8C4D9"/>
            </a:solidFill>
            <a:prstDash val="solid"/>
            <a:tailEnd type="triangle"/>
          </a:ln>
        </p:spPr>
      </p:sp>
      <p:sp>
        <p:nvSpPr>
          <p:cNvPr id="46" name="Text 35"/>
          <p:cNvSpPr txBox="1"/>
          <p:nvPr/>
        </p:nvSpPr>
        <p:spPr>
          <a:xfrm>
            <a:off x="8513064" y="4773168"/>
            <a:ext cx="1024128" cy="1005840"/>
          </a:xfrm>
          <a:prstGeom prst="rect">
            <a:avLst/>
          </a:prstGeom>
          <a:noFill/>
          <a:ln/>
        </p:spPr>
        <p:txBody>
          <a:bodyPr wrap="square" lIns="0" tIns="0" rIns="0" bIns="0" rtlCol="0" anchor="t"/>
          <a:lstStyle/>
          <a:p>
            <a:pPr algn="ctr" indent="0" marL="0">
              <a:buNone/>
            </a:pPr>
            <a:r>
              <a:rPr lang="en-US" sz="1250" b="1" dirty="0">
                <a:solidFill>
                  <a:srgbClr val="1B2A4A"/>
                </a:solidFill>
                <a:latin typeface="Calibri" pitchFamily="34" charset="0"/>
                <a:ea typeface="Calibri" pitchFamily="34" charset="-122"/>
                <a:cs typeface="Calibri" pitchFamily="34" charset="-120"/>
              </a:rPr>
              <a:t>Test</a:t>
            </a:r>
            <a:endParaRPr lang="en-US" sz="1250" dirty="0"/>
          </a:p>
          <a:p>
            <a:pPr algn="ctr" indent="0" marL="0">
              <a:buNone/>
            </a:pPr>
            <a:r>
              <a:rPr lang="en-US" sz="1050" dirty="0">
                <a:solidFill>
                  <a:srgbClr val="64748B"/>
                </a:solidFill>
                <a:latin typeface="Calibri" pitchFamily="34" charset="0"/>
                <a:ea typeface="Calibri" pitchFamily="34" charset="-122"/>
                <a:cs typeface="Calibri" pitchFamily="34" charset="-120"/>
              </a:rPr>
              <a:t>Adversary simulation</a:t>
            </a:r>
            <a:endParaRPr lang="en-US" sz="1250" dirty="0"/>
          </a:p>
        </p:txBody>
      </p:sp>
      <p:sp>
        <p:nvSpPr>
          <p:cNvPr id="47" name="Shape 36"/>
          <p:cNvSpPr/>
          <p:nvPr/>
        </p:nvSpPr>
        <p:spPr>
          <a:xfrm>
            <a:off x="9802368" y="4160520"/>
            <a:ext cx="512064" cy="512064"/>
          </a:xfrm>
          <a:prstGeom prst="ellipse">
            <a:avLst/>
          </a:prstGeom>
          <a:solidFill>
            <a:srgbClr val="2A8C96"/>
          </a:solidFill>
          <a:ln/>
        </p:spPr>
      </p:sp>
      <p:pic>
        <p:nvPicPr>
          <p:cNvPr id="48" name="Image 9" descr="preencoded.png">    </p:cNvPr>
          <p:cNvPicPr>
            <a:picLocks noChangeAspect="1"/>
          </p:cNvPicPr>
          <p:nvPr/>
        </p:nvPicPr>
        <p:blipFill>
          <a:blip r:embed="rId10"/>
          <a:stretch>
            <a:fillRect/>
          </a:stretch>
        </p:blipFill>
        <p:spPr>
          <a:xfrm>
            <a:off x="9930384" y="4288536"/>
            <a:ext cx="256032" cy="256032"/>
          </a:xfrm>
          <a:prstGeom prst="rect">
            <a:avLst/>
          </a:prstGeom>
        </p:spPr>
      </p:pic>
      <p:sp>
        <p:nvSpPr>
          <p:cNvPr id="49" name="Shape 37"/>
          <p:cNvSpPr/>
          <p:nvPr/>
        </p:nvSpPr>
        <p:spPr>
          <a:xfrm>
            <a:off x="10351008" y="4416552"/>
            <a:ext cx="457200" cy="0"/>
          </a:xfrm>
          <a:prstGeom prst="line">
            <a:avLst/>
          </a:prstGeom>
          <a:noFill/>
          <a:ln w="19050">
            <a:solidFill>
              <a:srgbClr val="B8C4D9"/>
            </a:solidFill>
            <a:prstDash val="solid"/>
            <a:tailEnd type="triangle"/>
          </a:ln>
        </p:spPr>
      </p:sp>
      <p:sp>
        <p:nvSpPr>
          <p:cNvPr id="50" name="Text 38"/>
          <p:cNvSpPr txBox="1"/>
          <p:nvPr/>
        </p:nvSpPr>
        <p:spPr>
          <a:xfrm>
            <a:off x="9546336" y="4773168"/>
            <a:ext cx="1024128" cy="1005840"/>
          </a:xfrm>
          <a:prstGeom prst="rect">
            <a:avLst/>
          </a:prstGeom>
          <a:noFill/>
          <a:ln/>
        </p:spPr>
        <p:txBody>
          <a:bodyPr wrap="square" lIns="0" tIns="0" rIns="0" bIns="0" rtlCol="0" anchor="t"/>
          <a:lstStyle/>
          <a:p>
            <a:pPr algn="ctr" indent="0" marL="0">
              <a:buNone/>
            </a:pPr>
            <a:r>
              <a:rPr lang="en-US" sz="1250" b="1" dirty="0">
                <a:solidFill>
                  <a:srgbClr val="1B2A4A"/>
                </a:solidFill>
                <a:latin typeface="Calibri" pitchFamily="34" charset="0"/>
                <a:ea typeface="Calibri" pitchFamily="34" charset="-122"/>
                <a:cs typeface="Calibri" pitchFamily="34" charset="-120"/>
              </a:rPr>
              <a:t>Deploy</a:t>
            </a:r>
            <a:endParaRPr lang="en-US" sz="1250" dirty="0"/>
          </a:p>
          <a:p>
            <a:pPr algn="ctr" indent="0" marL="0">
              <a:buNone/>
            </a:pPr>
            <a:r>
              <a:rPr lang="en-US" sz="1050" dirty="0">
                <a:solidFill>
                  <a:srgbClr val="64748B"/>
                </a:solidFill>
                <a:latin typeface="Calibri" pitchFamily="34" charset="0"/>
                <a:ea typeface="Calibri" pitchFamily="34" charset="-122"/>
                <a:cs typeface="Calibri" pitchFamily="34" charset="-120"/>
              </a:rPr>
              <a:t>Live in SIEM / EDR</a:t>
            </a:r>
            <a:endParaRPr lang="en-US" sz="1250" dirty="0"/>
          </a:p>
        </p:txBody>
      </p:sp>
      <p:sp>
        <p:nvSpPr>
          <p:cNvPr id="51" name="Shape 39"/>
          <p:cNvSpPr/>
          <p:nvPr/>
        </p:nvSpPr>
        <p:spPr>
          <a:xfrm>
            <a:off x="10835640" y="4160520"/>
            <a:ext cx="512064" cy="512064"/>
          </a:xfrm>
          <a:prstGeom prst="ellipse">
            <a:avLst/>
          </a:prstGeom>
          <a:solidFill>
            <a:srgbClr val="1B2A4A"/>
          </a:solidFill>
          <a:ln/>
        </p:spPr>
      </p:sp>
      <p:pic>
        <p:nvPicPr>
          <p:cNvPr id="52" name="Image 10" descr="preencoded.png">    </p:cNvPr>
          <p:cNvPicPr>
            <a:picLocks noChangeAspect="1"/>
          </p:cNvPicPr>
          <p:nvPr/>
        </p:nvPicPr>
        <p:blipFill>
          <a:blip r:embed="rId11"/>
          <a:stretch>
            <a:fillRect/>
          </a:stretch>
        </p:blipFill>
        <p:spPr>
          <a:xfrm>
            <a:off x="10963656" y="4288536"/>
            <a:ext cx="256032" cy="256032"/>
          </a:xfrm>
          <a:prstGeom prst="rect">
            <a:avLst/>
          </a:prstGeom>
        </p:spPr>
      </p:pic>
      <p:sp>
        <p:nvSpPr>
          <p:cNvPr id="53" name="Text 40"/>
          <p:cNvSpPr txBox="1"/>
          <p:nvPr/>
        </p:nvSpPr>
        <p:spPr>
          <a:xfrm>
            <a:off x="10579608" y="4773168"/>
            <a:ext cx="1024128" cy="1005840"/>
          </a:xfrm>
          <a:prstGeom prst="rect">
            <a:avLst/>
          </a:prstGeom>
          <a:noFill/>
          <a:ln/>
        </p:spPr>
        <p:txBody>
          <a:bodyPr wrap="square" lIns="0" tIns="0" rIns="0" bIns="0" rtlCol="0" anchor="t"/>
          <a:lstStyle/>
          <a:p>
            <a:pPr algn="ctr" indent="0" marL="0">
              <a:buNone/>
            </a:pPr>
            <a:r>
              <a:rPr lang="en-US" sz="1250" b="1" dirty="0">
                <a:solidFill>
                  <a:srgbClr val="1B2A4A"/>
                </a:solidFill>
                <a:latin typeface="Calibri" pitchFamily="34" charset="0"/>
                <a:ea typeface="Calibri" pitchFamily="34" charset="-122"/>
                <a:cs typeface="Calibri" pitchFamily="34" charset="-120"/>
              </a:rPr>
              <a:t>Tune</a:t>
            </a:r>
            <a:endParaRPr lang="en-US" sz="1250" dirty="0"/>
          </a:p>
          <a:p>
            <a:pPr algn="ctr" indent="0" marL="0">
              <a:buNone/>
            </a:pPr>
            <a:r>
              <a:rPr lang="en-US" sz="1050" dirty="0">
                <a:solidFill>
                  <a:srgbClr val="64748B"/>
                </a:solidFill>
                <a:latin typeface="Calibri" pitchFamily="34" charset="0"/>
                <a:ea typeface="Calibri" pitchFamily="34" charset="-122"/>
                <a:cs typeface="Calibri" pitchFamily="34" charset="-120"/>
              </a:rPr>
              <a:t>Noise reduction</a:t>
            </a:r>
            <a:endParaRPr lang="en-US" sz="125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57200" y="310896"/>
            <a:ext cx="530352" cy="530352"/>
          </a:xfrm>
          <a:prstGeom prst="ellipse">
            <a:avLst/>
          </a:prstGeom>
          <a:solidFill>
            <a:srgbClr val="1B2A4A"/>
          </a:solidFill>
          <a:ln/>
        </p:spPr>
      </p:sp>
      <p:pic>
        <p:nvPicPr>
          <p:cNvPr id="3" name="Image 0" descr="preencoded.png">    </p:cNvPr>
          <p:cNvPicPr>
            <a:picLocks noChangeAspect="1"/>
          </p:cNvPicPr>
          <p:nvPr/>
        </p:nvPicPr>
        <p:blipFill>
          <a:blip r:embed="rId1"/>
          <a:stretch>
            <a:fillRect/>
          </a:stretch>
        </p:blipFill>
        <p:spPr>
          <a:xfrm>
            <a:off x="589788" y="443484"/>
            <a:ext cx="265176" cy="265176"/>
          </a:xfrm>
          <a:prstGeom prst="rect">
            <a:avLst/>
          </a:prstGeom>
        </p:spPr>
      </p:pic>
      <p:sp>
        <p:nvSpPr>
          <p:cNvPr id="4" name="Text 1"/>
          <p:cNvSpPr/>
          <p:nvPr>
            <p:ph idx="101" type="title" hasCustomPrompt="1"/>
          </p:nvPr>
        </p:nvSpPr>
        <p:spPr>
          <a:xfrm>
            <a:off x="1143000" y="274320"/>
            <a:ext cx="7223760" cy="603504"/>
          </a:xfrm>
          <a:prstGeom prst="rect">
            <a:avLst/>
          </a:prstGeom>
          <a:noFill/>
          <a:ln/>
        </p:spPr>
        <p:txBody>
          <a:bodyPr wrap="square" lIns="0" tIns="0" rIns="0" bIns="0" rtlCol="0" anchor="ctr"/>
          <a:lstStyle/>
          <a:p>
            <a:pPr algn="l" indent="0" marL="0">
              <a:buNone/>
            </a:pPr>
            <a:r>
              <a:rPr lang="en-US" sz="3000" b="1" dirty="0">
                <a:solidFill>
                  <a:srgbClr val="1B2A4A"/>
                </a:solidFill>
                <a:latin typeface="Calibri" pitchFamily="34" charset="0"/>
                <a:ea typeface="Calibri" pitchFamily="34" charset="-122"/>
                <a:cs typeface="Calibri" pitchFamily="34" charset="-120"/>
              </a:rPr>
              <a:t>SAMA Reports</a:t>
            </a:r>
            <a:endParaRPr lang="en-US" sz="3000" dirty="0"/>
          </a:p>
        </p:txBody>
      </p:sp>
      <p:sp>
        <p:nvSpPr>
          <p:cNvPr id="5" name="Text 2"/>
          <p:cNvSpPr txBox="1"/>
          <p:nvPr/>
        </p:nvSpPr>
        <p:spPr>
          <a:xfrm>
            <a:off x="8458200" y="384048"/>
            <a:ext cx="3273552" cy="384048"/>
          </a:xfrm>
          <a:prstGeom prst="rect">
            <a:avLst/>
          </a:prstGeom>
          <a:noFill/>
          <a:ln/>
        </p:spPr>
        <p:txBody>
          <a:bodyPr wrap="square" lIns="0" tIns="0" rIns="0" bIns="0" rtlCol="0" anchor="ctr"/>
          <a:lstStyle/>
          <a:p>
            <a:pPr algn="r" indent="0" marL="0">
              <a:buNone/>
            </a:pPr>
            <a:r>
              <a:rPr lang="en-US" sz="1200" dirty="0">
                <a:solidFill>
                  <a:srgbClr val="64748B"/>
                </a:solidFill>
                <a:latin typeface="Calibri" pitchFamily="34" charset="0"/>
                <a:ea typeface="Calibri" pitchFamily="34" charset="-122"/>
                <a:cs typeface="Calibri" pitchFamily="34" charset="-120"/>
              </a:rPr>
              <a:t>SOC  |  Regulatory Reporting</a:t>
            </a:r>
            <a:endParaRPr lang="en-US" sz="1200" dirty="0"/>
          </a:p>
        </p:txBody>
      </p:sp>
      <p:sp>
        <p:nvSpPr>
          <p:cNvPr id="6" name="Text 3"/>
          <p:cNvSpPr txBox="1"/>
          <p:nvPr/>
        </p:nvSpPr>
        <p:spPr>
          <a:xfrm>
            <a:off x="457200" y="932688"/>
            <a:ext cx="11274552" cy="310896"/>
          </a:xfrm>
          <a:prstGeom prst="rect">
            <a:avLst/>
          </a:prstGeom>
          <a:noFill/>
          <a:ln/>
        </p:spPr>
        <p:txBody>
          <a:bodyPr wrap="square" lIns="0" tIns="0" rIns="0" bIns="0" rtlCol="0" anchor="ctr"/>
          <a:lstStyle/>
          <a:p>
            <a:pPr indent="0" marL="0">
              <a:buNone/>
            </a:pPr>
            <a:r>
              <a:rPr lang="en-US" sz="1500" dirty="0">
                <a:solidFill>
                  <a:srgbClr val="64748B"/>
                </a:solidFill>
                <a:latin typeface="Calibri" pitchFamily="34" charset="0"/>
                <a:ea typeface="Calibri" pitchFamily="34" charset="-122"/>
                <a:cs typeface="Calibri" pitchFamily="34" charset="-120"/>
              </a:rPr>
              <a:t>Regulatory reporting submitted by the SOC during the period</a:t>
            </a:r>
            <a:endParaRPr lang="en-US" sz="1500" dirty="0"/>
          </a:p>
        </p:txBody>
      </p:sp>
      <p:sp>
        <p:nvSpPr>
          <p:cNvPr id="7" name="Shape 4"/>
          <p:cNvSpPr/>
          <p:nvPr/>
        </p:nvSpPr>
        <p:spPr>
          <a:xfrm>
            <a:off x="457200" y="1463040"/>
            <a:ext cx="3383280" cy="1188720"/>
          </a:xfrm>
          <a:prstGeom prst="roundRect">
            <a:avLst>
              <a:gd name="adj" fmla="val 5385"/>
            </a:avLst>
          </a:prstGeom>
          <a:solidFill>
            <a:srgbClr val="F4F7FC"/>
          </a:solidFill>
          <a:ln w="9525">
            <a:solidFill>
              <a:srgbClr val="DCE3EE"/>
            </a:solidFill>
            <a:prstDash val="solid"/>
          </a:ln>
        </p:spPr>
      </p:sp>
      <p:sp>
        <p:nvSpPr>
          <p:cNvPr id="8" name="Shape 5"/>
          <p:cNvSpPr/>
          <p:nvPr/>
        </p:nvSpPr>
        <p:spPr>
          <a:xfrm>
            <a:off x="640080" y="1828800"/>
            <a:ext cx="457200" cy="457200"/>
          </a:xfrm>
          <a:prstGeom prst="ellipse">
            <a:avLst/>
          </a:prstGeom>
          <a:solidFill>
            <a:srgbClr val="FFFFFF"/>
          </a:solidFill>
          <a:ln/>
        </p:spPr>
      </p:sp>
      <p:pic>
        <p:nvPicPr>
          <p:cNvPr id="9" name="Image 1" descr="preencoded.png">    </p:cNvPr>
          <p:cNvPicPr>
            <a:picLocks noChangeAspect="1"/>
          </p:cNvPicPr>
          <p:nvPr/>
        </p:nvPicPr>
        <p:blipFill>
          <a:blip r:embed="rId2"/>
          <a:stretch>
            <a:fillRect/>
          </a:stretch>
        </p:blipFill>
        <p:spPr>
          <a:xfrm>
            <a:off x="749808" y="1938528"/>
            <a:ext cx="237744" cy="237744"/>
          </a:xfrm>
          <a:prstGeom prst="rect">
            <a:avLst/>
          </a:prstGeom>
        </p:spPr>
      </p:pic>
      <p:sp>
        <p:nvSpPr>
          <p:cNvPr id="10" name="Text 6"/>
          <p:cNvSpPr txBox="1"/>
          <p:nvPr/>
        </p:nvSpPr>
        <p:spPr>
          <a:xfrm>
            <a:off x="1243584" y="1463040"/>
            <a:ext cx="2487168" cy="1188720"/>
          </a:xfrm>
          <a:prstGeom prst="rect">
            <a:avLst/>
          </a:prstGeom>
          <a:noFill/>
          <a:ln/>
        </p:spPr>
        <p:txBody>
          <a:bodyPr wrap="square" lIns="0" tIns="0" rIns="0" bIns="0" rtlCol="0" anchor="ctr"/>
          <a:lstStyle/>
          <a:p>
            <a:pPr algn="l" indent="0" marL="0">
              <a:buNone/>
            </a:pPr>
            <a:r>
              <a:rPr lang="en-US" sz="2800" b="1" dirty="0">
                <a:solidFill>
                  <a:srgbClr val="B97A1F"/>
                </a:solidFill>
                <a:latin typeface="Calibri" pitchFamily="34" charset="0"/>
                <a:ea typeface="Calibri" pitchFamily="34" charset="-122"/>
                <a:cs typeface="Calibri" pitchFamily="34" charset="-120"/>
              </a:rPr>
              <a:t>XX</a:t>
            </a:r>
            <a:endParaRPr lang="en-US" sz="2800" dirty="0"/>
          </a:p>
          <a:p>
            <a:pPr algn="l" indent="0" marL="0">
              <a:buNone/>
            </a:pPr>
            <a:r>
              <a:rPr lang="en-US" sz="1200" dirty="0">
                <a:solidFill>
                  <a:srgbClr val="64748B"/>
                </a:solidFill>
                <a:latin typeface="Calibri" pitchFamily="34" charset="0"/>
                <a:ea typeface="Calibri" pitchFamily="34" charset="-122"/>
                <a:cs typeface="Calibri" pitchFamily="34" charset="-120"/>
              </a:rPr>
              <a:t>Reports submitted to SAMA</a:t>
            </a:r>
            <a:endParaRPr lang="en-US" sz="2800" dirty="0"/>
          </a:p>
        </p:txBody>
      </p:sp>
      <p:sp>
        <p:nvSpPr>
          <p:cNvPr id="11" name="Shape 7"/>
          <p:cNvSpPr/>
          <p:nvPr/>
        </p:nvSpPr>
        <p:spPr>
          <a:xfrm>
            <a:off x="457200" y="2825496"/>
            <a:ext cx="3383280" cy="1188720"/>
          </a:xfrm>
          <a:prstGeom prst="roundRect">
            <a:avLst>
              <a:gd name="adj" fmla="val 5385"/>
            </a:avLst>
          </a:prstGeom>
          <a:solidFill>
            <a:srgbClr val="F4F7FC"/>
          </a:solidFill>
          <a:ln w="9525">
            <a:solidFill>
              <a:srgbClr val="DCE3EE"/>
            </a:solidFill>
            <a:prstDash val="solid"/>
          </a:ln>
        </p:spPr>
      </p:sp>
      <p:sp>
        <p:nvSpPr>
          <p:cNvPr id="12" name="Shape 8"/>
          <p:cNvSpPr/>
          <p:nvPr/>
        </p:nvSpPr>
        <p:spPr>
          <a:xfrm>
            <a:off x="640080" y="3191256"/>
            <a:ext cx="457200" cy="457200"/>
          </a:xfrm>
          <a:prstGeom prst="ellipse">
            <a:avLst/>
          </a:prstGeom>
          <a:solidFill>
            <a:srgbClr val="FFFFFF"/>
          </a:solidFill>
          <a:ln/>
        </p:spPr>
      </p:sp>
      <p:pic>
        <p:nvPicPr>
          <p:cNvPr id="13" name="Image 2" descr="preencoded.png">    </p:cNvPr>
          <p:cNvPicPr>
            <a:picLocks noChangeAspect="1"/>
          </p:cNvPicPr>
          <p:nvPr/>
        </p:nvPicPr>
        <p:blipFill>
          <a:blip r:embed="rId3"/>
          <a:stretch>
            <a:fillRect/>
          </a:stretch>
        </p:blipFill>
        <p:spPr>
          <a:xfrm>
            <a:off x="749808" y="3300984"/>
            <a:ext cx="237744" cy="237744"/>
          </a:xfrm>
          <a:prstGeom prst="rect">
            <a:avLst/>
          </a:prstGeom>
        </p:spPr>
      </p:pic>
      <p:sp>
        <p:nvSpPr>
          <p:cNvPr id="14" name="Text 9"/>
          <p:cNvSpPr txBox="1"/>
          <p:nvPr/>
        </p:nvSpPr>
        <p:spPr>
          <a:xfrm>
            <a:off x="1243584" y="2825496"/>
            <a:ext cx="2487168" cy="1188720"/>
          </a:xfrm>
          <a:prstGeom prst="rect">
            <a:avLst/>
          </a:prstGeom>
          <a:noFill/>
          <a:ln/>
        </p:spPr>
        <p:txBody>
          <a:bodyPr wrap="square" lIns="0" tIns="0" rIns="0" bIns="0" rtlCol="0" anchor="ctr"/>
          <a:lstStyle/>
          <a:p>
            <a:pPr algn="l" indent="0" marL="0">
              <a:buNone/>
            </a:pPr>
            <a:r>
              <a:rPr lang="en-US" sz="2800" b="1" dirty="0">
                <a:solidFill>
                  <a:srgbClr val="B97A1F"/>
                </a:solidFill>
                <a:latin typeface="Calibri" pitchFamily="34" charset="0"/>
                <a:ea typeface="Calibri" pitchFamily="34" charset="-122"/>
                <a:cs typeface="Calibri" pitchFamily="34" charset="-120"/>
              </a:rPr>
              <a:t>XX%</a:t>
            </a:r>
            <a:endParaRPr lang="en-US" sz="2800" dirty="0"/>
          </a:p>
          <a:p>
            <a:pPr algn="l" indent="0" marL="0">
              <a:buNone/>
            </a:pPr>
            <a:r>
              <a:rPr lang="en-US" sz="1200" dirty="0">
                <a:solidFill>
                  <a:srgbClr val="64748B"/>
                </a:solidFill>
                <a:latin typeface="Calibri" pitchFamily="34" charset="0"/>
                <a:ea typeface="Calibri" pitchFamily="34" charset="-122"/>
                <a:cs typeface="Calibri" pitchFamily="34" charset="-120"/>
              </a:rPr>
              <a:t>Submitted on time</a:t>
            </a:r>
            <a:endParaRPr lang="en-US" sz="2800" dirty="0"/>
          </a:p>
        </p:txBody>
      </p:sp>
      <p:sp>
        <p:nvSpPr>
          <p:cNvPr id="15" name="Shape 10"/>
          <p:cNvSpPr/>
          <p:nvPr/>
        </p:nvSpPr>
        <p:spPr>
          <a:xfrm>
            <a:off x="457200" y="4187952"/>
            <a:ext cx="3383280" cy="1188720"/>
          </a:xfrm>
          <a:prstGeom prst="roundRect">
            <a:avLst>
              <a:gd name="adj" fmla="val 5385"/>
            </a:avLst>
          </a:prstGeom>
          <a:solidFill>
            <a:srgbClr val="F4F7FC"/>
          </a:solidFill>
          <a:ln w="9525">
            <a:solidFill>
              <a:srgbClr val="DCE3EE"/>
            </a:solidFill>
            <a:prstDash val="solid"/>
          </a:ln>
        </p:spPr>
      </p:sp>
      <p:sp>
        <p:nvSpPr>
          <p:cNvPr id="16" name="Shape 11"/>
          <p:cNvSpPr/>
          <p:nvPr/>
        </p:nvSpPr>
        <p:spPr>
          <a:xfrm>
            <a:off x="640080" y="4553712"/>
            <a:ext cx="457200" cy="457200"/>
          </a:xfrm>
          <a:prstGeom prst="ellipse">
            <a:avLst/>
          </a:prstGeom>
          <a:solidFill>
            <a:srgbClr val="FFFFFF"/>
          </a:solidFill>
          <a:ln/>
        </p:spPr>
      </p:sp>
      <p:pic>
        <p:nvPicPr>
          <p:cNvPr id="17" name="Image 3" descr="preencoded.png">    </p:cNvPr>
          <p:cNvPicPr>
            <a:picLocks noChangeAspect="1"/>
          </p:cNvPicPr>
          <p:nvPr/>
        </p:nvPicPr>
        <p:blipFill>
          <a:blip r:embed="rId4"/>
          <a:stretch>
            <a:fillRect/>
          </a:stretch>
        </p:blipFill>
        <p:spPr>
          <a:xfrm>
            <a:off x="749808" y="4663440"/>
            <a:ext cx="237744" cy="237744"/>
          </a:xfrm>
          <a:prstGeom prst="rect">
            <a:avLst/>
          </a:prstGeom>
        </p:spPr>
      </p:pic>
      <p:sp>
        <p:nvSpPr>
          <p:cNvPr id="18" name="Text 12"/>
          <p:cNvSpPr txBox="1"/>
          <p:nvPr/>
        </p:nvSpPr>
        <p:spPr>
          <a:xfrm>
            <a:off x="1243584" y="4187952"/>
            <a:ext cx="2487168" cy="1188720"/>
          </a:xfrm>
          <a:prstGeom prst="rect">
            <a:avLst/>
          </a:prstGeom>
          <a:noFill/>
          <a:ln/>
        </p:spPr>
        <p:txBody>
          <a:bodyPr wrap="square" lIns="0" tIns="0" rIns="0" bIns="0" rtlCol="0" anchor="ctr"/>
          <a:lstStyle/>
          <a:p>
            <a:pPr algn="l" indent="0" marL="0">
              <a:buNone/>
            </a:pPr>
            <a:r>
              <a:rPr lang="en-US" sz="2800" b="1" dirty="0">
                <a:solidFill>
                  <a:srgbClr val="B97A1F"/>
                </a:solidFill>
                <a:latin typeface="Calibri" pitchFamily="34" charset="0"/>
                <a:ea typeface="Calibri" pitchFamily="34" charset="-122"/>
                <a:cs typeface="Calibri" pitchFamily="34" charset="-120"/>
              </a:rPr>
              <a:t>XX</a:t>
            </a:r>
            <a:endParaRPr lang="en-US" sz="2800" dirty="0"/>
          </a:p>
          <a:p>
            <a:pPr algn="l" indent="0" marL="0">
              <a:buNone/>
            </a:pPr>
            <a:r>
              <a:rPr lang="en-US" sz="1200" dirty="0">
                <a:solidFill>
                  <a:srgbClr val="64748B"/>
                </a:solidFill>
                <a:latin typeface="Calibri" pitchFamily="34" charset="0"/>
                <a:ea typeface="Calibri" pitchFamily="34" charset="-122"/>
                <a:cs typeface="Calibri" pitchFamily="34" charset="-120"/>
              </a:rPr>
              <a:t>Open observations / follow-ups</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114800" y="1463040"/>
          <a:ext cx="7616952" cy="914400"/>
        </p:xfrm>
        <a:graphic>
          <a:graphicData uri="http://schemas.openxmlformats.org/drawingml/2006/table">
            <a:tbl>
              <a:tblPr/>
              <a:tblGrid>
                <a:gridCol w="3017520"/>
                <a:gridCol w="1463040"/>
                <a:gridCol w="1463040"/>
                <a:gridCol w="1673352"/>
              </a:tblGrid>
              <a:tr h="56692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Report</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B2A4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Period</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B2A4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Submitted</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B2A4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Status</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B2A4A"/>
                    </a:solidFill>
                  </a:tcPr>
                </a:tc>
              </a:tr>
              <a:tr h="566928">
                <a:tc>
                  <a:txBody>
                    <a:bodyPr/>
                    <a:lstStyle/>
                    <a:p>
                      <a:pPr indent="0" marL="0">
                        <a:buNone/>
                      </a:pPr>
                      <a:r>
                        <a:rPr lang="en-US" sz="1200" dirty="0">
                          <a:solidFill>
                            <a:srgbClr val="B97A1F"/>
                          </a:solidFill>
                          <a:latin typeface="Calibri" pitchFamily="34" charset="0"/>
                          <a:ea typeface="Calibri" pitchFamily="34" charset="-122"/>
                          <a:cs typeface="Calibri" pitchFamily="34" charset="-120"/>
                        </a:rPr>
                        <a:t>[Report name]</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B97A1F"/>
                          </a:solidFill>
                          <a:latin typeface="Calibri" pitchFamily="34" charset="0"/>
                          <a:ea typeface="Calibri" pitchFamily="34" charset="-122"/>
                          <a:cs typeface="Calibri" pitchFamily="34" charset="-120"/>
                        </a:rPr>
                        <a:t>[Period]</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B97A1F"/>
                          </a:solidFill>
                          <a:latin typeface="Calibri" pitchFamily="34" charset="0"/>
                          <a:ea typeface="Calibri" pitchFamily="34" charset="-122"/>
                          <a:cs typeface="Calibri" pitchFamily="34" charset="-120"/>
                        </a:rPr>
                        <a:t>[Date]</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B97A1F"/>
                          </a:solidFill>
                          <a:latin typeface="Calibri" pitchFamily="34" charset="0"/>
                          <a:ea typeface="Calibri" pitchFamily="34" charset="-122"/>
                          <a:cs typeface="Calibri" pitchFamily="34" charset="-120"/>
                        </a:rPr>
                        <a:t>[Submitted / Pending]</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566928">
                <a:tc>
                  <a:txBody>
                    <a:bodyPr/>
                    <a:lstStyle/>
                    <a:p>
                      <a:pPr indent="0" marL="0">
                        <a:buNone/>
                      </a:pPr>
                      <a:r>
                        <a:rPr lang="en-US" sz="1200" dirty="0">
                          <a:solidFill>
                            <a:srgbClr val="B97A1F"/>
                          </a:solidFill>
                          <a:latin typeface="Calibri" pitchFamily="34" charset="0"/>
                          <a:ea typeface="Calibri" pitchFamily="34" charset="-122"/>
                          <a:cs typeface="Calibri" pitchFamily="34" charset="-120"/>
                        </a:rPr>
                        <a:t>[Report name]</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4F7FC"/>
                    </a:solidFill>
                  </a:tcPr>
                </a:tc>
                <a:tc>
                  <a:txBody>
                    <a:bodyPr/>
                    <a:lstStyle/>
                    <a:p>
                      <a:pPr indent="0" marL="0">
                        <a:buNone/>
                      </a:pPr>
                      <a:r>
                        <a:rPr lang="en-US" sz="1200" dirty="0">
                          <a:solidFill>
                            <a:srgbClr val="B97A1F"/>
                          </a:solidFill>
                          <a:latin typeface="Calibri" pitchFamily="34" charset="0"/>
                          <a:ea typeface="Calibri" pitchFamily="34" charset="-122"/>
                          <a:cs typeface="Calibri" pitchFamily="34" charset="-120"/>
                        </a:rPr>
                        <a:t>[Period]</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4F7FC"/>
                    </a:solidFill>
                  </a:tcPr>
                </a:tc>
                <a:tc>
                  <a:txBody>
                    <a:bodyPr/>
                    <a:lstStyle/>
                    <a:p>
                      <a:pPr indent="0" marL="0">
                        <a:buNone/>
                      </a:pPr>
                      <a:r>
                        <a:rPr lang="en-US" sz="1200" dirty="0">
                          <a:solidFill>
                            <a:srgbClr val="B97A1F"/>
                          </a:solidFill>
                          <a:latin typeface="Calibri" pitchFamily="34" charset="0"/>
                          <a:ea typeface="Calibri" pitchFamily="34" charset="-122"/>
                          <a:cs typeface="Calibri" pitchFamily="34" charset="-120"/>
                        </a:rPr>
                        <a:t>[Date]</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4F7FC"/>
                    </a:solidFill>
                  </a:tcPr>
                </a:tc>
                <a:tc>
                  <a:txBody>
                    <a:bodyPr/>
                    <a:lstStyle/>
                    <a:p>
                      <a:pPr indent="0" marL="0">
                        <a:buNone/>
                      </a:pPr>
                      <a:r>
                        <a:rPr lang="en-US" sz="1200" dirty="0">
                          <a:solidFill>
                            <a:srgbClr val="B97A1F"/>
                          </a:solidFill>
                          <a:latin typeface="Calibri" pitchFamily="34" charset="0"/>
                          <a:ea typeface="Calibri" pitchFamily="34" charset="-122"/>
                          <a:cs typeface="Calibri" pitchFamily="34" charset="-120"/>
                        </a:rPr>
                        <a:t>[Submitted / Pending]</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4F7FC"/>
                    </a:solidFill>
                  </a:tcPr>
                </a:tc>
              </a:tr>
              <a:tr h="566928">
                <a:tc>
                  <a:txBody>
                    <a:bodyPr/>
                    <a:lstStyle/>
                    <a:p>
                      <a:pPr indent="0" marL="0">
                        <a:buNone/>
                      </a:pPr>
                      <a:r>
                        <a:rPr lang="en-US" sz="1200" dirty="0">
                          <a:solidFill>
                            <a:srgbClr val="B97A1F"/>
                          </a:solidFill>
                          <a:latin typeface="Calibri" pitchFamily="34" charset="0"/>
                          <a:ea typeface="Calibri" pitchFamily="34" charset="-122"/>
                          <a:cs typeface="Calibri" pitchFamily="34" charset="-120"/>
                        </a:rPr>
                        <a:t>[Report name]</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B97A1F"/>
                          </a:solidFill>
                          <a:latin typeface="Calibri" pitchFamily="34" charset="0"/>
                          <a:ea typeface="Calibri" pitchFamily="34" charset="-122"/>
                          <a:cs typeface="Calibri" pitchFamily="34" charset="-120"/>
                        </a:rPr>
                        <a:t>[Period]</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B97A1F"/>
                          </a:solidFill>
                          <a:latin typeface="Calibri" pitchFamily="34" charset="0"/>
                          <a:ea typeface="Calibri" pitchFamily="34" charset="-122"/>
                          <a:cs typeface="Calibri" pitchFamily="34" charset="-120"/>
                        </a:rPr>
                        <a:t>[Date]</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B97A1F"/>
                          </a:solidFill>
                          <a:latin typeface="Calibri" pitchFamily="34" charset="0"/>
                          <a:ea typeface="Calibri" pitchFamily="34" charset="-122"/>
                          <a:cs typeface="Calibri" pitchFamily="34" charset="-120"/>
                        </a:rPr>
                        <a:t>[Submitted / Pending]</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566928">
                <a:tc>
                  <a:txBody>
                    <a:bodyPr/>
                    <a:lstStyle/>
                    <a:p>
                      <a:pPr indent="0" marL="0">
                        <a:buNone/>
                      </a:pPr>
                      <a:r>
                        <a:rPr lang="en-US" sz="1200" dirty="0">
                          <a:solidFill>
                            <a:srgbClr val="B97A1F"/>
                          </a:solidFill>
                          <a:latin typeface="Calibri" pitchFamily="34" charset="0"/>
                          <a:ea typeface="Calibri" pitchFamily="34" charset="-122"/>
                          <a:cs typeface="Calibri" pitchFamily="34" charset="-120"/>
                        </a:rPr>
                        <a:t>[Report name]</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4F7FC"/>
                    </a:solidFill>
                  </a:tcPr>
                </a:tc>
                <a:tc>
                  <a:txBody>
                    <a:bodyPr/>
                    <a:lstStyle/>
                    <a:p>
                      <a:pPr indent="0" marL="0">
                        <a:buNone/>
                      </a:pPr>
                      <a:r>
                        <a:rPr lang="en-US" sz="1200" dirty="0">
                          <a:solidFill>
                            <a:srgbClr val="B97A1F"/>
                          </a:solidFill>
                          <a:latin typeface="Calibri" pitchFamily="34" charset="0"/>
                          <a:ea typeface="Calibri" pitchFamily="34" charset="-122"/>
                          <a:cs typeface="Calibri" pitchFamily="34" charset="-120"/>
                        </a:rPr>
                        <a:t>[Period]</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4F7FC"/>
                    </a:solidFill>
                  </a:tcPr>
                </a:tc>
                <a:tc>
                  <a:txBody>
                    <a:bodyPr/>
                    <a:lstStyle/>
                    <a:p>
                      <a:pPr indent="0" marL="0">
                        <a:buNone/>
                      </a:pPr>
                      <a:r>
                        <a:rPr lang="en-US" sz="1200" dirty="0">
                          <a:solidFill>
                            <a:srgbClr val="B97A1F"/>
                          </a:solidFill>
                          <a:latin typeface="Calibri" pitchFamily="34" charset="0"/>
                          <a:ea typeface="Calibri" pitchFamily="34" charset="-122"/>
                          <a:cs typeface="Calibri" pitchFamily="34" charset="-120"/>
                        </a:rPr>
                        <a:t>[Date]</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4F7FC"/>
                    </a:solidFill>
                  </a:tcPr>
                </a:tc>
                <a:tc>
                  <a:txBody>
                    <a:bodyPr/>
                    <a:lstStyle/>
                    <a:p>
                      <a:pPr indent="0" marL="0">
                        <a:buNone/>
                      </a:pPr>
                      <a:r>
                        <a:rPr lang="en-US" sz="1200" dirty="0">
                          <a:solidFill>
                            <a:srgbClr val="B97A1F"/>
                          </a:solidFill>
                          <a:latin typeface="Calibri" pitchFamily="34" charset="0"/>
                          <a:ea typeface="Calibri" pitchFamily="34" charset="-122"/>
                          <a:cs typeface="Calibri" pitchFamily="34" charset="-120"/>
                        </a:rPr>
                        <a:t>[Submitted / Pending]</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4F7FC"/>
                    </a:solidFill>
                  </a:tcPr>
                </a:tc>
              </a:tr>
              <a:tr h="566928">
                <a:tc>
                  <a:txBody>
                    <a:bodyPr/>
                    <a:lstStyle/>
                    <a:p>
                      <a:pPr indent="0" marL="0">
                        <a:buNone/>
                      </a:pPr>
                      <a:r>
                        <a:rPr lang="en-US" sz="1200" dirty="0">
                          <a:solidFill>
                            <a:srgbClr val="B97A1F"/>
                          </a:solidFill>
                          <a:latin typeface="Calibri" pitchFamily="34" charset="0"/>
                          <a:ea typeface="Calibri" pitchFamily="34" charset="-122"/>
                          <a:cs typeface="Calibri" pitchFamily="34" charset="-120"/>
                        </a:rPr>
                        <a:t>[Report name]</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B97A1F"/>
                          </a:solidFill>
                          <a:latin typeface="Calibri" pitchFamily="34" charset="0"/>
                          <a:ea typeface="Calibri" pitchFamily="34" charset="-122"/>
                          <a:cs typeface="Calibri" pitchFamily="34" charset="-120"/>
                        </a:rPr>
                        <a:t>[Period]</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B97A1F"/>
                          </a:solidFill>
                          <a:latin typeface="Calibri" pitchFamily="34" charset="0"/>
                          <a:ea typeface="Calibri" pitchFamily="34" charset="-122"/>
                          <a:cs typeface="Calibri" pitchFamily="34" charset="-120"/>
                        </a:rPr>
                        <a:t>[Date]</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B97A1F"/>
                          </a:solidFill>
                          <a:latin typeface="Calibri" pitchFamily="34" charset="0"/>
                          <a:ea typeface="Calibri" pitchFamily="34" charset="-122"/>
                          <a:cs typeface="Calibri" pitchFamily="34" charset="-120"/>
                        </a:rPr>
                        <a:t>[Submitted / Pending]</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bl>
          </a:graphicData>
        </a:graphic>
      </p:graphicFrame>
      <p:sp>
        <p:nvSpPr>
          <p:cNvPr id="20" name="Shape 13"/>
          <p:cNvSpPr/>
          <p:nvPr/>
        </p:nvSpPr>
        <p:spPr>
          <a:xfrm>
            <a:off x="457200" y="5669280"/>
            <a:ext cx="11274552" cy="402336"/>
          </a:xfrm>
          <a:prstGeom prst="roundRect">
            <a:avLst>
              <a:gd name="adj" fmla="val 18182"/>
            </a:avLst>
          </a:prstGeom>
          <a:solidFill>
            <a:srgbClr val="EEF3FA"/>
          </a:solidFill>
          <a:ln/>
        </p:spPr>
      </p:sp>
      <p:pic>
        <p:nvPicPr>
          <p:cNvPr id="21" name="Image 4" descr="preencoded.png">    </p:cNvPr>
          <p:cNvPicPr>
            <a:picLocks noChangeAspect="1"/>
          </p:cNvPicPr>
          <p:nvPr/>
        </p:nvPicPr>
        <p:blipFill>
          <a:blip r:embed="rId5"/>
          <a:stretch>
            <a:fillRect/>
          </a:stretch>
        </p:blipFill>
        <p:spPr>
          <a:xfrm>
            <a:off x="640080" y="5769864"/>
            <a:ext cx="201168" cy="201168"/>
          </a:xfrm>
          <a:prstGeom prst="rect">
            <a:avLst/>
          </a:prstGeom>
        </p:spPr>
      </p:pic>
      <p:sp>
        <p:nvSpPr>
          <p:cNvPr id="22" name="Text 14"/>
          <p:cNvSpPr txBox="1"/>
          <p:nvPr/>
        </p:nvSpPr>
        <p:spPr>
          <a:xfrm>
            <a:off x="960120" y="5669280"/>
            <a:ext cx="10607040" cy="402336"/>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Next submission: </a:t>
            </a:r>
            <a:pPr indent="0" marL="0">
              <a:buNone/>
            </a:pPr>
            <a:r>
              <a:rPr lang="en-US" sz="1100" dirty="0">
                <a:solidFill>
                  <a:srgbClr val="B97A1F"/>
                </a:solidFill>
                <a:latin typeface="Calibri" pitchFamily="34" charset="0"/>
                <a:ea typeface="Calibri" pitchFamily="34" charset="-122"/>
                <a:cs typeface="Calibri" pitchFamily="34" charset="-120"/>
              </a:rPr>
              <a:t>[Report name and due date]</a:t>
            </a:r>
            <a:endParaRPr lang="en-US" sz="11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57200" y="310896"/>
            <a:ext cx="530352" cy="530352"/>
          </a:xfrm>
          <a:prstGeom prst="ellipse">
            <a:avLst/>
          </a:prstGeom>
          <a:solidFill>
            <a:srgbClr val="1B2A4A"/>
          </a:solidFill>
          <a:ln/>
        </p:spPr>
      </p:sp>
      <p:pic>
        <p:nvPicPr>
          <p:cNvPr id="3" name="Image 0" descr="preencoded.png">    </p:cNvPr>
          <p:cNvPicPr>
            <a:picLocks noChangeAspect="1"/>
          </p:cNvPicPr>
          <p:nvPr/>
        </p:nvPicPr>
        <p:blipFill>
          <a:blip r:embed="rId1"/>
          <a:stretch>
            <a:fillRect/>
          </a:stretch>
        </p:blipFill>
        <p:spPr>
          <a:xfrm>
            <a:off x="589788" y="443484"/>
            <a:ext cx="265176" cy="265176"/>
          </a:xfrm>
          <a:prstGeom prst="rect">
            <a:avLst/>
          </a:prstGeom>
        </p:spPr>
      </p:pic>
      <p:sp>
        <p:nvSpPr>
          <p:cNvPr id="4" name="Text 1"/>
          <p:cNvSpPr/>
          <p:nvPr>
            <p:ph idx="101" type="title" hasCustomPrompt="1"/>
          </p:nvPr>
        </p:nvSpPr>
        <p:spPr>
          <a:xfrm>
            <a:off x="1143000" y="274320"/>
            <a:ext cx="7223760" cy="603504"/>
          </a:xfrm>
          <a:prstGeom prst="rect">
            <a:avLst/>
          </a:prstGeom>
          <a:noFill/>
          <a:ln/>
        </p:spPr>
        <p:txBody>
          <a:bodyPr wrap="square" lIns="0" tIns="0" rIns="0" bIns="0" rtlCol="0" anchor="ctr"/>
          <a:lstStyle/>
          <a:p>
            <a:pPr algn="l" indent="0" marL="0">
              <a:buNone/>
            </a:pPr>
            <a:r>
              <a:rPr lang="en-US" sz="3000" b="1" dirty="0">
                <a:solidFill>
                  <a:srgbClr val="1B2A4A"/>
                </a:solidFill>
                <a:latin typeface="Calibri" pitchFamily="34" charset="0"/>
                <a:ea typeface="Calibri" pitchFamily="34" charset="-122"/>
                <a:cs typeface="Calibri" pitchFamily="34" charset="-120"/>
              </a:rPr>
              <a:t>SIEM: Coverage &amp; Licence</a:t>
            </a:r>
            <a:endParaRPr lang="en-US" sz="3000" dirty="0"/>
          </a:p>
        </p:txBody>
      </p:sp>
      <p:sp>
        <p:nvSpPr>
          <p:cNvPr id="5" name="Text 2"/>
          <p:cNvSpPr txBox="1"/>
          <p:nvPr/>
        </p:nvSpPr>
        <p:spPr>
          <a:xfrm>
            <a:off x="8458200" y="384048"/>
            <a:ext cx="3273552" cy="384048"/>
          </a:xfrm>
          <a:prstGeom prst="rect">
            <a:avLst/>
          </a:prstGeom>
          <a:noFill/>
          <a:ln/>
        </p:spPr>
        <p:txBody>
          <a:bodyPr wrap="square" lIns="0" tIns="0" rIns="0" bIns="0" rtlCol="0" anchor="ctr"/>
          <a:lstStyle/>
          <a:p>
            <a:pPr algn="r" indent="0" marL="0">
              <a:buNone/>
            </a:pPr>
            <a:r>
              <a:rPr lang="en-US" sz="1200" dirty="0">
                <a:solidFill>
                  <a:srgbClr val="64748B"/>
                </a:solidFill>
                <a:latin typeface="Calibri" pitchFamily="34" charset="0"/>
                <a:ea typeface="Calibri" pitchFamily="34" charset="-122"/>
                <a:cs typeface="Calibri" pitchFamily="34" charset="-120"/>
              </a:rPr>
              <a:t>SOC Technology  |  QRadar SIEM</a:t>
            </a:r>
            <a:endParaRPr lang="en-US" sz="1200" dirty="0"/>
          </a:p>
        </p:txBody>
      </p:sp>
      <p:sp>
        <p:nvSpPr>
          <p:cNvPr id="6" name="Text 3"/>
          <p:cNvSpPr txBox="1"/>
          <p:nvPr/>
        </p:nvSpPr>
        <p:spPr>
          <a:xfrm>
            <a:off x="457200" y="932688"/>
            <a:ext cx="4206240" cy="292608"/>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Log Source Coverage by Domain</a:t>
            </a:r>
            <a:endParaRPr lang="en-US" sz="1600" dirty="0"/>
          </a:p>
        </p:txBody>
      </p:sp>
      <p:sp>
        <p:nvSpPr>
          <p:cNvPr id="7" name="Shape 4"/>
          <p:cNvSpPr/>
          <p:nvPr/>
        </p:nvSpPr>
        <p:spPr>
          <a:xfrm>
            <a:off x="4892040" y="1024128"/>
            <a:ext cx="128016" cy="128016"/>
          </a:xfrm>
          <a:prstGeom prst="ellipse">
            <a:avLst/>
          </a:prstGeom>
          <a:solidFill>
            <a:srgbClr val="3DBE8B"/>
          </a:solidFill>
          <a:ln/>
        </p:spPr>
      </p:sp>
      <p:sp>
        <p:nvSpPr>
          <p:cNvPr id="8" name="Text 5"/>
          <p:cNvSpPr txBox="1"/>
          <p:nvPr/>
        </p:nvSpPr>
        <p:spPr>
          <a:xfrm>
            <a:off x="5074920" y="932688"/>
            <a:ext cx="822960" cy="310896"/>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 90%</a:t>
            </a:r>
            <a:endParaRPr lang="en-US" sz="1100" dirty="0"/>
          </a:p>
        </p:txBody>
      </p:sp>
      <p:sp>
        <p:nvSpPr>
          <p:cNvPr id="9" name="Shape 6"/>
          <p:cNvSpPr/>
          <p:nvPr/>
        </p:nvSpPr>
        <p:spPr>
          <a:xfrm>
            <a:off x="5916168" y="1024128"/>
            <a:ext cx="128016" cy="128016"/>
          </a:xfrm>
          <a:prstGeom prst="ellipse">
            <a:avLst/>
          </a:prstGeom>
          <a:solidFill>
            <a:srgbClr val="E8A13D"/>
          </a:solidFill>
          <a:ln/>
        </p:spPr>
      </p:sp>
      <p:sp>
        <p:nvSpPr>
          <p:cNvPr id="10" name="Text 7"/>
          <p:cNvSpPr txBox="1"/>
          <p:nvPr/>
        </p:nvSpPr>
        <p:spPr>
          <a:xfrm>
            <a:off x="6099048" y="932688"/>
            <a:ext cx="822960" cy="310896"/>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70–89%</a:t>
            </a:r>
            <a:endParaRPr lang="en-US" sz="1100" dirty="0"/>
          </a:p>
        </p:txBody>
      </p:sp>
      <p:sp>
        <p:nvSpPr>
          <p:cNvPr id="11" name="Shape 8"/>
          <p:cNvSpPr/>
          <p:nvPr/>
        </p:nvSpPr>
        <p:spPr>
          <a:xfrm>
            <a:off x="6940296" y="1024128"/>
            <a:ext cx="128016" cy="128016"/>
          </a:xfrm>
          <a:prstGeom prst="ellipse">
            <a:avLst/>
          </a:prstGeom>
          <a:solidFill>
            <a:srgbClr val="D9412B"/>
          </a:solidFill>
          <a:ln/>
        </p:spPr>
      </p:sp>
      <p:sp>
        <p:nvSpPr>
          <p:cNvPr id="12" name="Text 9"/>
          <p:cNvSpPr txBox="1"/>
          <p:nvPr/>
        </p:nvSpPr>
        <p:spPr>
          <a:xfrm>
            <a:off x="7123176" y="932688"/>
            <a:ext cx="822960" cy="310896"/>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&lt; 70%</a:t>
            </a:r>
            <a:endParaRPr lang="en-US" sz="1100" dirty="0"/>
          </a:p>
        </p:txBody>
      </p:sp>
      <p:sp>
        <p:nvSpPr>
          <p:cNvPr id="13" name="Text 10"/>
          <p:cNvSpPr txBox="1"/>
          <p:nvPr/>
        </p:nvSpPr>
        <p:spPr>
          <a:xfrm>
            <a:off x="457200" y="1353312"/>
            <a:ext cx="2212848" cy="274320"/>
          </a:xfrm>
          <a:prstGeom prst="rect">
            <a:avLst/>
          </a:prstGeom>
          <a:noFill/>
          <a:ln/>
        </p:spPr>
        <p:txBody>
          <a:bodyPr wrap="square" lIns="0" tIns="0" rIns="0" bIns="0" rtlCol="0" anchor="ctr"/>
          <a:lstStyle/>
          <a:p>
            <a:pPr algn="ctr" indent="0" marL="0">
              <a:buNone/>
            </a:pPr>
            <a:r>
              <a:rPr lang="en-US" sz="1400" b="1" dirty="0">
                <a:solidFill>
                  <a:srgbClr val="1B2A4A"/>
                </a:solidFill>
                <a:latin typeface="Calibri" pitchFamily="34" charset="0"/>
                <a:ea typeface="Calibri" pitchFamily="34" charset="-122"/>
                <a:cs typeface="Calibri" pitchFamily="34" charset="-120"/>
              </a:rPr>
              <a:t>Applications</a:t>
            </a:r>
            <a:endParaRPr lang="en-US" sz="1400" dirty="0"/>
          </a:p>
        </p:txBody>
      </p:sp>
      <p:graphicFrame>
        <p:nvGraphicFramePr>
          <p:cNvPr id="14" name="Chart 0" descr=""/>
          <p:cNvGraphicFramePr/>
          <p:nvPr/>
        </p:nvGraphicFramePr>
        <p:xfrm>
          <a:off x="687324" y="1684020"/>
          <a:ext cx="1752600" cy="1752600"/>
        </p:xfrm>
        <a:graphic xmlns:a="http://schemas.openxmlformats.org/drawingml/2006/main">
          <a:graphicData uri="http://schemas.openxmlformats.org/drawingml/2006/chart">
            <c:chart xmlns:c="http://schemas.openxmlformats.org/drawingml/2006/chart" r:id="rId2"/>
          </a:graphicData>
        </a:graphic>
      </p:graphicFrame>
      <p:sp>
        <p:nvSpPr>
          <p:cNvPr id="15" name="Text 11"/>
          <p:cNvSpPr txBox="1"/>
          <p:nvPr/>
        </p:nvSpPr>
        <p:spPr>
          <a:xfrm>
            <a:off x="630936" y="2578608"/>
            <a:ext cx="411480" cy="201168"/>
          </a:xfrm>
          <a:prstGeom prst="rect">
            <a:avLst/>
          </a:prstGeom>
          <a:noFill/>
          <a:ln/>
        </p:spPr>
        <p:txBody>
          <a:bodyPr wrap="square" lIns="0" tIns="0" rIns="0" bIns="0" rtlCol="0" anchor="t"/>
          <a:lstStyle/>
          <a:p>
            <a:pPr algn="ctr" indent="0" marL="0">
              <a:buNone/>
            </a:pPr>
            <a:r>
              <a:rPr lang="en-US" sz="1000" b="1" dirty="0">
                <a:solidFill>
                  <a:srgbClr val="94A0B8"/>
                </a:solidFill>
                <a:latin typeface="Calibri" pitchFamily="34" charset="0"/>
                <a:ea typeface="Calibri" pitchFamily="34" charset="-122"/>
                <a:cs typeface="Calibri" pitchFamily="34" charset="-120"/>
              </a:rPr>
              <a:t>0</a:t>
            </a:r>
            <a:endParaRPr lang="en-US" sz="1000" dirty="0"/>
          </a:p>
        </p:txBody>
      </p:sp>
      <p:sp>
        <p:nvSpPr>
          <p:cNvPr id="16" name="Text 12"/>
          <p:cNvSpPr txBox="1"/>
          <p:nvPr/>
        </p:nvSpPr>
        <p:spPr>
          <a:xfrm>
            <a:off x="2084832" y="2578608"/>
            <a:ext cx="411480" cy="201168"/>
          </a:xfrm>
          <a:prstGeom prst="rect">
            <a:avLst/>
          </a:prstGeom>
          <a:noFill/>
          <a:ln/>
        </p:spPr>
        <p:txBody>
          <a:bodyPr wrap="square" lIns="0" tIns="0" rIns="0" bIns="0" rtlCol="0" anchor="t"/>
          <a:lstStyle/>
          <a:p>
            <a:pPr algn="ctr" indent="0" marL="0">
              <a:buNone/>
            </a:pPr>
            <a:r>
              <a:rPr lang="en-US" sz="1000" b="1" dirty="0">
                <a:solidFill>
                  <a:srgbClr val="94A0B8"/>
                </a:solidFill>
                <a:latin typeface="Calibri" pitchFamily="34" charset="0"/>
                <a:ea typeface="Calibri" pitchFamily="34" charset="-122"/>
                <a:cs typeface="Calibri" pitchFamily="34" charset="-120"/>
              </a:rPr>
              <a:t>100</a:t>
            </a:r>
            <a:endParaRPr lang="en-US" sz="1000" dirty="0"/>
          </a:p>
        </p:txBody>
      </p:sp>
      <p:sp>
        <p:nvSpPr>
          <p:cNvPr id="17" name="Text 13"/>
          <p:cNvSpPr txBox="1"/>
          <p:nvPr/>
        </p:nvSpPr>
        <p:spPr>
          <a:xfrm>
            <a:off x="2999232" y="1353312"/>
            <a:ext cx="2212848" cy="274320"/>
          </a:xfrm>
          <a:prstGeom prst="rect">
            <a:avLst/>
          </a:prstGeom>
          <a:noFill/>
          <a:ln/>
        </p:spPr>
        <p:txBody>
          <a:bodyPr wrap="square" lIns="0" tIns="0" rIns="0" bIns="0" rtlCol="0" anchor="ctr"/>
          <a:lstStyle/>
          <a:p>
            <a:pPr algn="ctr" indent="0" marL="0">
              <a:buNone/>
            </a:pPr>
            <a:r>
              <a:rPr lang="en-US" sz="1400" b="1" dirty="0">
                <a:solidFill>
                  <a:srgbClr val="1B2A4A"/>
                </a:solidFill>
                <a:latin typeface="Calibri" pitchFamily="34" charset="0"/>
                <a:ea typeface="Calibri" pitchFamily="34" charset="-122"/>
                <a:cs typeface="Calibri" pitchFamily="34" charset="-120"/>
              </a:rPr>
              <a:t>Databases</a:t>
            </a:r>
            <a:endParaRPr lang="en-US" sz="1400" dirty="0"/>
          </a:p>
        </p:txBody>
      </p:sp>
      <p:graphicFrame>
        <p:nvGraphicFramePr>
          <p:cNvPr id="18" name="Chart 1" descr=""/>
          <p:cNvGraphicFramePr/>
          <p:nvPr/>
        </p:nvGraphicFramePr>
        <p:xfrm>
          <a:off x="3229356" y="1684020"/>
          <a:ext cx="1752600" cy="1752600"/>
        </p:xfrm>
        <a:graphic xmlns:a="http://schemas.openxmlformats.org/drawingml/2006/main">
          <a:graphicData uri="http://schemas.openxmlformats.org/drawingml/2006/chart">
            <c:chart xmlns:c="http://schemas.openxmlformats.org/drawingml/2006/chart" r:id="rId3"/>
          </a:graphicData>
        </a:graphic>
      </p:graphicFrame>
      <p:sp>
        <p:nvSpPr>
          <p:cNvPr id="19" name="Text 14"/>
          <p:cNvSpPr txBox="1"/>
          <p:nvPr/>
        </p:nvSpPr>
        <p:spPr>
          <a:xfrm>
            <a:off x="3172968" y="2578608"/>
            <a:ext cx="411480" cy="201168"/>
          </a:xfrm>
          <a:prstGeom prst="rect">
            <a:avLst/>
          </a:prstGeom>
          <a:noFill/>
          <a:ln/>
        </p:spPr>
        <p:txBody>
          <a:bodyPr wrap="square" lIns="0" tIns="0" rIns="0" bIns="0" rtlCol="0" anchor="t"/>
          <a:lstStyle/>
          <a:p>
            <a:pPr algn="ctr" indent="0" marL="0">
              <a:buNone/>
            </a:pPr>
            <a:r>
              <a:rPr lang="en-US" sz="1000" b="1" dirty="0">
                <a:solidFill>
                  <a:srgbClr val="94A0B8"/>
                </a:solidFill>
                <a:latin typeface="Calibri" pitchFamily="34" charset="0"/>
                <a:ea typeface="Calibri" pitchFamily="34" charset="-122"/>
                <a:cs typeface="Calibri" pitchFamily="34" charset="-120"/>
              </a:rPr>
              <a:t>0</a:t>
            </a:r>
            <a:endParaRPr lang="en-US" sz="1000" dirty="0"/>
          </a:p>
        </p:txBody>
      </p:sp>
      <p:sp>
        <p:nvSpPr>
          <p:cNvPr id="20" name="Text 15"/>
          <p:cNvSpPr txBox="1"/>
          <p:nvPr/>
        </p:nvSpPr>
        <p:spPr>
          <a:xfrm>
            <a:off x="4626864" y="2578608"/>
            <a:ext cx="411480" cy="201168"/>
          </a:xfrm>
          <a:prstGeom prst="rect">
            <a:avLst/>
          </a:prstGeom>
          <a:noFill/>
          <a:ln/>
        </p:spPr>
        <p:txBody>
          <a:bodyPr wrap="square" lIns="0" tIns="0" rIns="0" bIns="0" rtlCol="0" anchor="t"/>
          <a:lstStyle/>
          <a:p>
            <a:pPr algn="ctr" indent="0" marL="0">
              <a:buNone/>
            </a:pPr>
            <a:r>
              <a:rPr lang="en-US" sz="1000" b="1" dirty="0">
                <a:solidFill>
                  <a:srgbClr val="94A0B8"/>
                </a:solidFill>
                <a:latin typeface="Calibri" pitchFamily="34" charset="0"/>
                <a:ea typeface="Calibri" pitchFamily="34" charset="-122"/>
                <a:cs typeface="Calibri" pitchFamily="34" charset="-120"/>
              </a:rPr>
              <a:t>100</a:t>
            </a:r>
            <a:endParaRPr lang="en-US" sz="1000" dirty="0"/>
          </a:p>
        </p:txBody>
      </p:sp>
      <p:sp>
        <p:nvSpPr>
          <p:cNvPr id="21" name="Text 16"/>
          <p:cNvSpPr txBox="1"/>
          <p:nvPr/>
        </p:nvSpPr>
        <p:spPr>
          <a:xfrm>
            <a:off x="5541264" y="1353312"/>
            <a:ext cx="2212848" cy="274320"/>
          </a:xfrm>
          <a:prstGeom prst="rect">
            <a:avLst/>
          </a:prstGeom>
          <a:noFill/>
          <a:ln/>
        </p:spPr>
        <p:txBody>
          <a:bodyPr wrap="square" lIns="0" tIns="0" rIns="0" bIns="0" rtlCol="0" anchor="ctr"/>
          <a:lstStyle/>
          <a:p>
            <a:pPr algn="ctr" indent="0" marL="0">
              <a:buNone/>
            </a:pPr>
            <a:r>
              <a:rPr lang="en-US" sz="1400" b="1" dirty="0">
                <a:solidFill>
                  <a:srgbClr val="1B2A4A"/>
                </a:solidFill>
                <a:latin typeface="Calibri" pitchFamily="34" charset="0"/>
                <a:ea typeface="Calibri" pitchFamily="34" charset="-122"/>
                <a:cs typeface="Calibri" pitchFamily="34" charset="-120"/>
              </a:rPr>
              <a:t>Secret Databases</a:t>
            </a:r>
            <a:endParaRPr lang="en-US" sz="1400" dirty="0"/>
          </a:p>
        </p:txBody>
      </p:sp>
      <p:graphicFrame>
        <p:nvGraphicFramePr>
          <p:cNvPr id="22" name="Chart 2" descr=""/>
          <p:cNvGraphicFramePr/>
          <p:nvPr/>
        </p:nvGraphicFramePr>
        <p:xfrm>
          <a:off x="5771388" y="1684020"/>
          <a:ext cx="1752600" cy="1752600"/>
        </p:xfrm>
        <a:graphic xmlns:a="http://schemas.openxmlformats.org/drawingml/2006/main">
          <a:graphicData uri="http://schemas.openxmlformats.org/drawingml/2006/chart">
            <c:chart xmlns:c="http://schemas.openxmlformats.org/drawingml/2006/chart" r:id="rId4"/>
          </a:graphicData>
        </a:graphic>
      </p:graphicFrame>
      <p:sp>
        <p:nvSpPr>
          <p:cNvPr id="23" name="Text 17"/>
          <p:cNvSpPr txBox="1"/>
          <p:nvPr/>
        </p:nvSpPr>
        <p:spPr>
          <a:xfrm>
            <a:off x="5715000" y="2578608"/>
            <a:ext cx="411480" cy="201168"/>
          </a:xfrm>
          <a:prstGeom prst="rect">
            <a:avLst/>
          </a:prstGeom>
          <a:noFill/>
          <a:ln/>
        </p:spPr>
        <p:txBody>
          <a:bodyPr wrap="square" lIns="0" tIns="0" rIns="0" bIns="0" rtlCol="0" anchor="t"/>
          <a:lstStyle/>
          <a:p>
            <a:pPr algn="ctr" indent="0" marL="0">
              <a:buNone/>
            </a:pPr>
            <a:r>
              <a:rPr lang="en-US" sz="1000" b="1" dirty="0">
                <a:solidFill>
                  <a:srgbClr val="94A0B8"/>
                </a:solidFill>
                <a:latin typeface="Calibri" pitchFamily="34" charset="0"/>
                <a:ea typeface="Calibri" pitchFamily="34" charset="-122"/>
                <a:cs typeface="Calibri" pitchFamily="34" charset="-120"/>
              </a:rPr>
              <a:t>0</a:t>
            </a:r>
            <a:endParaRPr lang="en-US" sz="1000" dirty="0"/>
          </a:p>
        </p:txBody>
      </p:sp>
      <p:sp>
        <p:nvSpPr>
          <p:cNvPr id="24" name="Text 18"/>
          <p:cNvSpPr txBox="1"/>
          <p:nvPr/>
        </p:nvSpPr>
        <p:spPr>
          <a:xfrm>
            <a:off x="7168896" y="2578608"/>
            <a:ext cx="411480" cy="201168"/>
          </a:xfrm>
          <a:prstGeom prst="rect">
            <a:avLst/>
          </a:prstGeom>
          <a:noFill/>
          <a:ln/>
        </p:spPr>
        <p:txBody>
          <a:bodyPr wrap="square" lIns="0" tIns="0" rIns="0" bIns="0" rtlCol="0" anchor="t"/>
          <a:lstStyle/>
          <a:p>
            <a:pPr algn="ctr" indent="0" marL="0">
              <a:buNone/>
            </a:pPr>
            <a:r>
              <a:rPr lang="en-US" sz="1000" b="1" dirty="0">
                <a:solidFill>
                  <a:srgbClr val="94A0B8"/>
                </a:solidFill>
                <a:latin typeface="Calibri" pitchFamily="34" charset="0"/>
                <a:ea typeface="Calibri" pitchFamily="34" charset="-122"/>
                <a:cs typeface="Calibri" pitchFamily="34" charset="-120"/>
              </a:rPr>
              <a:t>100</a:t>
            </a:r>
            <a:endParaRPr lang="en-US" sz="1000" dirty="0"/>
          </a:p>
        </p:txBody>
      </p:sp>
      <p:sp>
        <p:nvSpPr>
          <p:cNvPr id="25" name="Text 19"/>
          <p:cNvSpPr txBox="1"/>
          <p:nvPr/>
        </p:nvSpPr>
        <p:spPr>
          <a:xfrm>
            <a:off x="457200" y="3566160"/>
            <a:ext cx="2212848" cy="274320"/>
          </a:xfrm>
          <a:prstGeom prst="rect">
            <a:avLst/>
          </a:prstGeom>
          <a:noFill/>
          <a:ln/>
        </p:spPr>
        <p:txBody>
          <a:bodyPr wrap="square" lIns="0" tIns="0" rIns="0" bIns="0" rtlCol="0" anchor="ctr"/>
          <a:lstStyle/>
          <a:p>
            <a:pPr algn="ctr" indent="0" marL="0">
              <a:buNone/>
            </a:pPr>
            <a:r>
              <a:rPr lang="en-US" sz="1400" b="1" dirty="0">
                <a:solidFill>
                  <a:srgbClr val="1B2A4A"/>
                </a:solidFill>
                <a:latin typeface="Calibri" pitchFamily="34" charset="0"/>
                <a:ea typeface="Calibri" pitchFamily="34" charset="-122"/>
                <a:cs typeface="Calibri" pitchFamily="34" charset="-120"/>
              </a:rPr>
              <a:t>Network</a:t>
            </a:r>
            <a:endParaRPr lang="en-US" sz="1400" dirty="0"/>
          </a:p>
        </p:txBody>
      </p:sp>
      <p:graphicFrame>
        <p:nvGraphicFramePr>
          <p:cNvPr id="26" name="Chart 3" descr=""/>
          <p:cNvGraphicFramePr/>
          <p:nvPr/>
        </p:nvGraphicFramePr>
        <p:xfrm>
          <a:off x="687324" y="3896868"/>
          <a:ext cx="1752600" cy="1752600"/>
        </p:xfrm>
        <a:graphic xmlns:a="http://schemas.openxmlformats.org/drawingml/2006/main">
          <a:graphicData uri="http://schemas.openxmlformats.org/drawingml/2006/chart">
            <c:chart xmlns:c="http://schemas.openxmlformats.org/drawingml/2006/chart" r:id="rId5"/>
          </a:graphicData>
        </a:graphic>
      </p:graphicFrame>
      <p:sp>
        <p:nvSpPr>
          <p:cNvPr id="27" name="Text 20"/>
          <p:cNvSpPr txBox="1"/>
          <p:nvPr/>
        </p:nvSpPr>
        <p:spPr>
          <a:xfrm>
            <a:off x="630936" y="4791456"/>
            <a:ext cx="411480" cy="201168"/>
          </a:xfrm>
          <a:prstGeom prst="rect">
            <a:avLst/>
          </a:prstGeom>
          <a:noFill/>
          <a:ln/>
        </p:spPr>
        <p:txBody>
          <a:bodyPr wrap="square" lIns="0" tIns="0" rIns="0" bIns="0" rtlCol="0" anchor="t"/>
          <a:lstStyle/>
          <a:p>
            <a:pPr algn="ctr" indent="0" marL="0">
              <a:buNone/>
            </a:pPr>
            <a:r>
              <a:rPr lang="en-US" sz="1000" b="1" dirty="0">
                <a:solidFill>
                  <a:srgbClr val="94A0B8"/>
                </a:solidFill>
                <a:latin typeface="Calibri" pitchFamily="34" charset="0"/>
                <a:ea typeface="Calibri" pitchFamily="34" charset="-122"/>
                <a:cs typeface="Calibri" pitchFamily="34" charset="-120"/>
              </a:rPr>
              <a:t>0</a:t>
            </a:r>
            <a:endParaRPr lang="en-US" sz="1000" dirty="0"/>
          </a:p>
        </p:txBody>
      </p:sp>
      <p:sp>
        <p:nvSpPr>
          <p:cNvPr id="28" name="Text 21"/>
          <p:cNvSpPr txBox="1"/>
          <p:nvPr/>
        </p:nvSpPr>
        <p:spPr>
          <a:xfrm>
            <a:off x="2084832" y="4791456"/>
            <a:ext cx="411480" cy="201168"/>
          </a:xfrm>
          <a:prstGeom prst="rect">
            <a:avLst/>
          </a:prstGeom>
          <a:noFill/>
          <a:ln/>
        </p:spPr>
        <p:txBody>
          <a:bodyPr wrap="square" lIns="0" tIns="0" rIns="0" bIns="0" rtlCol="0" anchor="t"/>
          <a:lstStyle/>
          <a:p>
            <a:pPr algn="ctr" indent="0" marL="0">
              <a:buNone/>
            </a:pPr>
            <a:r>
              <a:rPr lang="en-US" sz="1000" b="1" dirty="0">
                <a:solidFill>
                  <a:srgbClr val="94A0B8"/>
                </a:solidFill>
                <a:latin typeface="Calibri" pitchFamily="34" charset="0"/>
                <a:ea typeface="Calibri" pitchFamily="34" charset="-122"/>
                <a:cs typeface="Calibri" pitchFamily="34" charset="-120"/>
              </a:rPr>
              <a:t>100</a:t>
            </a:r>
            <a:endParaRPr lang="en-US" sz="1000" dirty="0"/>
          </a:p>
        </p:txBody>
      </p:sp>
      <p:sp>
        <p:nvSpPr>
          <p:cNvPr id="29" name="Text 22"/>
          <p:cNvSpPr txBox="1"/>
          <p:nvPr/>
        </p:nvSpPr>
        <p:spPr>
          <a:xfrm>
            <a:off x="2999232" y="3566160"/>
            <a:ext cx="2212848" cy="274320"/>
          </a:xfrm>
          <a:prstGeom prst="rect">
            <a:avLst/>
          </a:prstGeom>
          <a:noFill/>
          <a:ln/>
        </p:spPr>
        <p:txBody>
          <a:bodyPr wrap="square" lIns="0" tIns="0" rIns="0" bIns="0" rtlCol="0" anchor="ctr"/>
          <a:lstStyle/>
          <a:p>
            <a:pPr algn="ctr" indent="0" marL="0">
              <a:buNone/>
            </a:pPr>
            <a:r>
              <a:rPr lang="en-US" sz="1400" b="1" dirty="0">
                <a:solidFill>
                  <a:srgbClr val="1B2A4A"/>
                </a:solidFill>
                <a:latin typeface="Calibri" pitchFamily="34" charset="0"/>
                <a:ea typeface="Calibri" pitchFamily="34" charset="-122"/>
                <a:cs typeface="Calibri" pitchFamily="34" charset="-120"/>
              </a:rPr>
              <a:t>Servers</a:t>
            </a:r>
            <a:endParaRPr lang="en-US" sz="1400" dirty="0"/>
          </a:p>
        </p:txBody>
      </p:sp>
      <p:graphicFrame>
        <p:nvGraphicFramePr>
          <p:cNvPr id="30" name="Chart 4" descr=""/>
          <p:cNvGraphicFramePr/>
          <p:nvPr/>
        </p:nvGraphicFramePr>
        <p:xfrm>
          <a:off x="3229356" y="3896868"/>
          <a:ext cx="1752600" cy="1752600"/>
        </p:xfrm>
        <a:graphic xmlns:a="http://schemas.openxmlformats.org/drawingml/2006/main">
          <a:graphicData uri="http://schemas.openxmlformats.org/drawingml/2006/chart">
            <c:chart xmlns:c="http://schemas.openxmlformats.org/drawingml/2006/chart" r:id="rId6"/>
          </a:graphicData>
        </a:graphic>
      </p:graphicFrame>
      <p:sp>
        <p:nvSpPr>
          <p:cNvPr id="31" name="Text 23"/>
          <p:cNvSpPr txBox="1"/>
          <p:nvPr/>
        </p:nvSpPr>
        <p:spPr>
          <a:xfrm>
            <a:off x="3172968" y="4791456"/>
            <a:ext cx="411480" cy="201168"/>
          </a:xfrm>
          <a:prstGeom prst="rect">
            <a:avLst/>
          </a:prstGeom>
          <a:noFill/>
          <a:ln/>
        </p:spPr>
        <p:txBody>
          <a:bodyPr wrap="square" lIns="0" tIns="0" rIns="0" bIns="0" rtlCol="0" anchor="t"/>
          <a:lstStyle/>
          <a:p>
            <a:pPr algn="ctr" indent="0" marL="0">
              <a:buNone/>
            </a:pPr>
            <a:r>
              <a:rPr lang="en-US" sz="1000" b="1" dirty="0">
                <a:solidFill>
                  <a:srgbClr val="94A0B8"/>
                </a:solidFill>
                <a:latin typeface="Calibri" pitchFamily="34" charset="0"/>
                <a:ea typeface="Calibri" pitchFamily="34" charset="-122"/>
                <a:cs typeface="Calibri" pitchFamily="34" charset="-120"/>
              </a:rPr>
              <a:t>0</a:t>
            </a:r>
            <a:endParaRPr lang="en-US" sz="1000" dirty="0"/>
          </a:p>
        </p:txBody>
      </p:sp>
      <p:sp>
        <p:nvSpPr>
          <p:cNvPr id="32" name="Text 24"/>
          <p:cNvSpPr txBox="1"/>
          <p:nvPr/>
        </p:nvSpPr>
        <p:spPr>
          <a:xfrm>
            <a:off x="4626864" y="4791456"/>
            <a:ext cx="411480" cy="201168"/>
          </a:xfrm>
          <a:prstGeom prst="rect">
            <a:avLst/>
          </a:prstGeom>
          <a:noFill/>
          <a:ln/>
        </p:spPr>
        <p:txBody>
          <a:bodyPr wrap="square" lIns="0" tIns="0" rIns="0" bIns="0" rtlCol="0" anchor="t"/>
          <a:lstStyle/>
          <a:p>
            <a:pPr algn="ctr" indent="0" marL="0">
              <a:buNone/>
            </a:pPr>
            <a:r>
              <a:rPr lang="en-US" sz="1000" b="1" dirty="0">
                <a:solidFill>
                  <a:srgbClr val="94A0B8"/>
                </a:solidFill>
                <a:latin typeface="Calibri" pitchFamily="34" charset="0"/>
                <a:ea typeface="Calibri" pitchFamily="34" charset="-122"/>
                <a:cs typeface="Calibri" pitchFamily="34" charset="-120"/>
              </a:rPr>
              <a:t>100</a:t>
            </a:r>
            <a:endParaRPr lang="en-US" sz="1000" dirty="0"/>
          </a:p>
        </p:txBody>
      </p:sp>
      <p:sp>
        <p:nvSpPr>
          <p:cNvPr id="33" name="Text 25"/>
          <p:cNvSpPr txBox="1"/>
          <p:nvPr/>
        </p:nvSpPr>
        <p:spPr>
          <a:xfrm>
            <a:off x="5541264" y="3566160"/>
            <a:ext cx="2212848" cy="274320"/>
          </a:xfrm>
          <a:prstGeom prst="rect">
            <a:avLst/>
          </a:prstGeom>
          <a:noFill/>
          <a:ln/>
        </p:spPr>
        <p:txBody>
          <a:bodyPr wrap="square" lIns="0" tIns="0" rIns="0" bIns="0" rtlCol="0" anchor="ctr"/>
          <a:lstStyle/>
          <a:p>
            <a:pPr algn="ctr" indent="0" marL="0">
              <a:buNone/>
            </a:pPr>
            <a:r>
              <a:rPr lang="en-US" sz="1400" b="1" dirty="0">
                <a:solidFill>
                  <a:srgbClr val="1B2A4A"/>
                </a:solidFill>
                <a:latin typeface="Calibri" pitchFamily="34" charset="0"/>
                <a:ea typeface="Calibri" pitchFamily="34" charset="-122"/>
                <a:cs typeface="Calibri" pitchFamily="34" charset="-120"/>
              </a:rPr>
              <a:t>VDI</a:t>
            </a:r>
            <a:endParaRPr lang="en-US" sz="1400" dirty="0"/>
          </a:p>
        </p:txBody>
      </p:sp>
      <p:graphicFrame>
        <p:nvGraphicFramePr>
          <p:cNvPr id="34" name="Chart 5" descr=""/>
          <p:cNvGraphicFramePr/>
          <p:nvPr/>
        </p:nvGraphicFramePr>
        <p:xfrm>
          <a:off x="5771388" y="3896868"/>
          <a:ext cx="1752600" cy="1752600"/>
        </p:xfrm>
        <a:graphic xmlns:a="http://schemas.openxmlformats.org/drawingml/2006/main">
          <a:graphicData uri="http://schemas.openxmlformats.org/drawingml/2006/chart">
            <c:chart xmlns:c="http://schemas.openxmlformats.org/drawingml/2006/chart" r:id="rId7"/>
          </a:graphicData>
        </a:graphic>
      </p:graphicFrame>
      <p:sp>
        <p:nvSpPr>
          <p:cNvPr id="35" name="Text 26"/>
          <p:cNvSpPr txBox="1"/>
          <p:nvPr/>
        </p:nvSpPr>
        <p:spPr>
          <a:xfrm>
            <a:off x="5715000" y="4791456"/>
            <a:ext cx="411480" cy="201168"/>
          </a:xfrm>
          <a:prstGeom prst="rect">
            <a:avLst/>
          </a:prstGeom>
          <a:noFill/>
          <a:ln/>
        </p:spPr>
        <p:txBody>
          <a:bodyPr wrap="square" lIns="0" tIns="0" rIns="0" bIns="0" rtlCol="0" anchor="t"/>
          <a:lstStyle/>
          <a:p>
            <a:pPr algn="ctr" indent="0" marL="0">
              <a:buNone/>
            </a:pPr>
            <a:r>
              <a:rPr lang="en-US" sz="1000" b="1" dirty="0">
                <a:solidFill>
                  <a:srgbClr val="94A0B8"/>
                </a:solidFill>
                <a:latin typeface="Calibri" pitchFamily="34" charset="0"/>
                <a:ea typeface="Calibri" pitchFamily="34" charset="-122"/>
                <a:cs typeface="Calibri" pitchFamily="34" charset="-120"/>
              </a:rPr>
              <a:t>0</a:t>
            </a:r>
            <a:endParaRPr lang="en-US" sz="1000" dirty="0"/>
          </a:p>
        </p:txBody>
      </p:sp>
      <p:sp>
        <p:nvSpPr>
          <p:cNvPr id="36" name="Text 27"/>
          <p:cNvSpPr txBox="1"/>
          <p:nvPr/>
        </p:nvSpPr>
        <p:spPr>
          <a:xfrm>
            <a:off x="7168896" y="4791456"/>
            <a:ext cx="411480" cy="201168"/>
          </a:xfrm>
          <a:prstGeom prst="rect">
            <a:avLst/>
          </a:prstGeom>
          <a:noFill/>
          <a:ln/>
        </p:spPr>
        <p:txBody>
          <a:bodyPr wrap="square" lIns="0" tIns="0" rIns="0" bIns="0" rtlCol="0" anchor="t"/>
          <a:lstStyle/>
          <a:p>
            <a:pPr algn="ctr" indent="0" marL="0">
              <a:buNone/>
            </a:pPr>
            <a:r>
              <a:rPr lang="en-US" sz="1000" b="1" dirty="0">
                <a:solidFill>
                  <a:srgbClr val="94A0B8"/>
                </a:solidFill>
                <a:latin typeface="Calibri" pitchFamily="34" charset="0"/>
                <a:ea typeface="Calibri" pitchFamily="34" charset="-122"/>
                <a:cs typeface="Calibri" pitchFamily="34" charset="-120"/>
              </a:rPr>
              <a:t>100</a:t>
            </a:r>
            <a:endParaRPr lang="en-US" sz="1000" dirty="0"/>
          </a:p>
        </p:txBody>
      </p:sp>
      <p:sp>
        <p:nvSpPr>
          <p:cNvPr id="37" name="Shape 28"/>
          <p:cNvSpPr/>
          <p:nvPr/>
        </p:nvSpPr>
        <p:spPr>
          <a:xfrm>
            <a:off x="8275320" y="1353312"/>
            <a:ext cx="3456432" cy="1828800"/>
          </a:xfrm>
          <a:prstGeom prst="roundRect">
            <a:avLst>
              <a:gd name="adj" fmla="val 3500"/>
            </a:avLst>
          </a:prstGeom>
          <a:solidFill>
            <a:srgbClr val="F4F7FC"/>
          </a:solidFill>
          <a:ln w="9525">
            <a:solidFill>
              <a:srgbClr val="DCE3EE"/>
            </a:solidFill>
            <a:prstDash val="solid"/>
          </a:ln>
        </p:spPr>
      </p:sp>
      <p:sp>
        <p:nvSpPr>
          <p:cNvPr id="38" name="Text 29"/>
          <p:cNvSpPr txBox="1"/>
          <p:nvPr/>
        </p:nvSpPr>
        <p:spPr>
          <a:xfrm>
            <a:off x="8275320" y="1426464"/>
            <a:ext cx="3456432" cy="256032"/>
          </a:xfrm>
          <a:prstGeom prst="rect">
            <a:avLst/>
          </a:prstGeom>
          <a:noFill/>
          <a:ln/>
        </p:spPr>
        <p:txBody>
          <a:bodyPr wrap="square" lIns="0" tIns="0" rIns="0" bIns="0" rtlCol="0" anchor="ctr"/>
          <a:lstStyle/>
          <a:p>
            <a:pPr algn="ctr" indent="0" marL="0">
              <a:buNone/>
            </a:pPr>
            <a:r>
              <a:rPr lang="en-US" sz="1300" b="1" dirty="0">
                <a:solidFill>
                  <a:srgbClr val="1B2A4A"/>
                </a:solidFill>
                <a:latin typeface="Calibri" pitchFamily="34" charset="0"/>
                <a:ea typeface="Calibri" pitchFamily="34" charset="-122"/>
                <a:cs typeface="Calibri" pitchFamily="34" charset="-120"/>
              </a:rPr>
              <a:t>Overall Estate Coverage</a:t>
            </a:r>
            <a:endParaRPr lang="en-US" sz="1300" dirty="0"/>
          </a:p>
        </p:txBody>
      </p:sp>
      <p:graphicFrame>
        <p:nvGraphicFramePr>
          <p:cNvPr id="39" name="Chart 6" descr=""/>
          <p:cNvGraphicFramePr/>
          <p:nvPr/>
        </p:nvGraphicFramePr>
        <p:xfrm>
          <a:off x="9222486" y="1760982"/>
          <a:ext cx="1562100" cy="1562100"/>
        </p:xfrm>
        <a:graphic xmlns:a="http://schemas.openxmlformats.org/drawingml/2006/main">
          <a:graphicData uri="http://schemas.openxmlformats.org/drawingml/2006/chart">
            <c:chart xmlns:c="http://schemas.openxmlformats.org/drawingml/2006/chart" r:id="rId8"/>
          </a:graphicData>
        </a:graphic>
      </p:graphicFrame>
      <p:sp>
        <p:nvSpPr>
          <p:cNvPr id="40" name="Text 30"/>
          <p:cNvSpPr txBox="1"/>
          <p:nvPr/>
        </p:nvSpPr>
        <p:spPr>
          <a:xfrm>
            <a:off x="9162288" y="2560320"/>
            <a:ext cx="411480" cy="201168"/>
          </a:xfrm>
          <a:prstGeom prst="rect">
            <a:avLst/>
          </a:prstGeom>
          <a:noFill/>
          <a:ln/>
        </p:spPr>
        <p:txBody>
          <a:bodyPr wrap="square" lIns="0" tIns="0" rIns="0" bIns="0" rtlCol="0" anchor="t"/>
          <a:lstStyle/>
          <a:p>
            <a:pPr algn="ctr" indent="0" marL="0">
              <a:buNone/>
            </a:pPr>
            <a:r>
              <a:rPr lang="en-US" sz="1000" b="1" dirty="0">
                <a:solidFill>
                  <a:srgbClr val="94A0B8"/>
                </a:solidFill>
                <a:latin typeface="Calibri" pitchFamily="34" charset="0"/>
                <a:ea typeface="Calibri" pitchFamily="34" charset="-122"/>
                <a:cs typeface="Calibri" pitchFamily="34" charset="-120"/>
              </a:rPr>
              <a:t>0</a:t>
            </a:r>
            <a:endParaRPr lang="en-US" sz="1000" dirty="0"/>
          </a:p>
        </p:txBody>
      </p:sp>
      <p:sp>
        <p:nvSpPr>
          <p:cNvPr id="41" name="Text 31"/>
          <p:cNvSpPr txBox="1"/>
          <p:nvPr/>
        </p:nvSpPr>
        <p:spPr>
          <a:xfrm>
            <a:off x="10433304" y="2560320"/>
            <a:ext cx="411480" cy="201168"/>
          </a:xfrm>
          <a:prstGeom prst="rect">
            <a:avLst/>
          </a:prstGeom>
          <a:noFill/>
          <a:ln/>
        </p:spPr>
        <p:txBody>
          <a:bodyPr wrap="square" lIns="0" tIns="0" rIns="0" bIns="0" rtlCol="0" anchor="t"/>
          <a:lstStyle/>
          <a:p>
            <a:pPr algn="ctr" indent="0" marL="0">
              <a:buNone/>
            </a:pPr>
            <a:r>
              <a:rPr lang="en-US" sz="1000" b="1" dirty="0">
                <a:solidFill>
                  <a:srgbClr val="94A0B8"/>
                </a:solidFill>
                <a:latin typeface="Calibri" pitchFamily="34" charset="0"/>
                <a:ea typeface="Calibri" pitchFamily="34" charset="-122"/>
                <a:cs typeface="Calibri" pitchFamily="34" charset="-120"/>
              </a:rPr>
              <a:t>100</a:t>
            </a:r>
            <a:endParaRPr lang="en-US" sz="1000" dirty="0"/>
          </a:p>
        </p:txBody>
      </p:sp>
      <p:sp>
        <p:nvSpPr>
          <p:cNvPr id="42" name="Text 32"/>
          <p:cNvSpPr txBox="1"/>
          <p:nvPr/>
        </p:nvSpPr>
        <p:spPr>
          <a:xfrm>
            <a:off x="8275320" y="2834640"/>
            <a:ext cx="3456432" cy="256032"/>
          </a:xfrm>
          <a:prstGeom prst="rect">
            <a:avLst/>
          </a:prstGeom>
          <a:noFill/>
          <a:ln/>
        </p:spPr>
        <p:txBody>
          <a:bodyPr wrap="square" lIns="0" tIns="0" rIns="0" bIns="0"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 +2.7 pts vs last committee (93.3%)</a:t>
            </a:r>
            <a:endParaRPr lang="en-US" sz="1100" dirty="0"/>
          </a:p>
        </p:txBody>
      </p:sp>
      <p:sp>
        <p:nvSpPr>
          <p:cNvPr id="43" name="Shape 33"/>
          <p:cNvSpPr/>
          <p:nvPr/>
        </p:nvSpPr>
        <p:spPr>
          <a:xfrm>
            <a:off x="8275320" y="3328416"/>
            <a:ext cx="3456432" cy="1188720"/>
          </a:xfrm>
          <a:prstGeom prst="roundRect">
            <a:avLst>
              <a:gd name="adj" fmla="val 5385"/>
            </a:avLst>
          </a:prstGeom>
          <a:solidFill>
            <a:srgbClr val="F4F7FC"/>
          </a:solidFill>
          <a:ln w="9525">
            <a:solidFill>
              <a:srgbClr val="DCE3EE"/>
            </a:solidFill>
            <a:prstDash val="solid"/>
          </a:ln>
        </p:spPr>
      </p:sp>
      <p:sp>
        <p:nvSpPr>
          <p:cNvPr id="44" name="Text 34"/>
          <p:cNvSpPr txBox="1"/>
          <p:nvPr/>
        </p:nvSpPr>
        <p:spPr>
          <a:xfrm>
            <a:off x="8503920" y="3456432"/>
            <a:ext cx="2267712" cy="256032"/>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Licence utilisation (EPS)</a:t>
            </a:r>
            <a:endParaRPr lang="en-US" sz="1300" dirty="0"/>
          </a:p>
        </p:txBody>
      </p:sp>
      <p:sp>
        <p:nvSpPr>
          <p:cNvPr id="45" name="Text 35"/>
          <p:cNvSpPr txBox="1"/>
          <p:nvPr/>
        </p:nvSpPr>
        <p:spPr>
          <a:xfrm>
            <a:off x="10771632" y="3456432"/>
            <a:ext cx="731520" cy="256032"/>
          </a:xfrm>
          <a:prstGeom prst="rect">
            <a:avLst/>
          </a:prstGeom>
          <a:noFill/>
          <a:ln/>
        </p:spPr>
        <p:txBody>
          <a:bodyPr wrap="square" lIns="0" tIns="0" rIns="0" bIns="0" rtlCol="0" anchor="ctr"/>
          <a:lstStyle/>
          <a:p>
            <a:pPr algn="r" indent="0" marL="0">
              <a:buNone/>
            </a:pPr>
            <a:r>
              <a:rPr lang="en-US" sz="1400" b="1" dirty="0">
                <a:solidFill>
                  <a:srgbClr val="B97A1F"/>
                </a:solidFill>
                <a:latin typeface="Calibri" pitchFamily="34" charset="0"/>
                <a:ea typeface="Calibri" pitchFamily="34" charset="-122"/>
                <a:cs typeface="Calibri" pitchFamily="34" charset="-120"/>
              </a:rPr>
              <a:t>XX%</a:t>
            </a:r>
            <a:endParaRPr lang="en-US" sz="1400" dirty="0"/>
          </a:p>
        </p:txBody>
      </p:sp>
      <p:sp>
        <p:nvSpPr>
          <p:cNvPr id="46" name="Shape 36"/>
          <p:cNvSpPr/>
          <p:nvPr/>
        </p:nvSpPr>
        <p:spPr>
          <a:xfrm>
            <a:off x="8503920" y="3785616"/>
            <a:ext cx="2999232" cy="182880"/>
          </a:xfrm>
          <a:prstGeom prst="roundRect">
            <a:avLst>
              <a:gd name="adj" fmla="val 50000"/>
            </a:avLst>
          </a:prstGeom>
          <a:solidFill>
            <a:srgbClr val="DDE3EE"/>
          </a:solidFill>
          <a:ln/>
        </p:spPr>
      </p:sp>
      <p:sp>
        <p:nvSpPr>
          <p:cNvPr id="47" name="Shape 37"/>
          <p:cNvSpPr/>
          <p:nvPr/>
        </p:nvSpPr>
        <p:spPr>
          <a:xfrm>
            <a:off x="8503920" y="3785616"/>
            <a:ext cx="1499616" cy="182880"/>
          </a:xfrm>
          <a:prstGeom prst="roundRect">
            <a:avLst>
              <a:gd name="adj" fmla="val 50000"/>
            </a:avLst>
          </a:prstGeom>
          <a:solidFill>
            <a:srgbClr val="F3D9A8"/>
          </a:solidFill>
          <a:ln/>
        </p:spPr>
      </p:sp>
      <p:sp>
        <p:nvSpPr>
          <p:cNvPr id="48" name="Text 38"/>
          <p:cNvSpPr txBox="1"/>
          <p:nvPr/>
        </p:nvSpPr>
        <p:spPr>
          <a:xfrm>
            <a:off x="8503920" y="4023360"/>
            <a:ext cx="2999232" cy="237744"/>
          </a:xfrm>
          <a:prstGeom prst="rect">
            <a:avLst/>
          </a:prstGeom>
          <a:noFill/>
          <a:ln/>
        </p:spPr>
        <p:txBody>
          <a:bodyPr wrap="square" lIns="0" tIns="0" rIns="0" bIns="0" rtlCol="0" anchor="ctr"/>
          <a:lstStyle/>
          <a:p>
            <a:pPr indent="0" marL="0">
              <a:buNone/>
            </a:pPr>
            <a:r>
              <a:rPr lang="en-US" sz="1100" dirty="0">
                <a:solidFill>
                  <a:srgbClr val="B97A1F"/>
                </a:solidFill>
                <a:latin typeface="Calibri" pitchFamily="34" charset="0"/>
                <a:ea typeface="Calibri" pitchFamily="34" charset="-122"/>
                <a:cs typeface="Calibri" pitchFamily="34" charset="-120"/>
              </a:rPr>
              <a:t>14K avg EPS of XX licensed EPS</a:t>
            </a:r>
            <a:endParaRPr lang="en-US" sz="1100" dirty="0"/>
          </a:p>
        </p:txBody>
      </p:sp>
      <p:sp>
        <p:nvSpPr>
          <p:cNvPr id="49" name="Shape 39"/>
          <p:cNvSpPr/>
          <p:nvPr/>
        </p:nvSpPr>
        <p:spPr>
          <a:xfrm>
            <a:off x="8275320" y="4663440"/>
            <a:ext cx="1645920" cy="1143000"/>
          </a:xfrm>
          <a:prstGeom prst="roundRect">
            <a:avLst>
              <a:gd name="adj" fmla="val 5600"/>
            </a:avLst>
          </a:prstGeom>
          <a:solidFill>
            <a:srgbClr val="F4F7FC"/>
          </a:solidFill>
          <a:ln w="9525">
            <a:solidFill>
              <a:srgbClr val="DCE3EE"/>
            </a:solidFill>
            <a:prstDash val="solid"/>
          </a:ln>
        </p:spPr>
      </p:sp>
      <p:sp>
        <p:nvSpPr>
          <p:cNvPr id="50" name="Shape 40"/>
          <p:cNvSpPr/>
          <p:nvPr/>
        </p:nvSpPr>
        <p:spPr>
          <a:xfrm>
            <a:off x="8458200" y="5006340"/>
            <a:ext cx="457200" cy="457200"/>
          </a:xfrm>
          <a:prstGeom prst="ellipse">
            <a:avLst/>
          </a:prstGeom>
          <a:solidFill>
            <a:srgbClr val="FFFFFF"/>
          </a:solidFill>
          <a:ln/>
        </p:spPr>
      </p:sp>
      <p:pic>
        <p:nvPicPr>
          <p:cNvPr id="51" name="Image 1" descr="preencoded.png">    </p:cNvPr>
          <p:cNvPicPr>
            <a:picLocks noChangeAspect="1"/>
          </p:cNvPicPr>
          <p:nvPr/>
        </p:nvPicPr>
        <p:blipFill>
          <a:blip r:embed="rId9"/>
          <a:stretch>
            <a:fillRect/>
          </a:stretch>
        </p:blipFill>
        <p:spPr>
          <a:xfrm>
            <a:off x="8567928" y="5116068"/>
            <a:ext cx="237744" cy="237744"/>
          </a:xfrm>
          <a:prstGeom prst="rect">
            <a:avLst/>
          </a:prstGeom>
        </p:spPr>
      </p:pic>
      <p:sp>
        <p:nvSpPr>
          <p:cNvPr id="52" name="Text 41"/>
          <p:cNvSpPr txBox="1"/>
          <p:nvPr/>
        </p:nvSpPr>
        <p:spPr>
          <a:xfrm>
            <a:off x="9061704" y="4663440"/>
            <a:ext cx="749808" cy="1143000"/>
          </a:xfrm>
          <a:prstGeom prst="rect">
            <a:avLst/>
          </a:prstGeom>
          <a:noFill/>
          <a:ln/>
        </p:spPr>
        <p:txBody>
          <a:bodyPr wrap="square" lIns="0" tIns="0" rIns="0" bIns="0" rtlCol="0" anchor="ctr"/>
          <a:lstStyle/>
          <a:p>
            <a:pPr algn="l" indent="0" marL="0">
              <a:buNone/>
            </a:pPr>
            <a:r>
              <a:rPr lang="en-US" sz="2000" b="1" dirty="0">
                <a:solidFill>
                  <a:srgbClr val="1B2A4A"/>
                </a:solidFill>
                <a:latin typeface="Calibri" pitchFamily="34" charset="0"/>
                <a:ea typeface="Calibri" pitchFamily="34" charset="-122"/>
                <a:cs typeface="Calibri" pitchFamily="34" charset="-120"/>
              </a:rPr>
              <a:t>3,258</a:t>
            </a:r>
            <a:endParaRPr lang="en-US" sz="2000" dirty="0"/>
          </a:p>
          <a:p>
            <a:pPr algn="l" indent="0" marL="0">
              <a:buNone/>
            </a:pPr>
            <a:r>
              <a:rPr lang="en-US" sz="1200" dirty="0">
                <a:solidFill>
                  <a:srgbClr val="64748B"/>
                </a:solidFill>
                <a:latin typeface="Calibri" pitchFamily="34" charset="0"/>
                <a:ea typeface="Calibri" pitchFamily="34" charset="-122"/>
                <a:cs typeface="Calibri" pitchFamily="34" charset="-120"/>
              </a:rPr>
              <a:t>Log sources</a:t>
            </a:r>
            <a:endParaRPr lang="en-US" sz="2000" dirty="0"/>
          </a:p>
        </p:txBody>
      </p:sp>
      <p:sp>
        <p:nvSpPr>
          <p:cNvPr id="53" name="Shape 42"/>
          <p:cNvSpPr/>
          <p:nvPr/>
        </p:nvSpPr>
        <p:spPr>
          <a:xfrm>
            <a:off x="10085832" y="4663440"/>
            <a:ext cx="1645920" cy="1143000"/>
          </a:xfrm>
          <a:prstGeom prst="roundRect">
            <a:avLst>
              <a:gd name="adj" fmla="val 5600"/>
            </a:avLst>
          </a:prstGeom>
          <a:solidFill>
            <a:srgbClr val="F4F7FC"/>
          </a:solidFill>
          <a:ln w="9525">
            <a:solidFill>
              <a:srgbClr val="DCE3EE"/>
            </a:solidFill>
            <a:prstDash val="solid"/>
          </a:ln>
        </p:spPr>
      </p:sp>
      <p:sp>
        <p:nvSpPr>
          <p:cNvPr id="54" name="Shape 43"/>
          <p:cNvSpPr/>
          <p:nvPr/>
        </p:nvSpPr>
        <p:spPr>
          <a:xfrm>
            <a:off x="10268712" y="5006340"/>
            <a:ext cx="457200" cy="457200"/>
          </a:xfrm>
          <a:prstGeom prst="ellipse">
            <a:avLst/>
          </a:prstGeom>
          <a:solidFill>
            <a:srgbClr val="FFFFFF"/>
          </a:solidFill>
          <a:ln/>
        </p:spPr>
      </p:sp>
      <p:pic>
        <p:nvPicPr>
          <p:cNvPr id="55" name="Image 2" descr="preencoded.png">    </p:cNvPr>
          <p:cNvPicPr>
            <a:picLocks noChangeAspect="1"/>
          </p:cNvPicPr>
          <p:nvPr/>
        </p:nvPicPr>
        <p:blipFill>
          <a:blip r:embed="rId10"/>
          <a:stretch>
            <a:fillRect/>
          </a:stretch>
        </p:blipFill>
        <p:spPr>
          <a:xfrm>
            <a:off x="10378440" y="5116068"/>
            <a:ext cx="237744" cy="237744"/>
          </a:xfrm>
          <a:prstGeom prst="rect">
            <a:avLst/>
          </a:prstGeom>
        </p:spPr>
      </p:pic>
      <p:sp>
        <p:nvSpPr>
          <p:cNvPr id="56" name="Text 44"/>
          <p:cNvSpPr txBox="1"/>
          <p:nvPr/>
        </p:nvSpPr>
        <p:spPr>
          <a:xfrm>
            <a:off x="10872216" y="4663440"/>
            <a:ext cx="749808" cy="1143000"/>
          </a:xfrm>
          <a:prstGeom prst="rect">
            <a:avLst/>
          </a:prstGeom>
          <a:noFill/>
          <a:ln/>
        </p:spPr>
        <p:txBody>
          <a:bodyPr wrap="square" lIns="0" tIns="0" rIns="0" bIns="0" rtlCol="0" anchor="ctr"/>
          <a:lstStyle/>
          <a:p>
            <a:pPr algn="l" indent="0" marL="0">
              <a:buNone/>
            </a:pPr>
            <a:r>
              <a:rPr lang="en-US" sz="2000" b="1" dirty="0">
                <a:solidFill>
                  <a:srgbClr val="1B2A4A"/>
                </a:solidFill>
                <a:latin typeface="Calibri" pitchFamily="34" charset="0"/>
                <a:ea typeface="Calibri" pitchFamily="34" charset="-122"/>
                <a:cs typeface="Calibri" pitchFamily="34" charset="-120"/>
              </a:rPr>
              <a:t>675</a:t>
            </a:r>
            <a:endParaRPr lang="en-US" sz="2000" dirty="0"/>
          </a:p>
          <a:p>
            <a:pPr algn="l" indent="0" marL="0">
              <a:buNone/>
            </a:pPr>
            <a:r>
              <a:rPr lang="en-US" sz="1200" dirty="0">
                <a:solidFill>
                  <a:srgbClr val="64748B"/>
                </a:solidFill>
                <a:latin typeface="Calibri" pitchFamily="34" charset="0"/>
                <a:ea typeface="Calibri" pitchFamily="34" charset="-122"/>
                <a:cs typeface="Calibri" pitchFamily="34" charset="-120"/>
              </a:rPr>
              <a:t>New this quarter</a:t>
            </a:r>
            <a:endParaRPr lang="en-US" sz="2000" dirty="0"/>
          </a:p>
        </p:txBody>
      </p:sp>
      <p:sp>
        <p:nvSpPr>
          <p:cNvPr id="57" name="Shape 45"/>
          <p:cNvSpPr/>
          <p:nvPr/>
        </p:nvSpPr>
        <p:spPr>
          <a:xfrm>
            <a:off x="457200" y="5925312"/>
            <a:ext cx="11274552" cy="402336"/>
          </a:xfrm>
          <a:prstGeom prst="roundRect">
            <a:avLst>
              <a:gd name="adj" fmla="val 18182"/>
            </a:avLst>
          </a:prstGeom>
          <a:solidFill>
            <a:srgbClr val="EEF3FA"/>
          </a:solidFill>
          <a:ln/>
        </p:spPr>
      </p:sp>
      <p:pic>
        <p:nvPicPr>
          <p:cNvPr id="58" name="Image 3" descr="preencoded.png">    </p:cNvPr>
          <p:cNvPicPr>
            <a:picLocks noChangeAspect="1"/>
          </p:cNvPicPr>
          <p:nvPr/>
        </p:nvPicPr>
        <p:blipFill>
          <a:blip r:embed="rId11"/>
          <a:stretch>
            <a:fillRect/>
          </a:stretch>
        </p:blipFill>
        <p:spPr>
          <a:xfrm>
            <a:off x="640080" y="6025896"/>
            <a:ext cx="201168" cy="201168"/>
          </a:xfrm>
          <a:prstGeom prst="rect">
            <a:avLst/>
          </a:prstGeom>
        </p:spPr>
      </p:pic>
      <p:sp>
        <p:nvSpPr>
          <p:cNvPr id="59" name="Text 46"/>
          <p:cNvSpPr txBox="1"/>
          <p:nvPr/>
        </p:nvSpPr>
        <p:spPr>
          <a:xfrm>
            <a:off x="960120" y="5925312"/>
            <a:ext cx="10607040" cy="402336"/>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Coverage benchmark: </a:t>
            </a:r>
            <a:pPr indent="0" marL="0">
              <a:buNone/>
            </a:pPr>
            <a:r>
              <a:rPr lang="en-US" sz="1100" dirty="0">
                <a:solidFill>
                  <a:srgbClr val="64748B"/>
                </a:solidFill>
                <a:latin typeface="Calibri" pitchFamily="34" charset="0"/>
                <a:ea typeface="Calibri" pitchFamily="34" charset="-122"/>
                <a:cs typeface="Calibri" pitchFamily="34" charset="-120"/>
              </a:rPr>
              <a:t>90% and above is the target. 100% is not attainable in a dynamic environment where assets are continuously onboarded and decommissioned.</a:t>
            </a:r>
            <a:endParaRPr lang="en-US" sz="11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457200" y="310896"/>
            <a:ext cx="530352" cy="530352"/>
          </a:xfrm>
          <a:prstGeom prst="ellipse">
            <a:avLst/>
          </a:prstGeom>
          <a:solidFill>
            <a:srgbClr val="1B2A4A"/>
          </a:solidFill>
          <a:ln/>
        </p:spPr>
      </p:sp>
      <p:pic>
        <p:nvPicPr>
          <p:cNvPr id="3" name="Image 0" descr="preencoded.png">    </p:cNvPr>
          <p:cNvPicPr>
            <a:picLocks noChangeAspect="1"/>
          </p:cNvPicPr>
          <p:nvPr/>
        </p:nvPicPr>
        <p:blipFill>
          <a:blip r:embed="rId1"/>
          <a:stretch>
            <a:fillRect/>
          </a:stretch>
        </p:blipFill>
        <p:spPr>
          <a:xfrm>
            <a:off x="589788" y="443484"/>
            <a:ext cx="265176" cy="265176"/>
          </a:xfrm>
          <a:prstGeom prst="rect">
            <a:avLst/>
          </a:prstGeom>
        </p:spPr>
      </p:pic>
      <p:sp>
        <p:nvSpPr>
          <p:cNvPr id="4" name="Text 1"/>
          <p:cNvSpPr/>
          <p:nvPr>
            <p:ph idx="101" type="title" hasCustomPrompt="1"/>
          </p:nvPr>
        </p:nvSpPr>
        <p:spPr>
          <a:xfrm>
            <a:off x="1143000" y="274320"/>
            <a:ext cx="7223760" cy="603504"/>
          </a:xfrm>
          <a:prstGeom prst="rect">
            <a:avLst/>
          </a:prstGeom>
          <a:noFill/>
          <a:ln/>
        </p:spPr>
        <p:txBody>
          <a:bodyPr wrap="square" lIns="0" tIns="0" rIns="0" bIns="0" rtlCol="0" anchor="ctr"/>
          <a:lstStyle/>
          <a:p>
            <a:pPr algn="l" indent="0" marL="0">
              <a:buNone/>
            </a:pPr>
            <a:r>
              <a:rPr lang="en-US" sz="3000" b="1" dirty="0">
                <a:solidFill>
                  <a:srgbClr val="1B2A4A"/>
                </a:solidFill>
                <a:latin typeface="Calibri" pitchFamily="34" charset="0"/>
                <a:ea typeface="Calibri" pitchFamily="34" charset="-122"/>
                <a:cs typeface="Calibri" pitchFamily="34" charset="-120"/>
              </a:rPr>
              <a:t>SOAR: Automation Status</a:t>
            </a:r>
            <a:endParaRPr lang="en-US" sz="3000" dirty="0"/>
          </a:p>
        </p:txBody>
      </p:sp>
      <p:sp>
        <p:nvSpPr>
          <p:cNvPr id="5" name="Text 2"/>
          <p:cNvSpPr txBox="1"/>
          <p:nvPr/>
        </p:nvSpPr>
        <p:spPr>
          <a:xfrm>
            <a:off x="8458200" y="384048"/>
            <a:ext cx="3273552" cy="384048"/>
          </a:xfrm>
          <a:prstGeom prst="rect">
            <a:avLst/>
          </a:prstGeom>
          <a:noFill/>
          <a:ln/>
        </p:spPr>
        <p:txBody>
          <a:bodyPr wrap="square" lIns="0" tIns="0" rIns="0" bIns="0" rtlCol="0" anchor="ctr"/>
          <a:lstStyle/>
          <a:p>
            <a:pPr algn="r" indent="0" marL="0">
              <a:buNone/>
            </a:pPr>
            <a:r>
              <a:rPr lang="en-US" sz="1200" dirty="0">
                <a:solidFill>
                  <a:srgbClr val="64748B"/>
                </a:solidFill>
                <a:latin typeface="Calibri" pitchFamily="34" charset="0"/>
                <a:ea typeface="Calibri" pitchFamily="34" charset="-122"/>
                <a:cs typeface="Calibri" pitchFamily="34" charset="-120"/>
              </a:rPr>
              <a:t>SOC Technology  |  SOAR</a:t>
            </a:r>
            <a:endParaRPr lang="en-US" sz="1200" dirty="0"/>
          </a:p>
        </p:txBody>
      </p:sp>
      <p:sp>
        <p:nvSpPr>
          <p:cNvPr id="6" name="Text 3"/>
          <p:cNvSpPr txBox="1"/>
          <p:nvPr/>
        </p:nvSpPr>
        <p:spPr>
          <a:xfrm>
            <a:off x="457200" y="932688"/>
            <a:ext cx="11274552" cy="310896"/>
          </a:xfrm>
          <a:prstGeom prst="rect">
            <a:avLst/>
          </a:prstGeom>
          <a:noFill/>
          <a:ln/>
        </p:spPr>
        <p:txBody>
          <a:bodyPr wrap="square" lIns="0" tIns="0" rIns="0" bIns="0" rtlCol="0" anchor="ctr"/>
          <a:lstStyle/>
          <a:p>
            <a:pPr indent="0" marL="0">
              <a:buNone/>
            </a:pPr>
            <a:r>
              <a:rPr lang="en-US" sz="1500" dirty="0">
                <a:solidFill>
                  <a:srgbClr val="64748B"/>
                </a:solidFill>
                <a:latin typeface="Calibri" pitchFamily="34" charset="0"/>
                <a:ea typeface="Calibri" pitchFamily="34" charset="-122"/>
                <a:cs typeface="Calibri" pitchFamily="34" charset="-120"/>
              </a:rPr>
              <a:t>Playbook automation across the alert-to-closure workflow</a:t>
            </a:r>
            <a:endParaRPr lang="en-US" sz="1500" dirty="0"/>
          </a:p>
        </p:txBody>
      </p:sp>
      <p:sp>
        <p:nvSpPr>
          <p:cNvPr id="7" name="Shape 4"/>
          <p:cNvSpPr/>
          <p:nvPr/>
        </p:nvSpPr>
        <p:spPr>
          <a:xfrm>
            <a:off x="457200" y="1463040"/>
            <a:ext cx="2651760" cy="1188720"/>
          </a:xfrm>
          <a:prstGeom prst="roundRect">
            <a:avLst>
              <a:gd name="adj" fmla="val 5385"/>
            </a:avLst>
          </a:prstGeom>
          <a:solidFill>
            <a:srgbClr val="F4F7FC"/>
          </a:solidFill>
          <a:ln w="9525">
            <a:solidFill>
              <a:srgbClr val="DCE3EE"/>
            </a:solidFill>
            <a:prstDash val="solid"/>
          </a:ln>
        </p:spPr>
      </p:sp>
      <p:sp>
        <p:nvSpPr>
          <p:cNvPr id="8" name="Shape 5"/>
          <p:cNvSpPr/>
          <p:nvPr/>
        </p:nvSpPr>
        <p:spPr>
          <a:xfrm>
            <a:off x="640080" y="1828800"/>
            <a:ext cx="457200" cy="457200"/>
          </a:xfrm>
          <a:prstGeom prst="ellipse">
            <a:avLst/>
          </a:prstGeom>
          <a:solidFill>
            <a:srgbClr val="FFFFFF"/>
          </a:solidFill>
          <a:ln/>
        </p:spPr>
      </p:sp>
      <p:pic>
        <p:nvPicPr>
          <p:cNvPr id="9" name="Image 1" descr="preencoded.png">    </p:cNvPr>
          <p:cNvPicPr>
            <a:picLocks noChangeAspect="1"/>
          </p:cNvPicPr>
          <p:nvPr/>
        </p:nvPicPr>
        <p:blipFill>
          <a:blip r:embed="rId2"/>
          <a:stretch>
            <a:fillRect/>
          </a:stretch>
        </p:blipFill>
        <p:spPr>
          <a:xfrm>
            <a:off x="749808" y="1938528"/>
            <a:ext cx="237744" cy="237744"/>
          </a:xfrm>
          <a:prstGeom prst="rect">
            <a:avLst/>
          </a:prstGeom>
        </p:spPr>
      </p:pic>
      <p:sp>
        <p:nvSpPr>
          <p:cNvPr id="10" name="Text 6"/>
          <p:cNvSpPr txBox="1"/>
          <p:nvPr/>
        </p:nvSpPr>
        <p:spPr>
          <a:xfrm>
            <a:off x="1243584" y="1463040"/>
            <a:ext cx="1755648" cy="1188720"/>
          </a:xfrm>
          <a:prstGeom prst="rect">
            <a:avLst/>
          </a:prstGeom>
          <a:noFill/>
          <a:ln/>
        </p:spPr>
        <p:txBody>
          <a:bodyPr wrap="square" lIns="0" tIns="0" rIns="0" bIns="0" rtlCol="0" anchor="ctr"/>
          <a:lstStyle/>
          <a:p>
            <a:pPr algn="l" indent="0" marL="0">
              <a:buNone/>
            </a:pPr>
            <a:r>
              <a:rPr lang="en-US" sz="2600" b="1" dirty="0">
                <a:solidFill>
                  <a:srgbClr val="B97A1F"/>
                </a:solidFill>
                <a:latin typeface="Calibri" pitchFamily="34" charset="0"/>
                <a:ea typeface="Calibri" pitchFamily="34" charset="-122"/>
                <a:cs typeface="Calibri" pitchFamily="34" charset="-120"/>
              </a:rPr>
              <a:t>XX</a:t>
            </a:r>
            <a:endParaRPr lang="en-US" sz="2600" dirty="0"/>
          </a:p>
          <a:p>
            <a:pPr algn="l" indent="0" marL="0">
              <a:buNone/>
            </a:pPr>
            <a:r>
              <a:rPr lang="en-US" sz="1200" dirty="0">
                <a:solidFill>
                  <a:srgbClr val="64748B"/>
                </a:solidFill>
                <a:latin typeface="Calibri" pitchFamily="34" charset="0"/>
                <a:ea typeface="Calibri" pitchFamily="34" charset="-122"/>
                <a:cs typeface="Calibri" pitchFamily="34" charset="-120"/>
              </a:rPr>
              <a:t>Active playbooks</a:t>
            </a:r>
            <a:endParaRPr lang="en-US" sz="2600" dirty="0"/>
          </a:p>
        </p:txBody>
      </p:sp>
      <p:sp>
        <p:nvSpPr>
          <p:cNvPr id="11" name="Shape 7"/>
          <p:cNvSpPr/>
          <p:nvPr/>
        </p:nvSpPr>
        <p:spPr>
          <a:xfrm>
            <a:off x="3331464" y="1463040"/>
            <a:ext cx="2651760" cy="1188720"/>
          </a:xfrm>
          <a:prstGeom prst="roundRect">
            <a:avLst>
              <a:gd name="adj" fmla="val 5385"/>
            </a:avLst>
          </a:prstGeom>
          <a:solidFill>
            <a:srgbClr val="F4F7FC"/>
          </a:solidFill>
          <a:ln w="9525">
            <a:solidFill>
              <a:srgbClr val="DCE3EE"/>
            </a:solidFill>
            <a:prstDash val="solid"/>
          </a:ln>
        </p:spPr>
      </p:sp>
      <p:sp>
        <p:nvSpPr>
          <p:cNvPr id="12" name="Shape 8"/>
          <p:cNvSpPr/>
          <p:nvPr/>
        </p:nvSpPr>
        <p:spPr>
          <a:xfrm>
            <a:off x="3514344" y="1828800"/>
            <a:ext cx="457200" cy="457200"/>
          </a:xfrm>
          <a:prstGeom prst="ellipse">
            <a:avLst/>
          </a:prstGeom>
          <a:solidFill>
            <a:srgbClr val="FFFFFF"/>
          </a:solidFill>
          <a:ln/>
        </p:spPr>
      </p:sp>
      <p:pic>
        <p:nvPicPr>
          <p:cNvPr id="13" name="Image 2" descr="preencoded.png">    </p:cNvPr>
          <p:cNvPicPr>
            <a:picLocks noChangeAspect="1"/>
          </p:cNvPicPr>
          <p:nvPr/>
        </p:nvPicPr>
        <p:blipFill>
          <a:blip r:embed="rId3"/>
          <a:stretch>
            <a:fillRect/>
          </a:stretch>
        </p:blipFill>
        <p:spPr>
          <a:xfrm>
            <a:off x="3624072" y="1938528"/>
            <a:ext cx="237744" cy="237744"/>
          </a:xfrm>
          <a:prstGeom prst="rect">
            <a:avLst/>
          </a:prstGeom>
        </p:spPr>
      </p:pic>
      <p:sp>
        <p:nvSpPr>
          <p:cNvPr id="14" name="Text 9"/>
          <p:cNvSpPr txBox="1"/>
          <p:nvPr/>
        </p:nvSpPr>
        <p:spPr>
          <a:xfrm>
            <a:off x="4117848" y="1463040"/>
            <a:ext cx="1755648" cy="1188720"/>
          </a:xfrm>
          <a:prstGeom prst="rect">
            <a:avLst/>
          </a:prstGeom>
          <a:noFill/>
          <a:ln/>
        </p:spPr>
        <p:txBody>
          <a:bodyPr wrap="square" lIns="0" tIns="0" rIns="0" bIns="0" rtlCol="0" anchor="ctr"/>
          <a:lstStyle/>
          <a:p>
            <a:pPr algn="l" indent="0" marL="0">
              <a:buNone/>
            </a:pPr>
            <a:r>
              <a:rPr lang="en-US" sz="2600" b="1" dirty="0">
                <a:solidFill>
                  <a:srgbClr val="B97A1F"/>
                </a:solidFill>
                <a:latin typeface="Calibri" pitchFamily="34" charset="0"/>
                <a:ea typeface="Calibri" pitchFamily="34" charset="-122"/>
                <a:cs typeface="Calibri" pitchFamily="34" charset="-120"/>
              </a:rPr>
              <a:t>XX</a:t>
            </a:r>
            <a:endParaRPr lang="en-US" sz="2600" dirty="0"/>
          </a:p>
          <a:p>
            <a:pPr algn="l" indent="0" marL="0">
              <a:buNone/>
            </a:pPr>
            <a:r>
              <a:rPr lang="en-US" sz="1200" dirty="0">
                <a:solidFill>
                  <a:srgbClr val="64748B"/>
                </a:solidFill>
                <a:latin typeface="Calibri" pitchFamily="34" charset="0"/>
                <a:ea typeface="Calibri" pitchFamily="34" charset="-122"/>
                <a:cs typeface="Calibri" pitchFamily="34" charset="-120"/>
              </a:rPr>
              <a:t>Integrated tools</a:t>
            </a:r>
            <a:endParaRPr lang="en-US" sz="2600" dirty="0"/>
          </a:p>
        </p:txBody>
      </p:sp>
      <p:sp>
        <p:nvSpPr>
          <p:cNvPr id="15" name="Shape 10"/>
          <p:cNvSpPr/>
          <p:nvPr/>
        </p:nvSpPr>
        <p:spPr>
          <a:xfrm>
            <a:off x="6205728" y="1463040"/>
            <a:ext cx="2651760" cy="1188720"/>
          </a:xfrm>
          <a:prstGeom prst="roundRect">
            <a:avLst>
              <a:gd name="adj" fmla="val 5385"/>
            </a:avLst>
          </a:prstGeom>
          <a:solidFill>
            <a:srgbClr val="F4F7FC"/>
          </a:solidFill>
          <a:ln w="9525">
            <a:solidFill>
              <a:srgbClr val="DCE3EE"/>
            </a:solidFill>
            <a:prstDash val="solid"/>
          </a:ln>
        </p:spPr>
      </p:sp>
      <p:sp>
        <p:nvSpPr>
          <p:cNvPr id="16" name="Shape 11"/>
          <p:cNvSpPr/>
          <p:nvPr/>
        </p:nvSpPr>
        <p:spPr>
          <a:xfrm>
            <a:off x="6388608" y="1828800"/>
            <a:ext cx="457200" cy="457200"/>
          </a:xfrm>
          <a:prstGeom prst="ellipse">
            <a:avLst/>
          </a:prstGeom>
          <a:solidFill>
            <a:srgbClr val="FFFFFF"/>
          </a:solidFill>
          <a:ln/>
        </p:spPr>
      </p:sp>
      <p:pic>
        <p:nvPicPr>
          <p:cNvPr id="17" name="Image 3" descr="preencoded.png">    </p:cNvPr>
          <p:cNvPicPr>
            <a:picLocks noChangeAspect="1"/>
          </p:cNvPicPr>
          <p:nvPr/>
        </p:nvPicPr>
        <p:blipFill>
          <a:blip r:embed="rId4"/>
          <a:stretch>
            <a:fillRect/>
          </a:stretch>
        </p:blipFill>
        <p:spPr>
          <a:xfrm>
            <a:off x="6498336" y="1938528"/>
            <a:ext cx="237744" cy="237744"/>
          </a:xfrm>
          <a:prstGeom prst="rect">
            <a:avLst/>
          </a:prstGeom>
        </p:spPr>
      </p:pic>
      <p:sp>
        <p:nvSpPr>
          <p:cNvPr id="18" name="Text 12"/>
          <p:cNvSpPr txBox="1"/>
          <p:nvPr/>
        </p:nvSpPr>
        <p:spPr>
          <a:xfrm>
            <a:off x="6992112" y="1463040"/>
            <a:ext cx="1755648" cy="1188720"/>
          </a:xfrm>
          <a:prstGeom prst="rect">
            <a:avLst/>
          </a:prstGeom>
          <a:noFill/>
          <a:ln/>
        </p:spPr>
        <p:txBody>
          <a:bodyPr wrap="square" lIns="0" tIns="0" rIns="0" bIns="0" rtlCol="0" anchor="ctr"/>
          <a:lstStyle/>
          <a:p>
            <a:pPr algn="l" indent="0" marL="0">
              <a:buNone/>
            </a:pPr>
            <a:r>
              <a:rPr lang="en-US" sz="2600" b="1" dirty="0">
                <a:solidFill>
                  <a:srgbClr val="B97A1F"/>
                </a:solidFill>
                <a:latin typeface="Calibri" pitchFamily="34" charset="0"/>
                <a:ea typeface="Calibri" pitchFamily="34" charset="-122"/>
                <a:cs typeface="Calibri" pitchFamily="34" charset="-120"/>
              </a:rPr>
              <a:t>XX%</a:t>
            </a:r>
            <a:endParaRPr lang="en-US" sz="2600" dirty="0"/>
          </a:p>
          <a:p>
            <a:pPr algn="l" indent="0" marL="0">
              <a:buNone/>
            </a:pPr>
            <a:r>
              <a:rPr lang="en-US" sz="1200" dirty="0">
                <a:solidFill>
                  <a:srgbClr val="64748B"/>
                </a:solidFill>
                <a:latin typeface="Calibri" pitchFamily="34" charset="0"/>
                <a:ea typeface="Calibri" pitchFamily="34" charset="-122"/>
                <a:cs typeface="Calibri" pitchFamily="34" charset="-120"/>
              </a:rPr>
              <a:t>Alerts handled automatically</a:t>
            </a:r>
            <a:endParaRPr lang="en-US" sz="2600" dirty="0"/>
          </a:p>
        </p:txBody>
      </p:sp>
      <p:sp>
        <p:nvSpPr>
          <p:cNvPr id="19" name="Shape 13"/>
          <p:cNvSpPr/>
          <p:nvPr/>
        </p:nvSpPr>
        <p:spPr>
          <a:xfrm>
            <a:off x="9079992" y="1463040"/>
            <a:ext cx="2651760" cy="1188720"/>
          </a:xfrm>
          <a:prstGeom prst="roundRect">
            <a:avLst>
              <a:gd name="adj" fmla="val 5385"/>
            </a:avLst>
          </a:prstGeom>
          <a:solidFill>
            <a:srgbClr val="F4F7FC"/>
          </a:solidFill>
          <a:ln w="9525">
            <a:solidFill>
              <a:srgbClr val="DCE3EE"/>
            </a:solidFill>
            <a:prstDash val="solid"/>
          </a:ln>
        </p:spPr>
      </p:sp>
      <p:sp>
        <p:nvSpPr>
          <p:cNvPr id="20" name="Shape 14"/>
          <p:cNvSpPr/>
          <p:nvPr/>
        </p:nvSpPr>
        <p:spPr>
          <a:xfrm>
            <a:off x="9262872" y="1828800"/>
            <a:ext cx="457200" cy="457200"/>
          </a:xfrm>
          <a:prstGeom prst="ellipse">
            <a:avLst/>
          </a:prstGeom>
          <a:solidFill>
            <a:srgbClr val="FFFFFF"/>
          </a:solidFill>
          <a:ln/>
        </p:spPr>
      </p:sp>
      <p:pic>
        <p:nvPicPr>
          <p:cNvPr id="21" name="Image 4" descr="preencoded.png">    </p:cNvPr>
          <p:cNvPicPr>
            <a:picLocks noChangeAspect="1"/>
          </p:cNvPicPr>
          <p:nvPr/>
        </p:nvPicPr>
        <p:blipFill>
          <a:blip r:embed="rId5"/>
          <a:stretch>
            <a:fillRect/>
          </a:stretch>
        </p:blipFill>
        <p:spPr>
          <a:xfrm>
            <a:off x="9372600" y="1938528"/>
            <a:ext cx="237744" cy="237744"/>
          </a:xfrm>
          <a:prstGeom prst="rect">
            <a:avLst/>
          </a:prstGeom>
        </p:spPr>
      </p:pic>
      <p:sp>
        <p:nvSpPr>
          <p:cNvPr id="22" name="Text 15"/>
          <p:cNvSpPr txBox="1"/>
          <p:nvPr/>
        </p:nvSpPr>
        <p:spPr>
          <a:xfrm>
            <a:off x="9866376" y="1463040"/>
            <a:ext cx="1755648" cy="1188720"/>
          </a:xfrm>
          <a:prstGeom prst="rect">
            <a:avLst/>
          </a:prstGeom>
          <a:noFill/>
          <a:ln/>
        </p:spPr>
        <p:txBody>
          <a:bodyPr wrap="square" lIns="0" tIns="0" rIns="0" bIns="0" rtlCol="0" anchor="ctr"/>
          <a:lstStyle/>
          <a:p>
            <a:pPr algn="l" indent="0" marL="0">
              <a:buNone/>
            </a:pPr>
            <a:r>
              <a:rPr lang="en-US" sz="2600" b="1" dirty="0">
                <a:solidFill>
                  <a:srgbClr val="B97A1F"/>
                </a:solidFill>
                <a:latin typeface="Calibri" pitchFamily="34" charset="0"/>
                <a:ea typeface="Calibri" pitchFamily="34" charset="-122"/>
                <a:cs typeface="Calibri" pitchFamily="34" charset="-120"/>
              </a:rPr>
              <a:t>XX min</a:t>
            </a:r>
            <a:endParaRPr lang="en-US" sz="2600" dirty="0"/>
          </a:p>
          <a:p>
            <a:pPr algn="l" indent="0" marL="0">
              <a:buNone/>
            </a:pPr>
            <a:r>
              <a:rPr lang="en-US" sz="1200" dirty="0">
                <a:solidFill>
                  <a:srgbClr val="64748B"/>
                </a:solidFill>
                <a:latin typeface="Calibri" pitchFamily="34" charset="0"/>
                <a:ea typeface="Calibri" pitchFamily="34" charset="-122"/>
                <a:cs typeface="Calibri" pitchFamily="34" charset="-120"/>
              </a:rPr>
              <a:t>Avg. time saved per case</a:t>
            </a:r>
            <a:endParaRPr lang="en-US" sz="2600" dirty="0"/>
          </a:p>
        </p:txBody>
      </p:sp>
      <p:sp>
        <p:nvSpPr>
          <p:cNvPr id="23" name="Shape 16"/>
          <p:cNvSpPr/>
          <p:nvPr/>
        </p:nvSpPr>
        <p:spPr>
          <a:xfrm>
            <a:off x="457200" y="2834640"/>
            <a:ext cx="11274552" cy="1417320"/>
          </a:xfrm>
          <a:prstGeom prst="roundRect">
            <a:avLst>
              <a:gd name="adj" fmla="val 4516"/>
            </a:avLst>
          </a:prstGeom>
          <a:solidFill>
            <a:srgbClr val="F4F7FC"/>
          </a:solidFill>
          <a:ln w="9525">
            <a:solidFill>
              <a:srgbClr val="DCE3EE"/>
            </a:solidFill>
            <a:prstDash val="solid"/>
          </a:ln>
        </p:spPr>
      </p:sp>
      <p:sp>
        <p:nvSpPr>
          <p:cNvPr id="24" name="Shape 17"/>
          <p:cNvSpPr/>
          <p:nvPr/>
        </p:nvSpPr>
        <p:spPr>
          <a:xfrm>
            <a:off x="777240" y="3291840"/>
            <a:ext cx="512064" cy="512064"/>
          </a:xfrm>
          <a:prstGeom prst="ellipse">
            <a:avLst/>
          </a:prstGeom>
          <a:solidFill>
            <a:srgbClr val="1B2A4A"/>
          </a:solidFill>
          <a:ln/>
        </p:spPr>
      </p:sp>
      <p:pic>
        <p:nvPicPr>
          <p:cNvPr id="25" name="Image 5" descr="preencoded.png">    </p:cNvPr>
          <p:cNvPicPr>
            <a:picLocks noChangeAspect="1"/>
          </p:cNvPicPr>
          <p:nvPr/>
        </p:nvPicPr>
        <p:blipFill>
          <a:blip r:embed="rId6"/>
          <a:stretch>
            <a:fillRect/>
          </a:stretch>
        </p:blipFill>
        <p:spPr>
          <a:xfrm>
            <a:off x="905256" y="3419856"/>
            <a:ext cx="256032" cy="256032"/>
          </a:xfrm>
          <a:prstGeom prst="rect">
            <a:avLst/>
          </a:prstGeom>
        </p:spPr>
      </p:pic>
      <p:sp>
        <p:nvSpPr>
          <p:cNvPr id="26" name="Text 18"/>
          <p:cNvSpPr txBox="1"/>
          <p:nvPr/>
        </p:nvSpPr>
        <p:spPr>
          <a:xfrm>
            <a:off x="1371600" y="3291840"/>
            <a:ext cx="1084478" cy="512064"/>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Alert</a:t>
            </a:r>
            <a:endParaRPr lang="en-US" sz="1300" dirty="0"/>
          </a:p>
        </p:txBody>
      </p:sp>
      <p:sp>
        <p:nvSpPr>
          <p:cNvPr id="27" name="Shape 19"/>
          <p:cNvSpPr/>
          <p:nvPr/>
        </p:nvSpPr>
        <p:spPr>
          <a:xfrm>
            <a:off x="2492654" y="3447288"/>
            <a:ext cx="155448" cy="219456"/>
          </a:xfrm>
          <a:prstGeom prst="chevron">
            <a:avLst/>
          </a:prstGeom>
          <a:solidFill>
            <a:srgbClr val="B8C4D9"/>
          </a:solidFill>
          <a:ln/>
        </p:spPr>
      </p:sp>
      <p:sp>
        <p:nvSpPr>
          <p:cNvPr id="28" name="Shape 20"/>
          <p:cNvSpPr/>
          <p:nvPr/>
        </p:nvSpPr>
        <p:spPr>
          <a:xfrm>
            <a:off x="3032150" y="3291840"/>
            <a:ext cx="512064" cy="512064"/>
          </a:xfrm>
          <a:prstGeom prst="ellipse">
            <a:avLst/>
          </a:prstGeom>
          <a:solidFill>
            <a:srgbClr val="2A8C96"/>
          </a:solidFill>
          <a:ln/>
        </p:spPr>
      </p:sp>
      <p:pic>
        <p:nvPicPr>
          <p:cNvPr id="29" name="Image 6" descr="preencoded.png">    </p:cNvPr>
          <p:cNvPicPr>
            <a:picLocks noChangeAspect="1"/>
          </p:cNvPicPr>
          <p:nvPr/>
        </p:nvPicPr>
        <p:blipFill>
          <a:blip r:embed="rId7"/>
          <a:stretch>
            <a:fillRect/>
          </a:stretch>
        </p:blipFill>
        <p:spPr>
          <a:xfrm>
            <a:off x="3160166" y="3419856"/>
            <a:ext cx="256032" cy="256032"/>
          </a:xfrm>
          <a:prstGeom prst="rect">
            <a:avLst/>
          </a:prstGeom>
        </p:spPr>
      </p:pic>
      <p:sp>
        <p:nvSpPr>
          <p:cNvPr id="30" name="Text 21"/>
          <p:cNvSpPr txBox="1"/>
          <p:nvPr/>
        </p:nvSpPr>
        <p:spPr>
          <a:xfrm>
            <a:off x="3626510" y="3291840"/>
            <a:ext cx="1084478" cy="512064"/>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Enrichment</a:t>
            </a:r>
            <a:endParaRPr lang="en-US" sz="1300" dirty="0"/>
          </a:p>
        </p:txBody>
      </p:sp>
      <p:sp>
        <p:nvSpPr>
          <p:cNvPr id="31" name="Shape 22"/>
          <p:cNvSpPr/>
          <p:nvPr/>
        </p:nvSpPr>
        <p:spPr>
          <a:xfrm>
            <a:off x="4747565" y="3447288"/>
            <a:ext cx="155448" cy="219456"/>
          </a:xfrm>
          <a:prstGeom prst="chevron">
            <a:avLst/>
          </a:prstGeom>
          <a:solidFill>
            <a:srgbClr val="B8C4D9"/>
          </a:solidFill>
          <a:ln/>
        </p:spPr>
      </p:sp>
      <p:sp>
        <p:nvSpPr>
          <p:cNvPr id="32" name="Shape 23"/>
          <p:cNvSpPr/>
          <p:nvPr/>
        </p:nvSpPr>
        <p:spPr>
          <a:xfrm>
            <a:off x="5287061" y="3291840"/>
            <a:ext cx="512064" cy="512064"/>
          </a:xfrm>
          <a:prstGeom prst="ellipse">
            <a:avLst/>
          </a:prstGeom>
          <a:solidFill>
            <a:srgbClr val="1B2A4A"/>
          </a:solidFill>
          <a:ln/>
        </p:spPr>
      </p:sp>
      <p:pic>
        <p:nvPicPr>
          <p:cNvPr id="33" name="Image 7" descr="preencoded.png">    </p:cNvPr>
          <p:cNvPicPr>
            <a:picLocks noChangeAspect="1"/>
          </p:cNvPicPr>
          <p:nvPr/>
        </p:nvPicPr>
        <p:blipFill>
          <a:blip r:embed="rId8"/>
          <a:stretch>
            <a:fillRect/>
          </a:stretch>
        </p:blipFill>
        <p:spPr>
          <a:xfrm>
            <a:off x="5415077" y="3419856"/>
            <a:ext cx="256032" cy="256032"/>
          </a:xfrm>
          <a:prstGeom prst="rect">
            <a:avLst/>
          </a:prstGeom>
        </p:spPr>
      </p:pic>
      <p:sp>
        <p:nvSpPr>
          <p:cNvPr id="34" name="Text 24"/>
          <p:cNvSpPr txBox="1"/>
          <p:nvPr/>
        </p:nvSpPr>
        <p:spPr>
          <a:xfrm>
            <a:off x="5881421" y="3291840"/>
            <a:ext cx="1084478" cy="512064"/>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Triage decision</a:t>
            </a:r>
            <a:endParaRPr lang="en-US" sz="1300" dirty="0"/>
          </a:p>
        </p:txBody>
      </p:sp>
      <p:sp>
        <p:nvSpPr>
          <p:cNvPr id="35" name="Shape 25"/>
          <p:cNvSpPr/>
          <p:nvPr/>
        </p:nvSpPr>
        <p:spPr>
          <a:xfrm>
            <a:off x="7002475" y="3447288"/>
            <a:ext cx="155448" cy="219456"/>
          </a:xfrm>
          <a:prstGeom prst="chevron">
            <a:avLst/>
          </a:prstGeom>
          <a:solidFill>
            <a:srgbClr val="B8C4D9"/>
          </a:solidFill>
          <a:ln/>
        </p:spPr>
      </p:sp>
      <p:sp>
        <p:nvSpPr>
          <p:cNvPr id="36" name="Shape 26"/>
          <p:cNvSpPr/>
          <p:nvPr/>
        </p:nvSpPr>
        <p:spPr>
          <a:xfrm>
            <a:off x="7541971" y="3291840"/>
            <a:ext cx="512064" cy="512064"/>
          </a:xfrm>
          <a:prstGeom prst="ellipse">
            <a:avLst/>
          </a:prstGeom>
          <a:solidFill>
            <a:srgbClr val="2A8C96"/>
          </a:solidFill>
          <a:ln/>
        </p:spPr>
      </p:sp>
      <p:pic>
        <p:nvPicPr>
          <p:cNvPr id="37" name="Image 8" descr="preencoded.png">    </p:cNvPr>
          <p:cNvPicPr>
            <a:picLocks noChangeAspect="1"/>
          </p:cNvPicPr>
          <p:nvPr/>
        </p:nvPicPr>
        <p:blipFill>
          <a:blip r:embed="rId9"/>
          <a:stretch>
            <a:fillRect/>
          </a:stretch>
        </p:blipFill>
        <p:spPr>
          <a:xfrm>
            <a:off x="7669987" y="3419856"/>
            <a:ext cx="256032" cy="256032"/>
          </a:xfrm>
          <a:prstGeom prst="rect">
            <a:avLst/>
          </a:prstGeom>
        </p:spPr>
      </p:pic>
      <p:sp>
        <p:nvSpPr>
          <p:cNvPr id="38" name="Text 27"/>
          <p:cNvSpPr txBox="1"/>
          <p:nvPr/>
        </p:nvSpPr>
        <p:spPr>
          <a:xfrm>
            <a:off x="8136331" y="3291840"/>
            <a:ext cx="1084478" cy="512064"/>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Containment</a:t>
            </a:r>
            <a:endParaRPr lang="en-US" sz="1300" dirty="0"/>
          </a:p>
        </p:txBody>
      </p:sp>
      <p:sp>
        <p:nvSpPr>
          <p:cNvPr id="39" name="Shape 28"/>
          <p:cNvSpPr/>
          <p:nvPr/>
        </p:nvSpPr>
        <p:spPr>
          <a:xfrm>
            <a:off x="9257386" y="3447288"/>
            <a:ext cx="155448" cy="219456"/>
          </a:xfrm>
          <a:prstGeom prst="chevron">
            <a:avLst/>
          </a:prstGeom>
          <a:solidFill>
            <a:srgbClr val="B8C4D9"/>
          </a:solidFill>
          <a:ln/>
        </p:spPr>
      </p:sp>
      <p:sp>
        <p:nvSpPr>
          <p:cNvPr id="40" name="Shape 29"/>
          <p:cNvSpPr/>
          <p:nvPr/>
        </p:nvSpPr>
        <p:spPr>
          <a:xfrm>
            <a:off x="9796882" y="3291840"/>
            <a:ext cx="512064" cy="512064"/>
          </a:xfrm>
          <a:prstGeom prst="ellipse">
            <a:avLst/>
          </a:prstGeom>
          <a:solidFill>
            <a:srgbClr val="1B2A4A"/>
          </a:solidFill>
          <a:ln/>
        </p:spPr>
      </p:sp>
      <p:pic>
        <p:nvPicPr>
          <p:cNvPr id="41" name="Image 9" descr="preencoded.png">    </p:cNvPr>
          <p:cNvPicPr>
            <a:picLocks noChangeAspect="1"/>
          </p:cNvPicPr>
          <p:nvPr/>
        </p:nvPicPr>
        <p:blipFill>
          <a:blip r:embed="rId10"/>
          <a:stretch>
            <a:fillRect/>
          </a:stretch>
        </p:blipFill>
        <p:spPr>
          <a:xfrm>
            <a:off x="9924898" y="3419856"/>
            <a:ext cx="256032" cy="256032"/>
          </a:xfrm>
          <a:prstGeom prst="rect">
            <a:avLst/>
          </a:prstGeom>
        </p:spPr>
      </p:pic>
      <p:sp>
        <p:nvSpPr>
          <p:cNvPr id="42" name="Text 30"/>
          <p:cNvSpPr txBox="1"/>
          <p:nvPr/>
        </p:nvSpPr>
        <p:spPr>
          <a:xfrm>
            <a:off x="10391242" y="3291840"/>
            <a:ext cx="1084478" cy="512064"/>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Case closure</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4434840"/>
          <a:ext cx="11274552" cy="914400"/>
        </p:xfrm>
        <a:graphic>
          <a:graphicData uri="http://schemas.openxmlformats.org/drawingml/2006/table">
            <a:tbl>
              <a:tblPr/>
              <a:tblGrid>
                <a:gridCol w="3840480"/>
                <a:gridCol w="3291840"/>
                <a:gridCol w="2194560"/>
                <a:gridCol w="1947672"/>
              </a:tblGrid>
              <a:tr h="438912">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Playbook</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B2A4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Trigger</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B2A4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Automation level</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B2A4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Status</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B2A4A"/>
                    </a:solidFill>
                  </a:tcPr>
                </a:tc>
              </a:tr>
              <a:tr h="438912">
                <a:tc>
                  <a:txBody>
                    <a:bodyPr/>
                    <a:lstStyle/>
                    <a:p>
                      <a:pPr indent="0" marL="0">
                        <a:buNone/>
                      </a:pPr>
                      <a:r>
                        <a:rPr lang="en-US" sz="1200" dirty="0">
                          <a:solidFill>
                            <a:srgbClr val="B97A1F"/>
                          </a:solidFill>
                          <a:latin typeface="Calibri" pitchFamily="34" charset="0"/>
                          <a:ea typeface="Calibri" pitchFamily="34" charset="-122"/>
                          <a:cs typeface="Calibri" pitchFamily="34" charset="-120"/>
                        </a:rPr>
                        <a:t>[Playbook name]</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B97A1F"/>
                          </a:solidFill>
                          <a:latin typeface="Calibri" pitchFamily="34" charset="0"/>
                          <a:ea typeface="Calibri" pitchFamily="34" charset="-122"/>
                          <a:cs typeface="Calibri" pitchFamily="34" charset="-120"/>
                        </a:rPr>
                        <a:t>[Alert type / source]</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B97A1F"/>
                          </a:solidFill>
                          <a:latin typeface="Calibri" pitchFamily="34" charset="0"/>
                          <a:ea typeface="Calibri" pitchFamily="34" charset="-122"/>
                          <a:cs typeface="Calibri" pitchFamily="34" charset="-120"/>
                        </a:rPr>
                        <a:t>[Full / Partial]</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B97A1F"/>
                          </a:solidFill>
                          <a:latin typeface="Calibri" pitchFamily="34" charset="0"/>
                          <a:ea typeface="Calibri" pitchFamily="34" charset="-122"/>
                          <a:cs typeface="Calibri" pitchFamily="34" charset="-120"/>
                        </a:rPr>
                        <a:t>[Live / In progress]</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438912">
                <a:tc>
                  <a:txBody>
                    <a:bodyPr/>
                    <a:lstStyle/>
                    <a:p>
                      <a:pPr indent="0" marL="0">
                        <a:buNone/>
                      </a:pPr>
                      <a:r>
                        <a:rPr lang="en-US" sz="1200" dirty="0">
                          <a:solidFill>
                            <a:srgbClr val="B97A1F"/>
                          </a:solidFill>
                          <a:latin typeface="Calibri" pitchFamily="34" charset="0"/>
                          <a:ea typeface="Calibri" pitchFamily="34" charset="-122"/>
                          <a:cs typeface="Calibri" pitchFamily="34" charset="-120"/>
                        </a:rPr>
                        <a:t>[Playbook name]</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4F7FC"/>
                    </a:solidFill>
                  </a:tcPr>
                </a:tc>
                <a:tc>
                  <a:txBody>
                    <a:bodyPr/>
                    <a:lstStyle/>
                    <a:p>
                      <a:pPr indent="0" marL="0">
                        <a:buNone/>
                      </a:pPr>
                      <a:r>
                        <a:rPr lang="en-US" sz="1200" dirty="0">
                          <a:solidFill>
                            <a:srgbClr val="B97A1F"/>
                          </a:solidFill>
                          <a:latin typeface="Calibri" pitchFamily="34" charset="0"/>
                          <a:ea typeface="Calibri" pitchFamily="34" charset="-122"/>
                          <a:cs typeface="Calibri" pitchFamily="34" charset="-120"/>
                        </a:rPr>
                        <a:t>[Alert type / source]</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4F7FC"/>
                    </a:solidFill>
                  </a:tcPr>
                </a:tc>
                <a:tc>
                  <a:txBody>
                    <a:bodyPr/>
                    <a:lstStyle/>
                    <a:p>
                      <a:pPr indent="0" marL="0">
                        <a:buNone/>
                      </a:pPr>
                      <a:r>
                        <a:rPr lang="en-US" sz="1200" dirty="0">
                          <a:solidFill>
                            <a:srgbClr val="B97A1F"/>
                          </a:solidFill>
                          <a:latin typeface="Calibri" pitchFamily="34" charset="0"/>
                          <a:ea typeface="Calibri" pitchFamily="34" charset="-122"/>
                          <a:cs typeface="Calibri" pitchFamily="34" charset="-120"/>
                        </a:rPr>
                        <a:t>[Full / Partial]</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4F7FC"/>
                    </a:solidFill>
                  </a:tcPr>
                </a:tc>
                <a:tc>
                  <a:txBody>
                    <a:bodyPr/>
                    <a:lstStyle/>
                    <a:p>
                      <a:pPr indent="0" marL="0">
                        <a:buNone/>
                      </a:pPr>
                      <a:r>
                        <a:rPr lang="en-US" sz="1200" dirty="0">
                          <a:solidFill>
                            <a:srgbClr val="B97A1F"/>
                          </a:solidFill>
                          <a:latin typeface="Calibri" pitchFamily="34" charset="0"/>
                          <a:ea typeface="Calibri" pitchFamily="34" charset="-122"/>
                          <a:cs typeface="Calibri" pitchFamily="34" charset="-120"/>
                        </a:rPr>
                        <a:t>[Live / In progress]</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4F7FC"/>
                    </a:solidFill>
                  </a:tcPr>
                </a:tc>
              </a:tr>
              <a:tr h="438912">
                <a:tc>
                  <a:txBody>
                    <a:bodyPr/>
                    <a:lstStyle/>
                    <a:p>
                      <a:pPr indent="0" marL="0">
                        <a:buNone/>
                      </a:pPr>
                      <a:r>
                        <a:rPr lang="en-US" sz="1200" dirty="0">
                          <a:solidFill>
                            <a:srgbClr val="B97A1F"/>
                          </a:solidFill>
                          <a:latin typeface="Calibri" pitchFamily="34" charset="0"/>
                          <a:ea typeface="Calibri" pitchFamily="34" charset="-122"/>
                          <a:cs typeface="Calibri" pitchFamily="34" charset="-120"/>
                        </a:rPr>
                        <a:t>[Playbook name]</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B97A1F"/>
                          </a:solidFill>
                          <a:latin typeface="Calibri" pitchFamily="34" charset="0"/>
                          <a:ea typeface="Calibri" pitchFamily="34" charset="-122"/>
                          <a:cs typeface="Calibri" pitchFamily="34" charset="-120"/>
                        </a:rPr>
                        <a:t>[Alert type / source]</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B97A1F"/>
                          </a:solidFill>
                          <a:latin typeface="Calibri" pitchFamily="34" charset="0"/>
                          <a:ea typeface="Calibri" pitchFamily="34" charset="-122"/>
                          <a:cs typeface="Calibri" pitchFamily="34" charset="-120"/>
                        </a:rPr>
                        <a:t>[Full / Partial]</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B97A1F"/>
                          </a:solidFill>
                          <a:latin typeface="Calibri" pitchFamily="34" charset="0"/>
                          <a:ea typeface="Calibri" pitchFamily="34" charset="-122"/>
                          <a:cs typeface="Calibri" pitchFamily="34" charset="-120"/>
                        </a:rPr>
                        <a:t>[Live / In progress]</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457200" y="310896"/>
            <a:ext cx="530352" cy="530352"/>
          </a:xfrm>
          <a:prstGeom prst="ellipse">
            <a:avLst/>
          </a:prstGeom>
          <a:solidFill>
            <a:srgbClr val="2A8C96"/>
          </a:solidFill>
          <a:ln/>
        </p:spPr>
      </p:sp>
      <p:pic>
        <p:nvPicPr>
          <p:cNvPr id="3" name="Image 0" descr="preencoded.png">    </p:cNvPr>
          <p:cNvPicPr>
            <a:picLocks noChangeAspect="1"/>
          </p:cNvPicPr>
          <p:nvPr/>
        </p:nvPicPr>
        <p:blipFill>
          <a:blip r:embed="rId1"/>
          <a:stretch>
            <a:fillRect/>
          </a:stretch>
        </p:blipFill>
        <p:spPr>
          <a:xfrm>
            <a:off x="589788" y="443484"/>
            <a:ext cx="265176" cy="265176"/>
          </a:xfrm>
          <a:prstGeom prst="rect">
            <a:avLst/>
          </a:prstGeom>
        </p:spPr>
      </p:pic>
      <p:sp>
        <p:nvSpPr>
          <p:cNvPr id="4" name="Text 1"/>
          <p:cNvSpPr/>
          <p:nvPr>
            <p:ph idx="101" type="title" hasCustomPrompt="1"/>
          </p:nvPr>
        </p:nvSpPr>
        <p:spPr>
          <a:xfrm>
            <a:off x="1143000" y="274320"/>
            <a:ext cx="7223760" cy="603504"/>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SOC AI: Changing Direction</a:t>
            </a:r>
            <a:endParaRPr lang="en-US" sz="3000" dirty="0"/>
          </a:p>
        </p:txBody>
      </p:sp>
      <p:sp>
        <p:nvSpPr>
          <p:cNvPr id="5" name="Text 2"/>
          <p:cNvSpPr txBox="1"/>
          <p:nvPr/>
        </p:nvSpPr>
        <p:spPr>
          <a:xfrm>
            <a:off x="8458200" y="384048"/>
            <a:ext cx="3273552" cy="384048"/>
          </a:xfrm>
          <a:prstGeom prst="rect">
            <a:avLst/>
          </a:prstGeom>
          <a:noFill/>
          <a:ln/>
        </p:spPr>
        <p:txBody>
          <a:bodyPr wrap="square" lIns="0" tIns="0" rIns="0" bIns="0" rtlCol="0" anchor="ctr"/>
          <a:lstStyle/>
          <a:p>
            <a:pPr algn="r" indent="0" marL="0">
              <a:buNone/>
            </a:pPr>
            <a:r>
              <a:rPr lang="en-US" sz="1200" dirty="0">
                <a:solidFill>
                  <a:srgbClr val="CADCFC"/>
                </a:solidFill>
                <a:latin typeface="Calibri" pitchFamily="34" charset="0"/>
                <a:ea typeface="Calibri" pitchFamily="34" charset="-122"/>
                <a:cs typeface="Calibri" pitchFamily="34" charset="-120"/>
              </a:rPr>
              <a:t>SOC Technology  |  AI</a:t>
            </a:r>
            <a:endParaRPr lang="en-US" sz="1200" dirty="0"/>
          </a:p>
        </p:txBody>
      </p:sp>
      <p:sp>
        <p:nvSpPr>
          <p:cNvPr id="6" name="Text 3"/>
          <p:cNvSpPr txBox="1"/>
          <p:nvPr/>
        </p:nvSpPr>
        <p:spPr>
          <a:xfrm>
            <a:off x="457200" y="932688"/>
            <a:ext cx="11274552" cy="310896"/>
          </a:xfrm>
          <a:prstGeom prst="rect">
            <a:avLst/>
          </a:prstGeom>
          <a:noFill/>
          <a:ln/>
        </p:spPr>
        <p:txBody>
          <a:bodyPr wrap="square" lIns="0" tIns="0" rIns="0" bIns="0" rtlCol="0" anchor="ctr"/>
          <a:lstStyle/>
          <a:p>
            <a:pPr indent="0" marL="0">
              <a:buNone/>
            </a:pPr>
            <a:r>
              <a:rPr lang="en-US" sz="1500" dirty="0">
                <a:solidFill>
                  <a:srgbClr val="CADCFC"/>
                </a:solidFill>
                <a:latin typeface="Calibri" pitchFamily="34" charset="0"/>
                <a:ea typeface="Calibri" pitchFamily="34" charset="-122"/>
                <a:cs typeface="Calibri" pitchFamily="34" charset="-120"/>
              </a:rPr>
              <a:t>From the Exotech SOC AI product to a wider evaluation of the market</a:t>
            </a:r>
            <a:endParaRPr lang="en-US" sz="1500" dirty="0"/>
          </a:p>
        </p:txBody>
      </p:sp>
      <p:sp>
        <p:nvSpPr>
          <p:cNvPr id="7" name="Shape 4"/>
          <p:cNvSpPr/>
          <p:nvPr/>
        </p:nvSpPr>
        <p:spPr>
          <a:xfrm>
            <a:off x="457200" y="1463040"/>
            <a:ext cx="3383280" cy="1600200"/>
          </a:xfrm>
          <a:prstGeom prst="roundRect">
            <a:avLst>
              <a:gd name="adj" fmla="val 5143"/>
            </a:avLst>
          </a:prstGeom>
          <a:solidFill>
            <a:srgbClr val="24365E"/>
          </a:solidFill>
          <a:ln/>
        </p:spPr>
      </p:sp>
      <p:sp>
        <p:nvSpPr>
          <p:cNvPr id="8" name="Text 5"/>
          <p:cNvSpPr txBox="1"/>
          <p:nvPr/>
        </p:nvSpPr>
        <p:spPr>
          <a:xfrm>
            <a:off x="731520" y="1645920"/>
            <a:ext cx="2834640" cy="237744"/>
          </a:xfrm>
          <a:prstGeom prst="rect">
            <a:avLst/>
          </a:prstGeom>
          <a:noFill/>
          <a:ln/>
        </p:spPr>
        <p:txBody>
          <a:bodyPr wrap="square" lIns="0" tIns="0" rIns="0" bIns="0" rtlCol="0" anchor="ctr"/>
          <a:lstStyle/>
          <a:p>
            <a:pPr indent="0" marL="0">
              <a:buNone/>
            </a:pPr>
            <a:r>
              <a:rPr lang="en-US" sz="1050" b="1" spc="200" kern="0" dirty="0">
                <a:solidFill>
                  <a:srgbClr val="7FD3DB"/>
                </a:solidFill>
                <a:latin typeface="Calibri" pitchFamily="34" charset="0"/>
                <a:ea typeface="Calibri" pitchFamily="34" charset="-122"/>
                <a:cs typeface="Calibri" pitchFamily="34" charset="-120"/>
              </a:rPr>
              <a:t>PREVIOUS COMMITTEE</a:t>
            </a:r>
            <a:endParaRPr lang="en-US" sz="1050" dirty="0"/>
          </a:p>
        </p:txBody>
      </p:sp>
      <p:sp>
        <p:nvSpPr>
          <p:cNvPr id="9" name="Text 6"/>
          <p:cNvSpPr txBox="1"/>
          <p:nvPr/>
        </p:nvSpPr>
        <p:spPr>
          <a:xfrm>
            <a:off x="731520" y="1920240"/>
            <a:ext cx="2834640" cy="384048"/>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Exotech SOC AI</a:t>
            </a:r>
            <a:endParaRPr lang="en-US" sz="2000" dirty="0"/>
          </a:p>
        </p:txBody>
      </p:sp>
      <p:sp>
        <p:nvSpPr>
          <p:cNvPr id="10" name="Text 7"/>
          <p:cNvSpPr txBox="1"/>
          <p:nvPr/>
        </p:nvSpPr>
        <p:spPr>
          <a:xfrm>
            <a:off x="731520" y="2350008"/>
            <a:ext cx="2834640" cy="566928"/>
          </a:xfrm>
          <a:prstGeom prst="rect">
            <a:avLst/>
          </a:prstGeom>
          <a:noFill/>
          <a:ln/>
        </p:spPr>
        <p:txBody>
          <a:bodyPr wrap="square" lIns="0" tIns="0" rIns="0" bIns="0" rtlCol="0" anchor="t"/>
          <a:lstStyle/>
          <a:p>
            <a:pPr indent="0" marL="0">
              <a:buNone/>
            </a:pPr>
            <a:r>
              <a:rPr lang="en-US" sz="1250" dirty="0">
                <a:solidFill>
                  <a:srgbClr val="CADCFC"/>
                </a:solidFill>
                <a:latin typeface="Calibri" pitchFamily="34" charset="0"/>
                <a:ea typeface="Calibri" pitchFamily="34" charset="-122"/>
                <a:cs typeface="Calibri" pitchFamily="34" charset="-120"/>
              </a:rPr>
              <a:t>SOC AI product from Exotech in use by the SOC</a:t>
            </a:r>
            <a:endParaRPr lang="en-US" sz="1250" dirty="0"/>
          </a:p>
        </p:txBody>
      </p:sp>
      <p:sp>
        <p:nvSpPr>
          <p:cNvPr id="11" name="Shape 8"/>
          <p:cNvSpPr/>
          <p:nvPr/>
        </p:nvSpPr>
        <p:spPr>
          <a:xfrm>
            <a:off x="3959352" y="2116836"/>
            <a:ext cx="329184" cy="292608"/>
          </a:xfrm>
          <a:prstGeom prst="rightArrow">
            <a:avLst/>
          </a:prstGeom>
          <a:solidFill>
            <a:srgbClr val="7FD3DB"/>
          </a:solidFill>
          <a:ln/>
        </p:spPr>
      </p:sp>
      <p:sp>
        <p:nvSpPr>
          <p:cNvPr id="12" name="Shape 9"/>
          <p:cNvSpPr/>
          <p:nvPr/>
        </p:nvSpPr>
        <p:spPr>
          <a:xfrm>
            <a:off x="4402836" y="1463040"/>
            <a:ext cx="3383280" cy="1600200"/>
          </a:xfrm>
          <a:prstGeom prst="roundRect">
            <a:avLst>
              <a:gd name="adj" fmla="val 5143"/>
            </a:avLst>
          </a:prstGeom>
          <a:solidFill>
            <a:srgbClr val="24365E"/>
          </a:solidFill>
          <a:ln/>
        </p:spPr>
      </p:sp>
      <p:sp>
        <p:nvSpPr>
          <p:cNvPr id="13" name="Text 10"/>
          <p:cNvSpPr txBox="1"/>
          <p:nvPr/>
        </p:nvSpPr>
        <p:spPr>
          <a:xfrm>
            <a:off x="4677156" y="1645920"/>
            <a:ext cx="2834640" cy="237744"/>
          </a:xfrm>
          <a:prstGeom prst="rect">
            <a:avLst/>
          </a:prstGeom>
          <a:noFill/>
          <a:ln/>
        </p:spPr>
        <p:txBody>
          <a:bodyPr wrap="square" lIns="0" tIns="0" rIns="0" bIns="0" rtlCol="0" anchor="ctr"/>
          <a:lstStyle/>
          <a:p>
            <a:pPr indent="0" marL="0">
              <a:buNone/>
            </a:pPr>
            <a:r>
              <a:rPr lang="en-US" sz="1050" b="1" spc="200" kern="0" dirty="0">
                <a:solidFill>
                  <a:srgbClr val="7FD3DB"/>
                </a:solidFill>
                <a:latin typeface="Calibri" pitchFamily="34" charset="0"/>
                <a:ea typeface="Calibri" pitchFamily="34" charset="-122"/>
                <a:cs typeface="Calibri" pitchFamily="34" charset="-120"/>
              </a:rPr>
              <a:t>DECISION</a:t>
            </a:r>
            <a:endParaRPr lang="en-US" sz="1050" dirty="0"/>
          </a:p>
        </p:txBody>
      </p:sp>
      <p:sp>
        <p:nvSpPr>
          <p:cNvPr id="14" name="Text 11"/>
          <p:cNvSpPr txBox="1"/>
          <p:nvPr/>
        </p:nvSpPr>
        <p:spPr>
          <a:xfrm>
            <a:off x="4677156" y="1920240"/>
            <a:ext cx="2834640" cy="384048"/>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Explore the market</a:t>
            </a:r>
            <a:endParaRPr lang="en-US" sz="2000" dirty="0"/>
          </a:p>
        </p:txBody>
      </p:sp>
      <p:sp>
        <p:nvSpPr>
          <p:cNvPr id="15" name="Text 12"/>
          <p:cNvSpPr txBox="1"/>
          <p:nvPr/>
        </p:nvSpPr>
        <p:spPr>
          <a:xfrm>
            <a:off x="4677156" y="2350008"/>
            <a:ext cx="2834640" cy="566928"/>
          </a:xfrm>
          <a:prstGeom prst="rect">
            <a:avLst/>
          </a:prstGeom>
          <a:noFill/>
          <a:ln/>
        </p:spPr>
        <p:txBody>
          <a:bodyPr wrap="square" lIns="0" tIns="0" rIns="0" bIns="0" rtlCol="0" anchor="t"/>
          <a:lstStyle/>
          <a:p>
            <a:pPr indent="0" marL="0">
              <a:buNone/>
            </a:pPr>
            <a:r>
              <a:rPr lang="en-US" sz="1250" dirty="0">
                <a:solidFill>
                  <a:srgbClr val="CADCFC"/>
                </a:solidFill>
                <a:latin typeface="Calibri" pitchFamily="34" charset="0"/>
                <a:ea typeface="Calibri" pitchFamily="34" charset="-122"/>
                <a:cs typeface="Calibri" pitchFamily="34" charset="-120"/>
              </a:rPr>
              <a:t>Move on from Exotech and assess other AI options</a:t>
            </a:r>
            <a:endParaRPr lang="en-US" sz="1250" dirty="0"/>
          </a:p>
        </p:txBody>
      </p:sp>
      <p:sp>
        <p:nvSpPr>
          <p:cNvPr id="16" name="Shape 13"/>
          <p:cNvSpPr/>
          <p:nvPr/>
        </p:nvSpPr>
        <p:spPr>
          <a:xfrm>
            <a:off x="7904988" y="2116836"/>
            <a:ext cx="329184" cy="292608"/>
          </a:xfrm>
          <a:prstGeom prst="rightArrow">
            <a:avLst/>
          </a:prstGeom>
          <a:solidFill>
            <a:srgbClr val="7FD3DB"/>
          </a:solidFill>
          <a:ln/>
        </p:spPr>
      </p:sp>
      <p:sp>
        <p:nvSpPr>
          <p:cNvPr id="17" name="Shape 14"/>
          <p:cNvSpPr/>
          <p:nvPr/>
        </p:nvSpPr>
        <p:spPr>
          <a:xfrm>
            <a:off x="8348472" y="1463040"/>
            <a:ext cx="3383280" cy="1600200"/>
          </a:xfrm>
          <a:prstGeom prst="roundRect">
            <a:avLst>
              <a:gd name="adj" fmla="val 5143"/>
            </a:avLst>
          </a:prstGeom>
          <a:solidFill>
            <a:srgbClr val="2A8C96"/>
          </a:solidFill>
          <a:ln/>
        </p:spPr>
      </p:sp>
      <p:sp>
        <p:nvSpPr>
          <p:cNvPr id="18" name="Text 15"/>
          <p:cNvSpPr txBox="1"/>
          <p:nvPr/>
        </p:nvSpPr>
        <p:spPr>
          <a:xfrm>
            <a:off x="8622792" y="1645920"/>
            <a:ext cx="2834640" cy="237744"/>
          </a:xfrm>
          <a:prstGeom prst="rect">
            <a:avLst/>
          </a:prstGeom>
          <a:noFill/>
          <a:ln/>
        </p:spPr>
        <p:txBody>
          <a:bodyPr wrap="square" lIns="0" tIns="0" rIns="0" bIns="0" rtlCol="0" anchor="ctr"/>
          <a:lstStyle/>
          <a:p>
            <a:pPr indent="0" marL="0">
              <a:buNone/>
            </a:pPr>
            <a:r>
              <a:rPr lang="en-US" sz="1050" b="1" spc="200" kern="0" dirty="0">
                <a:solidFill>
                  <a:srgbClr val="FFFFFF"/>
                </a:solidFill>
                <a:latin typeface="Calibri" pitchFamily="34" charset="0"/>
                <a:ea typeface="Calibri" pitchFamily="34" charset="-122"/>
                <a:cs typeface="Calibri" pitchFamily="34" charset="-120"/>
              </a:rPr>
              <a:t>NOW</a:t>
            </a:r>
            <a:endParaRPr lang="en-US" sz="1050" dirty="0"/>
          </a:p>
        </p:txBody>
      </p:sp>
      <p:sp>
        <p:nvSpPr>
          <p:cNvPr id="19" name="Text 16"/>
          <p:cNvSpPr txBox="1"/>
          <p:nvPr/>
        </p:nvSpPr>
        <p:spPr>
          <a:xfrm>
            <a:off x="8622792" y="1920240"/>
            <a:ext cx="2834640" cy="384048"/>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Two options identified</a:t>
            </a:r>
            <a:endParaRPr lang="en-US" sz="2000" dirty="0"/>
          </a:p>
        </p:txBody>
      </p:sp>
      <p:sp>
        <p:nvSpPr>
          <p:cNvPr id="20" name="Text 17"/>
          <p:cNvSpPr txBox="1"/>
          <p:nvPr/>
        </p:nvSpPr>
        <p:spPr>
          <a:xfrm>
            <a:off x="8622792" y="2350008"/>
            <a:ext cx="2834640" cy="566928"/>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COGNNA and Palo Alto Cortex XSIAM under evaluation</a:t>
            </a:r>
            <a:endParaRPr lang="en-US" sz="1250" dirty="0"/>
          </a:p>
        </p:txBody>
      </p:sp>
      <p:sp>
        <p:nvSpPr>
          <p:cNvPr id="21" name="Text 18"/>
          <p:cNvSpPr txBox="1"/>
          <p:nvPr/>
        </p:nvSpPr>
        <p:spPr>
          <a:xfrm>
            <a:off x="457200" y="3310128"/>
            <a:ext cx="7315200" cy="329184"/>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Why we are moving to another AI vendor</a:t>
            </a:r>
            <a:endParaRPr lang="en-US" sz="1600" dirty="0"/>
          </a:p>
        </p:txBody>
      </p:sp>
      <p:sp>
        <p:nvSpPr>
          <p:cNvPr id="22" name="Shape 19"/>
          <p:cNvSpPr/>
          <p:nvPr/>
        </p:nvSpPr>
        <p:spPr>
          <a:xfrm>
            <a:off x="457200" y="3767328"/>
            <a:ext cx="3566160" cy="2240280"/>
          </a:xfrm>
          <a:prstGeom prst="roundRect">
            <a:avLst>
              <a:gd name="adj" fmla="val 3673"/>
            </a:avLst>
          </a:prstGeom>
          <a:solidFill>
            <a:srgbClr val="24365E"/>
          </a:solidFill>
          <a:ln/>
        </p:spPr>
      </p:sp>
      <p:sp>
        <p:nvSpPr>
          <p:cNvPr id="23" name="Shape 20"/>
          <p:cNvSpPr/>
          <p:nvPr/>
        </p:nvSpPr>
        <p:spPr>
          <a:xfrm>
            <a:off x="731520" y="4041648"/>
            <a:ext cx="548640" cy="548640"/>
          </a:xfrm>
          <a:prstGeom prst="ellipse">
            <a:avLst/>
          </a:prstGeom>
          <a:solidFill>
            <a:srgbClr val="F5C46B"/>
          </a:solidFill>
          <a:ln/>
        </p:spPr>
      </p:sp>
      <p:pic>
        <p:nvPicPr>
          <p:cNvPr id="24" name="Image 1" descr="preencoded.png">    </p:cNvPr>
          <p:cNvPicPr>
            <a:picLocks noChangeAspect="1"/>
          </p:cNvPicPr>
          <p:nvPr/>
        </p:nvPicPr>
        <p:blipFill>
          <a:blip r:embed="rId2"/>
          <a:stretch>
            <a:fillRect/>
          </a:stretch>
        </p:blipFill>
        <p:spPr>
          <a:xfrm>
            <a:off x="868680" y="4178808"/>
            <a:ext cx="274320" cy="274320"/>
          </a:xfrm>
          <a:prstGeom prst="rect">
            <a:avLst/>
          </a:prstGeom>
        </p:spPr>
      </p:pic>
      <p:sp>
        <p:nvSpPr>
          <p:cNvPr id="25" name="Text 21"/>
          <p:cNvSpPr txBox="1"/>
          <p:nvPr/>
        </p:nvSpPr>
        <p:spPr>
          <a:xfrm>
            <a:off x="3017520" y="4041648"/>
            <a:ext cx="731520" cy="548640"/>
          </a:xfrm>
          <a:prstGeom prst="rect">
            <a:avLst/>
          </a:prstGeom>
          <a:noFill/>
          <a:ln/>
        </p:spPr>
        <p:txBody>
          <a:bodyPr wrap="square" lIns="0" tIns="0" rIns="0" bIns="0" rtlCol="0" anchor="ctr"/>
          <a:lstStyle/>
          <a:p>
            <a:pPr algn="r" indent="0" marL="0">
              <a:buNone/>
            </a:pPr>
            <a:r>
              <a:rPr lang="en-US" sz="2800" b="1" dirty="0">
                <a:solidFill>
                  <a:srgbClr val="3D5182"/>
                </a:solidFill>
                <a:latin typeface="Calibri" pitchFamily="34" charset="0"/>
                <a:ea typeface="Calibri" pitchFamily="34" charset="-122"/>
                <a:cs typeface="Calibri" pitchFamily="34" charset="-120"/>
              </a:rPr>
              <a:t>01</a:t>
            </a:r>
            <a:endParaRPr lang="en-US" sz="2800" dirty="0"/>
          </a:p>
        </p:txBody>
      </p:sp>
      <p:sp>
        <p:nvSpPr>
          <p:cNvPr id="26" name="Text 22"/>
          <p:cNvSpPr txBox="1"/>
          <p:nvPr/>
        </p:nvSpPr>
        <p:spPr>
          <a:xfrm>
            <a:off x="731520" y="4727448"/>
            <a:ext cx="3017520" cy="38404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High cost</a:t>
            </a:r>
            <a:endParaRPr lang="en-US" sz="1700" dirty="0"/>
          </a:p>
        </p:txBody>
      </p:sp>
      <p:sp>
        <p:nvSpPr>
          <p:cNvPr id="27" name="Text 23"/>
          <p:cNvSpPr txBox="1"/>
          <p:nvPr/>
        </p:nvSpPr>
        <p:spPr>
          <a:xfrm>
            <a:off x="731520" y="5138928"/>
            <a:ext cx="3017520" cy="731520"/>
          </a:xfrm>
          <a:prstGeom prst="rect">
            <a:avLst/>
          </a:prstGeom>
          <a:noFill/>
          <a:ln/>
        </p:spPr>
        <p:txBody>
          <a:bodyPr wrap="square" lIns="0" tIns="0" rIns="0" bIns="0" rtlCol="0" anchor="t"/>
          <a:lstStyle/>
          <a:p>
            <a:pPr indent="0" marL="0">
              <a:buNone/>
            </a:pPr>
            <a:r>
              <a:rPr lang="en-US" sz="1300" dirty="0">
                <a:solidFill>
                  <a:srgbClr val="CADCFC"/>
                </a:solidFill>
                <a:latin typeface="Calibri" pitchFamily="34" charset="0"/>
                <a:ea typeface="Calibri" pitchFamily="34" charset="-122"/>
                <a:cs typeface="Calibri" pitchFamily="34" charset="-120"/>
              </a:rPr>
              <a:t>The overall cost of the solution is high.</a:t>
            </a:r>
            <a:endParaRPr lang="en-US" sz="1300" dirty="0"/>
          </a:p>
        </p:txBody>
      </p:sp>
      <p:sp>
        <p:nvSpPr>
          <p:cNvPr id="28" name="Shape 24"/>
          <p:cNvSpPr/>
          <p:nvPr/>
        </p:nvSpPr>
        <p:spPr>
          <a:xfrm>
            <a:off x="4311396" y="3767328"/>
            <a:ext cx="3566160" cy="2240280"/>
          </a:xfrm>
          <a:prstGeom prst="roundRect">
            <a:avLst>
              <a:gd name="adj" fmla="val 3673"/>
            </a:avLst>
          </a:prstGeom>
          <a:solidFill>
            <a:srgbClr val="24365E"/>
          </a:solidFill>
          <a:ln/>
        </p:spPr>
      </p:sp>
      <p:sp>
        <p:nvSpPr>
          <p:cNvPr id="29" name="Shape 25"/>
          <p:cNvSpPr/>
          <p:nvPr/>
        </p:nvSpPr>
        <p:spPr>
          <a:xfrm>
            <a:off x="4585716" y="4041648"/>
            <a:ext cx="548640" cy="548640"/>
          </a:xfrm>
          <a:prstGeom prst="ellipse">
            <a:avLst/>
          </a:prstGeom>
          <a:solidFill>
            <a:srgbClr val="F5C46B"/>
          </a:solidFill>
          <a:ln/>
        </p:spPr>
      </p:sp>
      <p:pic>
        <p:nvPicPr>
          <p:cNvPr id="30" name="Image 2" descr="preencoded.png">    </p:cNvPr>
          <p:cNvPicPr>
            <a:picLocks noChangeAspect="1"/>
          </p:cNvPicPr>
          <p:nvPr/>
        </p:nvPicPr>
        <p:blipFill>
          <a:blip r:embed="rId3"/>
          <a:stretch>
            <a:fillRect/>
          </a:stretch>
        </p:blipFill>
        <p:spPr>
          <a:xfrm>
            <a:off x="4722876" y="4178808"/>
            <a:ext cx="274320" cy="274320"/>
          </a:xfrm>
          <a:prstGeom prst="rect">
            <a:avLst/>
          </a:prstGeom>
        </p:spPr>
      </p:pic>
      <p:sp>
        <p:nvSpPr>
          <p:cNvPr id="31" name="Text 26"/>
          <p:cNvSpPr txBox="1"/>
          <p:nvPr/>
        </p:nvSpPr>
        <p:spPr>
          <a:xfrm>
            <a:off x="6871716" y="4041648"/>
            <a:ext cx="731520" cy="548640"/>
          </a:xfrm>
          <a:prstGeom prst="rect">
            <a:avLst/>
          </a:prstGeom>
          <a:noFill/>
          <a:ln/>
        </p:spPr>
        <p:txBody>
          <a:bodyPr wrap="square" lIns="0" tIns="0" rIns="0" bIns="0" rtlCol="0" anchor="ctr"/>
          <a:lstStyle/>
          <a:p>
            <a:pPr algn="r" indent="0" marL="0">
              <a:buNone/>
            </a:pPr>
            <a:r>
              <a:rPr lang="en-US" sz="2800" b="1" dirty="0">
                <a:solidFill>
                  <a:srgbClr val="3D5182"/>
                </a:solidFill>
                <a:latin typeface="Calibri" pitchFamily="34" charset="0"/>
                <a:ea typeface="Calibri" pitchFamily="34" charset="-122"/>
                <a:cs typeface="Calibri" pitchFamily="34" charset="-120"/>
              </a:rPr>
              <a:t>02</a:t>
            </a:r>
            <a:endParaRPr lang="en-US" sz="2800" dirty="0"/>
          </a:p>
        </p:txBody>
      </p:sp>
      <p:sp>
        <p:nvSpPr>
          <p:cNvPr id="32" name="Text 27"/>
          <p:cNvSpPr txBox="1"/>
          <p:nvPr/>
        </p:nvSpPr>
        <p:spPr>
          <a:xfrm>
            <a:off x="4585716" y="4727448"/>
            <a:ext cx="3017520" cy="38404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Long time to build and optimise</a:t>
            </a:r>
            <a:endParaRPr lang="en-US" sz="1700" dirty="0"/>
          </a:p>
        </p:txBody>
      </p:sp>
      <p:sp>
        <p:nvSpPr>
          <p:cNvPr id="33" name="Text 28"/>
          <p:cNvSpPr txBox="1"/>
          <p:nvPr/>
        </p:nvSpPr>
        <p:spPr>
          <a:xfrm>
            <a:off x="4585716" y="5138928"/>
            <a:ext cx="3017520" cy="731520"/>
          </a:xfrm>
          <a:prstGeom prst="rect">
            <a:avLst/>
          </a:prstGeom>
          <a:noFill/>
          <a:ln/>
        </p:spPr>
        <p:txBody>
          <a:bodyPr wrap="square" lIns="0" tIns="0" rIns="0" bIns="0" rtlCol="0" anchor="t"/>
          <a:lstStyle/>
          <a:p>
            <a:pPr indent="0" marL="0">
              <a:buNone/>
            </a:pPr>
            <a:r>
              <a:rPr lang="en-US" sz="1300" dirty="0">
                <a:solidFill>
                  <a:srgbClr val="CADCFC"/>
                </a:solidFill>
                <a:latin typeface="Calibri" pitchFamily="34" charset="0"/>
                <a:ea typeface="Calibri" pitchFamily="34" charset="-122"/>
                <a:cs typeface="Calibri" pitchFamily="34" charset="-120"/>
              </a:rPr>
              <a:t>Building and tuning the agent for the SIMAH environment takes too long.</a:t>
            </a:r>
            <a:endParaRPr lang="en-US" sz="1300" dirty="0"/>
          </a:p>
        </p:txBody>
      </p:sp>
      <p:sp>
        <p:nvSpPr>
          <p:cNvPr id="34" name="Shape 29"/>
          <p:cNvSpPr/>
          <p:nvPr/>
        </p:nvSpPr>
        <p:spPr>
          <a:xfrm>
            <a:off x="8165592" y="3767328"/>
            <a:ext cx="3566160" cy="2240280"/>
          </a:xfrm>
          <a:prstGeom prst="roundRect">
            <a:avLst>
              <a:gd name="adj" fmla="val 3673"/>
            </a:avLst>
          </a:prstGeom>
          <a:solidFill>
            <a:srgbClr val="24365E"/>
          </a:solidFill>
          <a:ln/>
        </p:spPr>
      </p:sp>
      <p:sp>
        <p:nvSpPr>
          <p:cNvPr id="35" name="Shape 30"/>
          <p:cNvSpPr/>
          <p:nvPr/>
        </p:nvSpPr>
        <p:spPr>
          <a:xfrm>
            <a:off x="8439912" y="4041648"/>
            <a:ext cx="548640" cy="548640"/>
          </a:xfrm>
          <a:prstGeom prst="ellipse">
            <a:avLst/>
          </a:prstGeom>
          <a:solidFill>
            <a:srgbClr val="F5C46B"/>
          </a:solidFill>
          <a:ln/>
        </p:spPr>
      </p:sp>
      <p:pic>
        <p:nvPicPr>
          <p:cNvPr id="36" name="Image 3" descr="preencoded.png">    </p:cNvPr>
          <p:cNvPicPr>
            <a:picLocks noChangeAspect="1"/>
          </p:cNvPicPr>
          <p:nvPr/>
        </p:nvPicPr>
        <p:blipFill>
          <a:blip r:embed="rId4"/>
          <a:stretch>
            <a:fillRect/>
          </a:stretch>
        </p:blipFill>
        <p:spPr>
          <a:xfrm>
            <a:off x="8577072" y="4178808"/>
            <a:ext cx="274320" cy="274320"/>
          </a:xfrm>
          <a:prstGeom prst="rect">
            <a:avLst/>
          </a:prstGeom>
        </p:spPr>
      </p:pic>
      <p:sp>
        <p:nvSpPr>
          <p:cNvPr id="37" name="Text 31"/>
          <p:cNvSpPr txBox="1"/>
          <p:nvPr/>
        </p:nvSpPr>
        <p:spPr>
          <a:xfrm>
            <a:off x="10725912" y="4041648"/>
            <a:ext cx="731520" cy="548640"/>
          </a:xfrm>
          <a:prstGeom prst="rect">
            <a:avLst/>
          </a:prstGeom>
          <a:noFill/>
          <a:ln/>
        </p:spPr>
        <p:txBody>
          <a:bodyPr wrap="square" lIns="0" tIns="0" rIns="0" bIns="0" rtlCol="0" anchor="ctr"/>
          <a:lstStyle/>
          <a:p>
            <a:pPr algn="r" indent="0" marL="0">
              <a:buNone/>
            </a:pPr>
            <a:r>
              <a:rPr lang="en-US" sz="2800" b="1" dirty="0">
                <a:solidFill>
                  <a:srgbClr val="3D5182"/>
                </a:solidFill>
                <a:latin typeface="Calibri" pitchFamily="34" charset="0"/>
                <a:ea typeface="Calibri" pitchFamily="34" charset="-122"/>
                <a:cs typeface="Calibri" pitchFamily="34" charset="-120"/>
              </a:rPr>
              <a:t>03</a:t>
            </a:r>
            <a:endParaRPr lang="en-US" sz="2800" dirty="0"/>
          </a:p>
        </p:txBody>
      </p:sp>
      <p:sp>
        <p:nvSpPr>
          <p:cNvPr id="38" name="Text 32"/>
          <p:cNvSpPr txBox="1"/>
          <p:nvPr/>
        </p:nvSpPr>
        <p:spPr>
          <a:xfrm>
            <a:off x="8439912" y="4727448"/>
            <a:ext cx="3017520" cy="38404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Heavy playbook development</a:t>
            </a:r>
            <a:endParaRPr lang="en-US" sz="1700" dirty="0"/>
          </a:p>
        </p:txBody>
      </p:sp>
      <p:sp>
        <p:nvSpPr>
          <p:cNvPr id="39" name="Text 33"/>
          <p:cNvSpPr txBox="1"/>
          <p:nvPr/>
        </p:nvSpPr>
        <p:spPr>
          <a:xfrm>
            <a:off x="8439912" y="5138928"/>
            <a:ext cx="3017520" cy="731520"/>
          </a:xfrm>
          <a:prstGeom prst="rect">
            <a:avLst/>
          </a:prstGeom>
          <a:noFill/>
          <a:ln/>
        </p:spPr>
        <p:txBody>
          <a:bodyPr wrap="square" lIns="0" tIns="0" rIns="0" bIns="0" rtlCol="0" anchor="t"/>
          <a:lstStyle/>
          <a:p>
            <a:pPr indent="0" marL="0">
              <a:buNone/>
            </a:pPr>
            <a:r>
              <a:rPr lang="en-US" sz="1300" dirty="0">
                <a:solidFill>
                  <a:srgbClr val="CADCFC"/>
                </a:solidFill>
                <a:latin typeface="Calibri" pitchFamily="34" charset="0"/>
                <a:ea typeface="Calibri" pitchFamily="34" charset="-122"/>
                <a:cs typeface="Calibri" pitchFamily="34" charset="-120"/>
              </a:rPr>
              <a:t>A lot of the team's time has to be spent developing playbooks.</a:t>
            </a:r>
            <a:endParaRPr lang="en-US" sz="13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57200" y="310896"/>
            <a:ext cx="530352" cy="530352"/>
          </a:xfrm>
          <a:prstGeom prst="ellipse">
            <a:avLst/>
          </a:prstGeom>
          <a:solidFill>
            <a:srgbClr val="1B2A4A"/>
          </a:solidFill>
          <a:ln/>
        </p:spPr>
      </p:sp>
      <p:pic>
        <p:nvPicPr>
          <p:cNvPr id="3" name="Image 0" descr="preencoded.png">    </p:cNvPr>
          <p:cNvPicPr>
            <a:picLocks noChangeAspect="1"/>
          </p:cNvPicPr>
          <p:nvPr/>
        </p:nvPicPr>
        <p:blipFill>
          <a:blip r:embed="rId1"/>
          <a:stretch>
            <a:fillRect/>
          </a:stretch>
        </p:blipFill>
        <p:spPr>
          <a:xfrm>
            <a:off x="589788" y="443484"/>
            <a:ext cx="265176" cy="265176"/>
          </a:xfrm>
          <a:prstGeom prst="rect">
            <a:avLst/>
          </a:prstGeom>
        </p:spPr>
      </p:pic>
      <p:sp>
        <p:nvSpPr>
          <p:cNvPr id="4" name="Text 1"/>
          <p:cNvSpPr/>
          <p:nvPr>
            <p:ph idx="101" type="title" hasCustomPrompt="1"/>
          </p:nvPr>
        </p:nvSpPr>
        <p:spPr>
          <a:xfrm>
            <a:off x="1143000" y="274320"/>
            <a:ext cx="7223760" cy="603504"/>
          </a:xfrm>
          <a:prstGeom prst="rect">
            <a:avLst/>
          </a:prstGeom>
          <a:noFill/>
          <a:ln/>
        </p:spPr>
        <p:txBody>
          <a:bodyPr wrap="square" lIns="0" tIns="0" rIns="0" bIns="0" rtlCol="0" anchor="ctr"/>
          <a:lstStyle/>
          <a:p>
            <a:pPr algn="l" indent="0" marL="0">
              <a:buNone/>
            </a:pPr>
            <a:r>
              <a:rPr lang="en-US" sz="3000" b="1" dirty="0">
                <a:solidFill>
                  <a:srgbClr val="1B2A4A"/>
                </a:solidFill>
                <a:latin typeface="Calibri" pitchFamily="34" charset="0"/>
                <a:ea typeface="Calibri" pitchFamily="34" charset="-122"/>
                <a:cs typeface="Calibri" pitchFamily="34" charset="-120"/>
              </a:rPr>
              <a:t>SOC AI Option 1: COGNNA</a:t>
            </a:r>
            <a:endParaRPr lang="en-US" sz="3000" dirty="0"/>
          </a:p>
        </p:txBody>
      </p:sp>
      <p:sp>
        <p:nvSpPr>
          <p:cNvPr id="5" name="Text 2"/>
          <p:cNvSpPr txBox="1"/>
          <p:nvPr/>
        </p:nvSpPr>
        <p:spPr>
          <a:xfrm>
            <a:off x="8458200" y="384048"/>
            <a:ext cx="3273552" cy="384048"/>
          </a:xfrm>
          <a:prstGeom prst="rect">
            <a:avLst/>
          </a:prstGeom>
          <a:noFill/>
          <a:ln/>
        </p:spPr>
        <p:txBody>
          <a:bodyPr wrap="square" lIns="0" tIns="0" rIns="0" bIns="0" rtlCol="0" anchor="ctr"/>
          <a:lstStyle/>
          <a:p>
            <a:pPr algn="r" indent="0" marL="0">
              <a:buNone/>
            </a:pPr>
            <a:r>
              <a:rPr lang="en-US" sz="1200" dirty="0">
                <a:solidFill>
                  <a:srgbClr val="64748B"/>
                </a:solidFill>
                <a:latin typeface="Calibri" pitchFamily="34" charset="0"/>
                <a:ea typeface="Calibri" pitchFamily="34" charset="-122"/>
                <a:cs typeface="Calibri" pitchFamily="34" charset="-120"/>
              </a:rPr>
              <a:t>SOC AI  |  Market Options</a:t>
            </a:r>
            <a:endParaRPr lang="en-US" sz="1200" dirty="0"/>
          </a:p>
        </p:txBody>
      </p:sp>
      <p:sp>
        <p:nvSpPr>
          <p:cNvPr id="6" name="Text 3"/>
          <p:cNvSpPr txBox="1"/>
          <p:nvPr/>
        </p:nvSpPr>
        <p:spPr>
          <a:xfrm>
            <a:off x="457200" y="932688"/>
            <a:ext cx="11274552" cy="310896"/>
          </a:xfrm>
          <a:prstGeom prst="rect">
            <a:avLst/>
          </a:prstGeom>
          <a:noFill/>
          <a:ln/>
        </p:spPr>
        <p:txBody>
          <a:bodyPr wrap="square" lIns="0" tIns="0" rIns="0" bIns="0" rtlCol="0" anchor="ctr"/>
          <a:lstStyle/>
          <a:p>
            <a:pPr indent="0" marL="0">
              <a:buNone/>
            </a:pPr>
            <a:r>
              <a:rPr lang="en-US" sz="1500" dirty="0">
                <a:solidFill>
                  <a:srgbClr val="64748B"/>
                </a:solidFill>
                <a:latin typeface="Calibri" pitchFamily="34" charset="0"/>
                <a:ea typeface="Calibri" pitchFamily="34" charset="-122"/>
                <a:cs typeface="Calibri" pitchFamily="34" charset="-120"/>
              </a:rPr>
              <a:t>Multi-agent AI SOC platform (Nexus), offered as SaaS or as a managed service (Smart MDR)</a:t>
            </a:r>
            <a:endParaRPr lang="en-US" sz="1500" dirty="0"/>
          </a:p>
        </p:txBody>
      </p:sp>
      <p:sp>
        <p:nvSpPr>
          <p:cNvPr id="7" name="Text 4"/>
          <p:cNvSpPr txBox="1"/>
          <p:nvPr/>
        </p:nvSpPr>
        <p:spPr>
          <a:xfrm>
            <a:off x="457200" y="1371600"/>
            <a:ext cx="5486400" cy="292608"/>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A team of specialised AI agents</a:t>
            </a:r>
            <a:endParaRPr lang="en-US" sz="1600" dirty="0"/>
          </a:p>
        </p:txBody>
      </p:sp>
      <p:sp>
        <p:nvSpPr>
          <p:cNvPr id="8" name="Shape 5"/>
          <p:cNvSpPr/>
          <p:nvPr/>
        </p:nvSpPr>
        <p:spPr>
          <a:xfrm>
            <a:off x="457200" y="1755648"/>
            <a:ext cx="3246120" cy="932688"/>
          </a:xfrm>
          <a:prstGeom prst="roundRect">
            <a:avLst>
              <a:gd name="adj" fmla="val 6863"/>
            </a:avLst>
          </a:prstGeom>
          <a:solidFill>
            <a:srgbClr val="F4F7FC"/>
          </a:solidFill>
          <a:ln w="9525">
            <a:solidFill>
              <a:srgbClr val="DCE3EE"/>
            </a:solidFill>
            <a:prstDash val="solid"/>
          </a:ln>
        </p:spPr>
      </p:sp>
      <p:sp>
        <p:nvSpPr>
          <p:cNvPr id="9" name="Shape 6"/>
          <p:cNvSpPr/>
          <p:nvPr/>
        </p:nvSpPr>
        <p:spPr>
          <a:xfrm>
            <a:off x="621792" y="1993392"/>
            <a:ext cx="457200" cy="457200"/>
          </a:xfrm>
          <a:prstGeom prst="ellipse">
            <a:avLst/>
          </a:prstGeom>
          <a:solidFill>
            <a:srgbClr val="1B2A4A"/>
          </a:solidFill>
          <a:ln/>
        </p:spPr>
      </p:sp>
      <p:pic>
        <p:nvPicPr>
          <p:cNvPr id="10" name="Image 1" descr="preencoded.png">    </p:cNvPr>
          <p:cNvPicPr>
            <a:picLocks noChangeAspect="1"/>
          </p:cNvPicPr>
          <p:nvPr/>
        </p:nvPicPr>
        <p:blipFill>
          <a:blip r:embed="rId2"/>
          <a:stretch>
            <a:fillRect/>
          </a:stretch>
        </p:blipFill>
        <p:spPr>
          <a:xfrm>
            <a:off x="731520" y="2103120"/>
            <a:ext cx="237744" cy="237744"/>
          </a:xfrm>
          <a:prstGeom prst="rect">
            <a:avLst/>
          </a:prstGeom>
        </p:spPr>
      </p:pic>
      <p:sp>
        <p:nvSpPr>
          <p:cNvPr id="11" name="Text 7"/>
          <p:cNvSpPr txBox="1"/>
          <p:nvPr/>
        </p:nvSpPr>
        <p:spPr>
          <a:xfrm>
            <a:off x="1207008" y="1755648"/>
            <a:ext cx="2377440" cy="932688"/>
          </a:xfrm>
          <a:prstGeom prst="rect">
            <a:avLst/>
          </a:prstGeom>
          <a:noFill/>
          <a:ln/>
        </p:spPr>
        <p:txBody>
          <a:bodyPr wrap="square" lIns="0" tIns="0" rIns="0" bIns="0"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Manager</a:t>
            </a:r>
            <a:endParaRPr lang="en-US" sz="1400" dirty="0"/>
          </a:p>
          <a:p>
            <a:pPr indent="0" marL="0">
              <a:buNone/>
            </a:pPr>
            <a:r>
              <a:rPr lang="en-US" sz="1100" dirty="0">
                <a:solidFill>
                  <a:srgbClr val="64748B"/>
                </a:solidFill>
                <a:latin typeface="Calibri" pitchFamily="34" charset="0"/>
                <a:ea typeface="Calibri" pitchFamily="34" charset="-122"/>
                <a:cs typeface="Calibri" pitchFamily="34" charset="-120"/>
              </a:rPr>
              <a:t>Coordinates all agents, decides true or false positive and severity</a:t>
            </a:r>
            <a:endParaRPr lang="en-US" sz="1400" dirty="0"/>
          </a:p>
        </p:txBody>
      </p:sp>
      <p:sp>
        <p:nvSpPr>
          <p:cNvPr id="12" name="Shape 8"/>
          <p:cNvSpPr/>
          <p:nvPr/>
        </p:nvSpPr>
        <p:spPr>
          <a:xfrm>
            <a:off x="3867912" y="1755648"/>
            <a:ext cx="3246120" cy="932688"/>
          </a:xfrm>
          <a:prstGeom prst="roundRect">
            <a:avLst>
              <a:gd name="adj" fmla="val 6863"/>
            </a:avLst>
          </a:prstGeom>
          <a:solidFill>
            <a:srgbClr val="F4F7FC"/>
          </a:solidFill>
          <a:ln w="9525">
            <a:solidFill>
              <a:srgbClr val="DCE3EE"/>
            </a:solidFill>
            <a:prstDash val="solid"/>
          </a:ln>
        </p:spPr>
      </p:sp>
      <p:sp>
        <p:nvSpPr>
          <p:cNvPr id="13" name="Shape 9"/>
          <p:cNvSpPr/>
          <p:nvPr/>
        </p:nvSpPr>
        <p:spPr>
          <a:xfrm>
            <a:off x="4032504" y="1993392"/>
            <a:ext cx="457200" cy="457200"/>
          </a:xfrm>
          <a:prstGeom prst="ellipse">
            <a:avLst/>
          </a:prstGeom>
          <a:solidFill>
            <a:srgbClr val="2A8C96"/>
          </a:solidFill>
          <a:ln/>
        </p:spPr>
      </p:sp>
      <p:pic>
        <p:nvPicPr>
          <p:cNvPr id="14" name="Image 2" descr="preencoded.png">    </p:cNvPr>
          <p:cNvPicPr>
            <a:picLocks noChangeAspect="1"/>
          </p:cNvPicPr>
          <p:nvPr/>
        </p:nvPicPr>
        <p:blipFill>
          <a:blip r:embed="rId3"/>
          <a:stretch>
            <a:fillRect/>
          </a:stretch>
        </p:blipFill>
        <p:spPr>
          <a:xfrm>
            <a:off x="4142232" y="2103120"/>
            <a:ext cx="237744" cy="237744"/>
          </a:xfrm>
          <a:prstGeom prst="rect">
            <a:avLst/>
          </a:prstGeom>
        </p:spPr>
      </p:pic>
      <p:sp>
        <p:nvSpPr>
          <p:cNvPr id="15" name="Text 10"/>
          <p:cNvSpPr txBox="1"/>
          <p:nvPr/>
        </p:nvSpPr>
        <p:spPr>
          <a:xfrm>
            <a:off x="4617720" y="1755648"/>
            <a:ext cx="2377440" cy="932688"/>
          </a:xfrm>
          <a:prstGeom prst="rect">
            <a:avLst/>
          </a:prstGeom>
          <a:noFill/>
          <a:ln/>
        </p:spPr>
        <p:txBody>
          <a:bodyPr wrap="square" lIns="0" tIns="0" rIns="0" bIns="0"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Discovery</a:t>
            </a:r>
            <a:endParaRPr lang="en-US" sz="1400" dirty="0"/>
          </a:p>
          <a:p>
            <a:pPr indent="0" marL="0">
              <a:buNone/>
            </a:pPr>
            <a:r>
              <a:rPr lang="en-US" sz="1100" dirty="0">
                <a:solidFill>
                  <a:srgbClr val="64748B"/>
                </a:solidFill>
                <a:latin typeface="Calibri" pitchFamily="34" charset="0"/>
                <a:ea typeface="Calibri" pitchFamily="34" charset="-122"/>
                <a:cs typeface="Calibri" pitchFamily="34" charset="-120"/>
              </a:rPr>
              <a:t>Builds context from user behaviour and device activity</a:t>
            </a:r>
            <a:endParaRPr lang="en-US" sz="1400" dirty="0"/>
          </a:p>
        </p:txBody>
      </p:sp>
      <p:sp>
        <p:nvSpPr>
          <p:cNvPr id="16" name="Shape 11"/>
          <p:cNvSpPr/>
          <p:nvPr/>
        </p:nvSpPr>
        <p:spPr>
          <a:xfrm>
            <a:off x="457200" y="2816352"/>
            <a:ext cx="3246120" cy="932688"/>
          </a:xfrm>
          <a:prstGeom prst="roundRect">
            <a:avLst>
              <a:gd name="adj" fmla="val 6863"/>
            </a:avLst>
          </a:prstGeom>
          <a:solidFill>
            <a:srgbClr val="F4F7FC"/>
          </a:solidFill>
          <a:ln w="9525">
            <a:solidFill>
              <a:srgbClr val="DCE3EE"/>
            </a:solidFill>
            <a:prstDash val="solid"/>
          </a:ln>
        </p:spPr>
      </p:sp>
      <p:sp>
        <p:nvSpPr>
          <p:cNvPr id="17" name="Shape 12"/>
          <p:cNvSpPr/>
          <p:nvPr/>
        </p:nvSpPr>
        <p:spPr>
          <a:xfrm>
            <a:off x="621792" y="3054096"/>
            <a:ext cx="457200" cy="457200"/>
          </a:xfrm>
          <a:prstGeom prst="ellipse">
            <a:avLst/>
          </a:prstGeom>
          <a:solidFill>
            <a:srgbClr val="1B2A4A"/>
          </a:solidFill>
          <a:ln/>
        </p:spPr>
      </p:sp>
      <p:pic>
        <p:nvPicPr>
          <p:cNvPr id="18" name="Image 3" descr="preencoded.png">    </p:cNvPr>
          <p:cNvPicPr>
            <a:picLocks noChangeAspect="1"/>
          </p:cNvPicPr>
          <p:nvPr/>
        </p:nvPicPr>
        <p:blipFill>
          <a:blip r:embed="rId4"/>
          <a:stretch>
            <a:fillRect/>
          </a:stretch>
        </p:blipFill>
        <p:spPr>
          <a:xfrm>
            <a:off x="731520" y="3163824"/>
            <a:ext cx="237744" cy="237744"/>
          </a:xfrm>
          <a:prstGeom prst="rect">
            <a:avLst/>
          </a:prstGeom>
        </p:spPr>
      </p:pic>
      <p:sp>
        <p:nvSpPr>
          <p:cNvPr id="19" name="Text 13"/>
          <p:cNvSpPr txBox="1"/>
          <p:nvPr/>
        </p:nvSpPr>
        <p:spPr>
          <a:xfrm>
            <a:off x="1207008" y="2816352"/>
            <a:ext cx="2377440" cy="932688"/>
          </a:xfrm>
          <a:prstGeom prst="rect">
            <a:avLst/>
          </a:prstGeom>
          <a:noFill/>
          <a:ln/>
        </p:spPr>
        <p:txBody>
          <a:bodyPr wrap="square" lIns="0" tIns="0" rIns="0" bIns="0"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Detect</a:t>
            </a:r>
            <a:endParaRPr lang="en-US" sz="1400" dirty="0"/>
          </a:p>
          <a:p>
            <a:pPr indent="0" marL="0">
              <a:buNone/>
            </a:pPr>
            <a:r>
              <a:rPr lang="en-US" sz="1100" dirty="0">
                <a:solidFill>
                  <a:srgbClr val="64748B"/>
                </a:solidFill>
                <a:latin typeface="Calibri" pitchFamily="34" charset="0"/>
                <a:ea typeface="Calibri" pitchFamily="34" charset="-122"/>
                <a:cs typeface="Calibri" pitchFamily="34" charset="-120"/>
              </a:rPr>
              <a:t>Behavioural analytics and anomaly detection, triggers triage</a:t>
            </a:r>
            <a:endParaRPr lang="en-US" sz="1400" dirty="0"/>
          </a:p>
        </p:txBody>
      </p:sp>
      <p:sp>
        <p:nvSpPr>
          <p:cNvPr id="20" name="Shape 14"/>
          <p:cNvSpPr/>
          <p:nvPr/>
        </p:nvSpPr>
        <p:spPr>
          <a:xfrm>
            <a:off x="3867912" y="2816352"/>
            <a:ext cx="3246120" cy="932688"/>
          </a:xfrm>
          <a:prstGeom prst="roundRect">
            <a:avLst>
              <a:gd name="adj" fmla="val 6863"/>
            </a:avLst>
          </a:prstGeom>
          <a:solidFill>
            <a:srgbClr val="F4F7FC"/>
          </a:solidFill>
          <a:ln w="9525">
            <a:solidFill>
              <a:srgbClr val="DCE3EE"/>
            </a:solidFill>
            <a:prstDash val="solid"/>
          </a:ln>
        </p:spPr>
      </p:sp>
      <p:sp>
        <p:nvSpPr>
          <p:cNvPr id="21" name="Shape 15"/>
          <p:cNvSpPr/>
          <p:nvPr/>
        </p:nvSpPr>
        <p:spPr>
          <a:xfrm>
            <a:off x="4032504" y="3054096"/>
            <a:ext cx="457200" cy="457200"/>
          </a:xfrm>
          <a:prstGeom prst="ellipse">
            <a:avLst/>
          </a:prstGeom>
          <a:solidFill>
            <a:srgbClr val="2A8C96"/>
          </a:solidFill>
          <a:ln/>
        </p:spPr>
      </p:sp>
      <p:pic>
        <p:nvPicPr>
          <p:cNvPr id="22" name="Image 4" descr="preencoded.png">    </p:cNvPr>
          <p:cNvPicPr>
            <a:picLocks noChangeAspect="1"/>
          </p:cNvPicPr>
          <p:nvPr/>
        </p:nvPicPr>
        <p:blipFill>
          <a:blip r:embed="rId5"/>
          <a:stretch>
            <a:fillRect/>
          </a:stretch>
        </p:blipFill>
        <p:spPr>
          <a:xfrm>
            <a:off x="4142232" y="3163824"/>
            <a:ext cx="237744" cy="237744"/>
          </a:xfrm>
          <a:prstGeom prst="rect">
            <a:avLst/>
          </a:prstGeom>
        </p:spPr>
      </p:pic>
      <p:sp>
        <p:nvSpPr>
          <p:cNvPr id="23" name="Text 16"/>
          <p:cNvSpPr txBox="1"/>
          <p:nvPr/>
        </p:nvSpPr>
        <p:spPr>
          <a:xfrm>
            <a:off x="4617720" y="2816352"/>
            <a:ext cx="2377440" cy="932688"/>
          </a:xfrm>
          <a:prstGeom prst="rect">
            <a:avLst/>
          </a:prstGeom>
          <a:noFill/>
          <a:ln/>
        </p:spPr>
        <p:txBody>
          <a:bodyPr wrap="square" lIns="0" tIns="0" rIns="0" bIns="0"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Investigate</a:t>
            </a:r>
            <a:endParaRPr lang="en-US" sz="1400" dirty="0"/>
          </a:p>
          <a:p>
            <a:pPr indent="0" marL="0">
              <a:buNone/>
            </a:pPr>
            <a:r>
              <a:rPr lang="en-US" sz="1100" dirty="0">
                <a:solidFill>
                  <a:srgbClr val="64748B"/>
                </a:solidFill>
                <a:latin typeface="Calibri" pitchFamily="34" charset="0"/>
                <a:ea typeface="Calibri" pitchFamily="34" charset="-122"/>
                <a:cs typeface="Calibri" pitchFamily="34" charset="-120"/>
              </a:rPr>
              <a:t>Analyses logs, events and traffic, rebuilds the attack path</a:t>
            </a:r>
            <a:endParaRPr lang="en-US" sz="1400" dirty="0"/>
          </a:p>
        </p:txBody>
      </p:sp>
      <p:sp>
        <p:nvSpPr>
          <p:cNvPr id="24" name="Shape 17"/>
          <p:cNvSpPr/>
          <p:nvPr/>
        </p:nvSpPr>
        <p:spPr>
          <a:xfrm>
            <a:off x="457200" y="3877056"/>
            <a:ext cx="3246120" cy="932688"/>
          </a:xfrm>
          <a:prstGeom prst="roundRect">
            <a:avLst>
              <a:gd name="adj" fmla="val 6863"/>
            </a:avLst>
          </a:prstGeom>
          <a:solidFill>
            <a:srgbClr val="F4F7FC"/>
          </a:solidFill>
          <a:ln w="9525">
            <a:solidFill>
              <a:srgbClr val="DCE3EE"/>
            </a:solidFill>
            <a:prstDash val="solid"/>
          </a:ln>
        </p:spPr>
      </p:sp>
      <p:sp>
        <p:nvSpPr>
          <p:cNvPr id="25" name="Shape 18"/>
          <p:cNvSpPr/>
          <p:nvPr/>
        </p:nvSpPr>
        <p:spPr>
          <a:xfrm>
            <a:off x="621792" y="4114800"/>
            <a:ext cx="457200" cy="457200"/>
          </a:xfrm>
          <a:prstGeom prst="ellipse">
            <a:avLst/>
          </a:prstGeom>
          <a:solidFill>
            <a:srgbClr val="1B2A4A"/>
          </a:solidFill>
          <a:ln/>
        </p:spPr>
      </p:sp>
      <p:pic>
        <p:nvPicPr>
          <p:cNvPr id="26" name="Image 5" descr="preencoded.png">    </p:cNvPr>
          <p:cNvPicPr>
            <a:picLocks noChangeAspect="1"/>
          </p:cNvPicPr>
          <p:nvPr/>
        </p:nvPicPr>
        <p:blipFill>
          <a:blip r:embed="rId6"/>
          <a:stretch>
            <a:fillRect/>
          </a:stretch>
        </p:blipFill>
        <p:spPr>
          <a:xfrm>
            <a:off x="731520" y="4224528"/>
            <a:ext cx="237744" cy="237744"/>
          </a:xfrm>
          <a:prstGeom prst="rect">
            <a:avLst/>
          </a:prstGeom>
        </p:spPr>
      </p:pic>
      <p:sp>
        <p:nvSpPr>
          <p:cNvPr id="27" name="Text 19"/>
          <p:cNvSpPr txBox="1"/>
          <p:nvPr/>
        </p:nvSpPr>
        <p:spPr>
          <a:xfrm>
            <a:off x="1207008" y="3877056"/>
            <a:ext cx="2377440" cy="932688"/>
          </a:xfrm>
          <a:prstGeom prst="rect">
            <a:avLst/>
          </a:prstGeom>
          <a:noFill/>
          <a:ln/>
        </p:spPr>
        <p:txBody>
          <a:bodyPr wrap="square" lIns="0" tIns="0" rIns="0" bIns="0"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Threat Intelligence</a:t>
            </a:r>
            <a:endParaRPr lang="en-US" sz="1400" dirty="0"/>
          </a:p>
          <a:p>
            <a:pPr indent="0" marL="0">
              <a:buNone/>
            </a:pPr>
            <a:r>
              <a:rPr lang="en-US" sz="1100" dirty="0">
                <a:solidFill>
                  <a:srgbClr val="64748B"/>
                </a:solidFill>
                <a:latin typeface="Calibri" pitchFamily="34" charset="0"/>
                <a:ea typeface="Calibri" pitchFamily="34" charset="-122"/>
                <a:cs typeface="Calibri" pitchFamily="34" charset="-120"/>
              </a:rPr>
              <a:t>Enriches alerts with threat feeds and reputation data</a:t>
            </a:r>
            <a:endParaRPr lang="en-US" sz="1400" dirty="0"/>
          </a:p>
        </p:txBody>
      </p:sp>
      <p:sp>
        <p:nvSpPr>
          <p:cNvPr id="28" name="Shape 20"/>
          <p:cNvSpPr/>
          <p:nvPr/>
        </p:nvSpPr>
        <p:spPr>
          <a:xfrm>
            <a:off x="3867912" y="3877056"/>
            <a:ext cx="3246120" cy="932688"/>
          </a:xfrm>
          <a:prstGeom prst="roundRect">
            <a:avLst>
              <a:gd name="adj" fmla="val 6863"/>
            </a:avLst>
          </a:prstGeom>
          <a:solidFill>
            <a:srgbClr val="F4F7FC"/>
          </a:solidFill>
          <a:ln w="9525">
            <a:solidFill>
              <a:srgbClr val="DCE3EE"/>
            </a:solidFill>
            <a:prstDash val="solid"/>
          </a:ln>
        </p:spPr>
      </p:sp>
      <p:sp>
        <p:nvSpPr>
          <p:cNvPr id="29" name="Shape 21"/>
          <p:cNvSpPr/>
          <p:nvPr/>
        </p:nvSpPr>
        <p:spPr>
          <a:xfrm>
            <a:off x="4032504" y="4114800"/>
            <a:ext cx="457200" cy="457200"/>
          </a:xfrm>
          <a:prstGeom prst="ellipse">
            <a:avLst/>
          </a:prstGeom>
          <a:solidFill>
            <a:srgbClr val="2A8C96"/>
          </a:solidFill>
          <a:ln/>
        </p:spPr>
      </p:sp>
      <p:pic>
        <p:nvPicPr>
          <p:cNvPr id="30" name="Image 6" descr="preencoded.png">    </p:cNvPr>
          <p:cNvPicPr>
            <a:picLocks noChangeAspect="1"/>
          </p:cNvPicPr>
          <p:nvPr/>
        </p:nvPicPr>
        <p:blipFill>
          <a:blip r:embed="rId7"/>
          <a:stretch>
            <a:fillRect/>
          </a:stretch>
        </p:blipFill>
        <p:spPr>
          <a:xfrm>
            <a:off x="4142232" y="4224528"/>
            <a:ext cx="237744" cy="237744"/>
          </a:xfrm>
          <a:prstGeom prst="rect">
            <a:avLst/>
          </a:prstGeom>
        </p:spPr>
      </p:pic>
      <p:sp>
        <p:nvSpPr>
          <p:cNvPr id="31" name="Text 22"/>
          <p:cNvSpPr txBox="1"/>
          <p:nvPr/>
        </p:nvSpPr>
        <p:spPr>
          <a:xfrm>
            <a:off x="4617720" y="3877056"/>
            <a:ext cx="2377440" cy="932688"/>
          </a:xfrm>
          <a:prstGeom prst="rect">
            <a:avLst/>
          </a:prstGeom>
          <a:noFill/>
          <a:ln/>
        </p:spPr>
        <p:txBody>
          <a:bodyPr wrap="square" lIns="0" tIns="0" rIns="0" bIns="0"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Reasoning</a:t>
            </a:r>
            <a:endParaRPr lang="en-US" sz="1400" dirty="0"/>
          </a:p>
          <a:p>
            <a:pPr indent="0" marL="0">
              <a:buNone/>
            </a:pPr>
            <a:r>
              <a:rPr lang="en-US" sz="1100" dirty="0">
                <a:solidFill>
                  <a:srgbClr val="64748B"/>
                </a:solidFill>
                <a:latin typeface="Calibri" pitchFamily="34" charset="0"/>
                <a:ea typeface="Calibri" pitchFamily="34" charset="-122"/>
                <a:cs typeface="Calibri" pitchFamily="34" charset="-120"/>
              </a:rPr>
              <a:t>Confidence scores and plain-English explainable summaries</a:t>
            </a:r>
            <a:endParaRPr lang="en-US" sz="1400" dirty="0"/>
          </a:p>
        </p:txBody>
      </p:sp>
      <p:sp>
        <p:nvSpPr>
          <p:cNvPr id="32" name="Shape 23"/>
          <p:cNvSpPr/>
          <p:nvPr/>
        </p:nvSpPr>
        <p:spPr>
          <a:xfrm>
            <a:off x="7406640" y="1371600"/>
            <a:ext cx="4325112" cy="3438144"/>
          </a:xfrm>
          <a:prstGeom prst="roundRect">
            <a:avLst>
              <a:gd name="adj" fmla="val 1862"/>
            </a:avLst>
          </a:prstGeom>
          <a:solidFill>
            <a:srgbClr val="1B2A4A"/>
          </a:solidFill>
          <a:ln/>
        </p:spPr>
      </p:sp>
      <p:sp>
        <p:nvSpPr>
          <p:cNvPr id="33" name="Text 24"/>
          <p:cNvSpPr txBox="1"/>
          <p:nvPr/>
        </p:nvSpPr>
        <p:spPr>
          <a:xfrm>
            <a:off x="7662672" y="1517904"/>
            <a:ext cx="3840480" cy="329184"/>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Key capabilities</a:t>
            </a:r>
            <a:endParaRPr lang="en-US" sz="1600" dirty="0"/>
          </a:p>
        </p:txBody>
      </p:sp>
      <p:sp>
        <p:nvSpPr>
          <p:cNvPr id="34" name="Text 25"/>
          <p:cNvSpPr txBox="1"/>
          <p:nvPr/>
        </p:nvSpPr>
        <p:spPr>
          <a:xfrm>
            <a:off x="7662672" y="1938528"/>
            <a:ext cx="3886200" cy="274320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rgbClr val="CADCFC"/>
                </a:solidFill>
                <a:latin typeface="Calibri" pitchFamily="34" charset="0"/>
                <a:ea typeface="Calibri" pitchFamily="34" charset="-122"/>
                <a:cs typeface="Calibri" pitchFamily="34" charset="-120"/>
              </a:rPr>
              <a:t>AI alert triage and false-positive reduction</a:t>
            </a:r>
            <a:endParaRPr lang="en-US" sz="1250" dirty="0"/>
          </a:p>
          <a:p>
            <a:pPr marL="342900" indent="-342900">
              <a:spcAft>
                <a:spcPts val="700"/>
              </a:spcAft>
              <a:buSzPct val="100000"/>
              <a:buChar char="•"/>
            </a:pPr>
            <a:r>
              <a:rPr lang="en-US" sz="1250" dirty="0">
                <a:solidFill>
                  <a:srgbClr val="CADCFC"/>
                </a:solidFill>
                <a:latin typeface="Calibri" pitchFamily="34" charset="0"/>
                <a:ea typeface="Calibri" pitchFamily="34" charset="-122"/>
                <a:cs typeface="Calibri" pitchFamily="34" charset="-120"/>
              </a:rPr>
              <a:t>AI-led investigation with a full evidence trail</a:t>
            </a:r>
            <a:endParaRPr lang="en-US" sz="1250" dirty="0"/>
          </a:p>
          <a:p>
            <a:pPr marL="342900" indent="-342900">
              <a:spcAft>
                <a:spcPts val="700"/>
              </a:spcAft>
              <a:buSzPct val="100000"/>
              <a:buChar char="•"/>
            </a:pPr>
            <a:r>
              <a:rPr lang="en-US" sz="1250" dirty="0">
                <a:solidFill>
                  <a:srgbClr val="CADCFC"/>
                </a:solidFill>
                <a:latin typeface="Calibri" pitchFamily="34" charset="0"/>
                <a:ea typeface="Calibri" pitchFamily="34" charset="-122"/>
                <a:cs typeface="Calibri" pitchFamily="34" charset="-120"/>
              </a:rPr>
              <a:t>Recommended response actions and automated playbooks</a:t>
            </a:r>
            <a:endParaRPr lang="en-US" sz="1250" dirty="0"/>
          </a:p>
          <a:p>
            <a:pPr marL="342900" indent="-342900">
              <a:spcAft>
                <a:spcPts val="700"/>
              </a:spcAft>
              <a:buSzPct val="100000"/>
              <a:buChar char="•"/>
            </a:pPr>
            <a:r>
              <a:rPr lang="en-US" sz="1250" dirty="0">
                <a:solidFill>
                  <a:srgbClr val="CADCFC"/>
                </a:solidFill>
                <a:latin typeface="Calibri" pitchFamily="34" charset="0"/>
                <a:ea typeface="Calibri" pitchFamily="34" charset="-122"/>
                <a:cs typeface="Calibri" pitchFamily="34" charset="-120"/>
              </a:rPr>
              <a:t>AI chatbot and automated reporting</a:t>
            </a:r>
            <a:endParaRPr lang="en-US" sz="1250" dirty="0"/>
          </a:p>
          <a:p>
            <a:pPr marL="342900" indent="-342900">
              <a:spcAft>
                <a:spcPts val="700"/>
              </a:spcAft>
              <a:buSzPct val="100000"/>
              <a:buChar char="•"/>
            </a:pPr>
            <a:r>
              <a:rPr lang="en-US" sz="1250" dirty="0">
                <a:solidFill>
                  <a:srgbClr val="CADCFC"/>
                </a:solidFill>
                <a:latin typeface="Calibri" pitchFamily="34" charset="0"/>
                <a:ea typeface="Calibri" pitchFamily="34" charset="-122"/>
                <a:cs typeface="Calibri" pitchFamily="34" charset="-120"/>
              </a:rPr>
              <a:t>300+ integrations; works with existing SIEM, EDR and identity tools</a:t>
            </a:r>
            <a:endParaRPr lang="en-US" sz="1250" dirty="0"/>
          </a:p>
          <a:p>
            <a:pPr marL="342900" indent="-342900">
              <a:spcAft>
                <a:spcPts val="700"/>
              </a:spcAft>
              <a:buSzPct val="100000"/>
              <a:buChar char="•"/>
            </a:pPr>
            <a:r>
              <a:rPr lang="en-US" sz="1250" dirty="0">
                <a:solidFill>
                  <a:srgbClr val="CADCFC"/>
                </a:solidFill>
                <a:latin typeface="Calibri" pitchFamily="34" charset="0"/>
                <a:ea typeface="Calibri" pitchFamily="34" charset="-122"/>
                <a:cs typeface="Calibri" pitchFamily="34" charset="-120"/>
              </a:rPr>
              <a:t>Native NCA and SAMA mapping, local data residency</a:t>
            </a:r>
            <a:endParaRPr lang="en-US" sz="1250" dirty="0"/>
          </a:p>
        </p:txBody>
      </p:sp>
      <p:sp>
        <p:nvSpPr>
          <p:cNvPr id="35" name="Shape 26"/>
          <p:cNvSpPr/>
          <p:nvPr/>
        </p:nvSpPr>
        <p:spPr>
          <a:xfrm>
            <a:off x="457200" y="4983480"/>
            <a:ext cx="3630168" cy="868680"/>
          </a:xfrm>
          <a:prstGeom prst="roundRect">
            <a:avLst>
              <a:gd name="adj" fmla="val 7368"/>
            </a:avLst>
          </a:prstGeom>
          <a:solidFill>
            <a:srgbClr val="F4F7FC"/>
          </a:solidFill>
          <a:ln w="9525">
            <a:solidFill>
              <a:srgbClr val="DCE3EE"/>
            </a:solidFill>
            <a:prstDash val="solid"/>
          </a:ln>
        </p:spPr>
      </p:sp>
      <p:sp>
        <p:nvSpPr>
          <p:cNvPr id="36" name="Text 27"/>
          <p:cNvSpPr txBox="1"/>
          <p:nvPr/>
        </p:nvSpPr>
        <p:spPr>
          <a:xfrm>
            <a:off x="731520" y="4983480"/>
            <a:ext cx="1234440" cy="868680"/>
          </a:xfrm>
          <a:prstGeom prst="rect">
            <a:avLst/>
          </a:prstGeom>
          <a:noFill/>
          <a:ln/>
        </p:spPr>
        <p:txBody>
          <a:bodyPr wrap="square" lIns="0" tIns="0" rIns="0" bIns="0" rtlCol="0" anchor="ctr"/>
          <a:lstStyle/>
          <a:p>
            <a:pPr indent="0" marL="0">
              <a:buNone/>
            </a:pPr>
            <a:r>
              <a:rPr lang="en-US" sz="2800" b="1" dirty="0">
                <a:solidFill>
                  <a:srgbClr val="2A8C96"/>
                </a:solidFill>
                <a:latin typeface="Calibri" pitchFamily="34" charset="0"/>
                <a:ea typeface="Calibri" pitchFamily="34" charset="-122"/>
                <a:cs typeface="Calibri" pitchFamily="34" charset="-120"/>
              </a:rPr>
              <a:t>90%</a:t>
            </a:r>
            <a:endParaRPr lang="en-US" sz="2800" dirty="0"/>
          </a:p>
        </p:txBody>
      </p:sp>
      <p:sp>
        <p:nvSpPr>
          <p:cNvPr id="37" name="Text 28"/>
          <p:cNvSpPr txBox="1"/>
          <p:nvPr/>
        </p:nvSpPr>
        <p:spPr>
          <a:xfrm>
            <a:off x="1965960" y="4983480"/>
            <a:ext cx="1984248" cy="8686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Faster threat validation</a:t>
            </a:r>
            <a:endParaRPr lang="en-US" sz="1300" dirty="0"/>
          </a:p>
        </p:txBody>
      </p:sp>
      <p:sp>
        <p:nvSpPr>
          <p:cNvPr id="38" name="Shape 29"/>
          <p:cNvSpPr/>
          <p:nvPr/>
        </p:nvSpPr>
        <p:spPr>
          <a:xfrm>
            <a:off x="4279392" y="4983480"/>
            <a:ext cx="3630168" cy="868680"/>
          </a:xfrm>
          <a:prstGeom prst="roundRect">
            <a:avLst>
              <a:gd name="adj" fmla="val 7368"/>
            </a:avLst>
          </a:prstGeom>
          <a:solidFill>
            <a:srgbClr val="F4F7FC"/>
          </a:solidFill>
          <a:ln w="9525">
            <a:solidFill>
              <a:srgbClr val="DCE3EE"/>
            </a:solidFill>
            <a:prstDash val="solid"/>
          </a:ln>
        </p:spPr>
      </p:sp>
      <p:sp>
        <p:nvSpPr>
          <p:cNvPr id="39" name="Text 30"/>
          <p:cNvSpPr txBox="1"/>
          <p:nvPr/>
        </p:nvSpPr>
        <p:spPr>
          <a:xfrm>
            <a:off x="4553712" y="4983480"/>
            <a:ext cx="1234440" cy="868680"/>
          </a:xfrm>
          <a:prstGeom prst="rect">
            <a:avLst/>
          </a:prstGeom>
          <a:noFill/>
          <a:ln/>
        </p:spPr>
        <p:txBody>
          <a:bodyPr wrap="square" lIns="0" tIns="0" rIns="0" bIns="0" rtlCol="0" anchor="ctr"/>
          <a:lstStyle/>
          <a:p>
            <a:pPr indent="0" marL="0">
              <a:buNone/>
            </a:pPr>
            <a:r>
              <a:rPr lang="en-US" sz="2800" b="1" dirty="0">
                <a:solidFill>
                  <a:srgbClr val="2A8C96"/>
                </a:solidFill>
                <a:latin typeface="Calibri" pitchFamily="34" charset="0"/>
                <a:ea typeface="Calibri" pitchFamily="34" charset="-122"/>
                <a:cs typeface="Calibri" pitchFamily="34" charset="-120"/>
              </a:rPr>
              <a:t>85%</a:t>
            </a:r>
            <a:endParaRPr lang="en-US" sz="2800" dirty="0"/>
          </a:p>
        </p:txBody>
      </p:sp>
      <p:sp>
        <p:nvSpPr>
          <p:cNvPr id="40" name="Text 31"/>
          <p:cNvSpPr txBox="1"/>
          <p:nvPr/>
        </p:nvSpPr>
        <p:spPr>
          <a:xfrm>
            <a:off x="5788152" y="4983480"/>
            <a:ext cx="1984248" cy="8686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Fewer false positives</a:t>
            </a:r>
            <a:endParaRPr lang="en-US" sz="1300" dirty="0"/>
          </a:p>
        </p:txBody>
      </p:sp>
      <p:sp>
        <p:nvSpPr>
          <p:cNvPr id="41" name="Shape 32"/>
          <p:cNvSpPr/>
          <p:nvPr/>
        </p:nvSpPr>
        <p:spPr>
          <a:xfrm>
            <a:off x="8101584" y="4983480"/>
            <a:ext cx="3630168" cy="868680"/>
          </a:xfrm>
          <a:prstGeom prst="roundRect">
            <a:avLst>
              <a:gd name="adj" fmla="val 7368"/>
            </a:avLst>
          </a:prstGeom>
          <a:solidFill>
            <a:srgbClr val="F4F7FC"/>
          </a:solidFill>
          <a:ln w="9525">
            <a:solidFill>
              <a:srgbClr val="DCE3EE"/>
            </a:solidFill>
            <a:prstDash val="solid"/>
          </a:ln>
        </p:spPr>
      </p:sp>
      <p:sp>
        <p:nvSpPr>
          <p:cNvPr id="42" name="Text 33"/>
          <p:cNvSpPr txBox="1"/>
          <p:nvPr/>
        </p:nvSpPr>
        <p:spPr>
          <a:xfrm>
            <a:off x="8375904" y="4983480"/>
            <a:ext cx="1234440" cy="868680"/>
          </a:xfrm>
          <a:prstGeom prst="rect">
            <a:avLst/>
          </a:prstGeom>
          <a:noFill/>
          <a:ln/>
        </p:spPr>
        <p:txBody>
          <a:bodyPr wrap="square" lIns="0" tIns="0" rIns="0" bIns="0" rtlCol="0" anchor="ctr"/>
          <a:lstStyle/>
          <a:p>
            <a:pPr indent="0" marL="0">
              <a:buNone/>
            </a:pPr>
            <a:r>
              <a:rPr lang="en-US" sz="2800" b="1" dirty="0">
                <a:solidFill>
                  <a:srgbClr val="2A8C96"/>
                </a:solidFill>
                <a:latin typeface="Calibri" pitchFamily="34" charset="0"/>
                <a:ea typeface="Calibri" pitchFamily="34" charset="-122"/>
                <a:cs typeface="Calibri" pitchFamily="34" charset="-120"/>
              </a:rPr>
              <a:t>100%</a:t>
            </a:r>
            <a:endParaRPr lang="en-US" sz="2800" dirty="0"/>
          </a:p>
        </p:txBody>
      </p:sp>
      <p:sp>
        <p:nvSpPr>
          <p:cNvPr id="43" name="Text 34"/>
          <p:cNvSpPr txBox="1"/>
          <p:nvPr/>
        </p:nvSpPr>
        <p:spPr>
          <a:xfrm>
            <a:off x="9610344" y="4983480"/>
            <a:ext cx="1984248" cy="868680"/>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Explainable alerts</a:t>
            </a:r>
            <a:endParaRPr lang="en-US" sz="1300" dirty="0"/>
          </a:p>
        </p:txBody>
      </p:sp>
      <p:sp>
        <p:nvSpPr>
          <p:cNvPr id="44" name="Text 35"/>
          <p:cNvSpPr txBox="1"/>
          <p:nvPr/>
        </p:nvSpPr>
        <p:spPr>
          <a:xfrm>
            <a:off x="457200" y="5943600"/>
            <a:ext cx="11274552" cy="274320"/>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Source: cognna.com, October 2026. Figures are vendor claims and have not been validated in the SIMAH environment.</a:t>
            </a:r>
            <a:endParaRPr lang="en-US" sz="105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457200" y="310896"/>
            <a:ext cx="530352" cy="530352"/>
          </a:xfrm>
          <a:prstGeom prst="ellipse">
            <a:avLst/>
          </a:prstGeom>
          <a:solidFill>
            <a:srgbClr val="1B2A4A"/>
          </a:solidFill>
          <a:ln/>
        </p:spPr>
      </p:sp>
      <p:pic>
        <p:nvPicPr>
          <p:cNvPr id="3" name="Image 0" descr="preencoded.png">    </p:cNvPr>
          <p:cNvPicPr>
            <a:picLocks noChangeAspect="1"/>
          </p:cNvPicPr>
          <p:nvPr/>
        </p:nvPicPr>
        <p:blipFill>
          <a:blip r:embed="rId1"/>
          <a:stretch>
            <a:fillRect/>
          </a:stretch>
        </p:blipFill>
        <p:spPr>
          <a:xfrm>
            <a:off x="589788" y="443484"/>
            <a:ext cx="265176" cy="265176"/>
          </a:xfrm>
          <a:prstGeom prst="rect">
            <a:avLst/>
          </a:prstGeom>
        </p:spPr>
      </p:pic>
      <p:sp>
        <p:nvSpPr>
          <p:cNvPr id="4" name="Text 1"/>
          <p:cNvSpPr/>
          <p:nvPr>
            <p:ph idx="101" type="title" hasCustomPrompt="1"/>
          </p:nvPr>
        </p:nvSpPr>
        <p:spPr>
          <a:xfrm>
            <a:off x="1143000" y="274320"/>
            <a:ext cx="7223760" cy="603504"/>
          </a:xfrm>
          <a:prstGeom prst="rect">
            <a:avLst/>
          </a:prstGeom>
          <a:noFill/>
          <a:ln/>
        </p:spPr>
        <p:txBody>
          <a:bodyPr wrap="square" lIns="0" tIns="0" rIns="0" bIns="0" rtlCol="0" anchor="ctr"/>
          <a:lstStyle/>
          <a:p>
            <a:pPr algn="l" indent="0" marL="0">
              <a:buNone/>
            </a:pPr>
            <a:r>
              <a:rPr lang="en-US" sz="3000" b="1" dirty="0">
                <a:solidFill>
                  <a:srgbClr val="1B2A4A"/>
                </a:solidFill>
                <a:latin typeface="Calibri" pitchFamily="34" charset="0"/>
                <a:ea typeface="Calibri" pitchFamily="34" charset="-122"/>
                <a:cs typeface="Calibri" pitchFamily="34" charset="-120"/>
              </a:rPr>
              <a:t>SOC AI Option 2: Palo Alto Cortex XSIAM</a:t>
            </a:r>
            <a:endParaRPr lang="en-US" sz="3000" dirty="0"/>
          </a:p>
        </p:txBody>
      </p:sp>
      <p:sp>
        <p:nvSpPr>
          <p:cNvPr id="5" name="Text 2"/>
          <p:cNvSpPr txBox="1"/>
          <p:nvPr/>
        </p:nvSpPr>
        <p:spPr>
          <a:xfrm>
            <a:off x="8458200" y="384048"/>
            <a:ext cx="3273552" cy="384048"/>
          </a:xfrm>
          <a:prstGeom prst="rect">
            <a:avLst/>
          </a:prstGeom>
          <a:noFill/>
          <a:ln/>
        </p:spPr>
        <p:txBody>
          <a:bodyPr wrap="square" lIns="0" tIns="0" rIns="0" bIns="0" rtlCol="0" anchor="ctr"/>
          <a:lstStyle/>
          <a:p>
            <a:pPr algn="r" indent="0" marL="0">
              <a:buNone/>
            </a:pPr>
            <a:r>
              <a:rPr lang="en-US" sz="1200" dirty="0">
                <a:solidFill>
                  <a:srgbClr val="64748B"/>
                </a:solidFill>
                <a:latin typeface="Calibri" pitchFamily="34" charset="0"/>
                <a:ea typeface="Calibri" pitchFamily="34" charset="-122"/>
                <a:cs typeface="Calibri" pitchFamily="34" charset="-120"/>
              </a:rPr>
              <a:t>SOC AI  |  Market Options</a:t>
            </a:r>
            <a:endParaRPr lang="en-US" sz="1200" dirty="0"/>
          </a:p>
        </p:txBody>
      </p:sp>
      <p:sp>
        <p:nvSpPr>
          <p:cNvPr id="6" name="Text 3"/>
          <p:cNvSpPr txBox="1"/>
          <p:nvPr/>
        </p:nvSpPr>
        <p:spPr>
          <a:xfrm>
            <a:off x="457200" y="932688"/>
            <a:ext cx="11274552" cy="310896"/>
          </a:xfrm>
          <a:prstGeom prst="rect">
            <a:avLst/>
          </a:prstGeom>
          <a:noFill/>
          <a:ln/>
        </p:spPr>
        <p:txBody>
          <a:bodyPr wrap="square" lIns="0" tIns="0" rIns="0" bIns="0" rtlCol="0" anchor="ctr"/>
          <a:lstStyle/>
          <a:p>
            <a:pPr indent="0" marL="0">
              <a:buNone/>
            </a:pPr>
            <a:r>
              <a:rPr lang="en-US" sz="1500" dirty="0">
                <a:solidFill>
                  <a:srgbClr val="64748B"/>
                </a:solidFill>
                <a:latin typeface="Calibri" pitchFamily="34" charset="0"/>
                <a:ea typeface="Calibri" pitchFamily="34" charset="-122"/>
                <a:cs typeface="Calibri" pitchFamily="34" charset="-120"/>
              </a:rPr>
              <a:t>AI-driven SOC platform with built-in AI agents (Cortex AgentiX)</a:t>
            </a:r>
            <a:endParaRPr lang="en-US" sz="1500" dirty="0"/>
          </a:p>
        </p:txBody>
      </p:sp>
      <p:sp>
        <p:nvSpPr>
          <p:cNvPr id="7" name="Text 4"/>
          <p:cNvSpPr txBox="1"/>
          <p:nvPr/>
        </p:nvSpPr>
        <p:spPr>
          <a:xfrm>
            <a:off x="457200" y="1371600"/>
            <a:ext cx="5486400" cy="292608"/>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One converged SOC platform</a:t>
            </a:r>
            <a:endParaRPr lang="en-US" sz="1600" dirty="0"/>
          </a:p>
        </p:txBody>
      </p:sp>
      <p:sp>
        <p:nvSpPr>
          <p:cNvPr id="8" name="Shape 5"/>
          <p:cNvSpPr/>
          <p:nvPr/>
        </p:nvSpPr>
        <p:spPr>
          <a:xfrm>
            <a:off x="457200" y="1755648"/>
            <a:ext cx="5486400" cy="2286000"/>
          </a:xfrm>
          <a:prstGeom prst="roundRect">
            <a:avLst>
              <a:gd name="adj" fmla="val 2800"/>
            </a:avLst>
          </a:prstGeom>
          <a:solidFill>
            <a:srgbClr val="F4F7FC"/>
          </a:solidFill>
          <a:ln w="9525">
            <a:solidFill>
              <a:srgbClr val="DCE3EE"/>
            </a:solidFill>
            <a:prstDash val="solid"/>
          </a:ln>
        </p:spPr>
      </p:sp>
      <p:sp>
        <p:nvSpPr>
          <p:cNvPr id="9" name="Shape 6"/>
          <p:cNvSpPr/>
          <p:nvPr/>
        </p:nvSpPr>
        <p:spPr>
          <a:xfrm>
            <a:off x="658368" y="1920240"/>
            <a:ext cx="1152144" cy="274320"/>
          </a:xfrm>
          <a:prstGeom prst="roundRect">
            <a:avLst>
              <a:gd name="adj" fmla="val 50000"/>
            </a:avLst>
          </a:prstGeom>
          <a:solidFill>
            <a:srgbClr val="E2EAF6"/>
          </a:solidFill>
          <a:ln/>
        </p:spPr>
      </p:sp>
      <p:sp>
        <p:nvSpPr>
          <p:cNvPr id="10" name="Text 7"/>
          <p:cNvSpPr txBox="1"/>
          <p:nvPr/>
        </p:nvSpPr>
        <p:spPr>
          <a:xfrm>
            <a:off x="658368" y="1920240"/>
            <a:ext cx="1152144" cy="274320"/>
          </a:xfrm>
          <a:prstGeom prst="rect">
            <a:avLst/>
          </a:prstGeom>
          <a:noFill/>
          <a:ln/>
        </p:spPr>
        <p:txBody>
          <a:bodyPr wrap="square" lIns="0" tIns="0" rIns="0" bIns="0" rtlCol="0" anchor="ctr"/>
          <a:lstStyle/>
          <a:p>
            <a:pPr algn="ctr" indent="0" marL="0">
              <a:buNone/>
            </a:pPr>
            <a:r>
              <a:rPr lang="en-US" sz="1100" b="1" dirty="0">
                <a:solidFill>
                  <a:srgbClr val="1B2A4A"/>
                </a:solidFill>
                <a:latin typeface="Calibri" pitchFamily="34" charset="0"/>
                <a:ea typeface="Calibri" pitchFamily="34" charset="-122"/>
                <a:cs typeface="Calibri" pitchFamily="34" charset="-120"/>
              </a:rPr>
              <a:t>SIEM</a:t>
            </a:r>
            <a:endParaRPr lang="en-US" sz="1100" dirty="0"/>
          </a:p>
        </p:txBody>
      </p:sp>
      <p:sp>
        <p:nvSpPr>
          <p:cNvPr id="11" name="Shape 8"/>
          <p:cNvSpPr/>
          <p:nvPr/>
        </p:nvSpPr>
        <p:spPr>
          <a:xfrm>
            <a:off x="1938528" y="1920240"/>
            <a:ext cx="1152144" cy="274320"/>
          </a:xfrm>
          <a:prstGeom prst="roundRect">
            <a:avLst>
              <a:gd name="adj" fmla="val 50000"/>
            </a:avLst>
          </a:prstGeom>
          <a:solidFill>
            <a:srgbClr val="E4F0F1"/>
          </a:solidFill>
          <a:ln/>
        </p:spPr>
      </p:sp>
      <p:sp>
        <p:nvSpPr>
          <p:cNvPr id="12" name="Text 9"/>
          <p:cNvSpPr txBox="1"/>
          <p:nvPr/>
        </p:nvSpPr>
        <p:spPr>
          <a:xfrm>
            <a:off x="1938528" y="1920240"/>
            <a:ext cx="1152144" cy="274320"/>
          </a:xfrm>
          <a:prstGeom prst="rect">
            <a:avLst/>
          </a:prstGeom>
          <a:noFill/>
          <a:ln/>
        </p:spPr>
        <p:txBody>
          <a:bodyPr wrap="square" lIns="0" tIns="0" rIns="0" bIns="0" rtlCol="0" anchor="ctr"/>
          <a:lstStyle/>
          <a:p>
            <a:pPr algn="ctr" indent="0" marL="0">
              <a:buNone/>
            </a:pPr>
            <a:r>
              <a:rPr lang="en-US" sz="1100" b="1" dirty="0">
                <a:solidFill>
                  <a:srgbClr val="2A8C96"/>
                </a:solidFill>
                <a:latin typeface="Calibri" pitchFamily="34" charset="0"/>
                <a:ea typeface="Calibri" pitchFamily="34" charset="-122"/>
                <a:cs typeface="Calibri" pitchFamily="34" charset="-120"/>
              </a:rPr>
              <a:t>XDR / EDR</a:t>
            </a:r>
            <a:endParaRPr lang="en-US" sz="1100" dirty="0"/>
          </a:p>
        </p:txBody>
      </p:sp>
      <p:sp>
        <p:nvSpPr>
          <p:cNvPr id="13" name="Shape 10"/>
          <p:cNvSpPr/>
          <p:nvPr/>
        </p:nvSpPr>
        <p:spPr>
          <a:xfrm>
            <a:off x="3218688" y="1920240"/>
            <a:ext cx="1152144" cy="274320"/>
          </a:xfrm>
          <a:prstGeom prst="roundRect">
            <a:avLst>
              <a:gd name="adj" fmla="val 50000"/>
            </a:avLst>
          </a:prstGeom>
          <a:solidFill>
            <a:srgbClr val="E2EAF6"/>
          </a:solidFill>
          <a:ln/>
        </p:spPr>
      </p:sp>
      <p:sp>
        <p:nvSpPr>
          <p:cNvPr id="14" name="Text 11"/>
          <p:cNvSpPr txBox="1"/>
          <p:nvPr/>
        </p:nvSpPr>
        <p:spPr>
          <a:xfrm>
            <a:off x="3218688" y="1920240"/>
            <a:ext cx="1152144" cy="274320"/>
          </a:xfrm>
          <a:prstGeom prst="rect">
            <a:avLst/>
          </a:prstGeom>
          <a:noFill/>
          <a:ln/>
        </p:spPr>
        <p:txBody>
          <a:bodyPr wrap="square" lIns="0" tIns="0" rIns="0" bIns="0" rtlCol="0" anchor="ctr"/>
          <a:lstStyle/>
          <a:p>
            <a:pPr algn="ctr" indent="0" marL="0">
              <a:buNone/>
            </a:pPr>
            <a:r>
              <a:rPr lang="en-US" sz="1100" b="1" dirty="0">
                <a:solidFill>
                  <a:srgbClr val="1B2A4A"/>
                </a:solidFill>
                <a:latin typeface="Calibri" pitchFamily="34" charset="0"/>
                <a:ea typeface="Calibri" pitchFamily="34" charset="-122"/>
                <a:cs typeface="Calibri" pitchFamily="34" charset="-120"/>
              </a:rPr>
              <a:t>SOAR</a:t>
            </a:r>
            <a:endParaRPr lang="en-US" sz="1100" dirty="0"/>
          </a:p>
        </p:txBody>
      </p:sp>
      <p:sp>
        <p:nvSpPr>
          <p:cNvPr id="15" name="Shape 12"/>
          <p:cNvSpPr/>
          <p:nvPr/>
        </p:nvSpPr>
        <p:spPr>
          <a:xfrm>
            <a:off x="4498848" y="1920240"/>
            <a:ext cx="1152144" cy="274320"/>
          </a:xfrm>
          <a:prstGeom prst="roundRect">
            <a:avLst>
              <a:gd name="adj" fmla="val 50000"/>
            </a:avLst>
          </a:prstGeom>
          <a:solidFill>
            <a:srgbClr val="E4F0F1"/>
          </a:solidFill>
          <a:ln/>
        </p:spPr>
      </p:sp>
      <p:sp>
        <p:nvSpPr>
          <p:cNvPr id="16" name="Text 13"/>
          <p:cNvSpPr txBox="1"/>
          <p:nvPr/>
        </p:nvSpPr>
        <p:spPr>
          <a:xfrm>
            <a:off x="4498848" y="1920240"/>
            <a:ext cx="1152144" cy="274320"/>
          </a:xfrm>
          <a:prstGeom prst="rect">
            <a:avLst/>
          </a:prstGeom>
          <a:noFill/>
          <a:ln/>
        </p:spPr>
        <p:txBody>
          <a:bodyPr wrap="square" lIns="0" tIns="0" rIns="0" bIns="0" rtlCol="0" anchor="ctr"/>
          <a:lstStyle/>
          <a:p>
            <a:pPr algn="ctr" indent="0" marL="0">
              <a:buNone/>
            </a:pPr>
            <a:r>
              <a:rPr lang="en-US" sz="1100" b="1" dirty="0">
                <a:solidFill>
                  <a:srgbClr val="2A8C96"/>
                </a:solidFill>
                <a:latin typeface="Calibri" pitchFamily="34" charset="0"/>
                <a:ea typeface="Calibri" pitchFamily="34" charset="-122"/>
                <a:cs typeface="Calibri" pitchFamily="34" charset="-120"/>
              </a:rPr>
              <a:t>ASM</a:t>
            </a:r>
            <a:endParaRPr lang="en-US" sz="1100" dirty="0"/>
          </a:p>
        </p:txBody>
      </p:sp>
      <p:sp>
        <p:nvSpPr>
          <p:cNvPr id="17" name="Shape 14"/>
          <p:cNvSpPr/>
          <p:nvPr/>
        </p:nvSpPr>
        <p:spPr>
          <a:xfrm>
            <a:off x="658368" y="2377440"/>
            <a:ext cx="1152144" cy="274320"/>
          </a:xfrm>
          <a:prstGeom prst="roundRect">
            <a:avLst>
              <a:gd name="adj" fmla="val 50000"/>
            </a:avLst>
          </a:prstGeom>
          <a:solidFill>
            <a:srgbClr val="E2EAF6"/>
          </a:solidFill>
          <a:ln/>
        </p:spPr>
      </p:sp>
      <p:sp>
        <p:nvSpPr>
          <p:cNvPr id="18" name="Text 15"/>
          <p:cNvSpPr txBox="1"/>
          <p:nvPr/>
        </p:nvSpPr>
        <p:spPr>
          <a:xfrm>
            <a:off x="658368" y="2377440"/>
            <a:ext cx="1152144" cy="274320"/>
          </a:xfrm>
          <a:prstGeom prst="rect">
            <a:avLst/>
          </a:prstGeom>
          <a:noFill/>
          <a:ln/>
        </p:spPr>
        <p:txBody>
          <a:bodyPr wrap="square" lIns="0" tIns="0" rIns="0" bIns="0" rtlCol="0" anchor="ctr"/>
          <a:lstStyle/>
          <a:p>
            <a:pPr algn="ctr" indent="0" marL="0">
              <a:buNone/>
            </a:pPr>
            <a:r>
              <a:rPr lang="en-US" sz="1100" b="1" dirty="0">
                <a:solidFill>
                  <a:srgbClr val="1B2A4A"/>
                </a:solidFill>
                <a:latin typeface="Calibri" pitchFamily="34" charset="0"/>
                <a:ea typeface="Calibri" pitchFamily="34" charset="-122"/>
                <a:cs typeface="Calibri" pitchFamily="34" charset="-120"/>
              </a:rPr>
              <a:t>UEBA</a:t>
            </a:r>
            <a:endParaRPr lang="en-US" sz="1100" dirty="0"/>
          </a:p>
        </p:txBody>
      </p:sp>
      <p:sp>
        <p:nvSpPr>
          <p:cNvPr id="19" name="Shape 16"/>
          <p:cNvSpPr/>
          <p:nvPr/>
        </p:nvSpPr>
        <p:spPr>
          <a:xfrm>
            <a:off x="1938528" y="2377440"/>
            <a:ext cx="1152144" cy="274320"/>
          </a:xfrm>
          <a:prstGeom prst="roundRect">
            <a:avLst>
              <a:gd name="adj" fmla="val 50000"/>
            </a:avLst>
          </a:prstGeom>
          <a:solidFill>
            <a:srgbClr val="E4F0F1"/>
          </a:solidFill>
          <a:ln/>
        </p:spPr>
      </p:sp>
      <p:sp>
        <p:nvSpPr>
          <p:cNvPr id="20" name="Text 17"/>
          <p:cNvSpPr txBox="1"/>
          <p:nvPr/>
        </p:nvSpPr>
        <p:spPr>
          <a:xfrm>
            <a:off x="1938528" y="2377440"/>
            <a:ext cx="1152144" cy="274320"/>
          </a:xfrm>
          <a:prstGeom prst="rect">
            <a:avLst/>
          </a:prstGeom>
          <a:noFill/>
          <a:ln/>
        </p:spPr>
        <p:txBody>
          <a:bodyPr wrap="square" lIns="0" tIns="0" rIns="0" bIns="0" rtlCol="0" anchor="ctr"/>
          <a:lstStyle/>
          <a:p>
            <a:pPr algn="ctr" indent="0" marL="0">
              <a:buNone/>
            </a:pPr>
            <a:r>
              <a:rPr lang="en-US" sz="1100" b="1" dirty="0">
                <a:solidFill>
                  <a:srgbClr val="2A8C96"/>
                </a:solidFill>
                <a:latin typeface="Calibri" pitchFamily="34" charset="0"/>
                <a:ea typeface="Calibri" pitchFamily="34" charset="-122"/>
                <a:cs typeface="Calibri" pitchFamily="34" charset="-120"/>
              </a:rPr>
              <a:t>TIP</a:t>
            </a:r>
            <a:endParaRPr lang="en-US" sz="1100" dirty="0"/>
          </a:p>
        </p:txBody>
      </p:sp>
      <p:sp>
        <p:nvSpPr>
          <p:cNvPr id="21" name="Shape 18"/>
          <p:cNvSpPr/>
          <p:nvPr/>
        </p:nvSpPr>
        <p:spPr>
          <a:xfrm>
            <a:off x="3218688" y="2377440"/>
            <a:ext cx="1152144" cy="274320"/>
          </a:xfrm>
          <a:prstGeom prst="roundRect">
            <a:avLst>
              <a:gd name="adj" fmla="val 50000"/>
            </a:avLst>
          </a:prstGeom>
          <a:solidFill>
            <a:srgbClr val="E2EAF6"/>
          </a:solidFill>
          <a:ln/>
        </p:spPr>
      </p:sp>
      <p:sp>
        <p:nvSpPr>
          <p:cNvPr id="22" name="Text 19"/>
          <p:cNvSpPr txBox="1"/>
          <p:nvPr/>
        </p:nvSpPr>
        <p:spPr>
          <a:xfrm>
            <a:off x="3218688" y="2377440"/>
            <a:ext cx="1152144" cy="274320"/>
          </a:xfrm>
          <a:prstGeom prst="rect">
            <a:avLst/>
          </a:prstGeom>
          <a:noFill/>
          <a:ln/>
        </p:spPr>
        <p:txBody>
          <a:bodyPr wrap="square" lIns="0" tIns="0" rIns="0" bIns="0" rtlCol="0" anchor="ctr"/>
          <a:lstStyle/>
          <a:p>
            <a:pPr algn="ctr" indent="0" marL="0">
              <a:buNone/>
            </a:pPr>
            <a:r>
              <a:rPr lang="en-US" sz="1100" b="1" dirty="0">
                <a:solidFill>
                  <a:srgbClr val="1B2A4A"/>
                </a:solidFill>
                <a:latin typeface="Calibri" pitchFamily="34" charset="0"/>
                <a:ea typeface="Calibri" pitchFamily="34" charset="-122"/>
                <a:cs typeface="Calibri" pitchFamily="34" charset="-120"/>
              </a:rPr>
              <a:t>CDR</a:t>
            </a:r>
            <a:endParaRPr lang="en-US" sz="1100" dirty="0"/>
          </a:p>
        </p:txBody>
      </p:sp>
      <p:sp>
        <p:nvSpPr>
          <p:cNvPr id="23" name="Text 20"/>
          <p:cNvSpPr txBox="1"/>
          <p:nvPr/>
        </p:nvSpPr>
        <p:spPr>
          <a:xfrm>
            <a:off x="658368" y="2926080"/>
            <a:ext cx="5120640" cy="1005840"/>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1E293B"/>
                </a:solidFill>
                <a:latin typeface="Calibri" pitchFamily="34" charset="0"/>
                <a:ea typeface="Calibri" pitchFamily="34" charset="-122"/>
                <a:cs typeface="Calibri" pitchFamily="34" charset="-120"/>
              </a:rPr>
              <a:t>First- and third-party data in one data lake</a:t>
            </a:r>
            <a:endParaRPr lang="en-US" sz="1250" dirty="0"/>
          </a:p>
          <a:p>
            <a:pPr marL="342900" indent="-342900">
              <a:spcAft>
                <a:spcPts val="500"/>
              </a:spcAft>
              <a:buSzPct val="100000"/>
              <a:buChar char="•"/>
            </a:pPr>
            <a:r>
              <a:rPr lang="en-US" sz="1250" dirty="0">
                <a:solidFill>
                  <a:srgbClr val="1E293B"/>
                </a:solidFill>
                <a:latin typeface="Calibri" pitchFamily="34" charset="0"/>
                <a:ea typeface="Calibri" pitchFamily="34" charset="-122"/>
                <a:cs typeface="Calibri" pitchFamily="34" charset="-120"/>
              </a:rPr>
              <a:t>1,000+ pre-built integrations</a:t>
            </a:r>
            <a:endParaRPr lang="en-US" sz="1250" dirty="0"/>
          </a:p>
          <a:p>
            <a:pPr marL="342900" indent="-342900">
              <a:spcAft>
                <a:spcPts val="500"/>
              </a:spcAft>
              <a:buSzPct val="100000"/>
              <a:buChar char="•"/>
            </a:pPr>
            <a:r>
              <a:rPr lang="en-US" sz="1250" dirty="0">
                <a:solidFill>
                  <a:srgbClr val="1E293B"/>
                </a:solidFill>
                <a:latin typeface="Calibri" pitchFamily="34" charset="0"/>
                <a:ea typeface="Calibri" pitchFamily="34" charset="-122"/>
                <a:cs typeface="Calibri" pitchFamily="34" charset="-120"/>
              </a:rPr>
              <a:t>AI analytics stitch alerts into incidents across sources</a:t>
            </a:r>
            <a:endParaRPr lang="en-US" sz="1250" dirty="0"/>
          </a:p>
        </p:txBody>
      </p:sp>
      <p:sp>
        <p:nvSpPr>
          <p:cNvPr id="24" name="Text 21"/>
          <p:cNvSpPr txBox="1"/>
          <p:nvPr/>
        </p:nvSpPr>
        <p:spPr>
          <a:xfrm>
            <a:off x="6245352" y="1371600"/>
            <a:ext cx="5486400" cy="292608"/>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AI agents (Cortex AgentiX)</a:t>
            </a:r>
            <a:endParaRPr lang="en-US" sz="1600" dirty="0"/>
          </a:p>
        </p:txBody>
      </p:sp>
      <p:sp>
        <p:nvSpPr>
          <p:cNvPr id="25" name="Shape 22"/>
          <p:cNvSpPr/>
          <p:nvPr/>
        </p:nvSpPr>
        <p:spPr>
          <a:xfrm>
            <a:off x="6245352" y="1755648"/>
            <a:ext cx="2660904" cy="1078992"/>
          </a:xfrm>
          <a:prstGeom prst="roundRect">
            <a:avLst>
              <a:gd name="adj" fmla="val 5932"/>
            </a:avLst>
          </a:prstGeom>
          <a:solidFill>
            <a:srgbClr val="F4F7FC"/>
          </a:solidFill>
          <a:ln w="9525">
            <a:solidFill>
              <a:srgbClr val="DCE3EE"/>
            </a:solidFill>
            <a:prstDash val="solid"/>
          </a:ln>
        </p:spPr>
      </p:sp>
      <p:pic>
        <p:nvPicPr>
          <p:cNvPr id="26" name="Image 1" descr="preencoded.png">    </p:cNvPr>
          <p:cNvPicPr>
            <a:picLocks noChangeAspect="1"/>
          </p:cNvPicPr>
          <p:nvPr/>
        </p:nvPicPr>
        <p:blipFill>
          <a:blip r:embed="rId2"/>
          <a:stretch>
            <a:fillRect/>
          </a:stretch>
        </p:blipFill>
        <p:spPr>
          <a:xfrm>
            <a:off x="6428232" y="1911096"/>
            <a:ext cx="237744" cy="237744"/>
          </a:xfrm>
          <a:prstGeom prst="rect">
            <a:avLst/>
          </a:prstGeom>
        </p:spPr>
      </p:pic>
      <p:sp>
        <p:nvSpPr>
          <p:cNvPr id="27" name="Text 23"/>
          <p:cNvSpPr txBox="1"/>
          <p:nvPr/>
        </p:nvSpPr>
        <p:spPr>
          <a:xfrm>
            <a:off x="6757416" y="1865376"/>
            <a:ext cx="2057400" cy="329184"/>
          </a:xfrm>
          <a:prstGeom prst="rect">
            <a:avLst/>
          </a:prstGeom>
          <a:noFill/>
          <a:ln/>
        </p:spPr>
        <p:txBody>
          <a:bodyPr wrap="square" lIns="0" tIns="0" rIns="0" bIns="0" rtlCol="0" anchor="ctr"/>
          <a:lstStyle/>
          <a:p>
            <a:pPr indent="0" marL="0">
              <a:buNone/>
            </a:pPr>
            <a:r>
              <a:rPr lang="en-US" sz="1350" b="1" dirty="0">
                <a:solidFill>
                  <a:srgbClr val="1B2A4A"/>
                </a:solidFill>
                <a:latin typeface="Calibri" pitchFamily="34" charset="0"/>
                <a:ea typeface="Calibri" pitchFamily="34" charset="-122"/>
                <a:cs typeface="Calibri" pitchFamily="34" charset="-120"/>
              </a:rPr>
              <a:t>Pre-built agents</a:t>
            </a:r>
            <a:endParaRPr lang="en-US" sz="1350" dirty="0"/>
          </a:p>
        </p:txBody>
      </p:sp>
      <p:sp>
        <p:nvSpPr>
          <p:cNvPr id="28" name="Text 24"/>
          <p:cNvSpPr txBox="1"/>
          <p:nvPr/>
        </p:nvSpPr>
        <p:spPr>
          <a:xfrm>
            <a:off x="6428232" y="2249424"/>
            <a:ext cx="2340864" cy="512064"/>
          </a:xfrm>
          <a:prstGeom prst="rect">
            <a:avLst/>
          </a:prstGeom>
          <a:noFill/>
          <a:ln/>
        </p:spPr>
        <p:txBody>
          <a:bodyPr wrap="square" lIns="0" tIns="0" rIns="0" bIns="0" rtlCol="0" anchor="t"/>
          <a:lstStyle/>
          <a:p>
            <a:pPr indent="0" marL="0">
              <a:buNone/>
            </a:pPr>
            <a:r>
              <a:rPr lang="en-US" sz="1100" dirty="0">
                <a:solidFill>
                  <a:srgbClr val="64748B"/>
                </a:solidFill>
                <a:latin typeface="Calibri" pitchFamily="34" charset="0"/>
                <a:ea typeface="Calibri" pitchFamily="34" charset="-122"/>
                <a:cs typeface="Calibri" pitchFamily="34" charset="-120"/>
              </a:rPr>
              <a:t>Threat intel, email, endpoint, network, cloud and IT</a:t>
            </a:r>
            <a:endParaRPr lang="en-US" sz="1100" dirty="0"/>
          </a:p>
        </p:txBody>
      </p:sp>
      <p:sp>
        <p:nvSpPr>
          <p:cNvPr id="29" name="Shape 25"/>
          <p:cNvSpPr/>
          <p:nvPr/>
        </p:nvSpPr>
        <p:spPr>
          <a:xfrm>
            <a:off x="9070848" y="1755648"/>
            <a:ext cx="2660904" cy="1078992"/>
          </a:xfrm>
          <a:prstGeom prst="roundRect">
            <a:avLst>
              <a:gd name="adj" fmla="val 5932"/>
            </a:avLst>
          </a:prstGeom>
          <a:solidFill>
            <a:srgbClr val="F4F7FC"/>
          </a:solidFill>
          <a:ln w="9525">
            <a:solidFill>
              <a:srgbClr val="DCE3EE"/>
            </a:solidFill>
            <a:prstDash val="solid"/>
          </a:ln>
        </p:spPr>
      </p:sp>
      <p:pic>
        <p:nvPicPr>
          <p:cNvPr id="30" name="Image 2" descr="preencoded.png">    </p:cNvPr>
          <p:cNvPicPr>
            <a:picLocks noChangeAspect="1"/>
          </p:cNvPicPr>
          <p:nvPr/>
        </p:nvPicPr>
        <p:blipFill>
          <a:blip r:embed="rId3"/>
          <a:stretch>
            <a:fillRect/>
          </a:stretch>
        </p:blipFill>
        <p:spPr>
          <a:xfrm>
            <a:off x="9253728" y="1911096"/>
            <a:ext cx="237744" cy="237744"/>
          </a:xfrm>
          <a:prstGeom prst="rect">
            <a:avLst/>
          </a:prstGeom>
        </p:spPr>
      </p:pic>
      <p:sp>
        <p:nvSpPr>
          <p:cNvPr id="31" name="Text 26"/>
          <p:cNvSpPr txBox="1"/>
          <p:nvPr/>
        </p:nvSpPr>
        <p:spPr>
          <a:xfrm>
            <a:off x="9582912" y="1865376"/>
            <a:ext cx="2057400" cy="329184"/>
          </a:xfrm>
          <a:prstGeom prst="rect">
            <a:avLst/>
          </a:prstGeom>
          <a:noFill/>
          <a:ln/>
        </p:spPr>
        <p:txBody>
          <a:bodyPr wrap="square" lIns="0" tIns="0" rIns="0" bIns="0" rtlCol="0" anchor="ctr"/>
          <a:lstStyle/>
          <a:p>
            <a:pPr indent="0" marL="0">
              <a:buNone/>
            </a:pPr>
            <a:r>
              <a:rPr lang="en-US" sz="1350" b="1" dirty="0">
                <a:solidFill>
                  <a:srgbClr val="1B2A4A"/>
                </a:solidFill>
                <a:latin typeface="Calibri" pitchFamily="34" charset="0"/>
                <a:ea typeface="Calibri" pitchFamily="34" charset="-122"/>
                <a:cs typeface="Calibri" pitchFamily="34" charset="-120"/>
              </a:rPr>
              <a:t>No-code custom agents</a:t>
            </a:r>
            <a:endParaRPr lang="en-US" sz="1350" dirty="0"/>
          </a:p>
        </p:txBody>
      </p:sp>
      <p:sp>
        <p:nvSpPr>
          <p:cNvPr id="32" name="Text 27"/>
          <p:cNvSpPr txBox="1"/>
          <p:nvPr/>
        </p:nvSpPr>
        <p:spPr>
          <a:xfrm>
            <a:off x="9253728" y="2249424"/>
            <a:ext cx="2340864" cy="512064"/>
          </a:xfrm>
          <a:prstGeom prst="rect">
            <a:avLst/>
          </a:prstGeom>
          <a:noFill/>
          <a:ln/>
        </p:spPr>
        <p:txBody>
          <a:bodyPr wrap="square" lIns="0" tIns="0" rIns="0" bIns="0" rtlCol="0" anchor="t"/>
          <a:lstStyle/>
          <a:p>
            <a:pPr indent="0" marL="0">
              <a:buNone/>
            </a:pPr>
            <a:r>
              <a:rPr lang="en-US" sz="1100" dirty="0">
                <a:solidFill>
                  <a:srgbClr val="64748B"/>
                </a:solidFill>
                <a:latin typeface="Calibri" pitchFamily="34" charset="0"/>
                <a:ea typeface="Calibri" pitchFamily="34" charset="-122"/>
                <a:cs typeface="Calibri" pitchFamily="34" charset="-120"/>
              </a:rPr>
              <a:t>Build agents in natural language, no programming</a:t>
            </a:r>
            <a:endParaRPr lang="en-US" sz="1100" dirty="0"/>
          </a:p>
        </p:txBody>
      </p:sp>
      <p:sp>
        <p:nvSpPr>
          <p:cNvPr id="33" name="Shape 28"/>
          <p:cNvSpPr/>
          <p:nvPr/>
        </p:nvSpPr>
        <p:spPr>
          <a:xfrm>
            <a:off x="6245352" y="2962656"/>
            <a:ext cx="2660904" cy="1078992"/>
          </a:xfrm>
          <a:prstGeom prst="roundRect">
            <a:avLst>
              <a:gd name="adj" fmla="val 5932"/>
            </a:avLst>
          </a:prstGeom>
          <a:solidFill>
            <a:srgbClr val="F4F7FC"/>
          </a:solidFill>
          <a:ln w="9525">
            <a:solidFill>
              <a:srgbClr val="DCE3EE"/>
            </a:solidFill>
            <a:prstDash val="solid"/>
          </a:ln>
        </p:spPr>
      </p:sp>
      <p:pic>
        <p:nvPicPr>
          <p:cNvPr id="34" name="Image 3" descr="preencoded.png">    </p:cNvPr>
          <p:cNvPicPr>
            <a:picLocks noChangeAspect="1"/>
          </p:cNvPicPr>
          <p:nvPr/>
        </p:nvPicPr>
        <p:blipFill>
          <a:blip r:embed="rId4"/>
          <a:stretch>
            <a:fillRect/>
          </a:stretch>
        </p:blipFill>
        <p:spPr>
          <a:xfrm>
            <a:off x="6428232" y="3118104"/>
            <a:ext cx="237744" cy="237744"/>
          </a:xfrm>
          <a:prstGeom prst="rect">
            <a:avLst/>
          </a:prstGeom>
        </p:spPr>
      </p:pic>
      <p:sp>
        <p:nvSpPr>
          <p:cNvPr id="35" name="Text 29"/>
          <p:cNvSpPr txBox="1"/>
          <p:nvPr/>
        </p:nvSpPr>
        <p:spPr>
          <a:xfrm>
            <a:off x="6757416" y="3072384"/>
            <a:ext cx="2057400" cy="329184"/>
          </a:xfrm>
          <a:prstGeom prst="rect">
            <a:avLst/>
          </a:prstGeom>
          <a:noFill/>
          <a:ln/>
        </p:spPr>
        <p:txBody>
          <a:bodyPr wrap="square" lIns="0" tIns="0" rIns="0" bIns="0" rtlCol="0" anchor="ctr"/>
          <a:lstStyle/>
          <a:p>
            <a:pPr indent="0" marL="0">
              <a:buNone/>
            </a:pPr>
            <a:r>
              <a:rPr lang="en-US" sz="1350" b="1" dirty="0">
                <a:solidFill>
                  <a:srgbClr val="1B2A4A"/>
                </a:solidFill>
                <a:latin typeface="Calibri" pitchFamily="34" charset="0"/>
                <a:ea typeface="Calibri" pitchFamily="34" charset="-122"/>
                <a:cs typeface="Calibri" pitchFamily="34" charset="-120"/>
              </a:rPr>
              <a:t>Agents plan their own steps</a:t>
            </a:r>
            <a:endParaRPr lang="en-US" sz="1350" dirty="0"/>
          </a:p>
        </p:txBody>
      </p:sp>
      <p:sp>
        <p:nvSpPr>
          <p:cNvPr id="36" name="Text 30"/>
          <p:cNvSpPr txBox="1"/>
          <p:nvPr/>
        </p:nvSpPr>
        <p:spPr>
          <a:xfrm>
            <a:off x="6428232" y="3456432"/>
            <a:ext cx="2340864" cy="512064"/>
          </a:xfrm>
          <a:prstGeom prst="rect">
            <a:avLst/>
          </a:prstGeom>
          <a:noFill/>
          <a:ln/>
        </p:spPr>
        <p:txBody>
          <a:bodyPr wrap="square" lIns="0" tIns="0" rIns="0" bIns="0" rtlCol="0" anchor="t"/>
          <a:lstStyle/>
          <a:p>
            <a:pPr indent="0" marL="0">
              <a:buNone/>
            </a:pPr>
            <a:r>
              <a:rPr lang="en-US" sz="1100" dirty="0">
                <a:solidFill>
                  <a:srgbClr val="64748B"/>
                </a:solidFill>
                <a:latin typeface="Calibri" pitchFamily="34" charset="0"/>
                <a:ea typeface="Calibri" pitchFamily="34" charset="-122"/>
                <a:cs typeface="Calibri" pitchFamily="34" charset="-120"/>
              </a:rPr>
              <a:t>Multi-step investigation without fixed playbooks</a:t>
            </a:r>
            <a:endParaRPr lang="en-US" sz="1100" dirty="0"/>
          </a:p>
        </p:txBody>
      </p:sp>
      <p:sp>
        <p:nvSpPr>
          <p:cNvPr id="37" name="Shape 31"/>
          <p:cNvSpPr/>
          <p:nvPr/>
        </p:nvSpPr>
        <p:spPr>
          <a:xfrm>
            <a:off x="9070848" y="2962656"/>
            <a:ext cx="2660904" cy="1078992"/>
          </a:xfrm>
          <a:prstGeom prst="roundRect">
            <a:avLst>
              <a:gd name="adj" fmla="val 5932"/>
            </a:avLst>
          </a:prstGeom>
          <a:solidFill>
            <a:srgbClr val="F4F7FC"/>
          </a:solidFill>
          <a:ln w="9525">
            <a:solidFill>
              <a:srgbClr val="DCE3EE"/>
            </a:solidFill>
            <a:prstDash val="solid"/>
          </a:ln>
        </p:spPr>
      </p:sp>
      <p:pic>
        <p:nvPicPr>
          <p:cNvPr id="38" name="Image 4" descr="preencoded.png">    </p:cNvPr>
          <p:cNvPicPr>
            <a:picLocks noChangeAspect="1"/>
          </p:cNvPicPr>
          <p:nvPr/>
        </p:nvPicPr>
        <p:blipFill>
          <a:blip r:embed="rId5"/>
          <a:stretch>
            <a:fillRect/>
          </a:stretch>
        </p:blipFill>
        <p:spPr>
          <a:xfrm>
            <a:off x="9253728" y="3118104"/>
            <a:ext cx="237744" cy="237744"/>
          </a:xfrm>
          <a:prstGeom prst="rect">
            <a:avLst/>
          </a:prstGeom>
        </p:spPr>
      </p:pic>
      <p:sp>
        <p:nvSpPr>
          <p:cNvPr id="39" name="Text 32"/>
          <p:cNvSpPr txBox="1"/>
          <p:nvPr/>
        </p:nvSpPr>
        <p:spPr>
          <a:xfrm>
            <a:off x="9582912" y="3072384"/>
            <a:ext cx="2057400" cy="329184"/>
          </a:xfrm>
          <a:prstGeom prst="rect">
            <a:avLst/>
          </a:prstGeom>
          <a:noFill/>
          <a:ln/>
        </p:spPr>
        <p:txBody>
          <a:bodyPr wrap="square" lIns="0" tIns="0" rIns="0" bIns="0" rtlCol="0" anchor="ctr"/>
          <a:lstStyle/>
          <a:p>
            <a:pPr indent="0" marL="0">
              <a:buNone/>
            </a:pPr>
            <a:r>
              <a:rPr lang="en-US" sz="1350" b="1" dirty="0">
                <a:solidFill>
                  <a:srgbClr val="1B2A4A"/>
                </a:solidFill>
                <a:latin typeface="Calibri" pitchFamily="34" charset="0"/>
                <a:ea typeface="Calibri" pitchFamily="34" charset="-122"/>
                <a:cs typeface="Calibri" pitchFamily="34" charset="-120"/>
              </a:rPr>
              <a:t>Governed by design</a:t>
            </a:r>
            <a:endParaRPr lang="en-US" sz="1350" dirty="0"/>
          </a:p>
        </p:txBody>
      </p:sp>
      <p:sp>
        <p:nvSpPr>
          <p:cNvPr id="40" name="Text 33"/>
          <p:cNvSpPr txBox="1"/>
          <p:nvPr/>
        </p:nvSpPr>
        <p:spPr>
          <a:xfrm>
            <a:off x="9253728" y="3456432"/>
            <a:ext cx="2340864" cy="512064"/>
          </a:xfrm>
          <a:prstGeom prst="rect">
            <a:avLst/>
          </a:prstGeom>
          <a:noFill/>
          <a:ln/>
        </p:spPr>
        <p:txBody>
          <a:bodyPr wrap="square" lIns="0" tIns="0" rIns="0" bIns="0" rtlCol="0" anchor="t"/>
          <a:lstStyle/>
          <a:p>
            <a:pPr indent="0" marL="0">
              <a:buNone/>
            </a:pPr>
            <a:r>
              <a:rPr lang="en-US" sz="1100" dirty="0">
                <a:solidFill>
                  <a:srgbClr val="64748B"/>
                </a:solidFill>
                <a:latin typeface="Calibri" pitchFamily="34" charset="0"/>
                <a:ea typeface="Calibri" pitchFamily="34" charset="-122"/>
                <a:cs typeface="Calibri" pitchFamily="34" charset="-120"/>
              </a:rPr>
              <a:t>Role-based access, human approval, full audit trail</a:t>
            </a:r>
            <a:endParaRPr lang="en-US" sz="1100" dirty="0"/>
          </a:p>
        </p:txBody>
      </p:sp>
      <p:sp>
        <p:nvSpPr>
          <p:cNvPr id="41" name="Text 34"/>
          <p:cNvSpPr txBox="1"/>
          <p:nvPr/>
        </p:nvSpPr>
        <p:spPr>
          <a:xfrm>
            <a:off x="457200" y="4224528"/>
            <a:ext cx="5486400" cy="292608"/>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Why it stands out for SIMAH</a:t>
            </a:r>
            <a:endParaRPr lang="en-US" sz="1600" dirty="0"/>
          </a:p>
        </p:txBody>
      </p:sp>
      <p:sp>
        <p:nvSpPr>
          <p:cNvPr id="42" name="Shape 35"/>
          <p:cNvSpPr/>
          <p:nvPr/>
        </p:nvSpPr>
        <p:spPr>
          <a:xfrm>
            <a:off x="457200" y="4590288"/>
            <a:ext cx="5545836" cy="1371600"/>
          </a:xfrm>
          <a:prstGeom prst="roundRect">
            <a:avLst>
              <a:gd name="adj" fmla="val 6000"/>
            </a:avLst>
          </a:prstGeom>
          <a:solidFill>
            <a:srgbClr val="1B2A4A"/>
          </a:solidFill>
          <a:ln/>
        </p:spPr>
      </p:sp>
      <p:sp>
        <p:nvSpPr>
          <p:cNvPr id="43" name="Shape 36"/>
          <p:cNvSpPr/>
          <p:nvPr/>
        </p:nvSpPr>
        <p:spPr>
          <a:xfrm>
            <a:off x="731520" y="4974336"/>
            <a:ext cx="603504" cy="603504"/>
          </a:xfrm>
          <a:prstGeom prst="ellipse">
            <a:avLst/>
          </a:prstGeom>
          <a:solidFill>
            <a:srgbClr val="FFFFFF"/>
          </a:solidFill>
          <a:ln/>
        </p:spPr>
      </p:sp>
      <p:pic>
        <p:nvPicPr>
          <p:cNvPr id="44" name="Image 5" descr="preencoded.png">    </p:cNvPr>
          <p:cNvPicPr>
            <a:picLocks noChangeAspect="1"/>
          </p:cNvPicPr>
          <p:nvPr/>
        </p:nvPicPr>
        <p:blipFill>
          <a:blip r:embed="rId6"/>
          <a:stretch>
            <a:fillRect/>
          </a:stretch>
        </p:blipFill>
        <p:spPr>
          <a:xfrm>
            <a:off x="886968" y="5129784"/>
            <a:ext cx="292608" cy="292608"/>
          </a:xfrm>
          <a:prstGeom prst="rect">
            <a:avLst/>
          </a:prstGeom>
        </p:spPr>
      </p:pic>
      <p:sp>
        <p:nvSpPr>
          <p:cNvPr id="45" name="Text 37"/>
          <p:cNvSpPr txBox="1"/>
          <p:nvPr/>
        </p:nvSpPr>
        <p:spPr>
          <a:xfrm>
            <a:off x="1554480" y="4590288"/>
            <a:ext cx="4219956" cy="13716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One AI agent on top of all security controls</a:t>
            </a:r>
            <a:endParaRPr lang="en-US" sz="1600" dirty="0"/>
          </a:p>
          <a:p>
            <a:pPr indent="0" marL="0">
              <a:buNone/>
            </a:pPr>
            <a:r>
              <a:rPr lang="en-US" sz="1250" dirty="0">
                <a:solidFill>
                  <a:srgbClr val="CADCFC"/>
                </a:solidFill>
                <a:latin typeface="Calibri" pitchFamily="34" charset="0"/>
                <a:ea typeface="Calibri" pitchFamily="34" charset="-122"/>
                <a:cs typeface="Calibri" pitchFamily="34" charset="-120"/>
              </a:rPr>
              <a:t>A single agent layer working across SIEM, EDR, NDR and DLP, instead of an AI tool per product.</a:t>
            </a:r>
            <a:endParaRPr lang="en-US" sz="1600" dirty="0"/>
          </a:p>
        </p:txBody>
      </p:sp>
      <p:sp>
        <p:nvSpPr>
          <p:cNvPr id="46" name="Shape 38"/>
          <p:cNvSpPr/>
          <p:nvPr/>
        </p:nvSpPr>
        <p:spPr>
          <a:xfrm>
            <a:off x="6185916" y="4590288"/>
            <a:ext cx="5545836" cy="1371600"/>
          </a:xfrm>
          <a:prstGeom prst="roundRect">
            <a:avLst>
              <a:gd name="adj" fmla="val 6000"/>
            </a:avLst>
          </a:prstGeom>
          <a:solidFill>
            <a:srgbClr val="2A8C96"/>
          </a:solidFill>
          <a:ln/>
        </p:spPr>
      </p:sp>
      <p:sp>
        <p:nvSpPr>
          <p:cNvPr id="47" name="Shape 39"/>
          <p:cNvSpPr/>
          <p:nvPr/>
        </p:nvSpPr>
        <p:spPr>
          <a:xfrm>
            <a:off x="6460236" y="4974336"/>
            <a:ext cx="603504" cy="603504"/>
          </a:xfrm>
          <a:prstGeom prst="ellipse">
            <a:avLst/>
          </a:prstGeom>
          <a:solidFill>
            <a:srgbClr val="FFFFFF"/>
          </a:solidFill>
          <a:ln/>
        </p:spPr>
      </p:sp>
      <p:pic>
        <p:nvPicPr>
          <p:cNvPr id="48" name="Image 6" descr="preencoded.png">    </p:cNvPr>
          <p:cNvPicPr>
            <a:picLocks noChangeAspect="1"/>
          </p:cNvPicPr>
          <p:nvPr/>
        </p:nvPicPr>
        <p:blipFill>
          <a:blip r:embed="rId7"/>
          <a:stretch>
            <a:fillRect/>
          </a:stretch>
        </p:blipFill>
        <p:spPr>
          <a:xfrm>
            <a:off x="6615684" y="5129784"/>
            <a:ext cx="292608" cy="292608"/>
          </a:xfrm>
          <a:prstGeom prst="rect">
            <a:avLst/>
          </a:prstGeom>
        </p:spPr>
      </p:pic>
      <p:sp>
        <p:nvSpPr>
          <p:cNvPr id="49" name="Text 40"/>
          <p:cNvSpPr txBox="1"/>
          <p:nvPr/>
        </p:nvSpPr>
        <p:spPr>
          <a:xfrm>
            <a:off x="7283196" y="4590288"/>
            <a:ext cx="4219956" cy="137160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A roadmap to adapt SOC technology</a:t>
            </a:r>
            <a:endParaRPr lang="en-US" sz="1600" dirty="0"/>
          </a:p>
          <a:p>
            <a:pPr indent="0" marL="0">
              <a:buNone/>
            </a:pPr>
            <a:r>
              <a:rPr lang="en-US" sz="1250" dirty="0">
                <a:solidFill>
                  <a:srgbClr val="FFFFFF"/>
                </a:solidFill>
                <a:latin typeface="Calibri" pitchFamily="34" charset="0"/>
                <a:ea typeface="Calibri" pitchFamily="34" charset="-122"/>
                <a:cs typeface="Calibri" pitchFamily="34" charset="-120"/>
              </a:rPr>
              <a:t>Palo Alto will help build a roadmap for how SIMAH's SOC technology adopts the platform.</a:t>
            </a:r>
            <a:endParaRPr lang="en-US" sz="1600" dirty="0"/>
          </a:p>
        </p:txBody>
      </p:sp>
      <p:sp>
        <p:nvSpPr>
          <p:cNvPr id="50" name="Text 41"/>
          <p:cNvSpPr txBox="1"/>
          <p:nvPr/>
        </p:nvSpPr>
        <p:spPr>
          <a:xfrm>
            <a:off x="457200" y="6035040"/>
            <a:ext cx="11274552" cy="274320"/>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Source: paloaltonetworks.com, October 2026. Vendor-stated capabilities, not yet validated in the SIMAH environment.</a:t>
            </a:r>
            <a:endParaRPr lang="en-US" sz="105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457200" y="310896"/>
            <a:ext cx="530352" cy="530352"/>
          </a:xfrm>
          <a:prstGeom prst="ellipse">
            <a:avLst/>
          </a:prstGeom>
          <a:solidFill>
            <a:srgbClr val="1B2A4A"/>
          </a:solidFill>
          <a:ln/>
        </p:spPr>
      </p:sp>
      <p:pic>
        <p:nvPicPr>
          <p:cNvPr id="3" name="Image 0" descr="preencoded.png">    </p:cNvPr>
          <p:cNvPicPr>
            <a:picLocks noChangeAspect="1"/>
          </p:cNvPicPr>
          <p:nvPr/>
        </p:nvPicPr>
        <p:blipFill>
          <a:blip r:embed="rId1"/>
          <a:stretch>
            <a:fillRect/>
          </a:stretch>
        </p:blipFill>
        <p:spPr>
          <a:xfrm>
            <a:off x="589788" y="443484"/>
            <a:ext cx="265176" cy="265176"/>
          </a:xfrm>
          <a:prstGeom prst="rect">
            <a:avLst/>
          </a:prstGeom>
        </p:spPr>
      </p:pic>
      <p:sp>
        <p:nvSpPr>
          <p:cNvPr id="4" name="Text 1"/>
          <p:cNvSpPr/>
          <p:nvPr>
            <p:ph idx="101" type="title" hasCustomPrompt="1"/>
          </p:nvPr>
        </p:nvSpPr>
        <p:spPr>
          <a:xfrm>
            <a:off x="1143000" y="274320"/>
            <a:ext cx="7223760" cy="603504"/>
          </a:xfrm>
          <a:prstGeom prst="rect">
            <a:avLst/>
          </a:prstGeom>
          <a:noFill/>
          <a:ln/>
        </p:spPr>
        <p:txBody>
          <a:bodyPr wrap="square" lIns="0" tIns="0" rIns="0" bIns="0" rtlCol="0" anchor="ctr"/>
          <a:lstStyle/>
          <a:p>
            <a:pPr algn="l" indent="0" marL="0">
              <a:buNone/>
            </a:pPr>
            <a:r>
              <a:rPr lang="en-US" sz="3000" b="1" dirty="0">
                <a:solidFill>
                  <a:srgbClr val="1B2A4A"/>
                </a:solidFill>
                <a:latin typeface="Calibri" pitchFamily="34" charset="0"/>
                <a:ea typeface="Calibri" pitchFamily="34" charset="-122"/>
                <a:cs typeface="Calibri" pitchFamily="34" charset="-120"/>
              </a:rPr>
              <a:t>SOC AI: Options Compared</a:t>
            </a:r>
            <a:endParaRPr lang="en-US" sz="3000" dirty="0"/>
          </a:p>
        </p:txBody>
      </p:sp>
      <p:sp>
        <p:nvSpPr>
          <p:cNvPr id="5" name="Text 2"/>
          <p:cNvSpPr txBox="1"/>
          <p:nvPr/>
        </p:nvSpPr>
        <p:spPr>
          <a:xfrm>
            <a:off x="8458200" y="384048"/>
            <a:ext cx="3273552" cy="384048"/>
          </a:xfrm>
          <a:prstGeom prst="rect">
            <a:avLst/>
          </a:prstGeom>
          <a:noFill/>
          <a:ln/>
        </p:spPr>
        <p:txBody>
          <a:bodyPr wrap="square" lIns="0" tIns="0" rIns="0" bIns="0" rtlCol="0" anchor="ctr"/>
          <a:lstStyle/>
          <a:p>
            <a:pPr algn="r" indent="0" marL="0">
              <a:buNone/>
            </a:pPr>
            <a:r>
              <a:rPr lang="en-US" sz="1200" dirty="0">
                <a:solidFill>
                  <a:srgbClr val="64748B"/>
                </a:solidFill>
                <a:latin typeface="Calibri" pitchFamily="34" charset="0"/>
                <a:ea typeface="Calibri" pitchFamily="34" charset="-122"/>
                <a:cs typeface="Calibri" pitchFamily="34" charset="-120"/>
              </a:rPr>
              <a:t>SOC AI  |  Comparison</a:t>
            </a:r>
            <a:endParaRPr lang="en-US" sz="1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11274552" cy="914400"/>
        </p:xfrm>
        <a:graphic>
          <a:graphicData uri="http://schemas.openxmlformats.org/drawingml/2006/table">
            <a:tbl>
              <a:tblPr/>
              <a:tblGrid>
                <a:gridCol w="2404872"/>
                <a:gridCol w="4434840"/>
                <a:gridCol w="4434840"/>
              </a:tblGrid>
              <a:tr h="512064">
                <a:tc>
                  <a:txBody>
                    <a:bodyPr/>
                    <a:lstStyle/>
                    <a:p>
                      <a:pPr indent="0" marL="0">
                        <a:buNone/>
                      </a:pPr>
                      <a:endParaRPr lang="en-US" sz="13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B2A4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COGNNA</a:t>
                      </a:r>
                      <a:endParaRPr lang="en-US" sz="13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B2A4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Palo Alto Cortex XSIAM</a:t>
                      </a:r>
                      <a:endParaRPr lang="en-US" sz="13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B2A4A"/>
                    </a:solidFill>
                  </a:tcPr>
                </a:tc>
              </a:tr>
              <a:tr h="512064">
                <a:tc>
                  <a:txBody>
                    <a:bodyPr/>
                    <a:lstStyle/>
                    <a:p>
                      <a:pPr indent="0" marL="0">
                        <a:buNone/>
                      </a:pPr>
                      <a:r>
                        <a:rPr lang="en-US" sz="1200" b="1" dirty="0">
                          <a:solidFill>
                            <a:srgbClr val="1B2A4A"/>
                          </a:solidFill>
                          <a:latin typeface="Calibri" pitchFamily="34" charset="0"/>
                          <a:ea typeface="Calibri" pitchFamily="34" charset="-122"/>
                          <a:cs typeface="Calibri" pitchFamily="34" charset="-120"/>
                        </a:rPr>
                        <a:t>Approach</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2EAF6"/>
                    </a:solidFill>
                  </a:tcPr>
                </a:tc>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Multi-agent AI SOC platform (Nexus); SaaS or managed service</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Converged SOC platform (SIEM, XDR, SOAR, ASM, UEBA, TIP) with AI agents built in</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512064">
                <a:tc>
                  <a:txBody>
                    <a:bodyPr/>
                    <a:lstStyle/>
                    <a:p>
                      <a:pPr indent="0" marL="0">
                        <a:buNone/>
                      </a:pPr>
                      <a:r>
                        <a:rPr lang="en-US" sz="1200" b="1" dirty="0">
                          <a:solidFill>
                            <a:srgbClr val="1B2A4A"/>
                          </a:solidFill>
                          <a:latin typeface="Calibri" pitchFamily="34" charset="0"/>
                          <a:ea typeface="Calibri" pitchFamily="34" charset="-122"/>
                          <a:cs typeface="Calibri" pitchFamily="34" charset="-120"/>
                        </a:rPr>
                        <a:t>AI agents</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2EAF6"/>
                    </a:solidFill>
                  </a:tcPr>
                </a:tc>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Six specialised agents: Manager, Discovery, Detect, Investigate, Threat Intel, Reasoning</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4F7FC"/>
                    </a:solidFill>
                  </a:tcPr>
                </a:tc>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Pre-built agent library plus no-code custom agents</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4F7FC"/>
                    </a:solidFill>
                  </a:tcPr>
                </a:tc>
              </a:tr>
              <a:tr h="512064">
                <a:tc>
                  <a:txBody>
                    <a:bodyPr/>
                    <a:lstStyle/>
                    <a:p>
                      <a:pPr indent="0" marL="0">
                        <a:buNone/>
                      </a:pPr>
                      <a:r>
                        <a:rPr lang="en-US" sz="1200" b="1" dirty="0">
                          <a:solidFill>
                            <a:srgbClr val="1B2A4A"/>
                          </a:solidFill>
                          <a:latin typeface="Calibri" pitchFamily="34" charset="0"/>
                          <a:ea typeface="Calibri" pitchFamily="34" charset="-122"/>
                          <a:cs typeface="Calibri" pitchFamily="34" charset="-120"/>
                        </a:rPr>
                        <a:t>Works on top of our controls</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2EAF6"/>
                    </a:solidFill>
                  </a:tcPr>
                </a:tc>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300+ integrations; works with existing SIEM, EDR and identity tools</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1,000+ integrations; one agent layer across SIEM, EDR, NDR and DLP</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512064">
                <a:tc>
                  <a:txBody>
                    <a:bodyPr/>
                    <a:lstStyle/>
                    <a:p>
                      <a:pPr indent="0" marL="0">
                        <a:buNone/>
                      </a:pPr>
                      <a:r>
                        <a:rPr lang="en-US" sz="1200" b="1" dirty="0">
                          <a:solidFill>
                            <a:srgbClr val="1B2A4A"/>
                          </a:solidFill>
                          <a:latin typeface="Calibri" pitchFamily="34" charset="0"/>
                          <a:ea typeface="Calibri" pitchFamily="34" charset="-122"/>
                          <a:cs typeface="Calibri" pitchFamily="34" charset="-120"/>
                        </a:rPr>
                        <a:t>Time to build and optimise</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2EAF6"/>
                    </a:solidFill>
                  </a:tcPr>
                </a:tc>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Agents come pre-built; vendor claims first value in 48 hours (cloud-native environments)</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4F7FC"/>
                    </a:solidFill>
                  </a:tcPr>
                </a:tc>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Pre-built agents; larger platform onboarding, supported by a Palo Alto roadmap</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4F7FC"/>
                    </a:solidFill>
                  </a:tcPr>
                </a:tc>
              </a:tr>
              <a:tr h="512064">
                <a:tc>
                  <a:txBody>
                    <a:bodyPr/>
                    <a:lstStyle/>
                    <a:p>
                      <a:pPr indent="0" marL="0">
                        <a:buNone/>
                      </a:pPr>
                      <a:r>
                        <a:rPr lang="en-US" sz="1200" b="1" dirty="0">
                          <a:solidFill>
                            <a:srgbClr val="1B2A4A"/>
                          </a:solidFill>
                          <a:latin typeface="Calibri" pitchFamily="34" charset="0"/>
                          <a:ea typeface="Calibri" pitchFamily="34" charset="-122"/>
                          <a:cs typeface="Calibri" pitchFamily="34" charset="-120"/>
                        </a:rPr>
                        <a:t>Playbook development</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2EAF6"/>
                    </a:solidFill>
                  </a:tcPr>
                </a:tc>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Automated response playbooks and AI-recommended actions</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Agents plan their own steps; large library of pre-built playbooks</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512064">
                <a:tc>
                  <a:txBody>
                    <a:bodyPr/>
                    <a:lstStyle/>
                    <a:p>
                      <a:pPr indent="0" marL="0">
                        <a:buNone/>
                      </a:pPr>
                      <a:r>
                        <a:rPr lang="en-US" sz="1200" b="1" dirty="0">
                          <a:solidFill>
                            <a:srgbClr val="1B2A4A"/>
                          </a:solidFill>
                          <a:latin typeface="Calibri" pitchFamily="34" charset="0"/>
                          <a:ea typeface="Calibri" pitchFamily="34" charset="-122"/>
                          <a:cs typeface="Calibri" pitchFamily="34" charset="-120"/>
                        </a:rPr>
                        <a:t>Governance</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2EAF6"/>
                    </a:solidFill>
                  </a:tcPr>
                </a:tc>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Full evidence trail and explainable decisions</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4F7FC"/>
                    </a:solidFill>
                  </a:tcPr>
                </a:tc>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Role-based access, human approval for critical actions, audit trail</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4F7FC"/>
                    </a:solidFill>
                  </a:tcPr>
                </a:tc>
              </a:tr>
              <a:tr h="512064">
                <a:tc>
                  <a:txBody>
                    <a:bodyPr/>
                    <a:lstStyle/>
                    <a:p>
                      <a:pPr indent="0" marL="0">
                        <a:buNone/>
                      </a:pPr>
                      <a:r>
                        <a:rPr lang="en-US" sz="1200" b="1" dirty="0">
                          <a:solidFill>
                            <a:srgbClr val="1B2A4A"/>
                          </a:solidFill>
                          <a:latin typeface="Calibri" pitchFamily="34" charset="0"/>
                          <a:ea typeface="Calibri" pitchFamily="34" charset="-122"/>
                          <a:cs typeface="Calibri" pitchFamily="34" charset="-120"/>
                        </a:rPr>
                        <a:t>Regulatory fit</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2EAF6"/>
                    </a:solidFill>
                  </a:tcPr>
                </a:tc>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Native NCA and SAMA mapping; local data residency (vendor claim)</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Cloud-native platform; KSA data residency to be confirmed</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512064">
                <a:tc>
                  <a:txBody>
                    <a:bodyPr/>
                    <a:lstStyle/>
                    <a:p>
                      <a:pPr indent="0" marL="0">
                        <a:buNone/>
                      </a:pPr>
                      <a:r>
                        <a:rPr lang="en-US" sz="1200" b="1" dirty="0">
                          <a:solidFill>
                            <a:srgbClr val="1B2A4A"/>
                          </a:solidFill>
                          <a:latin typeface="Calibri" pitchFamily="34" charset="0"/>
                          <a:ea typeface="Calibri" pitchFamily="34" charset="-122"/>
                          <a:cs typeface="Calibri" pitchFamily="34" charset="-120"/>
                        </a:rPr>
                        <a:t>Cost</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E2EAF6"/>
                    </a:solidFill>
                  </a:tcPr>
                </a:tc>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To be confirmed; vendor positions it as lower total cost</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4F7FC"/>
                    </a:solidFill>
                  </a:tcPr>
                </a:tc>
                <a:tc>
                  <a:txBody>
                    <a:bodyPr/>
                    <a:lstStyle/>
                    <a:p>
                      <a:pPr indent="0" marL="0">
                        <a:buNone/>
                      </a:pPr>
                      <a:r>
                        <a:rPr lang="en-US" sz="1200" dirty="0">
                          <a:solidFill>
                            <a:srgbClr val="1E293B"/>
                          </a:solidFill>
                          <a:latin typeface="Calibri" pitchFamily="34" charset="0"/>
                          <a:ea typeface="Calibri" pitchFamily="34" charset="-122"/>
                          <a:cs typeface="Calibri" pitchFamily="34" charset="-120"/>
                        </a:rPr>
                        <a:t>To be confirmed; platform-level licensing</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4F7FC"/>
                    </a:solidFill>
                  </a:tcPr>
                </a:tc>
              </a:tr>
            </a:tbl>
          </a:graphicData>
        </a:graphic>
      </p:graphicFrame>
      <p:sp>
        <p:nvSpPr>
          <p:cNvPr id="7" name="Shape 3"/>
          <p:cNvSpPr/>
          <p:nvPr/>
        </p:nvSpPr>
        <p:spPr>
          <a:xfrm>
            <a:off x="457200" y="5870448"/>
            <a:ext cx="11274552" cy="402336"/>
          </a:xfrm>
          <a:prstGeom prst="roundRect">
            <a:avLst>
              <a:gd name="adj" fmla="val 18182"/>
            </a:avLst>
          </a:prstGeom>
          <a:solidFill>
            <a:srgbClr val="EEF3FA"/>
          </a:solidFill>
          <a:ln/>
        </p:spPr>
      </p:sp>
      <p:pic>
        <p:nvPicPr>
          <p:cNvPr id="8" name="Image 1" descr="preencoded.png">    </p:cNvPr>
          <p:cNvPicPr>
            <a:picLocks noChangeAspect="1"/>
          </p:cNvPicPr>
          <p:nvPr/>
        </p:nvPicPr>
        <p:blipFill>
          <a:blip r:embed="rId2"/>
          <a:stretch>
            <a:fillRect/>
          </a:stretch>
        </p:blipFill>
        <p:spPr>
          <a:xfrm>
            <a:off x="640080" y="5971032"/>
            <a:ext cx="201168" cy="201168"/>
          </a:xfrm>
          <a:prstGeom prst="rect">
            <a:avLst/>
          </a:prstGeom>
        </p:spPr>
      </p:pic>
      <p:sp>
        <p:nvSpPr>
          <p:cNvPr id="9" name="Text 4"/>
          <p:cNvSpPr txBox="1"/>
          <p:nvPr/>
        </p:nvSpPr>
        <p:spPr>
          <a:xfrm>
            <a:off x="960120" y="5870448"/>
            <a:ext cx="10607040" cy="402336"/>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Source: </a:t>
            </a:r>
            <a:pPr indent="0" marL="0">
              <a:buNone/>
            </a:pPr>
            <a:r>
              <a:rPr lang="en-US" sz="1100" dirty="0">
                <a:solidFill>
                  <a:srgbClr val="64748B"/>
                </a:solidFill>
                <a:latin typeface="Calibri" pitchFamily="34" charset="0"/>
                <a:ea typeface="Calibri" pitchFamily="34" charset="-122"/>
                <a:cs typeface="Calibri" pitchFamily="34" charset="-120"/>
              </a:rPr>
              <a:t>vendor websites, October 2026. Capabilities are vendor-stated; cost and data residency to be confirmed through proposals and a proof of concept.</a:t>
            </a:r>
            <a:endParaRPr lang="en-US" sz="11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457200" y="310896"/>
            <a:ext cx="530352" cy="530352"/>
          </a:xfrm>
          <a:prstGeom prst="ellipse">
            <a:avLst/>
          </a:prstGeom>
          <a:solidFill>
            <a:srgbClr val="1B2A4A"/>
          </a:solidFill>
          <a:ln/>
        </p:spPr>
      </p:sp>
      <p:pic>
        <p:nvPicPr>
          <p:cNvPr id="3" name="Image 0" descr="preencoded.png">    </p:cNvPr>
          <p:cNvPicPr>
            <a:picLocks noChangeAspect="1"/>
          </p:cNvPicPr>
          <p:nvPr/>
        </p:nvPicPr>
        <p:blipFill>
          <a:blip r:embed="rId1"/>
          <a:stretch>
            <a:fillRect/>
          </a:stretch>
        </p:blipFill>
        <p:spPr>
          <a:xfrm>
            <a:off x="589788" y="443484"/>
            <a:ext cx="265176" cy="265176"/>
          </a:xfrm>
          <a:prstGeom prst="rect">
            <a:avLst/>
          </a:prstGeom>
        </p:spPr>
      </p:pic>
      <p:sp>
        <p:nvSpPr>
          <p:cNvPr id="4" name="Text 1"/>
          <p:cNvSpPr/>
          <p:nvPr>
            <p:ph idx="101" type="title" hasCustomPrompt="1"/>
          </p:nvPr>
        </p:nvSpPr>
        <p:spPr>
          <a:xfrm>
            <a:off x="1143000" y="274320"/>
            <a:ext cx="7223760" cy="603504"/>
          </a:xfrm>
          <a:prstGeom prst="rect">
            <a:avLst/>
          </a:prstGeom>
          <a:noFill/>
          <a:ln/>
        </p:spPr>
        <p:txBody>
          <a:bodyPr wrap="square" lIns="0" tIns="0" rIns="0" bIns="0" rtlCol="0" anchor="ctr"/>
          <a:lstStyle/>
          <a:p>
            <a:pPr algn="l" indent="0" marL="0">
              <a:buNone/>
            </a:pPr>
            <a:r>
              <a:rPr lang="en-US" sz="3000" b="1" dirty="0">
                <a:solidFill>
                  <a:srgbClr val="1B2A4A"/>
                </a:solidFill>
                <a:latin typeface="Calibri" pitchFamily="34" charset="0"/>
                <a:ea typeface="Calibri" pitchFamily="34" charset="-122"/>
                <a:cs typeface="Calibri" pitchFamily="34" charset="-120"/>
              </a:rPr>
              <a:t>DLP: Coverage &amp; Licence</a:t>
            </a:r>
            <a:endParaRPr lang="en-US" sz="3000" dirty="0"/>
          </a:p>
        </p:txBody>
      </p:sp>
      <p:sp>
        <p:nvSpPr>
          <p:cNvPr id="5" name="Text 2"/>
          <p:cNvSpPr txBox="1"/>
          <p:nvPr/>
        </p:nvSpPr>
        <p:spPr>
          <a:xfrm>
            <a:off x="8458200" y="384048"/>
            <a:ext cx="3273552" cy="384048"/>
          </a:xfrm>
          <a:prstGeom prst="rect">
            <a:avLst/>
          </a:prstGeom>
          <a:noFill/>
          <a:ln/>
        </p:spPr>
        <p:txBody>
          <a:bodyPr wrap="square" lIns="0" tIns="0" rIns="0" bIns="0" rtlCol="0" anchor="ctr"/>
          <a:lstStyle/>
          <a:p>
            <a:pPr algn="r" indent="0" marL="0">
              <a:buNone/>
            </a:pPr>
            <a:r>
              <a:rPr lang="en-US" sz="1200" dirty="0">
                <a:solidFill>
                  <a:srgbClr val="64748B"/>
                </a:solidFill>
                <a:latin typeface="Calibri" pitchFamily="34" charset="0"/>
                <a:ea typeface="Calibri" pitchFamily="34" charset="-122"/>
                <a:cs typeface="Calibri" pitchFamily="34" charset="-120"/>
              </a:rPr>
              <a:t>SOC Technology  |  Forcepoint DLP</a:t>
            </a:r>
            <a:endParaRPr lang="en-US" sz="1200" dirty="0"/>
          </a:p>
        </p:txBody>
      </p:sp>
      <p:sp>
        <p:nvSpPr>
          <p:cNvPr id="6" name="Text 3"/>
          <p:cNvSpPr txBox="1"/>
          <p:nvPr/>
        </p:nvSpPr>
        <p:spPr>
          <a:xfrm>
            <a:off x="457200" y="932688"/>
            <a:ext cx="11274552" cy="310896"/>
          </a:xfrm>
          <a:prstGeom prst="rect">
            <a:avLst/>
          </a:prstGeom>
          <a:noFill/>
          <a:ln/>
        </p:spPr>
        <p:txBody>
          <a:bodyPr wrap="square" lIns="0" tIns="0" rIns="0" bIns="0" rtlCol="0" anchor="ctr"/>
          <a:lstStyle/>
          <a:p>
            <a:pPr indent="0" marL="0">
              <a:buNone/>
            </a:pPr>
            <a:r>
              <a:rPr lang="en-US" sz="1500" dirty="0">
                <a:solidFill>
                  <a:srgbClr val="64748B"/>
                </a:solidFill>
                <a:latin typeface="Calibri" pitchFamily="34" charset="0"/>
                <a:ea typeface="Calibri" pitchFamily="34" charset="-122"/>
                <a:cs typeface="Calibri" pitchFamily="34" charset="-120"/>
              </a:rPr>
              <a:t>Monitoring of sensitive data movement across all egress channels</a:t>
            </a:r>
            <a:endParaRPr lang="en-US" sz="1500" dirty="0"/>
          </a:p>
        </p:txBody>
      </p:sp>
      <p:sp>
        <p:nvSpPr>
          <p:cNvPr id="7" name="Shape 4"/>
          <p:cNvSpPr/>
          <p:nvPr/>
        </p:nvSpPr>
        <p:spPr>
          <a:xfrm>
            <a:off x="8686800" y="1024128"/>
            <a:ext cx="128016" cy="128016"/>
          </a:xfrm>
          <a:prstGeom prst="ellipse">
            <a:avLst/>
          </a:prstGeom>
          <a:solidFill>
            <a:srgbClr val="3DBE8B"/>
          </a:solidFill>
          <a:ln/>
        </p:spPr>
      </p:sp>
      <p:sp>
        <p:nvSpPr>
          <p:cNvPr id="8" name="Text 5"/>
          <p:cNvSpPr txBox="1"/>
          <p:nvPr/>
        </p:nvSpPr>
        <p:spPr>
          <a:xfrm>
            <a:off x="8869680" y="932688"/>
            <a:ext cx="822960" cy="310896"/>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 90%</a:t>
            </a:r>
            <a:endParaRPr lang="en-US" sz="1100" dirty="0"/>
          </a:p>
        </p:txBody>
      </p:sp>
      <p:sp>
        <p:nvSpPr>
          <p:cNvPr id="9" name="Shape 6"/>
          <p:cNvSpPr/>
          <p:nvPr/>
        </p:nvSpPr>
        <p:spPr>
          <a:xfrm>
            <a:off x="9710928" y="1024128"/>
            <a:ext cx="128016" cy="128016"/>
          </a:xfrm>
          <a:prstGeom prst="ellipse">
            <a:avLst/>
          </a:prstGeom>
          <a:solidFill>
            <a:srgbClr val="E8A13D"/>
          </a:solidFill>
          <a:ln/>
        </p:spPr>
      </p:sp>
      <p:sp>
        <p:nvSpPr>
          <p:cNvPr id="10" name="Text 7"/>
          <p:cNvSpPr txBox="1"/>
          <p:nvPr/>
        </p:nvSpPr>
        <p:spPr>
          <a:xfrm>
            <a:off x="9893808" y="932688"/>
            <a:ext cx="822960" cy="310896"/>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70–89%</a:t>
            </a:r>
            <a:endParaRPr lang="en-US" sz="1100" dirty="0"/>
          </a:p>
        </p:txBody>
      </p:sp>
      <p:sp>
        <p:nvSpPr>
          <p:cNvPr id="11" name="Shape 8"/>
          <p:cNvSpPr/>
          <p:nvPr/>
        </p:nvSpPr>
        <p:spPr>
          <a:xfrm>
            <a:off x="10735056" y="1024128"/>
            <a:ext cx="128016" cy="128016"/>
          </a:xfrm>
          <a:prstGeom prst="ellipse">
            <a:avLst/>
          </a:prstGeom>
          <a:solidFill>
            <a:srgbClr val="D9412B"/>
          </a:solidFill>
          <a:ln/>
        </p:spPr>
      </p:sp>
      <p:sp>
        <p:nvSpPr>
          <p:cNvPr id="12" name="Text 9"/>
          <p:cNvSpPr txBox="1"/>
          <p:nvPr/>
        </p:nvSpPr>
        <p:spPr>
          <a:xfrm>
            <a:off x="10917936" y="932688"/>
            <a:ext cx="822960" cy="310896"/>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&lt; 70%</a:t>
            </a:r>
            <a:endParaRPr lang="en-US" sz="1100" dirty="0"/>
          </a:p>
        </p:txBody>
      </p:sp>
      <p:sp>
        <p:nvSpPr>
          <p:cNvPr id="13" name="Shape 10"/>
          <p:cNvSpPr/>
          <p:nvPr/>
        </p:nvSpPr>
        <p:spPr>
          <a:xfrm>
            <a:off x="457200" y="1463040"/>
            <a:ext cx="2395728" cy="4023360"/>
          </a:xfrm>
          <a:prstGeom prst="roundRect">
            <a:avLst>
              <a:gd name="adj" fmla="val 2672"/>
            </a:avLst>
          </a:prstGeom>
          <a:solidFill>
            <a:srgbClr val="F4F7FC"/>
          </a:solidFill>
          <a:ln w="9525">
            <a:solidFill>
              <a:srgbClr val="DCE3EE"/>
            </a:solidFill>
            <a:prstDash val="solid"/>
          </a:ln>
        </p:spPr>
      </p:sp>
      <p:sp>
        <p:nvSpPr>
          <p:cNvPr id="14" name="Shape 11"/>
          <p:cNvSpPr/>
          <p:nvPr/>
        </p:nvSpPr>
        <p:spPr>
          <a:xfrm>
            <a:off x="1353312" y="1737360"/>
            <a:ext cx="603504" cy="603504"/>
          </a:xfrm>
          <a:prstGeom prst="ellipse">
            <a:avLst/>
          </a:prstGeom>
          <a:solidFill>
            <a:srgbClr val="1B2A4A"/>
          </a:solidFill>
          <a:ln/>
        </p:spPr>
      </p:sp>
      <p:pic>
        <p:nvPicPr>
          <p:cNvPr id="15" name="Image 1" descr="preencoded.png">    </p:cNvPr>
          <p:cNvPicPr>
            <a:picLocks noChangeAspect="1"/>
          </p:cNvPicPr>
          <p:nvPr/>
        </p:nvPicPr>
        <p:blipFill>
          <a:blip r:embed="rId2"/>
          <a:stretch>
            <a:fillRect/>
          </a:stretch>
        </p:blipFill>
        <p:spPr>
          <a:xfrm>
            <a:off x="1508760" y="1892808"/>
            <a:ext cx="292608" cy="292608"/>
          </a:xfrm>
          <a:prstGeom prst="rect">
            <a:avLst/>
          </a:prstGeom>
        </p:spPr>
      </p:pic>
      <p:sp>
        <p:nvSpPr>
          <p:cNvPr id="16" name="Text 12"/>
          <p:cNvSpPr txBox="1"/>
          <p:nvPr/>
        </p:nvSpPr>
        <p:spPr>
          <a:xfrm>
            <a:off x="457200" y="2423160"/>
            <a:ext cx="2395728" cy="329184"/>
          </a:xfrm>
          <a:prstGeom prst="rect">
            <a:avLst/>
          </a:prstGeom>
          <a:noFill/>
          <a:ln/>
        </p:spPr>
        <p:txBody>
          <a:bodyPr wrap="square" lIns="0" tIns="0" rIns="0" bIns="0" rtlCol="0" anchor="ctr"/>
          <a:lstStyle/>
          <a:p>
            <a:pPr algn="ctr" indent="0" marL="0">
              <a:buNone/>
            </a:pPr>
            <a:r>
              <a:rPr lang="en-US" sz="1700" b="1" dirty="0">
                <a:solidFill>
                  <a:srgbClr val="1B2A4A"/>
                </a:solidFill>
                <a:latin typeface="Calibri" pitchFamily="34" charset="0"/>
                <a:ea typeface="Calibri" pitchFamily="34" charset="-122"/>
                <a:cs typeface="Calibri" pitchFamily="34" charset="-120"/>
              </a:rPr>
              <a:t>Network</a:t>
            </a:r>
            <a:endParaRPr lang="en-US" sz="1700" dirty="0"/>
          </a:p>
        </p:txBody>
      </p:sp>
      <p:sp>
        <p:nvSpPr>
          <p:cNvPr id="17" name="Text 13"/>
          <p:cNvSpPr txBox="1"/>
          <p:nvPr/>
        </p:nvSpPr>
        <p:spPr>
          <a:xfrm>
            <a:off x="457200" y="2743200"/>
            <a:ext cx="2395728" cy="237744"/>
          </a:xfrm>
          <a:prstGeom prst="rect">
            <a:avLst/>
          </a:prstGeom>
          <a:noFill/>
          <a:ln/>
        </p:spPr>
        <p:txBody>
          <a:bodyPr wrap="square" lIns="0" tIns="0" rIns="0" bIns="0" rtlCol="0" anchor="ctr"/>
          <a:lstStyle/>
          <a:p>
            <a:pPr algn="ctr" indent="0" marL="0">
              <a:buNone/>
            </a:pPr>
            <a:r>
              <a:rPr lang="en-US" sz="1000" b="1" spc="200" kern="0" dirty="0">
                <a:solidFill>
                  <a:srgbClr val="2A8C96"/>
                </a:solidFill>
                <a:latin typeface="Calibri" pitchFamily="34" charset="0"/>
                <a:ea typeface="Calibri" pitchFamily="34" charset="-122"/>
                <a:cs typeface="Calibri" pitchFamily="34" charset="-120"/>
              </a:rPr>
              <a:t>DATA IN MOTION</a:t>
            </a:r>
            <a:endParaRPr lang="en-US" sz="1000" dirty="0"/>
          </a:p>
        </p:txBody>
      </p:sp>
      <p:graphicFrame>
        <p:nvGraphicFramePr>
          <p:cNvPr id="18" name="Chart 0" descr=""/>
          <p:cNvGraphicFramePr/>
          <p:nvPr/>
        </p:nvGraphicFramePr>
        <p:xfrm>
          <a:off x="845439" y="3350895"/>
          <a:ext cx="1619250" cy="1619250"/>
        </p:xfrm>
        <a:graphic xmlns:a="http://schemas.openxmlformats.org/drawingml/2006/main">
          <a:graphicData uri="http://schemas.openxmlformats.org/drawingml/2006/chart">
            <c:chart xmlns:c="http://schemas.openxmlformats.org/drawingml/2006/chart" r:id="rId3"/>
          </a:graphicData>
        </a:graphic>
      </p:graphicFrame>
      <p:sp>
        <p:nvSpPr>
          <p:cNvPr id="19" name="Text 14"/>
          <p:cNvSpPr txBox="1"/>
          <p:nvPr/>
        </p:nvSpPr>
        <p:spPr>
          <a:xfrm>
            <a:off x="786384" y="4178808"/>
            <a:ext cx="411480" cy="201168"/>
          </a:xfrm>
          <a:prstGeom prst="rect">
            <a:avLst/>
          </a:prstGeom>
          <a:noFill/>
          <a:ln/>
        </p:spPr>
        <p:txBody>
          <a:bodyPr wrap="square" lIns="0" tIns="0" rIns="0" bIns="0" rtlCol="0" anchor="t"/>
          <a:lstStyle/>
          <a:p>
            <a:pPr algn="ctr" indent="0" marL="0">
              <a:buNone/>
            </a:pPr>
            <a:r>
              <a:rPr lang="en-US" sz="1000" b="1" dirty="0">
                <a:solidFill>
                  <a:srgbClr val="94A0B8"/>
                </a:solidFill>
                <a:latin typeface="Calibri" pitchFamily="34" charset="0"/>
                <a:ea typeface="Calibri" pitchFamily="34" charset="-122"/>
                <a:cs typeface="Calibri" pitchFamily="34" charset="-120"/>
              </a:rPr>
              <a:t>0</a:t>
            </a:r>
            <a:endParaRPr lang="en-US" sz="1000" dirty="0"/>
          </a:p>
        </p:txBody>
      </p:sp>
      <p:sp>
        <p:nvSpPr>
          <p:cNvPr id="20" name="Text 15"/>
          <p:cNvSpPr txBox="1"/>
          <p:nvPr/>
        </p:nvSpPr>
        <p:spPr>
          <a:xfrm>
            <a:off x="2112264" y="4178808"/>
            <a:ext cx="411480" cy="201168"/>
          </a:xfrm>
          <a:prstGeom prst="rect">
            <a:avLst/>
          </a:prstGeom>
          <a:noFill/>
          <a:ln/>
        </p:spPr>
        <p:txBody>
          <a:bodyPr wrap="square" lIns="0" tIns="0" rIns="0" bIns="0" rtlCol="0" anchor="t"/>
          <a:lstStyle/>
          <a:p>
            <a:pPr algn="ctr" indent="0" marL="0">
              <a:buNone/>
            </a:pPr>
            <a:r>
              <a:rPr lang="en-US" sz="1000" b="1" dirty="0">
                <a:solidFill>
                  <a:srgbClr val="94A0B8"/>
                </a:solidFill>
                <a:latin typeface="Calibri" pitchFamily="34" charset="0"/>
                <a:ea typeface="Calibri" pitchFamily="34" charset="-122"/>
                <a:cs typeface="Calibri" pitchFamily="34" charset="-120"/>
              </a:rPr>
              <a:t>100</a:t>
            </a:r>
            <a:endParaRPr lang="en-US" sz="1000" dirty="0"/>
          </a:p>
        </p:txBody>
      </p:sp>
      <p:sp>
        <p:nvSpPr>
          <p:cNvPr id="21" name="Shape 16"/>
          <p:cNvSpPr/>
          <p:nvPr/>
        </p:nvSpPr>
        <p:spPr>
          <a:xfrm>
            <a:off x="923544" y="4480560"/>
            <a:ext cx="1463040" cy="274320"/>
          </a:xfrm>
          <a:prstGeom prst="roundRect">
            <a:avLst>
              <a:gd name="adj" fmla="val 50000"/>
            </a:avLst>
          </a:prstGeom>
          <a:solidFill>
            <a:srgbClr val="E6F4EA"/>
          </a:solidFill>
          <a:ln/>
        </p:spPr>
      </p:sp>
      <p:sp>
        <p:nvSpPr>
          <p:cNvPr id="22" name="Text 17"/>
          <p:cNvSpPr txBox="1"/>
          <p:nvPr/>
        </p:nvSpPr>
        <p:spPr>
          <a:xfrm>
            <a:off x="923544" y="4480560"/>
            <a:ext cx="1463040" cy="274320"/>
          </a:xfrm>
          <a:prstGeom prst="rect">
            <a:avLst/>
          </a:prstGeom>
          <a:noFill/>
          <a:ln/>
        </p:spPr>
        <p:txBody>
          <a:bodyPr wrap="square" lIns="0" tIns="0" rIns="0" bIns="0" rtlCol="0" anchor="ctr"/>
          <a:lstStyle/>
          <a:p>
            <a:pPr algn="ctr" indent="0" marL="0">
              <a:buNone/>
            </a:pPr>
            <a:r>
              <a:rPr lang="en-US" sz="1100" b="1" dirty="0">
                <a:solidFill>
                  <a:srgbClr val="2E8B57"/>
                </a:solidFill>
                <a:latin typeface="Calibri" pitchFamily="34" charset="0"/>
                <a:ea typeface="Calibri" pitchFamily="34" charset="-122"/>
                <a:cs typeface="Calibri" pitchFamily="34" charset="-120"/>
              </a:rPr>
              <a:t>Monitored by SOC</a:t>
            </a:r>
            <a:endParaRPr lang="en-US" sz="1100" dirty="0"/>
          </a:p>
        </p:txBody>
      </p:sp>
      <p:sp>
        <p:nvSpPr>
          <p:cNvPr id="23" name="Text 18"/>
          <p:cNvSpPr txBox="1"/>
          <p:nvPr/>
        </p:nvSpPr>
        <p:spPr>
          <a:xfrm>
            <a:off x="457200" y="4864608"/>
            <a:ext cx="2395728" cy="237744"/>
          </a:xfrm>
          <a:prstGeom prst="rect">
            <a:avLst/>
          </a:prstGeom>
          <a:noFill/>
          <a:ln/>
        </p:spPr>
        <p:txBody>
          <a:bodyPr wrap="square" lIns="0" tIns="0" rIns="0" bIns="0"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Coverage</a:t>
            </a:r>
            <a:endParaRPr lang="en-US" sz="1100" dirty="0"/>
          </a:p>
        </p:txBody>
      </p:sp>
      <p:sp>
        <p:nvSpPr>
          <p:cNvPr id="24" name="Shape 19"/>
          <p:cNvSpPr/>
          <p:nvPr/>
        </p:nvSpPr>
        <p:spPr>
          <a:xfrm>
            <a:off x="3035808" y="1463040"/>
            <a:ext cx="2395728" cy="4023360"/>
          </a:xfrm>
          <a:prstGeom prst="roundRect">
            <a:avLst>
              <a:gd name="adj" fmla="val 2672"/>
            </a:avLst>
          </a:prstGeom>
          <a:solidFill>
            <a:srgbClr val="F4F7FC"/>
          </a:solidFill>
          <a:ln w="9525">
            <a:solidFill>
              <a:srgbClr val="DCE3EE"/>
            </a:solidFill>
            <a:prstDash val="solid"/>
          </a:ln>
        </p:spPr>
      </p:sp>
      <p:sp>
        <p:nvSpPr>
          <p:cNvPr id="25" name="Shape 20"/>
          <p:cNvSpPr/>
          <p:nvPr/>
        </p:nvSpPr>
        <p:spPr>
          <a:xfrm>
            <a:off x="3931920" y="1737360"/>
            <a:ext cx="603504" cy="603504"/>
          </a:xfrm>
          <a:prstGeom prst="ellipse">
            <a:avLst/>
          </a:prstGeom>
          <a:solidFill>
            <a:srgbClr val="1B2A4A"/>
          </a:solidFill>
          <a:ln/>
        </p:spPr>
      </p:sp>
      <p:pic>
        <p:nvPicPr>
          <p:cNvPr id="26" name="Image 2" descr="preencoded.png">    </p:cNvPr>
          <p:cNvPicPr>
            <a:picLocks noChangeAspect="1"/>
          </p:cNvPicPr>
          <p:nvPr/>
        </p:nvPicPr>
        <p:blipFill>
          <a:blip r:embed="rId4"/>
          <a:stretch>
            <a:fillRect/>
          </a:stretch>
        </p:blipFill>
        <p:spPr>
          <a:xfrm>
            <a:off x="4087368" y="1892808"/>
            <a:ext cx="292608" cy="292608"/>
          </a:xfrm>
          <a:prstGeom prst="rect">
            <a:avLst/>
          </a:prstGeom>
        </p:spPr>
      </p:pic>
      <p:sp>
        <p:nvSpPr>
          <p:cNvPr id="27" name="Text 21"/>
          <p:cNvSpPr txBox="1"/>
          <p:nvPr/>
        </p:nvSpPr>
        <p:spPr>
          <a:xfrm>
            <a:off x="3035808" y="2423160"/>
            <a:ext cx="2395728" cy="329184"/>
          </a:xfrm>
          <a:prstGeom prst="rect">
            <a:avLst/>
          </a:prstGeom>
          <a:noFill/>
          <a:ln/>
        </p:spPr>
        <p:txBody>
          <a:bodyPr wrap="square" lIns="0" tIns="0" rIns="0" bIns="0" rtlCol="0" anchor="ctr"/>
          <a:lstStyle/>
          <a:p>
            <a:pPr algn="ctr" indent="0" marL="0">
              <a:buNone/>
            </a:pPr>
            <a:r>
              <a:rPr lang="en-US" sz="1700" b="1" dirty="0">
                <a:solidFill>
                  <a:srgbClr val="1B2A4A"/>
                </a:solidFill>
                <a:latin typeface="Calibri" pitchFamily="34" charset="0"/>
                <a:ea typeface="Calibri" pitchFamily="34" charset="-122"/>
                <a:cs typeface="Calibri" pitchFamily="34" charset="-120"/>
              </a:rPr>
              <a:t>Web Browsing</a:t>
            </a:r>
            <a:endParaRPr lang="en-US" sz="1700" dirty="0"/>
          </a:p>
        </p:txBody>
      </p:sp>
      <p:sp>
        <p:nvSpPr>
          <p:cNvPr id="28" name="Text 22"/>
          <p:cNvSpPr txBox="1"/>
          <p:nvPr/>
        </p:nvSpPr>
        <p:spPr>
          <a:xfrm>
            <a:off x="3035808" y="2743200"/>
            <a:ext cx="2395728" cy="237744"/>
          </a:xfrm>
          <a:prstGeom prst="rect">
            <a:avLst/>
          </a:prstGeom>
          <a:noFill/>
          <a:ln/>
        </p:spPr>
        <p:txBody>
          <a:bodyPr wrap="square" lIns="0" tIns="0" rIns="0" bIns="0" rtlCol="0" anchor="ctr"/>
          <a:lstStyle/>
          <a:p>
            <a:pPr algn="ctr" indent="0" marL="0">
              <a:buNone/>
            </a:pPr>
            <a:r>
              <a:rPr lang="en-US" sz="1000" b="1" spc="200" kern="0" dirty="0">
                <a:solidFill>
                  <a:srgbClr val="2A8C96"/>
                </a:solidFill>
                <a:latin typeface="Calibri" pitchFamily="34" charset="0"/>
                <a:ea typeface="Calibri" pitchFamily="34" charset="-122"/>
                <a:cs typeface="Calibri" pitchFamily="34" charset="-120"/>
              </a:rPr>
              <a:t>WEB EGRESS</a:t>
            </a:r>
            <a:endParaRPr lang="en-US" sz="1000" dirty="0"/>
          </a:p>
        </p:txBody>
      </p:sp>
      <p:graphicFrame>
        <p:nvGraphicFramePr>
          <p:cNvPr id="29" name="Chart 1" descr=""/>
          <p:cNvGraphicFramePr/>
          <p:nvPr/>
        </p:nvGraphicFramePr>
        <p:xfrm>
          <a:off x="3424047" y="3350895"/>
          <a:ext cx="1619250" cy="1619250"/>
        </p:xfrm>
        <a:graphic xmlns:a="http://schemas.openxmlformats.org/drawingml/2006/main">
          <a:graphicData uri="http://schemas.openxmlformats.org/drawingml/2006/chart">
            <c:chart xmlns:c="http://schemas.openxmlformats.org/drawingml/2006/chart" r:id="rId5"/>
          </a:graphicData>
        </a:graphic>
      </p:graphicFrame>
      <p:sp>
        <p:nvSpPr>
          <p:cNvPr id="30" name="Text 23"/>
          <p:cNvSpPr txBox="1"/>
          <p:nvPr/>
        </p:nvSpPr>
        <p:spPr>
          <a:xfrm>
            <a:off x="3364992" y="4178808"/>
            <a:ext cx="411480" cy="201168"/>
          </a:xfrm>
          <a:prstGeom prst="rect">
            <a:avLst/>
          </a:prstGeom>
          <a:noFill/>
          <a:ln/>
        </p:spPr>
        <p:txBody>
          <a:bodyPr wrap="square" lIns="0" tIns="0" rIns="0" bIns="0" rtlCol="0" anchor="t"/>
          <a:lstStyle/>
          <a:p>
            <a:pPr algn="ctr" indent="0" marL="0">
              <a:buNone/>
            </a:pPr>
            <a:r>
              <a:rPr lang="en-US" sz="1000" b="1" dirty="0">
                <a:solidFill>
                  <a:srgbClr val="94A0B8"/>
                </a:solidFill>
                <a:latin typeface="Calibri" pitchFamily="34" charset="0"/>
                <a:ea typeface="Calibri" pitchFamily="34" charset="-122"/>
                <a:cs typeface="Calibri" pitchFamily="34" charset="-120"/>
              </a:rPr>
              <a:t>0</a:t>
            </a:r>
            <a:endParaRPr lang="en-US" sz="1000" dirty="0"/>
          </a:p>
        </p:txBody>
      </p:sp>
      <p:sp>
        <p:nvSpPr>
          <p:cNvPr id="31" name="Text 24"/>
          <p:cNvSpPr txBox="1"/>
          <p:nvPr/>
        </p:nvSpPr>
        <p:spPr>
          <a:xfrm>
            <a:off x="4690872" y="4178808"/>
            <a:ext cx="411480" cy="201168"/>
          </a:xfrm>
          <a:prstGeom prst="rect">
            <a:avLst/>
          </a:prstGeom>
          <a:noFill/>
          <a:ln/>
        </p:spPr>
        <p:txBody>
          <a:bodyPr wrap="square" lIns="0" tIns="0" rIns="0" bIns="0" rtlCol="0" anchor="t"/>
          <a:lstStyle/>
          <a:p>
            <a:pPr algn="ctr" indent="0" marL="0">
              <a:buNone/>
            </a:pPr>
            <a:r>
              <a:rPr lang="en-US" sz="1000" b="1" dirty="0">
                <a:solidFill>
                  <a:srgbClr val="94A0B8"/>
                </a:solidFill>
                <a:latin typeface="Calibri" pitchFamily="34" charset="0"/>
                <a:ea typeface="Calibri" pitchFamily="34" charset="-122"/>
                <a:cs typeface="Calibri" pitchFamily="34" charset="-120"/>
              </a:rPr>
              <a:t>100</a:t>
            </a:r>
            <a:endParaRPr lang="en-US" sz="1000" dirty="0"/>
          </a:p>
        </p:txBody>
      </p:sp>
      <p:sp>
        <p:nvSpPr>
          <p:cNvPr id="32" name="Shape 25"/>
          <p:cNvSpPr/>
          <p:nvPr/>
        </p:nvSpPr>
        <p:spPr>
          <a:xfrm>
            <a:off x="3502152" y="4480560"/>
            <a:ext cx="1463040" cy="274320"/>
          </a:xfrm>
          <a:prstGeom prst="roundRect">
            <a:avLst>
              <a:gd name="adj" fmla="val 50000"/>
            </a:avLst>
          </a:prstGeom>
          <a:solidFill>
            <a:srgbClr val="E6F4EA"/>
          </a:solidFill>
          <a:ln/>
        </p:spPr>
      </p:sp>
      <p:sp>
        <p:nvSpPr>
          <p:cNvPr id="33" name="Text 26"/>
          <p:cNvSpPr txBox="1"/>
          <p:nvPr/>
        </p:nvSpPr>
        <p:spPr>
          <a:xfrm>
            <a:off x="3502152" y="4480560"/>
            <a:ext cx="1463040" cy="274320"/>
          </a:xfrm>
          <a:prstGeom prst="rect">
            <a:avLst/>
          </a:prstGeom>
          <a:noFill/>
          <a:ln/>
        </p:spPr>
        <p:txBody>
          <a:bodyPr wrap="square" lIns="0" tIns="0" rIns="0" bIns="0" rtlCol="0" anchor="ctr"/>
          <a:lstStyle/>
          <a:p>
            <a:pPr algn="ctr" indent="0" marL="0">
              <a:buNone/>
            </a:pPr>
            <a:r>
              <a:rPr lang="en-US" sz="1100" b="1" dirty="0">
                <a:solidFill>
                  <a:srgbClr val="2E8B57"/>
                </a:solidFill>
                <a:latin typeface="Calibri" pitchFamily="34" charset="0"/>
                <a:ea typeface="Calibri" pitchFamily="34" charset="-122"/>
                <a:cs typeface="Calibri" pitchFamily="34" charset="-120"/>
              </a:rPr>
              <a:t>Monitored by SOC</a:t>
            </a:r>
            <a:endParaRPr lang="en-US" sz="1100" dirty="0"/>
          </a:p>
        </p:txBody>
      </p:sp>
      <p:sp>
        <p:nvSpPr>
          <p:cNvPr id="34" name="Text 27"/>
          <p:cNvSpPr txBox="1"/>
          <p:nvPr/>
        </p:nvSpPr>
        <p:spPr>
          <a:xfrm>
            <a:off x="3035808" y="4864608"/>
            <a:ext cx="2395728" cy="237744"/>
          </a:xfrm>
          <a:prstGeom prst="rect">
            <a:avLst/>
          </a:prstGeom>
          <a:noFill/>
          <a:ln/>
        </p:spPr>
        <p:txBody>
          <a:bodyPr wrap="square" lIns="0" tIns="0" rIns="0" bIns="0"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Coverage</a:t>
            </a:r>
            <a:endParaRPr lang="en-US" sz="1100" dirty="0"/>
          </a:p>
        </p:txBody>
      </p:sp>
      <p:sp>
        <p:nvSpPr>
          <p:cNvPr id="35" name="Shape 28"/>
          <p:cNvSpPr/>
          <p:nvPr/>
        </p:nvSpPr>
        <p:spPr>
          <a:xfrm>
            <a:off x="5614416" y="1463040"/>
            <a:ext cx="2395728" cy="4023360"/>
          </a:xfrm>
          <a:prstGeom prst="roundRect">
            <a:avLst>
              <a:gd name="adj" fmla="val 2672"/>
            </a:avLst>
          </a:prstGeom>
          <a:solidFill>
            <a:srgbClr val="F4F7FC"/>
          </a:solidFill>
          <a:ln w="9525">
            <a:solidFill>
              <a:srgbClr val="DCE3EE"/>
            </a:solidFill>
            <a:prstDash val="solid"/>
          </a:ln>
        </p:spPr>
      </p:sp>
      <p:sp>
        <p:nvSpPr>
          <p:cNvPr id="36" name="Shape 29"/>
          <p:cNvSpPr/>
          <p:nvPr/>
        </p:nvSpPr>
        <p:spPr>
          <a:xfrm>
            <a:off x="6510528" y="1737360"/>
            <a:ext cx="603504" cy="603504"/>
          </a:xfrm>
          <a:prstGeom prst="ellipse">
            <a:avLst/>
          </a:prstGeom>
          <a:solidFill>
            <a:srgbClr val="1B2A4A"/>
          </a:solidFill>
          <a:ln/>
        </p:spPr>
      </p:sp>
      <p:pic>
        <p:nvPicPr>
          <p:cNvPr id="37" name="Image 3" descr="preencoded.png">    </p:cNvPr>
          <p:cNvPicPr>
            <a:picLocks noChangeAspect="1"/>
          </p:cNvPicPr>
          <p:nvPr/>
        </p:nvPicPr>
        <p:blipFill>
          <a:blip r:embed="rId6"/>
          <a:stretch>
            <a:fillRect/>
          </a:stretch>
        </p:blipFill>
        <p:spPr>
          <a:xfrm>
            <a:off x="6665976" y="1892808"/>
            <a:ext cx="292608" cy="292608"/>
          </a:xfrm>
          <a:prstGeom prst="rect">
            <a:avLst/>
          </a:prstGeom>
        </p:spPr>
      </p:pic>
      <p:sp>
        <p:nvSpPr>
          <p:cNvPr id="38" name="Text 30"/>
          <p:cNvSpPr txBox="1"/>
          <p:nvPr/>
        </p:nvSpPr>
        <p:spPr>
          <a:xfrm>
            <a:off x="5614416" y="2423160"/>
            <a:ext cx="2395728" cy="329184"/>
          </a:xfrm>
          <a:prstGeom prst="rect">
            <a:avLst/>
          </a:prstGeom>
          <a:noFill/>
          <a:ln/>
        </p:spPr>
        <p:txBody>
          <a:bodyPr wrap="square" lIns="0" tIns="0" rIns="0" bIns="0" rtlCol="0" anchor="ctr"/>
          <a:lstStyle/>
          <a:p>
            <a:pPr algn="ctr" indent="0" marL="0">
              <a:buNone/>
            </a:pPr>
            <a:r>
              <a:rPr lang="en-US" sz="1700" b="1" dirty="0">
                <a:solidFill>
                  <a:srgbClr val="1B2A4A"/>
                </a:solidFill>
                <a:latin typeface="Calibri" pitchFamily="34" charset="0"/>
                <a:ea typeface="Calibri" pitchFamily="34" charset="-122"/>
                <a:cs typeface="Calibri" pitchFamily="34" charset="-120"/>
              </a:rPr>
              <a:t>Endpoints</a:t>
            </a:r>
            <a:endParaRPr lang="en-US" sz="1700" dirty="0"/>
          </a:p>
        </p:txBody>
      </p:sp>
      <p:sp>
        <p:nvSpPr>
          <p:cNvPr id="39" name="Text 31"/>
          <p:cNvSpPr txBox="1"/>
          <p:nvPr/>
        </p:nvSpPr>
        <p:spPr>
          <a:xfrm>
            <a:off x="5614416" y="2743200"/>
            <a:ext cx="2395728" cy="237744"/>
          </a:xfrm>
          <a:prstGeom prst="rect">
            <a:avLst/>
          </a:prstGeom>
          <a:noFill/>
          <a:ln/>
        </p:spPr>
        <p:txBody>
          <a:bodyPr wrap="square" lIns="0" tIns="0" rIns="0" bIns="0" rtlCol="0" anchor="ctr"/>
          <a:lstStyle/>
          <a:p>
            <a:pPr algn="ctr" indent="0" marL="0">
              <a:buNone/>
            </a:pPr>
            <a:r>
              <a:rPr lang="en-US" sz="1000" b="1" spc="200" kern="0" dirty="0">
                <a:solidFill>
                  <a:srgbClr val="2A8C96"/>
                </a:solidFill>
                <a:latin typeface="Calibri" pitchFamily="34" charset="0"/>
                <a:ea typeface="Calibri" pitchFamily="34" charset="-122"/>
                <a:cs typeface="Calibri" pitchFamily="34" charset="-120"/>
              </a:rPr>
              <a:t>DATA IN USE</a:t>
            </a:r>
            <a:endParaRPr lang="en-US" sz="1000" dirty="0"/>
          </a:p>
        </p:txBody>
      </p:sp>
      <p:graphicFrame>
        <p:nvGraphicFramePr>
          <p:cNvPr id="40" name="Chart 2" descr=""/>
          <p:cNvGraphicFramePr/>
          <p:nvPr/>
        </p:nvGraphicFramePr>
        <p:xfrm>
          <a:off x="6002655" y="3350895"/>
          <a:ext cx="1619250" cy="1619250"/>
        </p:xfrm>
        <a:graphic xmlns:a="http://schemas.openxmlformats.org/drawingml/2006/main">
          <a:graphicData uri="http://schemas.openxmlformats.org/drawingml/2006/chart">
            <c:chart xmlns:c="http://schemas.openxmlformats.org/drawingml/2006/chart" r:id="rId7"/>
          </a:graphicData>
        </a:graphic>
      </p:graphicFrame>
      <p:sp>
        <p:nvSpPr>
          <p:cNvPr id="41" name="Text 32"/>
          <p:cNvSpPr txBox="1"/>
          <p:nvPr/>
        </p:nvSpPr>
        <p:spPr>
          <a:xfrm>
            <a:off x="5943600" y="4178808"/>
            <a:ext cx="411480" cy="201168"/>
          </a:xfrm>
          <a:prstGeom prst="rect">
            <a:avLst/>
          </a:prstGeom>
          <a:noFill/>
          <a:ln/>
        </p:spPr>
        <p:txBody>
          <a:bodyPr wrap="square" lIns="0" tIns="0" rIns="0" bIns="0" rtlCol="0" anchor="t"/>
          <a:lstStyle/>
          <a:p>
            <a:pPr algn="ctr" indent="0" marL="0">
              <a:buNone/>
            </a:pPr>
            <a:r>
              <a:rPr lang="en-US" sz="1000" b="1" dirty="0">
                <a:solidFill>
                  <a:srgbClr val="94A0B8"/>
                </a:solidFill>
                <a:latin typeface="Calibri" pitchFamily="34" charset="0"/>
                <a:ea typeface="Calibri" pitchFamily="34" charset="-122"/>
                <a:cs typeface="Calibri" pitchFamily="34" charset="-120"/>
              </a:rPr>
              <a:t>0</a:t>
            </a:r>
            <a:endParaRPr lang="en-US" sz="1000" dirty="0"/>
          </a:p>
        </p:txBody>
      </p:sp>
      <p:sp>
        <p:nvSpPr>
          <p:cNvPr id="42" name="Text 33"/>
          <p:cNvSpPr txBox="1"/>
          <p:nvPr/>
        </p:nvSpPr>
        <p:spPr>
          <a:xfrm>
            <a:off x="7269480" y="4178808"/>
            <a:ext cx="411480" cy="201168"/>
          </a:xfrm>
          <a:prstGeom prst="rect">
            <a:avLst/>
          </a:prstGeom>
          <a:noFill/>
          <a:ln/>
        </p:spPr>
        <p:txBody>
          <a:bodyPr wrap="square" lIns="0" tIns="0" rIns="0" bIns="0" rtlCol="0" anchor="t"/>
          <a:lstStyle/>
          <a:p>
            <a:pPr algn="ctr" indent="0" marL="0">
              <a:buNone/>
            </a:pPr>
            <a:r>
              <a:rPr lang="en-US" sz="1000" b="1" dirty="0">
                <a:solidFill>
                  <a:srgbClr val="94A0B8"/>
                </a:solidFill>
                <a:latin typeface="Calibri" pitchFamily="34" charset="0"/>
                <a:ea typeface="Calibri" pitchFamily="34" charset="-122"/>
                <a:cs typeface="Calibri" pitchFamily="34" charset="-120"/>
              </a:rPr>
              <a:t>100</a:t>
            </a:r>
            <a:endParaRPr lang="en-US" sz="1000" dirty="0"/>
          </a:p>
        </p:txBody>
      </p:sp>
      <p:sp>
        <p:nvSpPr>
          <p:cNvPr id="43" name="Shape 34"/>
          <p:cNvSpPr/>
          <p:nvPr/>
        </p:nvSpPr>
        <p:spPr>
          <a:xfrm>
            <a:off x="6080760" y="4480560"/>
            <a:ext cx="1463040" cy="274320"/>
          </a:xfrm>
          <a:prstGeom prst="roundRect">
            <a:avLst>
              <a:gd name="adj" fmla="val 50000"/>
            </a:avLst>
          </a:prstGeom>
          <a:solidFill>
            <a:srgbClr val="E6F4EA"/>
          </a:solidFill>
          <a:ln/>
        </p:spPr>
      </p:sp>
      <p:sp>
        <p:nvSpPr>
          <p:cNvPr id="44" name="Text 35"/>
          <p:cNvSpPr txBox="1"/>
          <p:nvPr/>
        </p:nvSpPr>
        <p:spPr>
          <a:xfrm>
            <a:off x="6080760" y="4480560"/>
            <a:ext cx="1463040" cy="274320"/>
          </a:xfrm>
          <a:prstGeom prst="rect">
            <a:avLst/>
          </a:prstGeom>
          <a:noFill/>
          <a:ln/>
        </p:spPr>
        <p:txBody>
          <a:bodyPr wrap="square" lIns="0" tIns="0" rIns="0" bIns="0" rtlCol="0" anchor="ctr"/>
          <a:lstStyle/>
          <a:p>
            <a:pPr algn="ctr" indent="0" marL="0">
              <a:buNone/>
            </a:pPr>
            <a:r>
              <a:rPr lang="en-US" sz="1100" b="1" dirty="0">
                <a:solidFill>
                  <a:srgbClr val="2E8B57"/>
                </a:solidFill>
                <a:latin typeface="Calibri" pitchFamily="34" charset="0"/>
                <a:ea typeface="Calibri" pitchFamily="34" charset="-122"/>
                <a:cs typeface="Calibri" pitchFamily="34" charset="-120"/>
              </a:rPr>
              <a:t>Monitored by SOC</a:t>
            </a:r>
            <a:endParaRPr lang="en-US" sz="1100" dirty="0"/>
          </a:p>
        </p:txBody>
      </p:sp>
      <p:sp>
        <p:nvSpPr>
          <p:cNvPr id="45" name="Text 36"/>
          <p:cNvSpPr txBox="1"/>
          <p:nvPr/>
        </p:nvSpPr>
        <p:spPr>
          <a:xfrm>
            <a:off x="5614416" y="4864608"/>
            <a:ext cx="2395728" cy="237744"/>
          </a:xfrm>
          <a:prstGeom prst="rect">
            <a:avLst/>
          </a:prstGeom>
          <a:noFill/>
          <a:ln/>
        </p:spPr>
        <p:txBody>
          <a:bodyPr wrap="square" lIns="0" tIns="0" rIns="0" bIns="0"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Coverage</a:t>
            </a:r>
            <a:endParaRPr lang="en-US" sz="1100" dirty="0"/>
          </a:p>
        </p:txBody>
      </p:sp>
      <p:sp>
        <p:nvSpPr>
          <p:cNvPr id="46" name="Shape 37"/>
          <p:cNvSpPr/>
          <p:nvPr/>
        </p:nvSpPr>
        <p:spPr>
          <a:xfrm>
            <a:off x="8375904" y="1463040"/>
            <a:ext cx="3355848" cy="1920240"/>
          </a:xfrm>
          <a:prstGeom prst="roundRect">
            <a:avLst>
              <a:gd name="adj" fmla="val 3333"/>
            </a:avLst>
          </a:prstGeom>
          <a:solidFill>
            <a:srgbClr val="F4F7FC"/>
          </a:solidFill>
          <a:ln w="9525">
            <a:solidFill>
              <a:srgbClr val="DCE3EE"/>
            </a:solidFill>
            <a:prstDash val="solid"/>
          </a:ln>
        </p:spPr>
      </p:sp>
      <p:sp>
        <p:nvSpPr>
          <p:cNvPr id="47" name="Text 38"/>
          <p:cNvSpPr txBox="1"/>
          <p:nvPr/>
        </p:nvSpPr>
        <p:spPr>
          <a:xfrm>
            <a:off x="8595360" y="1572768"/>
            <a:ext cx="2926080" cy="310896"/>
          </a:xfrm>
          <a:prstGeom prst="rect">
            <a:avLst/>
          </a:prstGeom>
          <a:noFill/>
          <a:ln/>
        </p:spPr>
        <p:txBody>
          <a:bodyPr wrap="square" lIns="0" tIns="0" rIns="0" bIns="0"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Licence Utilisation</a:t>
            </a:r>
            <a:endParaRPr lang="en-US" sz="1500" dirty="0"/>
          </a:p>
        </p:txBody>
      </p:sp>
      <p:sp>
        <p:nvSpPr>
          <p:cNvPr id="48" name="Text 39"/>
          <p:cNvSpPr txBox="1"/>
          <p:nvPr/>
        </p:nvSpPr>
        <p:spPr>
          <a:xfrm>
            <a:off x="8595360" y="2011680"/>
            <a:ext cx="2185416" cy="256032"/>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Forcepoint DLP</a:t>
            </a:r>
            <a:endParaRPr lang="en-US" sz="1300" dirty="0"/>
          </a:p>
        </p:txBody>
      </p:sp>
      <p:sp>
        <p:nvSpPr>
          <p:cNvPr id="49" name="Text 40"/>
          <p:cNvSpPr txBox="1"/>
          <p:nvPr/>
        </p:nvSpPr>
        <p:spPr>
          <a:xfrm>
            <a:off x="10780776" y="2011680"/>
            <a:ext cx="731520" cy="256032"/>
          </a:xfrm>
          <a:prstGeom prst="rect">
            <a:avLst/>
          </a:prstGeom>
          <a:noFill/>
          <a:ln/>
        </p:spPr>
        <p:txBody>
          <a:bodyPr wrap="square" lIns="0" tIns="0" rIns="0" bIns="0" rtlCol="0" anchor="ctr"/>
          <a:lstStyle/>
          <a:p>
            <a:pPr algn="r" indent="0" marL="0">
              <a:buNone/>
            </a:pPr>
            <a:r>
              <a:rPr lang="en-US" sz="1400" b="1" dirty="0">
                <a:solidFill>
                  <a:srgbClr val="B97A1F"/>
                </a:solidFill>
                <a:latin typeface="Calibri" pitchFamily="34" charset="0"/>
                <a:ea typeface="Calibri" pitchFamily="34" charset="-122"/>
                <a:cs typeface="Calibri" pitchFamily="34" charset="-120"/>
              </a:rPr>
              <a:t>XX%</a:t>
            </a:r>
            <a:endParaRPr lang="en-US" sz="1400" dirty="0"/>
          </a:p>
        </p:txBody>
      </p:sp>
      <p:sp>
        <p:nvSpPr>
          <p:cNvPr id="50" name="Shape 41"/>
          <p:cNvSpPr/>
          <p:nvPr/>
        </p:nvSpPr>
        <p:spPr>
          <a:xfrm>
            <a:off x="8595360" y="2340864"/>
            <a:ext cx="2916936" cy="182880"/>
          </a:xfrm>
          <a:prstGeom prst="roundRect">
            <a:avLst>
              <a:gd name="adj" fmla="val 50000"/>
            </a:avLst>
          </a:prstGeom>
          <a:solidFill>
            <a:srgbClr val="DDE3EE"/>
          </a:solidFill>
          <a:ln/>
        </p:spPr>
      </p:sp>
      <p:sp>
        <p:nvSpPr>
          <p:cNvPr id="51" name="Shape 42"/>
          <p:cNvSpPr/>
          <p:nvPr/>
        </p:nvSpPr>
        <p:spPr>
          <a:xfrm>
            <a:off x="8595360" y="2340864"/>
            <a:ext cx="1458468" cy="182880"/>
          </a:xfrm>
          <a:prstGeom prst="roundRect">
            <a:avLst>
              <a:gd name="adj" fmla="val 50000"/>
            </a:avLst>
          </a:prstGeom>
          <a:solidFill>
            <a:srgbClr val="F3D9A8"/>
          </a:solidFill>
          <a:ln/>
        </p:spPr>
      </p:sp>
      <p:sp>
        <p:nvSpPr>
          <p:cNvPr id="52" name="Text 43"/>
          <p:cNvSpPr txBox="1"/>
          <p:nvPr/>
        </p:nvSpPr>
        <p:spPr>
          <a:xfrm>
            <a:off x="8595360" y="2578608"/>
            <a:ext cx="2916936" cy="237744"/>
          </a:xfrm>
          <a:prstGeom prst="rect">
            <a:avLst/>
          </a:prstGeom>
          <a:noFill/>
          <a:ln/>
        </p:spPr>
        <p:txBody>
          <a:bodyPr wrap="square" lIns="0" tIns="0" rIns="0" bIns="0" rtlCol="0" anchor="ctr"/>
          <a:lstStyle/>
          <a:p>
            <a:pPr indent="0" marL="0">
              <a:buNone/>
            </a:pPr>
            <a:r>
              <a:rPr lang="en-US" sz="1100" dirty="0">
                <a:solidFill>
                  <a:srgbClr val="B97A1F"/>
                </a:solidFill>
                <a:latin typeface="Calibri" pitchFamily="34" charset="0"/>
                <a:ea typeface="Calibri" pitchFamily="34" charset="-122"/>
                <a:cs typeface="Calibri" pitchFamily="34" charset="-120"/>
              </a:rPr>
              <a:t>XX of XX licences in use</a:t>
            </a:r>
            <a:endParaRPr lang="en-US" sz="1100" dirty="0"/>
          </a:p>
        </p:txBody>
      </p:sp>
      <p:sp>
        <p:nvSpPr>
          <p:cNvPr id="53" name="Shape 44"/>
          <p:cNvSpPr/>
          <p:nvPr/>
        </p:nvSpPr>
        <p:spPr>
          <a:xfrm>
            <a:off x="8375904" y="3566160"/>
            <a:ext cx="3355848" cy="1920240"/>
          </a:xfrm>
          <a:prstGeom prst="roundRect">
            <a:avLst>
              <a:gd name="adj" fmla="val 3333"/>
            </a:avLst>
          </a:prstGeom>
          <a:solidFill>
            <a:srgbClr val="F4F7FC"/>
          </a:solidFill>
          <a:ln w="9525">
            <a:solidFill>
              <a:srgbClr val="DCE3EE"/>
            </a:solidFill>
            <a:prstDash val="solid"/>
          </a:ln>
        </p:spPr>
      </p:sp>
      <p:sp>
        <p:nvSpPr>
          <p:cNvPr id="54" name="Shape 45"/>
          <p:cNvSpPr/>
          <p:nvPr/>
        </p:nvSpPr>
        <p:spPr>
          <a:xfrm>
            <a:off x="8595360" y="3749040"/>
            <a:ext cx="457200" cy="457200"/>
          </a:xfrm>
          <a:prstGeom prst="ellipse">
            <a:avLst/>
          </a:prstGeom>
          <a:solidFill>
            <a:srgbClr val="2A8C96"/>
          </a:solidFill>
          <a:ln/>
        </p:spPr>
      </p:sp>
      <p:pic>
        <p:nvPicPr>
          <p:cNvPr id="55" name="Image 4" descr="preencoded.png">    </p:cNvPr>
          <p:cNvPicPr>
            <a:picLocks noChangeAspect="1"/>
          </p:cNvPicPr>
          <p:nvPr/>
        </p:nvPicPr>
        <p:blipFill>
          <a:blip r:embed="rId8"/>
          <a:stretch>
            <a:fillRect/>
          </a:stretch>
        </p:blipFill>
        <p:spPr>
          <a:xfrm>
            <a:off x="8705088" y="3858768"/>
            <a:ext cx="237744" cy="237744"/>
          </a:xfrm>
          <a:prstGeom prst="rect">
            <a:avLst/>
          </a:prstGeom>
        </p:spPr>
      </p:pic>
      <p:sp>
        <p:nvSpPr>
          <p:cNvPr id="56" name="Text 46"/>
          <p:cNvSpPr txBox="1"/>
          <p:nvPr/>
        </p:nvSpPr>
        <p:spPr>
          <a:xfrm>
            <a:off x="9189720" y="3749040"/>
            <a:ext cx="2377440" cy="457200"/>
          </a:xfrm>
          <a:prstGeom prst="rect">
            <a:avLst/>
          </a:prstGeom>
          <a:noFill/>
          <a:ln/>
        </p:spPr>
        <p:txBody>
          <a:bodyPr wrap="square" lIns="0" tIns="0" rIns="0" bIns="0"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SIEM Integration</a:t>
            </a:r>
            <a:endParaRPr lang="en-US" sz="1500" dirty="0"/>
          </a:p>
        </p:txBody>
      </p:sp>
      <p:sp>
        <p:nvSpPr>
          <p:cNvPr id="57" name="Text 47"/>
          <p:cNvSpPr txBox="1"/>
          <p:nvPr/>
        </p:nvSpPr>
        <p:spPr>
          <a:xfrm>
            <a:off x="8595360" y="4315968"/>
            <a:ext cx="2926080" cy="1051560"/>
          </a:xfrm>
          <a:prstGeom prst="rect">
            <a:avLst/>
          </a:prstGeom>
          <a:noFill/>
          <a:ln/>
        </p:spPr>
        <p:txBody>
          <a:bodyPr wrap="square" lIns="0" tIns="0" rIns="0" bIns="0" rtlCol="0" anchor="t"/>
          <a:lstStyle/>
          <a:p>
            <a:pPr indent="0" marL="0">
              <a:buNone/>
            </a:pPr>
            <a:r>
              <a:rPr lang="en-US" sz="1250" dirty="0">
                <a:solidFill>
                  <a:srgbClr val="64748B"/>
                </a:solidFill>
                <a:latin typeface="Calibri" pitchFamily="34" charset="0"/>
                <a:ea typeface="Calibri" pitchFamily="34" charset="-122"/>
                <a:cs typeface="Calibri" pitchFamily="34" charset="-120"/>
              </a:rPr>
              <a:t>DLP events are forwarded to QRadar and triaged by SOC analysts alongside the wider log estate.</a:t>
            </a:r>
            <a:endParaRPr lang="en-US" sz="1250" dirty="0"/>
          </a:p>
        </p:txBody>
      </p:sp>
      <p:sp>
        <p:nvSpPr>
          <p:cNvPr id="58" name="Shape 48"/>
          <p:cNvSpPr/>
          <p:nvPr/>
        </p:nvSpPr>
        <p:spPr>
          <a:xfrm>
            <a:off x="457200" y="5669280"/>
            <a:ext cx="11274552" cy="402336"/>
          </a:xfrm>
          <a:prstGeom prst="roundRect">
            <a:avLst>
              <a:gd name="adj" fmla="val 18182"/>
            </a:avLst>
          </a:prstGeom>
          <a:solidFill>
            <a:srgbClr val="EEF3FA"/>
          </a:solidFill>
          <a:ln/>
        </p:spPr>
      </p:sp>
      <p:pic>
        <p:nvPicPr>
          <p:cNvPr id="59" name="Image 5" descr="preencoded.png">    </p:cNvPr>
          <p:cNvPicPr>
            <a:picLocks noChangeAspect="1"/>
          </p:cNvPicPr>
          <p:nvPr/>
        </p:nvPicPr>
        <p:blipFill>
          <a:blip r:embed="rId9"/>
          <a:stretch>
            <a:fillRect/>
          </a:stretch>
        </p:blipFill>
        <p:spPr>
          <a:xfrm>
            <a:off x="640080" y="5769864"/>
            <a:ext cx="201168" cy="201168"/>
          </a:xfrm>
          <a:prstGeom prst="rect">
            <a:avLst/>
          </a:prstGeom>
        </p:spPr>
      </p:pic>
      <p:sp>
        <p:nvSpPr>
          <p:cNvPr id="60" name="Text 49"/>
          <p:cNvSpPr txBox="1"/>
          <p:nvPr/>
        </p:nvSpPr>
        <p:spPr>
          <a:xfrm>
            <a:off x="960120" y="5669280"/>
            <a:ext cx="10607040" cy="402336"/>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Coverage: </a:t>
            </a:r>
            <a:pPr indent="0" marL="0">
              <a:buNone/>
            </a:pPr>
            <a:r>
              <a:rPr lang="en-US" sz="1100" dirty="0">
                <a:solidFill>
                  <a:srgbClr val="B97A1F"/>
                </a:solidFill>
                <a:latin typeface="Calibri" pitchFamily="34" charset="0"/>
                <a:ea typeface="Calibri" pitchFamily="34" charset="-122"/>
                <a:cs typeface="Calibri" pitchFamily="34" charset="-120"/>
              </a:rPr>
              <a:t>[XX endpoints with DLP agent of XX total; network and web channels covered via XX]</a:t>
            </a:r>
            <a:endParaRPr lang="en-US" sz="11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457200" y="310896"/>
            <a:ext cx="530352" cy="530352"/>
          </a:xfrm>
          <a:prstGeom prst="ellipse">
            <a:avLst/>
          </a:prstGeom>
          <a:solidFill>
            <a:srgbClr val="1B2A4A"/>
          </a:solidFill>
          <a:ln/>
        </p:spPr>
      </p:sp>
      <p:pic>
        <p:nvPicPr>
          <p:cNvPr id="3" name="Image 0" descr="preencoded.png">    </p:cNvPr>
          <p:cNvPicPr>
            <a:picLocks noChangeAspect="1"/>
          </p:cNvPicPr>
          <p:nvPr/>
        </p:nvPicPr>
        <p:blipFill>
          <a:blip r:embed="rId1"/>
          <a:stretch>
            <a:fillRect/>
          </a:stretch>
        </p:blipFill>
        <p:spPr>
          <a:xfrm>
            <a:off x="589788" y="443484"/>
            <a:ext cx="265176" cy="265176"/>
          </a:xfrm>
          <a:prstGeom prst="rect">
            <a:avLst/>
          </a:prstGeom>
        </p:spPr>
      </p:pic>
      <p:sp>
        <p:nvSpPr>
          <p:cNvPr id="4" name="Text 1"/>
          <p:cNvSpPr/>
          <p:nvPr>
            <p:ph idx="101" type="title" hasCustomPrompt="1"/>
          </p:nvPr>
        </p:nvSpPr>
        <p:spPr>
          <a:xfrm>
            <a:off x="1143000" y="274320"/>
            <a:ext cx="7223760" cy="603504"/>
          </a:xfrm>
          <a:prstGeom prst="rect">
            <a:avLst/>
          </a:prstGeom>
          <a:noFill/>
          <a:ln/>
        </p:spPr>
        <p:txBody>
          <a:bodyPr wrap="square" lIns="0" tIns="0" rIns="0" bIns="0" rtlCol="0" anchor="ctr"/>
          <a:lstStyle/>
          <a:p>
            <a:pPr algn="l" indent="0" marL="0">
              <a:buNone/>
            </a:pPr>
            <a:r>
              <a:rPr lang="en-US" sz="3000" b="1" dirty="0">
                <a:solidFill>
                  <a:srgbClr val="1B2A4A"/>
                </a:solidFill>
                <a:latin typeface="Calibri" pitchFamily="34" charset="0"/>
                <a:ea typeface="Calibri" pitchFamily="34" charset="-122"/>
                <a:cs typeface="Calibri" pitchFamily="34" charset="-120"/>
              </a:rPr>
              <a:t>EDR &amp; NDR: Coverage &amp; Licence</a:t>
            </a:r>
            <a:endParaRPr lang="en-US" sz="3000" dirty="0"/>
          </a:p>
        </p:txBody>
      </p:sp>
      <p:sp>
        <p:nvSpPr>
          <p:cNvPr id="5" name="Text 2"/>
          <p:cNvSpPr txBox="1"/>
          <p:nvPr/>
        </p:nvSpPr>
        <p:spPr>
          <a:xfrm>
            <a:off x="8458200" y="384048"/>
            <a:ext cx="3273552" cy="384048"/>
          </a:xfrm>
          <a:prstGeom prst="rect">
            <a:avLst/>
          </a:prstGeom>
          <a:noFill/>
          <a:ln/>
        </p:spPr>
        <p:txBody>
          <a:bodyPr wrap="square" lIns="0" tIns="0" rIns="0" bIns="0" rtlCol="0" anchor="ctr"/>
          <a:lstStyle/>
          <a:p>
            <a:pPr algn="r" indent="0" marL="0">
              <a:buNone/>
            </a:pPr>
            <a:r>
              <a:rPr lang="en-US" sz="1200" dirty="0">
                <a:solidFill>
                  <a:srgbClr val="64748B"/>
                </a:solidFill>
                <a:latin typeface="Calibri" pitchFamily="34" charset="0"/>
                <a:ea typeface="Calibri" pitchFamily="34" charset="-122"/>
                <a:cs typeface="Calibri" pitchFamily="34" charset="-120"/>
              </a:rPr>
              <a:t>SOC Technology  |  EDR · NDR</a:t>
            </a:r>
            <a:endParaRPr lang="en-US" sz="1200" dirty="0"/>
          </a:p>
        </p:txBody>
      </p:sp>
      <p:sp>
        <p:nvSpPr>
          <p:cNvPr id="6" name="Text 3"/>
          <p:cNvSpPr txBox="1"/>
          <p:nvPr/>
        </p:nvSpPr>
        <p:spPr>
          <a:xfrm>
            <a:off x="457200" y="932688"/>
            <a:ext cx="11274552" cy="310896"/>
          </a:xfrm>
          <a:prstGeom prst="rect">
            <a:avLst/>
          </a:prstGeom>
          <a:noFill/>
          <a:ln/>
        </p:spPr>
        <p:txBody>
          <a:bodyPr wrap="square" lIns="0" tIns="0" rIns="0" bIns="0" rtlCol="0" anchor="ctr"/>
          <a:lstStyle/>
          <a:p>
            <a:pPr indent="0" marL="0">
              <a:buNone/>
            </a:pPr>
            <a:r>
              <a:rPr lang="en-US" sz="1500" dirty="0">
                <a:solidFill>
                  <a:srgbClr val="64748B"/>
                </a:solidFill>
                <a:latin typeface="Calibri" pitchFamily="34" charset="0"/>
                <a:ea typeface="Calibri" pitchFamily="34" charset="-122"/>
                <a:cs typeface="Calibri" pitchFamily="34" charset="-120"/>
              </a:rPr>
              <a:t>Endpoint and network detection coverage across the estate</a:t>
            </a:r>
            <a:endParaRPr lang="en-US" sz="1500" dirty="0"/>
          </a:p>
        </p:txBody>
      </p:sp>
      <p:sp>
        <p:nvSpPr>
          <p:cNvPr id="7" name="Shape 4"/>
          <p:cNvSpPr/>
          <p:nvPr/>
        </p:nvSpPr>
        <p:spPr>
          <a:xfrm>
            <a:off x="8686800" y="1024128"/>
            <a:ext cx="128016" cy="128016"/>
          </a:xfrm>
          <a:prstGeom prst="ellipse">
            <a:avLst/>
          </a:prstGeom>
          <a:solidFill>
            <a:srgbClr val="3DBE8B"/>
          </a:solidFill>
          <a:ln/>
        </p:spPr>
      </p:sp>
      <p:sp>
        <p:nvSpPr>
          <p:cNvPr id="8" name="Text 5"/>
          <p:cNvSpPr txBox="1"/>
          <p:nvPr/>
        </p:nvSpPr>
        <p:spPr>
          <a:xfrm>
            <a:off x="8869680" y="932688"/>
            <a:ext cx="822960" cy="310896"/>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 90%</a:t>
            </a:r>
            <a:endParaRPr lang="en-US" sz="1100" dirty="0"/>
          </a:p>
        </p:txBody>
      </p:sp>
      <p:sp>
        <p:nvSpPr>
          <p:cNvPr id="9" name="Shape 6"/>
          <p:cNvSpPr/>
          <p:nvPr/>
        </p:nvSpPr>
        <p:spPr>
          <a:xfrm>
            <a:off x="9710928" y="1024128"/>
            <a:ext cx="128016" cy="128016"/>
          </a:xfrm>
          <a:prstGeom prst="ellipse">
            <a:avLst/>
          </a:prstGeom>
          <a:solidFill>
            <a:srgbClr val="E8A13D"/>
          </a:solidFill>
          <a:ln/>
        </p:spPr>
      </p:sp>
      <p:sp>
        <p:nvSpPr>
          <p:cNvPr id="10" name="Text 7"/>
          <p:cNvSpPr txBox="1"/>
          <p:nvPr/>
        </p:nvSpPr>
        <p:spPr>
          <a:xfrm>
            <a:off x="9893808" y="932688"/>
            <a:ext cx="822960" cy="310896"/>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70–89%</a:t>
            </a:r>
            <a:endParaRPr lang="en-US" sz="1100" dirty="0"/>
          </a:p>
        </p:txBody>
      </p:sp>
      <p:sp>
        <p:nvSpPr>
          <p:cNvPr id="11" name="Shape 8"/>
          <p:cNvSpPr/>
          <p:nvPr/>
        </p:nvSpPr>
        <p:spPr>
          <a:xfrm>
            <a:off x="10735056" y="1024128"/>
            <a:ext cx="128016" cy="128016"/>
          </a:xfrm>
          <a:prstGeom prst="ellipse">
            <a:avLst/>
          </a:prstGeom>
          <a:solidFill>
            <a:srgbClr val="D9412B"/>
          </a:solidFill>
          <a:ln/>
        </p:spPr>
      </p:sp>
      <p:sp>
        <p:nvSpPr>
          <p:cNvPr id="12" name="Text 9"/>
          <p:cNvSpPr txBox="1"/>
          <p:nvPr/>
        </p:nvSpPr>
        <p:spPr>
          <a:xfrm>
            <a:off x="10917936" y="932688"/>
            <a:ext cx="822960" cy="310896"/>
          </a:xfrm>
          <a:prstGeom prst="rect">
            <a:avLst/>
          </a:prstGeom>
          <a:noFill/>
          <a:ln/>
        </p:spPr>
        <p:txBody>
          <a:bodyPr wrap="square" lIns="0" tIns="0" rIns="0" bIns="0" rtlCol="0" anchor="ctr"/>
          <a:lstStyle/>
          <a:p>
            <a:pPr indent="0" marL="0">
              <a:buNone/>
            </a:pPr>
            <a:r>
              <a:rPr lang="en-US" sz="1100" dirty="0">
                <a:solidFill>
                  <a:srgbClr val="64748B"/>
                </a:solidFill>
                <a:latin typeface="Calibri" pitchFamily="34" charset="0"/>
                <a:ea typeface="Calibri" pitchFamily="34" charset="-122"/>
                <a:cs typeface="Calibri" pitchFamily="34" charset="-120"/>
              </a:rPr>
              <a:t>&lt; 70%</a:t>
            </a:r>
            <a:endParaRPr lang="en-US" sz="1100" dirty="0"/>
          </a:p>
        </p:txBody>
      </p:sp>
      <p:sp>
        <p:nvSpPr>
          <p:cNvPr id="13" name="Shape 10"/>
          <p:cNvSpPr/>
          <p:nvPr/>
        </p:nvSpPr>
        <p:spPr>
          <a:xfrm>
            <a:off x="457200" y="1463040"/>
            <a:ext cx="5486400" cy="4526280"/>
          </a:xfrm>
          <a:prstGeom prst="roundRect">
            <a:avLst>
              <a:gd name="adj" fmla="val 1414"/>
            </a:avLst>
          </a:prstGeom>
          <a:solidFill>
            <a:srgbClr val="F4F7FC"/>
          </a:solidFill>
          <a:ln w="9525">
            <a:solidFill>
              <a:srgbClr val="DCE3EE"/>
            </a:solidFill>
            <a:prstDash val="solid"/>
          </a:ln>
        </p:spPr>
      </p:sp>
      <p:sp>
        <p:nvSpPr>
          <p:cNvPr id="14" name="Shape 11"/>
          <p:cNvSpPr/>
          <p:nvPr/>
        </p:nvSpPr>
        <p:spPr>
          <a:xfrm>
            <a:off x="731520" y="1691640"/>
            <a:ext cx="512064" cy="512064"/>
          </a:xfrm>
          <a:prstGeom prst="ellipse">
            <a:avLst/>
          </a:prstGeom>
          <a:solidFill>
            <a:srgbClr val="1B2A4A"/>
          </a:solidFill>
          <a:ln/>
        </p:spPr>
      </p:sp>
      <p:pic>
        <p:nvPicPr>
          <p:cNvPr id="15" name="Image 1" descr="preencoded.png">    </p:cNvPr>
          <p:cNvPicPr>
            <a:picLocks noChangeAspect="1"/>
          </p:cNvPicPr>
          <p:nvPr/>
        </p:nvPicPr>
        <p:blipFill>
          <a:blip r:embed="rId2"/>
          <a:stretch>
            <a:fillRect/>
          </a:stretch>
        </p:blipFill>
        <p:spPr>
          <a:xfrm>
            <a:off x="859536" y="1819656"/>
            <a:ext cx="256032" cy="256032"/>
          </a:xfrm>
          <a:prstGeom prst="rect">
            <a:avLst/>
          </a:prstGeom>
        </p:spPr>
      </p:pic>
      <p:sp>
        <p:nvSpPr>
          <p:cNvPr id="16" name="Text 12"/>
          <p:cNvSpPr txBox="1"/>
          <p:nvPr/>
        </p:nvSpPr>
        <p:spPr>
          <a:xfrm>
            <a:off x="1371600" y="1691640"/>
            <a:ext cx="4297680" cy="512064"/>
          </a:xfrm>
          <a:prstGeom prst="rect">
            <a:avLst/>
          </a:prstGeom>
          <a:noFill/>
          <a:ln/>
        </p:spPr>
        <p:txBody>
          <a:bodyPr wrap="square" lIns="0" tIns="0" rIns="0" bIns="0" rtlCol="0" anchor="ctr"/>
          <a:lstStyle/>
          <a:p>
            <a:pPr indent="0" marL="0">
              <a:buNone/>
            </a:pPr>
            <a:r>
              <a:rPr lang="en-US" sz="1900" b="1" dirty="0">
                <a:solidFill>
                  <a:srgbClr val="1B2A4A"/>
                </a:solidFill>
                <a:latin typeface="Calibri" pitchFamily="34" charset="0"/>
                <a:ea typeface="Calibri" pitchFamily="34" charset="-122"/>
                <a:cs typeface="Calibri" pitchFamily="34" charset="-120"/>
              </a:rPr>
              <a:t>EDR</a:t>
            </a:r>
            <a:pPr indent="0" marL="0">
              <a:buNone/>
            </a:pPr>
            <a:r>
              <a:rPr lang="en-US" sz="1300" dirty="0">
                <a:solidFill>
                  <a:srgbClr val="64748B"/>
                </a:solidFill>
                <a:latin typeface="Calibri" pitchFamily="34" charset="0"/>
                <a:ea typeface="Calibri" pitchFamily="34" charset="-122"/>
                <a:cs typeface="Calibri" pitchFamily="34" charset="-120"/>
              </a:rPr>
              <a:t>   Carbon Black</a:t>
            </a:r>
            <a:endParaRPr lang="en-US" sz="1900" dirty="0"/>
          </a:p>
        </p:txBody>
      </p:sp>
      <p:sp>
        <p:nvSpPr>
          <p:cNvPr id="17" name="Text 13"/>
          <p:cNvSpPr txBox="1"/>
          <p:nvPr/>
        </p:nvSpPr>
        <p:spPr>
          <a:xfrm>
            <a:off x="731520" y="2377440"/>
            <a:ext cx="2377440" cy="274320"/>
          </a:xfrm>
          <a:prstGeom prst="rect">
            <a:avLst/>
          </a:prstGeom>
          <a:noFill/>
          <a:ln/>
        </p:spPr>
        <p:txBody>
          <a:bodyPr wrap="square" lIns="0" tIns="0" rIns="0" bIns="0" rtlCol="0" anchor="ctr"/>
          <a:lstStyle/>
          <a:p>
            <a:pPr algn="ctr" indent="0" marL="0">
              <a:buNone/>
            </a:pPr>
            <a:r>
              <a:rPr lang="en-US" sz="1300" b="1" dirty="0">
                <a:solidFill>
                  <a:srgbClr val="1B2A4A"/>
                </a:solidFill>
                <a:latin typeface="Calibri" pitchFamily="34" charset="0"/>
                <a:ea typeface="Calibri" pitchFamily="34" charset="-122"/>
                <a:cs typeface="Calibri" pitchFamily="34" charset="-120"/>
              </a:rPr>
              <a:t>Coverage status</a:t>
            </a:r>
            <a:endParaRPr lang="en-US" sz="1300" dirty="0"/>
          </a:p>
        </p:txBody>
      </p:sp>
      <p:graphicFrame>
        <p:nvGraphicFramePr>
          <p:cNvPr id="18" name="Chart 0" descr=""/>
          <p:cNvGraphicFramePr/>
          <p:nvPr/>
        </p:nvGraphicFramePr>
        <p:xfrm>
          <a:off x="1015365" y="2752725"/>
          <a:ext cx="1809750" cy="1809750"/>
        </p:xfrm>
        <a:graphic xmlns:a="http://schemas.openxmlformats.org/drawingml/2006/main">
          <a:graphicData uri="http://schemas.openxmlformats.org/drawingml/2006/chart">
            <c:chart xmlns:c="http://schemas.openxmlformats.org/drawingml/2006/chart" r:id="rId3"/>
          </a:graphicData>
        </a:graphic>
      </p:graphicFrame>
      <p:sp>
        <p:nvSpPr>
          <p:cNvPr id="19" name="Text 14"/>
          <p:cNvSpPr txBox="1"/>
          <p:nvPr/>
        </p:nvSpPr>
        <p:spPr>
          <a:xfrm>
            <a:off x="960120" y="3675888"/>
            <a:ext cx="411480" cy="201168"/>
          </a:xfrm>
          <a:prstGeom prst="rect">
            <a:avLst/>
          </a:prstGeom>
          <a:noFill/>
          <a:ln/>
        </p:spPr>
        <p:txBody>
          <a:bodyPr wrap="square" lIns="0" tIns="0" rIns="0" bIns="0" rtlCol="0" anchor="t"/>
          <a:lstStyle/>
          <a:p>
            <a:pPr algn="ctr" indent="0" marL="0">
              <a:buNone/>
            </a:pPr>
            <a:r>
              <a:rPr lang="en-US" sz="1000" b="1" dirty="0">
                <a:solidFill>
                  <a:srgbClr val="94A0B8"/>
                </a:solidFill>
                <a:latin typeface="Calibri" pitchFamily="34" charset="0"/>
                <a:ea typeface="Calibri" pitchFamily="34" charset="-122"/>
                <a:cs typeface="Calibri" pitchFamily="34" charset="-120"/>
              </a:rPr>
              <a:t>0</a:t>
            </a:r>
            <a:endParaRPr lang="en-US" sz="1000" dirty="0"/>
          </a:p>
        </p:txBody>
      </p:sp>
      <p:sp>
        <p:nvSpPr>
          <p:cNvPr id="20" name="Text 15"/>
          <p:cNvSpPr txBox="1"/>
          <p:nvPr/>
        </p:nvSpPr>
        <p:spPr>
          <a:xfrm>
            <a:off x="2468880" y="3675888"/>
            <a:ext cx="411480" cy="201168"/>
          </a:xfrm>
          <a:prstGeom prst="rect">
            <a:avLst/>
          </a:prstGeom>
          <a:noFill/>
          <a:ln/>
        </p:spPr>
        <p:txBody>
          <a:bodyPr wrap="square" lIns="0" tIns="0" rIns="0" bIns="0" rtlCol="0" anchor="t"/>
          <a:lstStyle/>
          <a:p>
            <a:pPr algn="ctr" indent="0" marL="0">
              <a:buNone/>
            </a:pPr>
            <a:r>
              <a:rPr lang="en-US" sz="1000" b="1" dirty="0">
                <a:solidFill>
                  <a:srgbClr val="94A0B8"/>
                </a:solidFill>
                <a:latin typeface="Calibri" pitchFamily="34" charset="0"/>
                <a:ea typeface="Calibri" pitchFamily="34" charset="-122"/>
                <a:cs typeface="Calibri" pitchFamily="34" charset="-120"/>
              </a:rPr>
              <a:t>100</a:t>
            </a:r>
            <a:endParaRPr lang="en-US" sz="1000" dirty="0"/>
          </a:p>
        </p:txBody>
      </p:sp>
      <p:sp>
        <p:nvSpPr>
          <p:cNvPr id="21" name="Text 16"/>
          <p:cNvSpPr txBox="1"/>
          <p:nvPr/>
        </p:nvSpPr>
        <p:spPr>
          <a:xfrm>
            <a:off x="731520" y="3950208"/>
            <a:ext cx="2377440" cy="457200"/>
          </a:xfrm>
          <a:prstGeom prst="rect">
            <a:avLst/>
          </a:prstGeom>
          <a:noFill/>
          <a:ln/>
        </p:spPr>
        <p:txBody>
          <a:bodyPr wrap="square" lIns="0" tIns="0" rIns="0" bIns="0" rtlCol="0" anchor="t"/>
          <a:lstStyle/>
          <a:p>
            <a:pPr algn="ctr" indent="0" marL="0">
              <a:buNone/>
            </a:pPr>
            <a:r>
              <a:rPr lang="en-US" sz="1100" dirty="0">
                <a:solidFill>
                  <a:srgbClr val="64748B"/>
                </a:solidFill>
                <a:latin typeface="Calibri" pitchFamily="34" charset="0"/>
                <a:ea typeface="Calibri" pitchFamily="34" charset="-122"/>
                <a:cs typeface="Calibri" pitchFamily="34" charset="-120"/>
              </a:rPr>
              <a:t>Endpoints and servers with sensor installed</a:t>
            </a:r>
            <a:endParaRPr lang="en-US" sz="1100" dirty="0"/>
          </a:p>
        </p:txBody>
      </p:sp>
      <p:sp>
        <p:nvSpPr>
          <p:cNvPr id="22" name="Shape 17"/>
          <p:cNvSpPr/>
          <p:nvPr/>
        </p:nvSpPr>
        <p:spPr>
          <a:xfrm>
            <a:off x="3383280" y="2377440"/>
            <a:ext cx="2286000" cy="896112"/>
          </a:xfrm>
          <a:prstGeom prst="roundRect">
            <a:avLst>
              <a:gd name="adj" fmla="val 8163"/>
            </a:avLst>
          </a:prstGeom>
          <a:solidFill>
            <a:srgbClr val="FFFFFF"/>
          </a:solidFill>
          <a:ln/>
        </p:spPr>
      </p:sp>
      <p:sp>
        <p:nvSpPr>
          <p:cNvPr id="23" name="Text 18"/>
          <p:cNvSpPr txBox="1"/>
          <p:nvPr/>
        </p:nvSpPr>
        <p:spPr>
          <a:xfrm>
            <a:off x="3547872" y="2377440"/>
            <a:ext cx="2057400" cy="896112"/>
          </a:xfrm>
          <a:prstGeom prst="rect">
            <a:avLst/>
          </a:prstGeom>
          <a:noFill/>
          <a:ln/>
        </p:spPr>
        <p:txBody>
          <a:bodyPr wrap="square" lIns="0" tIns="0" rIns="0" bIns="0" rtlCol="0" anchor="ctr"/>
          <a:lstStyle/>
          <a:p>
            <a:pPr indent="0" marL="0">
              <a:buNone/>
            </a:pPr>
            <a:r>
              <a:rPr lang="en-US" sz="2400" b="1" dirty="0">
                <a:solidFill>
                  <a:srgbClr val="B97A1F"/>
                </a:solidFill>
                <a:latin typeface="Calibri" pitchFamily="34" charset="0"/>
                <a:ea typeface="Calibri" pitchFamily="34" charset="-122"/>
                <a:cs typeface="Calibri" pitchFamily="34" charset="-120"/>
              </a:rPr>
              <a:t>XX</a:t>
            </a:r>
            <a:endParaRPr lang="en-US" sz="2400" dirty="0"/>
          </a:p>
          <a:p>
            <a:pPr indent="0" marL="0">
              <a:buNone/>
            </a:pPr>
            <a:r>
              <a:rPr lang="en-US" sz="1100" dirty="0">
                <a:solidFill>
                  <a:srgbClr val="64748B"/>
                </a:solidFill>
                <a:latin typeface="Calibri" pitchFamily="34" charset="0"/>
                <a:ea typeface="Calibri" pitchFamily="34" charset="-122"/>
                <a:cs typeface="Calibri" pitchFamily="34" charset="-120"/>
              </a:rPr>
              <a:t>Assets with sensor</a:t>
            </a:r>
            <a:endParaRPr lang="en-US" sz="2400" dirty="0"/>
          </a:p>
        </p:txBody>
      </p:sp>
      <p:sp>
        <p:nvSpPr>
          <p:cNvPr id="24" name="Shape 19"/>
          <p:cNvSpPr/>
          <p:nvPr/>
        </p:nvSpPr>
        <p:spPr>
          <a:xfrm>
            <a:off x="3383280" y="3401568"/>
            <a:ext cx="2286000" cy="896112"/>
          </a:xfrm>
          <a:prstGeom prst="roundRect">
            <a:avLst>
              <a:gd name="adj" fmla="val 8163"/>
            </a:avLst>
          </a:prstGeom>
          <a:solidFill>
            <a:srgbClr val="FFFFFF"/>
          </a:solidFill>
          <a:ln/>
        </p:spPr>
      </p:sp>
      <p:sp>
        <p:nvSpPr>
          <p:cNvPr id="25" name="Text 20"/>
          <p:cNvSpPr txBox="1"/>
          <p:nvPr/>
        </p:nvSpPr>
        <p:spPr>
          <a:xfrm>
            <a:off x="3547872" y="3401568"/>
            <a:ext cx="2057400" cy="896112"/>
          </a:xfrm>
          <a:prstGeom prst="rect">
            <a:avLst/>
          </a:prstGeom>
          <a:noFill/>
          <a:ln/>
        </p:spPr>
        <p:txBody>
          <a:bodyPr wrap="square" lIns="0" tIns="0" rIns="0" bIns="0" rtlCol="0" anchor="ctr"/>
          <a:lstStyle/>
          <a:p>
            <a:pPr indent="0" marL="0">
              <a:buNone/>
            </a:pPr>
            <a:r>
              <a:rPr lang="en-US" sz="2400" b="1" dirty="0">
                <a:solidFill>
                  <a:srgbClr val="2E8B57"/>
                </a:solidFill>
                <a:latin typeface="Calibri" pitchFamily="34" charset="0"/>
                <a:ea typeface="Calibri" pitchFamily="34" charset="-122"/>
                <a:cs typeface="Calibri" pitchFamily="34" charset="-120"/>
              </a:rPr>
              <a:t>3</a:t>
            </a:r>
            <a:endParaRPr lang="en-US" sz="2400" dirty="0"/>
          </a:p>
          <a:p>
            <a:pPr indent="0" marL="0">
              <a:buNone/>
            </a:pPr>
            <a:r>
              <a:rPr lang="en-US" sz="1100" dirty="0">
                <a:solidFill>
                  <a:srgbClr val="64748B"/>
                </a:solidFill>
                <a:latin typeface="Calibri" pitchFamily="34" charset="0"/>
                <a:ea typeface="Calibri" pitchFamily="34" charset="-122"/>
                <a:cs typeface="Calibri" pitchFamily="34" charset="-120"/>
              </a:rPr>
              <a:t>Alerts per day after tuning</a:t>
            </a:r>
            <a:endParaRPr lang="en-US" sz="2400" dirty="0"/>
          </a:p>
        </p:txBody>
      </p:sp>
      <p:sp>
        <p:nvSpPr>
          <p:cNvPr id="26" name="Text 21"/>
          <p:cNvSpPr txBox="1"/>
          <p:nvPr/>
        </p:nvSpPr>
        <p:spPr>
          <a:xfrm>
            <a:off x="731520" y="4800600"/>
            <a:ext cx="4206240" cy="256032"/>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Licence utilisation</a:t>
            </a:r>
            <a:endParaRPr lang="en-US" sz="1300" dirty="0"/>
          </a:p>
        </p:txBody>
      </p:sp>
      <p:sp>
        <p:nvSpPr>
          <p:cNvPr id="27" name="Text 22"/>
          <p:cNvSpPr txBox="1"/>
          <p:nvPr/>
        </p:nvSpPr>
        <p:spPr>
          <a:xfrm>
            <a:off x="4937760" y="4800600"/>
            <a:ext cx="731520" cy="256032"/>
          </a:xfrm>
          <a:prstGeom prst="rect">
            <a:avLst/>
          </a:prstGeom>
          <a:noFill/>
          <a:ln/>
        </p:spPr>
        <p:txBody>
          <a:bodyPr wrap="square" lIns="0" tIns="0" rIns="0" bIns="0" rtlCol="0" anchor="ctr"/>
          <a:lstStyle/>
          <a:p>
            <a:pPr algn="r" indent="0" marL="0">
              <a:buNone/>
            </a:pPr>
            <a:r>
              <a:rPr lang="en-US" sz="1400" b="1" dirty="0">
                <a:solidFill>
                  <a:srgbClr val="B97A1F"/>
                </a:solidFill>
                <a:latin typeface="Calibri" pitchFamily="34" charset="0"/>
                <a:ea typeface="Calibri" pitchFamily="34" charset="-122"/>
                <a:cs typeface="Calibri" pitchFamily="34" charset="-120"/>
              </a:rPr>
              <a:t>XX%</a:t>
            </a:r>
            <a:endParaRPr lang="en-US" sz="1400" dirty="0"/>
          </a:p>
        </p:txBody>
      </p:sp>
      <p:sp>
        <p:nvSpPr>
          <p:cNvPr id="28" name="Shape 23"/>
          <p:cNvSpPr/>
          <p:nvPr/>
        </p:nvSpPr>
        <p:spPr>
          <a:xfrm>
            <a:off x="731520" y="5129784"/>
            <a:ext cx="4937760" cy="182880"/>
          </a:xfrm>
          <a:prstGeom prst="roundRect">
            <a:avLst>
              <a:gd name="adj" fmla="val 50000"/>
            </a:avLst>
          </a:prstGeom>
          <a:solidFill>
            <a:srgbClr val="DDE3EE"/>
          </a:solidFill>
          <a:ln/>
        </p:spPr>
      </p:sp>
      <p:sp>
        <p:nvSpPr>
          <p:cNvPr id="29" name="Shape 24"/>
          <p:cNvSpPr/>
          <p:nvPr/>
        </p:nvSpPr>
        <p:spPr>
          <a:xfrm>
            <a:off x="731520" y="5129784"/>
            <a:ext cx="2468880" cy="182880"/>
          </a:xfrm>
          <a:prstGeom prst="roundRect">
            <a:avLst>
              <a:gd name="adj" fmla="val 50000"/>
            </a:avLst>
          </a:prstGeom>
          <a:solidFill>
            <a:srgbClr val="F3D9A8"/>
          </a:solidFill>
          <a:ln/>
        </p:spPr>
      </p:sp>
      <p:sp>
        <p:nvSpPr>
          <p:cNvPr id="30" name="Text 25"/>
          <p:cNvSpPr txBox="1"/>
          <p:nvPr/>
        </p:nvSpPr>
        <p:spPr>
          <a:xfrm>
            <a:off x="731520" y="5367528"/>
            <a:ext cx="4937760" cy="237744"/>
          </a:xfrm>
          <a:prstGeom prst="rect">
            <a:avLst/>
          </a:prstGeom>
          <a:noFill/>
          <a:ln/>
        </p:spPr>
        <p:txBody>
          <a:bodyPr wrap="square" lIns="0" tIns="0" rIns="0" bIns="0" rtlCol="0" anchor="ctr"/>
          <a:lstStyle/>
          <a:p>
            <a:pPr indent="0" marL="0">
              <a:buNone/>
            </a:pPr>
            <a:r>
              <a:rPr lang="en-US" sz="1100" dirty="0">
                <a:solidFill>
                  <a:srgbClr val="B97A1F"/>
                </a:solidFill>
                <a:latin typeface="Calibri" pitchFamily="34" charset="0"/>
                <a:ea typeface="Calibri" pitchFamily="34" charset="-122"/>
                <a:cs typeface="Calibri" pitchFamily="34" charset="-120"/>
              </a:rPr>
              <a:t>XX of XX endpoint licences in use</a:t>
            </a:r>
            <a:endParaRPr lang="en-US" sz="1100" dirty="0"/>
          </a:p>
        </p:txBody>
      </p:sp>
      <p:sp>
        <p:nvSpPr>
          <p:cNvPr id="31" name="Shape 26"/>
          <p:cNvSpPr/>
          <p:nvPr/>
        </p:nvSpPr>
        <p:spPr>
          <a:xfrm>
            <a:off x="6245352" y="1463040"/>
            <a:ext cx="5486400" cy="4526280"/>
          </a:xfrm>
          <a:prstGeom prst="roundRect">
            <a:avLst>
              <a:gd name="adj" fmla="val 1414"/>
            </a:avLst>
          </a:prstGeom>
          <a:solidFill>
            <a:srgbClr val="F4F7FC"/>
          </a:solidFill>
          <a:ln w="9525">
            <a:solidFill>
              <a:srgbClr val="DCE3EE"/>
            </a:solidFill>
            <a:prstDash val="solid"/>
          </a:ln>
        </p:spPr>
      </p:sp>
      <p:sp>
        <p:nvSpPr>
          <p:cNvPr id="32" name="Shape 27"/>
          <p:cNvSpPr/>
          <p:nvPr/>
        </p:nvSpPr>
        <p:spPr>
          <a:xfrm>
            <a:off x="6519672" y="1691640"/>
            <a:ext cx="512064" cy="512064"/>
          </a:xfrm>
          <a:prstGeom prst="ellipse">
            <a:avLst/>
          </a:prstGeom>
          <a:solidFill>
            <a:srgbClr val="1B2A4A"/>
          </a:solidFill>
          <a:ln/>
        </p:spPr>
      </p:sp>
      <p:pic>
        <p:nvPicPr>
          <p:cNvPr id="33" name="Image 2" descr="preencoded.png">    </p:cNvPr>
          <p:cNvPicPr>
            <a:picLocks noChangeAspect="1"/>
          </p:cNvPicPr>
          <p:nvPr/>
        </p:nvPicPr>
        <p:blipFill>
          <a:blip r:embed="rId4"/>
          <a:stretch>
            <a:fillRect/>
          </a:stretch>
        </p:blipFill>
        <p:spPr>
          <a:xfrm>
            <a:off x="6647688" y="1819656"/>
            <a:ext cx="256032" cy="256032"/>
          </a:xfrm>
          <a:prstGeom prst="rect">
            <a:avLst/>
          </a:prstGeom>
        </p:spPr>
      </p:pic>
      <p:sp>
        <p:nvSpPr>
          <p:cNvPr id="34" name="Text 28"/>
          <p:cNvSpPr txBox="1"/>
          <p:nvPr/>
        </p:nvSpPr>
        <p:spPr>
          <a:xfrm>
            <a:off x="7159752" y="1691640"/>
            <a:ext cx="4297680" cy="512064"/>
          </a:xfrm>
          <a:prstGeom prst="rect">
            <a:avLst/>
          </a:prstGeom>
          <a:noFill/>
          <a:ln/>
        </p:spPr>
        <p:txBody>
          <a:bodyPr wrap="square" lIns="0" tIns="0" rIns="0" bIns="0" rtlCol="0" anchor="ctr"/>
          <a:lstStyle/>
          <a:p>
            <a:pPr indent="0" marL="0">
              <a:buNone/>
            </a:pPr>
            <a:r>
              <a:rPr lang="en-US" sz="1900" b="1" dirty="0">
                <a:solidFill>
                  <a:srgbClr val="1B2A4A"/>
                </a:solidFill>
                <a:latin typeface="Calibri" pitchFamily="34" charset="0"/>
                <a:ea typeface="Calibri" pitchFamily="34" charset="-122"/>
                <a:cs typeface="Calibri" pitchFamily="34" charset="-120"/>
              </a:rPr>
              <a:t>NDR</a:t>
            </a:r>
            <a:pPr indent="0" marL="0">
              <a:buNone/>
            </a:pPr>
            <a:r>
              <a:rPr lang="en-US" sz="1300" dirty="0">
                <a:solidFill>
                  <a:srgbClr val="B97A1F"/>
                </a:solidFill>
                <a:latin typeface="Calibri" pitchFamily="34" charset="0"/>
                <a:ea typeface="Calibri" pitchFamily="34" charset="-122"/>
                <a:cs typeface="Calibri" pitchFamily="34" charset="-120"/>
              </a:rPr>
              <a:t>   [NDR platform]</a:t>
            </a:r>
            <a:endParaRPr lang="en-US" sz="1900" dirty="0"/>
          </a:p>
        </p:txBody>
      </p:sp>
      <p:sp>
        <p:nvSpPr>
          <p:cNvPr id="35" name="Text 29"/>
          <p:cNvSpPr txBox="1"/>
          <p:nvPr/>
        </p:nvSpPr>
        <p:spPr>
          <a:xfrm>
            <a:off x="6519672" y="2377440"/>
            <a:ext cx="2377440" cy="274320"/>
          </a:xfrm>
          <a:prstGeom prst="rect">
            <a:avLst/>
          </a:prstGeom>
          <a:noFill/>
          <a:ln/>
        </p:spPr>
        <p:txBody>
          <a:bodyPr wrap="square" lIns="0" tIns="0" rIns="0" bIns="0" rtlCol="0" anchor="ctr"/>
          <a:lstStyle/>
          <a:p>
            <a:pPr algn="ctr" indent="0" marL="0">
              <a:buNone/>
            </a:pPr>
            <a:r>
              <a:rPr lang="en-US" sz="1300" b="1" dirty="0">
                <a:solidFill>
                  <a:srgbClr val="1B2A4A"/>
                </a:solidFill>
                <a:latin typeface="Calibri" pitchFamily="34" charset="0"/>
                <a:ea typeface="Calibri" pitchFamily="34" charset="-122"/>
                <a:cs typeface="Calibri" pitchFamily="34" charset="-120"/>
              </a:rPr>
              <a:t>Coverage status</a:t>
            </a:r>
            <a:endParaRPr lang="en-US" sz="1300" dirty="0"/>
          </a:p>
        </p:txBody>
      </p:sp>
      <p:graphicFrame>
        <p:nvGraphicFramePr>
          <p:cNvPr id="36" name="Chart 1" descr=""/>
          <p:cNvGraphicFramePr/>
          <p:nvPr/>
        </p:nvGraphicFramePr>
        <p:xfrm>
          <a:off x="6803517" y="2752725"/>
          <a:ext cx="1809750" cy="1809750"/>
        </p:xfrm>
        <a:graphic xmlns:a="http://schemas.openxmlformats.org/drawingml/2006/main">
          <a:graphicData uri="http://schemas.openxmlformats.org/drawingml/2006/chart">
            <c:chart xmlns:c="http://schemas.openxmlformats.org/drawingml/2006/chart" r:id="rId5"/>
          </a:graphicData>
        </a:graphic>
      </p:graphicFrame>
      <p:sp>
        <p:nvSpPr>
          <p:cNvPr id="37" name="Text 30"/>
          <p:cNvSpPr txBox="1"/>
          <p:nvPr/>
        </p:nvSpPr>
        <p:spPr>
          <a:xfrm>
            <a:off x="6748272" y="3675888"/>
            <a:ext cx="411480" cy="201168"/>
          </a:xfrm>
          <a:prstGeom prst="rect">
            <a:avLst/>
          </a:prstGeom>
          <a:noFill/>
          <a:ln/>
        </p:spPr>
        <p:txBody>
          <a:bodyPr wrap="square" lIns="0" tIns="0" rIns="0" bIns="0" rtlCol="0" anchor="t"/>
          <a:lstStyle/>
          <a:p>
            <a:pPr algn="ctr" indent="0" marL="0">
              <a:buNone/>
            </a:pPr>
            <a:r>
              <a:rPr lang="en-US" sz="1000" b="1" dirty="0">
                <a:solidFill>
                  <a:srgbClr val="94A0B8"/>
                </a:solidFill>
                <a:latin typeface="Calibri" pitchFamily="34" charset="0"/>
                <a:ea typeface="Calibri" pitchFamily="34" charset="-122"/>
                <a:cs typeface="Calibri" pitchFamily="34" charset="-120"/>
              </a:rPr>
              <a:t>0</a:t>
            </a:r>
            <a:endParaRPr lang="en-US" sz="1000" dirty="0"/>
          </a:p>
        </p:txBody>
      </p:sp>
      <p:sp>
        <p:nvSpPr>
          <p:cNvPr id="38" name="Text 31"/>
          <p:cNvSpPr txBox="1"/>
          <p:nvPr/>
        </p:nvSpPr>
        <p:spPr>
          <a:xfrm>
            <a:off x="8257032" y="3675888"/>
            <a:ext cx="411480" cy="201168"/>
          </a:xfrm>
          <a:prstGeom prst="rect">
            <a:avLst/>
          </a:prstGeom>
          <a:noFill/>
          <a:ln/>
        </p:spPr>
        <p:txBody>
          <a:bodyPr wrap="square" lIns="0" tIns="0" rIns="0" bIns="0" rtlCol="0" anchor="t"/>
          <a:lstStyle/>
          <a:p>
            <a:pPr algn="ctr" indent="0" marL="0">
              <a:buNone/>
            </a:pPr>
            <a:r>
              <a:rPr lang="en-US" sz="1000" b="1" dirty="0">
                <a:solidFill>
                  <a:srgbClr val="94A0B8"/>
                </a:solidFill>
                <a:latin typeface="Calibri" pitchFamily="34" charset="0"/>
                <a:ea typeface="Calibri" pitchFamily="34" charset="-122"/>
                <a:cs typeface="Calibri" pitchFamily="34" charset="-120"/>
              </a:rPr>
              <a:t>100</a:t>
            </a:r>
            <a:endParaRPr lang="en-US" sz="1000" dirty="0"/>
          </a:p>
        </p:txBody>
      </p:sp>
      <p:sp>
        <p:nvSpPr>
          <p:cNvPr id="39" name="Text 32"/>
          <p:cNvSpPr txBox="1"/>
          <p:nvPr/>
        </p:nvSpPr>
        <p:spPr>
          <a:xfrm>
            <a:off x="6519672" y="3950208"/>
            <a:ext cx="2377440" cy="457200"/>
          </a:xfrm>
          <a:prstGeom prst="rect">
            <a:avLst/>
          </a:prstGeom>
          <a:noFill/>
          <a:ln/>
        </p:spPr>
        <p:txBody>
          <a:bodyPr wrap="square" lIns="0" tIns="0" rIns="0" bIns="0" rtlCol="0" anchor="t"/>
          <a:lstStyle/>
          <a:p>
            <a:pPr algn="ctr" indent="0" marL="0">
              <a:buNone/>
            </a:pPr>
            <a:r>
              <a:rPr lang="en-US" sz="1100" dirty="0">
                <a:solidFill>
                  <a:srgbClr val="64748B"/>
                </a:solidFill>
                <a:latin typeface="Calibri" pitchFamily="34" charset="0"/>
                <a:ea typeface="Calibri" pitchFamily="34" charset="-122"/>
                <a:cs typeface="Calibri" pitchFamily="34" charset="-120"/>
              </a:rPr>
              <a:t>Network segments under NDR monitoring</a:t>
            </a:r>
            <a:endParaRPr lang="en-US" sz="1100" dirty="0"/>
          </a:p>
        </p:txBody>
      </p:sp>
      <p:sp>
        <p:nvSpPr>
          <p:cNvPr id="40" name="Shape 33"/>
          <p:cNvSpPr/>
          <p:nvPr/>
        </p:nvSpPr>
        <p:spPr>
          <a:xfrm>
            <a:off x="9171432" y="2377440"/>
            <a:ext cx="2286000" cy="896112"/>
          </a:xfrm>
          <a:prstGeom prst="roundRect">
            <a:avLst>
              <a:gd name="adj" fmla="val 8163"/>
            </a:avLst>
          </a:prstGeom>
          <a:solidFill>
            <a:srgbClr val="FFFFFF"/>
          </a:solidFill>
          <a:ln/>
        </p:spPr>
      </p:sp>
      <p:sp>
        <p:nvSpPr>
          <p:cNvPr id="41" name="Text 34"/>
          <p:cNvSpPr txBox="1"/>
          <p:nvPr/>
        </p:nvSpPr>
        <p:spPr>
          <a:xfrm>
            <a:off x="9336024" y="2377440"/>
            <a:ext cx="2057400" cy="896112"/>
          </a:xfrm>
          <a:prstGeom prst="rect">
            <a:avLst/>
          </a:prstGeom>
          <a:noFill/>
          <a:ln/>
        </p:spPr>
        <p:txBody>
          <a:bodyPr wrap="square" lIns="0" tIns="0" rIns="0" bIns="0" rtlCol="0" anchor="ctr"/>
          <a:lstStyle/>
          <a:p>
            <a:pPr indent="0" marL="0">
              <a:buNone/>
            </a:pPr>
            <a:r>
              <a:rPr lang="en-US" sz="2400" b="1" dirty="0">
                <a:solidFill>
                  <a:srgbClr val="B97A1F"/>
                </a:solidFill>
                <a:latin typeface="Calibri" pitchFamily="34" charset="0"/>
                <a:ea typeface="Calibri" pitchFamily="34" charset="-122"/>
                <a:cs typeface="Calibri" pitchFamily="34" charset="-120"/>
              </a:rPr>
              <a:t>XX</a:t>
            </a:r>
            <a:endParaRPr lang="en-US" sz="2400" dirty="0"/>
          </a:p>
          <a:p>
            <a:pPr indent="0" marL="0">
              <a:buNone/>
            </a:pPr>
            <a:r>
              <a:rPr lang="en-US" sz="1100" dirty="0">
                <a:solidFill>
                  <a:srgbClr val="64748B"/>
                </a:solidFill>
                <a:latin typeface="Calibri" pitchFamily="34" charset="0"/>
                <a:ea typeface="Calibri" pitchFamily="34" charset="-122"/>
                <a:cs typeface="Calibri" pitchFamily="34" charset="-120"/>
              </a:rPr>
              <a:t>Segments / sensors monitored</a:t>
            </a:r>
            <a:endParaRPr lang="en-US" sz="2400" dirty="0"/>
          </a:p>
        </p:txBody>
      </p:sp>
      <p:sp>
        <p:nvSpPr>
          <p:cNvPr id="42" name="Shape 35"/>
          <p:cNvSpPr/>
          <p:nvPr/>
        </p:nvSpPr>
        <p:spPr>
          <a:xfrm>
            <a:off x="9171432" y="3401568"/>
            <a:ext cx="2286000" cy="896112"/>
          </a:xfrm>
          <a:prstGeom prst="roundRect">
            <a:avLst>
              <a:gd name="adj" fmla="val 8163"/>
            </a:avLst>
          </a:prstGeom>
          <a:solidFill>
            <a:srgbClr val="FFFFFF"/>
          </a:solidFill>
          <a:ln/>
        </p:spPr>
      </p:sp>
      <p:sp>
        <p:nvSpPr>
          <p:cNvPr id="43" name="Text 36"/>
          <p:cNvSpPr txBox="1"/>
          <p:nvPr/>
        </p:nvSpPr>
        <p:spPr>
          <a:xfrm>
            <a:off x="9336024" y="3401568"/>
            <a:ext cx="2057400" cy="896112"/>
          </a:xfrm>
          <a:prstGeom prst="rect">
            <a:avLst/>
          </a:prstGeom>
          <a:noFill/>
          <a:ln/>
        </p:spPr>
        <p:txBody>
          <a:bodyPr wrap="square" lIns="0" tIns="0" rIns="0" bIns="0" rtlCol="0" anchor="ctr"/>
          <a:lstStyle/>
          <a:p>
            <a:pPr indent="0" marL="0">
              <a:buNone/>
            </a:pPr>
            <a:r>
              <a:rPr lang="en-US" sz="2400" b="1" dirty="0">
                <a:solidFill>
                  <a:srgbClr val="B97A1F"/>
                </a:solidFill>
                <a:latin typeface="Calibri" pitchFamily="34" charset="0"/>
                <a:ea typeface="Calibri" pitchFamily="34" charset="-122"/>
                <a:cs typeface="Calibri" pitchFamily="34" charset="-120"/>
              </a:rPr>
              <a:t>XX</a:t>
            </a:r>
            <a:endParaRPr lang="en-US" sz="2400" dirty="0"/>
          </a:p>
          <a:p>
            <a:pPr indent="0" marL="0">
              <a:buNone/>
            </a:pPr>
            <a:r>
              <a:rPr lang="en-US" sz="1100" dirty="0">
                <a:solidFill>
                  <a:srgbClr val="64748B"/>
                </a:solidFill>
                <a:latin typeface="Calibri" pitchFamily="34" charset="0"/>
                <a:ea typeface="Calibri" pitchFamily="34" charset="-122"/>
                <a:cs typeface="Calibri" pitchFamily="34" charset="-120"/>
              </a:rPr>
              <a:t>Detections in the period</a:t>
            </a:r>
            <a:endParaRPr lang="en-US" sz="2400" dirty="0"/>
          </a:p>
        </p:txBody>
      </p:sp>
      <p:sp>
        <p:nvSpPr>
          <p:cNvPr id="44" name="Text 37"/>
          <p:cNvSpPr txBox="1"/>
          <p:nvPr/>
        </p:nvSpPr>
        <p:spPr>
          <a:xfrm>
            <a:off x="6519672" y="4800600"/>
            <a:ext cx="4206240" cy="256032"/>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Licence utilisation</a:t>
            </a:r>
            <a:endParaRPr lang="en-US" sz="1300" dirty="0"/>
          </a:p>
        </p:txBody>
      </p:sp>
      <p:sp>
        <p:nvSpPr>
          <p:cNvPr id="45" name="Text 38"/>
          <p:cNvSpPr txBox="1"/>
          <p:nvPr/>
        </p:nvSpPr>
        <p:spPr>
          <a:xfrm>
            <a:off x="10725912" y="4800600"/>
            <a:ext cx="731520" cy="256032"/>
          </a:xfrm>
          <a:prstGeom prst="rect">
            <a:avLst/>
          </a:prstGeom>
          <a:noFill/>
          <a:ln/>
        </p:spPr>
        <p:txBody>
          <a:bodyPr wrap="square" lIns="0" tIns="0" rIns="0" bIns="0" rtlCol="0" anchor="ctr"/>
          <a:lstStyle/>
          <a:p>
            <a:pPr algn="r" indent="0" marL="0">
              <a:buNone/>
            </a:pPr>
            <a:r>
              <a:rPr lang="en-US" sz="1400" b="1" dirty="0">
                <a:solidFill>
                  <a:srgbClr val="B97A1F"/>
                </a:solidFill>
                <a:latin typeface="Calibri" pitchFamily="34" charset="0"/>
                <a:ea typeface="Calibri" pitchFamily="34" charset="-122"/>
                <a:cs typeface="Calibri" pitchFamily="34" charset="-120"/>
              </a:rPr>
              <a:t>XX%</a:t>
            </a:r>
            <a:endParaRPr lang="en-US" sz="1400" dirty="0"/>
          </a:p>
        </p:txBody>
      </p:sp>
      <p:sp>
        <p:nvSpPr>
          <p:cNvPr id="46" name="Shape 39"/>
          <p:cNvSpPr/>
          <p:nvPr/>
        </p:nvSpPr>
        <p:spPr>
          <a:xfrm>
            <a:off x="6519672" y="5129784"/>
            <a:ext cx="4937760" cy="182880"/>
          </a:xfrm>
          <a:prstGeom prst="roundRect">
            <a:avLst>
              <a:gd name="adj" fmla="val 50000"/>
            </a:avLst>
          </a:prstGeom>
          <a:solidFill>
            <a:srgbClr val="DDE3EE"/>
          </a:solidFill>
          <a:ln/>
        </p:spPr>
      </p:sp>
      <p:sp>
        <p:nvSpPr>
          <p:cNvPr id="47" name="Shape 40"/>
          <p:cNvSpPr/>
          <p:nvPr/>
        </p:nvSpPr>
        <p:spPr>
          <a:xfrm>
            <a:off x="6519672" y="5129784"/>
            <a:ext cx="2468880" cy="182880"/>
          </a:xfrm>
          <a:prstGeom prst="roundRect">
            <a:avLst>
              <a:gd name="adj" fmla="val 50000"/>
            </a:avLst>
          </a:prstGeom>
          <a:solidFill>
            <a:srgbClr val="F3D9A8"/>
          </a:solidFill>
          <a:ln/>
        </p:spPr>
      </p:sp>
      <p:sp>
        <p:nvSpPr>
          <p:cNvPr id="48" name="Text 41"/>
          <p:cNvSpPr txBox="1"/>
          <p:nvPr/>
        </p:nvSpPr>
        <p:spPr>
          <a:xfrm>
            <a:off x="6519672" y="5367528"/>
            <a:ext cx="4937760" cy="237744"/>
          </a:xfrm>
          <a:prstGeom prst="rect">
            <a:avLst/>
          </a:prstGeom>
          <a:noFill/>
          <a:ln/>
        </p:spPr>
        <p:txBody>
          <a:bodyPr wrap="square" lIns="0" tIns="0" rIns="0" bIns="0" rtlCol="0" anchor="ctr"/>
          <a:lstStyle/>
          <a:p>
            <a:pPr indent="0" marL="0">
              <a:buNone/>
            </a:pPr>
            <a:r>
              <a:rPr lang="en-US" sz="1100" dirty="0">
                <a:solidFill>
                  <a:srgbClr val="B97A1F"/>
                </a:solidFill>
                <a:latin typeface="Calibri" pitchFamily="34" charset="0"/>
                <a:ea typeface="Calibri" pitchFamily="34" charset="-122"/>
                <a:cs typeface="Calibri" pitchFamily="34" charset="-120"/>
              </a:rPr>
              <a:t>XX of XX licensed capacity in use</a:t>
            </a:r>
            <a:endParaRPr lang="en-US" sz="11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457200" y="310896"/>
            <a:ext cx="530352" cy="530352"/>
          </a:xfrm>
          <a:prstGeom prst="ellipse">
            <a:avLst/>
          </a:prstGeom>
          <a:solidFill>
            <a:srgbClr val="1B2A4A"/>
          </a:solidFill>
          <a:ln/>
        </p:spPr>
      </p:sp>
      <p:pic>
        <p:nvPicPr>
          <p:cNvPr id="3" name="Image 0" descr="preencoded.png">    </p:cNvPr>
          <p:cNvPicPr>
            <a:picLocks noChangeAspect="1"/>
          </p:cNvPicPr>
          <p:nvPr/>
        </p:nvPicPr>
        <p:blipFill>
          <a:blip r:embed="rId1"/>
          <a:stretch>
            <a:fillRect/>
          </a:stretch>
        </p:blipFill>
        <p:spPr>
          <a:xfrm>
            <a:off x="589788" y="443484"/>
            <a:ext cx="265176" cy="265176"/>
          </a:xfrm>
          <a:prstGeom prst="rect">
            <a:avLst/>
          </a:prstGeom>
        </p:spPr>
      </p:pic>
      <p:sp>
        <p:nvSpPr>
          <p:cNvPr id="4" name="Text 1"/>
          <p:cNvSpPr/>
          <p:nvPr>
            <p:ph idx="101" type="title" hasCustomPrompt="1"/>
          </p:nvPr>
        </p:nvSpPr>
        <p:spPr>
          <a:xfrm>
            <a:off x="1143000" y="274320"/>
            <a:ext cx="7223760" cy="603504"/>
          </a:xfrm>
          <a:prstGeom prst="rect">
            <a:avLst/>
          </a:prstGeom>
          <a:noFill/>
          <a:ln/>
        </p:spPr>
        <p:txBody>
          <a:bodyPr wrap="square" lIns="0" tIns="0" rIns="0" bIns="0" rtlCol="0" anchor="ctr"/>
          <a:lstStyle/>
          <a:p>
            <a:pPr algn="l" indent="0" marL="0">
              <a:buNone/>
            </a:pPr>
            <a:r>
              <a:rPr lang="en-US" sz="3000" b="1" dirty="0">
                <a:solidFill>
                  <a:srgbClr val="1B2A4A"/>
                </a:solidFill>
                <a:latin typeface="Calibri" pitchFamily="34" charset="0"/>
                <a:ea typeface="Calibri" pitchFamily="34" charset="-122"/>
                <a:cs typeface="Calibri" pitchFamily="34" charset="-120"/>
              </a:rPr>
              <a:t>Incident: DLP Evidence Deletion</a:t>
            </a:r>
            <a:endParaRPr lang="en-US" sz="3000" dirty="0"/>
          </a:p>
        </p:txBody>
      </p:sp>
      <p:sp>
        <p:nvSpPr>
          <p:cNvPr id="5" name="Text 2"/>
          <p:cNvSpPr txBox="1"/>
          <p:nvPr/>
        </p:nvSpPr>
        <p:spPr>
          <a:xfrm>
            <a:off x="8458200" y="384048"/>
            <a:ext cx="3273552" cy="384048"/>
          </a:xfrm>
          <a:prstGeom prst="rect">
            <a:avLst/>
          </a:prstGeom>
          <a:noFill/>
          <a:ln/>
        </p:spPr>
        <p:txBody>
          <a:bodyPr wrap="square" lIns="0" tIns="0" rIns="0" bIns="0" rtlCol="0" anchor="ctr"/>
          <a:lstStyle/>
          <a:p>
            <a:pPr algn="r" indent="0" marL="0">
              <a:buNone/>
            </a:pPr>
            <a:r>
              <a:rPr lang="en-US" sz="1200" dirty="0">
                <a:solidFill>
                  <a:srgbClr val="64748B"/>
                </a:solidFill>
                <a:latin typeface="Calibri" pitchFamily="34" charset="0"/>
                <a:ea typeface="Calibri" pitchFamily="34" charset="-122"/>
                <a:cs typeface="Calibri" pitchFamily="34" charset="-120"/>
              </a:rPr>
              <a:t>IR  |  Notable Event</a:t>
            </a:r>
            <a:endParaRPr lang="en-US" sz="1200" dirty="0"/>
          </a:p>
        </p:txBody>
      </p:sp>
      <p:sp>
        <p:nvSpPr>
          <p:cNvPr id="6" name="Text 3"/>
          <p:cNvSpPr txBox="1"/>
          <p:nvPr/>
        </p:nvSpPr>
        <p:spPr>
          <a:xfrm>
            <a:off x="457200" y="932688"/>
            <a:ext cx="11274552" cy="310896"/>
          </a:xfrm>
          <a:prstGeom prst="rect">
            <a:avLst/>
          </a:prstGeom>
          <a:noFill/>
          <a:ln/>
        </p:spPr>
        <p:txBody>
          <a:bodyPr wrap="square" lIns="0" tIns="0" rIns="0" bIns="0" rtlCol="0" anchor="ctr"/>
          <a:lstStyle/>
          <a:p>
            <a:pPr indent="0" marL="0">
              <a:buNone/>
            </a:pPr>
            <a:r>
              <a:rPr lang="en-US" sz="1500" dirty="0">
                <a:solidFill>
                  <a:srgbClr val="64748B"/>
                </a:solidFill>
                <a:latin typeface="Calibri" pitchFamily="34" charset="0"/>
                <a:ea typeface="Calibri" pitchFamily="34" charset="-122"/>
                <a:cs typeface="Calibri" pitchFamily="34" charset="-120"/>
              </a:rPr>
              <a:t>2,070 DLP incident records deleted from Forcepoint through a shared super-admin account</a:t>
            </a:r>
            <a:endParaRPr lang="en-US" sz="1500" dirty="0"/>
          </a:p>
        </p:txBody>
      </p:sp>
      <p:sp>
        <p:nvSpPr>
          <p:cNvPr id="7" name="Shape 4"/>
          <p:cNvSpPr/>
          <p:nvPr/>
        </p:nvSpPr>
        <p:spPr>
          <a:xfrm>
            <a:off x="457200" y="1371600"/>
            <a:ext cx="4023360" cy="1554480"/>
          </a:xfrm>
          <a:prstGeom prst="roundRect">
            <a:avLst>
              <a:gd name="adj" fmla="val 4118"/>
            </a:avLst>
          </a:prstGeom>
          <a:solidFill>
            <a:srgbClr val="1B2A4A"/>
          </a:solidFill>
          <a:ln/>
        </p:spPr>
      </p:sp>
      <p:sp>
        <p:nvSpPr>
          <p:cNvPr id="8" name="Text 5"/>
          <p:cNvSpPr txBox="1"/>
          <p:nvPr/>
        </p:nvSpPr>
        <p:spPr>
          <a:xfrm>
            <a:off x="713232" y="1371600"/>
            <a:ext cx="1783080" cy="1554480"/>
          </a:xfrm>
          <a:prstGeom prst="rect">
            <a:avLst/>
          </a:prstGeom>
          <a:noFill/>
          <a:ln/>
        </p:spPr>
        <p:txBody>
          <a:bodyPr wrap="square" lIns="0" tIns="0" rIns="0" bIns="0" rtlCol="0" anchor="ctr"/>
          <a:lstStyle/>
          <a:p>
            <a:pPr indent="0" marL="0">
              <a:buNone/>
            </a:pPr>
            <a:r>
              <a:rPr lang="en-US" sz="4400" b="1" dirty="0">
                <a:solidFill>
                  <a:srgbClr val="F5C46B"/>
                </a:solidFill>
                <a:latin typeface="Calibri" pitchFamily="34" charset="0"/>
                <a:ea typeface="Calibri" pitchFamily="34" charset="-122"/>
                <a:cs typeface="Calibri" pitchFamily="34" charset="-120"/>
              </a:rPr>
              <a:t>2,070</a:t>
            </a:r>
            <a:endParaRPr lang="en-US" sz="4400" dirty="0"/>
          </a:p>
        </p:txBody>
      </p:sp>
      <p:sp>
        <p:nvSpPr>
          <p:cNvPr id="9" name="Text 6"/>
          <p:cNvSpPr txBox="1"/>
          <p:nvPr/>
        </p:nvSpPr>
        <p:spPr>
          <a:xfrm>
            <a:off x="2514600" y="1371600"/>
            <a:ext cx="1828800" cy="1554480"/>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DLP incident records deleted instead of being closed or marked as ignored</a:t>
            </a:r>
            <a:endParaRPr lang="en-US" sz="1250" dirty="0"/>
          </a:p>
        </p:txBody>
      </p:sp>
      <p:sp>
        <p:nvSpPr>
          <p:cNvPr id="10" name="Shape 7"/>
          <p:cNvSpPr/>
          <p:nvPr/>
        </p:nvSpPr>
        <p:spPr>
          <a:xfrm>
            <a:off x="457200" y="3081528"/>
            <a:ext cx="4023360" cy="457200"/>
          </a:xfrm>
          <a:prstGeom prst="roundRect">
            <a:avLst>
              <a:gd name="adj" fmla="val 16000"/>
            </a:avLst>
          </a:prstGeom>
          <a:solidFill>
            <a:srgbClr val="F4F7FC"/>
          </a:solidFill>
          <a:ln/>
        </p:spPr>
      </p:sp>
      <p:sp>
        <p:nvSpPr>
          <p:cNvPr id="11" name="Text 8"/>
          <p:cNvSpPr txBox="1"/>
          <p:nvPr/>
        </p:nvSpPr>
        <p:spPr>
          <a:xfrm>
            <a:off x="640080" y="3081528"/>
            <a:ext cx="2011680" cy="457200"/>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Verdict</a:t>
            </a:r>
            <a:endParaRPr lang="en-US" sz="1300" dirty="0"/>
          </a:p>
        </p:txBody>
      </p:sp>
      <p:sp>
        <p:nvSpPr>
          <p:cNvPr id="12" name="Shape 9"/>
          <p:cNvSpPr/>
          <p:nvPr/>
        </p:nvSpPr>
        <p:spPr>
          <a:xfrm>
            <a:off x="2697480" y="3172968"/>
            <a:ext cx="1645920" cy="274320"/>
          </a:xfrm>
          <a:prstGeom prst="roundRect">
            <a:avLst>
              <a:gd name="adj" fmla="val 50000"/>
            </a:avLst>
          </a:prstGeom>
          <a:solidFill>
            <a:srgbClr val="FBE4DE"/>
          </a:solidFill>
          <a:ln/>
        </p:spPr>
      </p:sp>
      <p:sp>
        <p:nvSpPr>
          <p:cNvPr id="13" name="Text 10"/>
          <p:cNvSpPr txBox="1"/>
          <p:nvPr/>
        </p:nvSpPr>
        <p:spPr>
          <a:xfrm>
            <a:off x="2697480" y="3172968"/>
            <a:ext cx="1645920" cy="274320"/>
          </a:xfrm>
          <a:prstGeom prst="rect">
            <a:avLst/>
          </a:prstGeom>
          <a:noFill/>
          <a:ln/>
        </p:spPr>
        <p:txBody>
          <a:bodyPr wrap="square" lIns="0" tIns="0" rIns="0" bIns="0" rtlCol="0" anchor="ctr"/>
          <a:lstStyle/>
          <a:p>
            <a:pPr algn="ctr" indent="0" marL="0">
              <a:buNone/>
            </a:pPr>
            <a:r>
              <a:rPr lang="en-US" sz="1100" b="1" dirty="0">
                <a:solidFill>
                  <a:srgbClr val="C8452F"/>
                </a:solidFill>
                <a:latin typeface="Calibri" pitchFamily="34" charset="0"/>
                <a:ea typeface="Calibri" pitchFamily="34" charset="-122"/>
                <a:cs typeface="Calibri" pitchFamily="34" charset="-120"/>
              </a:rPr>
              <a:t>True positive</a:t>
            </a:r>
            <a:endParaRPr lang="en-US" sz="1100" dirty="0"/>
          </a:p>
        </p:txBody>
      </p:sp>
      <p:sp>
        <p:nvSpPr>
          <p:cNvPr id="14" name="Shape 11"/>
          <p:cNvSpPr/>
          <p:nvPr/>
        </p:nvSpPr>
        <p:spPr>
          <a:xfrm>
            <a:off x="457200" y="3630168"/>
            <a:ext cx="4023360" cy="457200"/>
          </a:xfrm>
          <a:prstGeom prst="roundRect">
            <a:avLst>
              <a:gd name="adj" fmla="val 16000"/>
            </a:avLst>
          </a:prstGeom>
          <a:solidFill>
            <a:srgbClr val="F4F7FC"/>
          </a:solidFill>
          <a:ln/>
        </p:spPr>
      </p:sp>
      <p:sp>
        <p:nvSpPr>
          <p:cNvPr id="15" name="Text 12"/>
          <p:cNvSpPr txBox="1"/>
          <p:nvPr/>
        </p:nvSpPr>
        <p:spPr>
          <a:xfrm>
            <a:off x="640080" y="3630168"/>
            <a:ext cx="2011680" cy="457200"/>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Confirmed compromise</a:t>
            </a:r>
            <a:endParaRPr lang="en-US" sz="1300" dirty="0"/>
          </a:p>
        </p:txBody>
      </p:sp>
      <p:sp>
        <p:nvSpPr>
          <p:cNvPr id="16" name="Shape 13"/>
          <p:cNvSpPr/>
          <p:nvPr/>
        </p:nvSpPr>
        <p:spPr>
          <a:xfrm>
            <a:off x="2697480" y="3721608"/>
            <a:ext cx="1645920" cy="274320"/>
          </a:xfrm>
          <a:prstGeom prst="roundRect">
            <a:avLst>
              <a:gd name="adj" fmla="val 50000"/>
            </a:avLst>
          </a:prstGeom>
          <a:solidFill>
            <a:srgbClr val="E6F4EA"/>
          </a:solidFill>
          <a:ln/>
        </p:spPr>
      </p:sp>
      <p:sp>
        <p:nvSpPr>
          <p:cNvPr id="17" name="Text 14"/>
          <p:cNvSpPr txBox="1"/>
          <p:nvPr/>
        </p:nvSpPr>
        <p:spPr>
          <a:xfrm>
            <a:off x="2697480" y="3721608"/>
            <a:ext cx="1645920" cy="274320"/>
          </a:xfrm>
          <a:prstGeom prst="rect">
            <a:avLst/>
          </a:prstGeom>
          <a:noFill/>
          <a:ln/>
        </p:spPr>
        <p:txBody>
          <a:bodyPr wrap="square" lIns="0" tIns="0" rIns="0" bIns="0" rtlCol="0" anchor="ctr"/>
          <a:lstStyle/>
          <a:p>
            <a:pPr algn="ctr" indent="0" marL="0">
              <a:buNone/>
            </a:pPr>
            <a:r>
              <a:rPr lang="en-US" sz="1100" b="1" dirty="0">
                <a:solidFill>
                  <a:srgbClr val="2E8B57"/>
                </a:solidFill>
                <a:latin typeface="Calibri" pitchFamily="34" charset="0"/>
                <a:ea typeface="Calibri" pitchFamily="34" charset="-122"/>
                <a:cs typeface="Calibri" pitchFamily="34" charset="-120"/>
              </a:rPr>
              <a:t>No</a:t>
            </a:r>
            <a:endParaRPr lang="en-US" sz="1100" dirty="0"/>
          </a:p>
        </p:txBody>
      </p:sp>
      <p:sp>
        <p:nvSpPr>
          <p:cNvPr id="18" name="Shape 15"/>
          <p:cNvSpPr/>
          <p:nvPr/>
        </p:nvSpPr>
        <p:spPr>
          <a:xfrm>
            <a:off x="457200" y="4178808"/>
            <a:ext cx="4023360" cy="457200"/>
          </a:xfrm>
          <a:prstGeom prst="roundRect">
            <a:avLst>
              <a:gd name="adj" fmla="val 16000"/>
            </a:avLst>
          </a:prstGeom>
          <a:solidFill>
            <a:srgbClr val="F4F7FC"/>
          </a:solidFill>
          <a:ln/>
        </p:spPr>
      </p:sp>
      <p:sp>
        <p:nvSpPr>
          <p:cNvPr id="19" name="Text 16"/>
          <p:cNvSpPr txBox="1"/>
          <p:nvPr/>
        </p:nvSpPr>
        <p:spPr>
          <a:xfrm>
            <a:off x="640080" y="4178808"/>
            <a:ext cx="2011680" cy="457200"/>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Business impact</a:t>
            </a:r>
            <a:endParaRPr lang="en-US" sz="1300" dirty="0"/>
          </a:p>
        </p:txBody>
      </p:sp>
      <p:sp>
        <p:nvSpPr>
          <p:cNvPr id="20" name="Shape 17"/>
          <p:cNvSpPr/>
          <p:nvPr/>
        </p:nvSpPr>
        <p:spPr>
          <a:xfrm>
            <a:off x="2697480" y="4270248"/>
            <a:ext cx="1645920" cy="274320"/>
          </a:xfrm>
          <a:prstGeom prst="roundRect">
            <a:avLst>
              <a:gd name="adj" fmla="val 50000"/>
            </a:avLst>
          </a:prstGeom>
          <a:solidFill>
            <a:srgbClr val="FBF1DD"/>
          </a:solidFill>
          <a:ln/>
        </p:spPr>
      </p:sp>
      <p:sp>
        <p:nvSpPr>
          <p:cNvPr id="21" name="Text 18"/>
          <p:cNvSpPr txBox="1"/>
          <p:nvPr/>
        </p:nvSpPr>
        <p:spPr>
          <a:xfrm>
            <a:off x="2697480" y="4270248"/>
            <a:ext cx="1645920" cy="274320"/>
          </a:xfrm>
          <a:prstGeom prst="rect">
            <a:avLst/>
          </a:prstGeom>
          <a:noFill/>
          <a:ln/>
        </p:spPr>
        <p:txBody>
          <a:bodyPr wrap="square" lIns="0" tIns="0" rIns="0" bIns="0" rtlCol="0" anchor="ctr"/>
          <a:lstStyle/>
          <a:p>
            <a:pPr algn="ctr" indent="0" marL="0">
              <a:buNone/>
            </a:pPr>
            <a:r>
              <a:rPr lang="en-US" sz="1100" b="1" dirty="0">
                <a:solidFill>
                  <a:srgbClr val="B97A1F"/>
                </a:solidFill>
                <a:latin typeface="Calibri" pitchFamily="34" charset="0"/>
                <a:ea typeface="Calibri" pitchFamily="34" charset="-122"/>
                <a:cs typeface="Calibri" pitchFamily="34" charset="-120"/>
              </a:rPr>
              <a:t>Unknown</a:t>
            </a:r>
            <a:endParaRPr lang="en-US" sz="1100" dirty="0"/>
          </a:p>
        </p:txBody>
      </p:sp>
      <p:sp>
        <p:nvSpPr>
          <p:cNvPr id="22" name="Shape 19"/>
          <p:cNvSpPr/>
          <p:nvPr/>
        </p:nvSpPr>
        <p:spPr>
          <a:xfrm>
            <a:off x="457200" y="4727448"/>
            <a:ext cx="4023360" cy="457200"/>
          </a:xfrm>
          <a:prstGeom prst="roundRect">
            <a:avLst>
              <a:gd name="adj" fmla="val 16000"/>
            </a:avLst>
          </a:prstGeom>
          <a:solidFill>
            <a:srgbClr val="F4F7FC"/>
          </a:solidFill>
          <a:ln/>
        </p:spPr>
      </p:sp>
      <p:sp>
        <p:nvSpPr>
          <p:cNvPr id="23" name="Text 20"/>
          <p:cNvSpPr txBox="1"/>
          <p:nvPr/>
        </p:nvSpPr>
        <p:spPr>
          <a:xfrm>
            <a:off x="640080" y="4727448"/>
            <a:ext cx="2011680" cy="457200"/>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Data exfiltration</a:t>
            </a:r>
            <a:endParaRPr lang="en-US" sz="1300" dirty="0"/>
          </a:p>
        </p:txBody>
      </p:sp>
      <p:sp>
        <p:nvSpPr>
          <p:cNvPr id="24" name="Shape 21"/>
          <p:cNvSpPr/>
          <p:nvPr/>
        </p:nvSpPr>
        <p:spPr>
          <a:xfrm>
            <a:off x="2697480" y="4818888"/>
            <a:ext cx="1645920" cy="274320"/>
          </a:xfrm>
          <a:prstGeom prst="roundRect">
            <a:avLst>
              <a:gd name="adj" fmla="val 50000"/>
            </a:avLst>
          </a:prstGeom>
          <a:solidFill>
            <a:srgbClr val="FBF1DD"/>
          </a:solidFill>
          <a:ln/>
        </p:spPr>
      </p:sp>
      <p:sp>
        <p:nvSpPr>
          <p:cNvPr id="25" name="Text 22"/>
          <p:cNvSpPr txBox="1"/>
          <p:nvPr/>
        </p:nvSpPr>
        <p:spPr>
          <a:xfrm>
            <a:off x="2697480" y="4818888"/>
            <a:ext cx="1645920" cy="274320"/>
          </a:xfrm>
          <a:prstGeom prst="rect">
            <a:avLst/>
          </a:prstGeom>
          <a:noFill/>
          <a:ln/>
        </p:spPr>
        <p:txBody>
          <a:bodyPr wrap="square" lIns="0" tIns="0" rIns="0" bIns="0" rtlCol="0" anchor="ctr"/>
          <a:lstStyle/>
          <a:p>
            <a:pPr algn="ctr" indent="0" marL="0">
              <a:buNone/>
            </a:pPr>
            <a:r>
              <a:rPr lang="en-US" sz="1100" b="1" dirty="0">
                <a:solidFill>
                  <a:srgbClr val="B97A1F"/>
                </a:solidFill>
                <a:latin typeface="Calibri" pitchFamily="34" charset="0"/>
                <a:ea typeface="Calibri" pitchFamily="34" charset="-122"/>
                <a:cs typeface="Calibri" pitchFamily="34" charset="-120"/>
              </a:rPr>
              <a:t>Unknown / possible</a:t>
            </a:r>
            <a:endParaRPr lang="en-US" sz="1100" dirty="0"/>
          </a:p>
        </p:txBody>
      </p:sp>
      <p:sp>
        <p:nvSpPr>
          <p:cNvPr id="26" name="Shape 23"/>
          <p:cNvSpPr/>
          <p:nvPr/>
        </p:nvSpPr>
        <p:spPr>
          <a:xfrm>
            <a:off x="4754880" y="1371600"/>
            <a:ext cx="6976872" cy="3904488"/>
          </a:xfrm>
          <a:prstGeom prst="roundRect">
            <a:avLst>
              <a:gd name="adj" fmla="val 1639"/>
            </a:avLst>
          </a:prstGeom>
          <a:solidFill>
            <a:srgbClr val="F4F7FC"/>
          </a:solidFill>
          <a:ln w="9525">
            <a:solidFill>
              <a:srgbClr val="DCE3EE"/>
            </a:solidFill>
            <a:prstDash val="solid"/>
          </a:ln>
        </p:spPr>
      </p:sp>
      <p:sp>
        <p:nvSpPr>
          <p:cNvPr id="27" name="Text 24"/>
          <p:cNvSpPr txBox="1"/>
          <p:nvPr/>
        </p:nvSpPr>
        <p:spPr>
          <a:xfrm>
            <a:off x="4983480" y="1463040"/>
            <a:ext cx="4572000" cy="310896"/>
          </a:xfrm>
          <a:prstGeom prst="rect">
            <a:avLst/>
          </a:prstGeom>
          <a:noFill/>
          <a:ln/>
        </p:spPr>
        <p:txBody>
          <a:bodyPr wrap="square" lIns="0" tIns="0" rIns="0" bIns="0"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Timeline (Riyadh time, 2026)</a:t>
            </a:r>
            <a:endParaRPr lang="en-US" sz="1500" dirty="0"/>
          </a:p>
        </p:txBody>
      </p:sp>
      <p:sp>
        <p:nvSpPr>
          <p:cNvPr id="28" name="Shape 25"/>
          <p:cNvSpPr/>
          <p:nvPr/>
        </p:nvSpPr>
        <p:spPr>
          <a:xfrm>
            <a:off x="6464808" y="2130552"/>
            <a:ext cx="0" cy="2798064"/>
          </a:xfrm>
          <a:prstGeom prst="line">
            <a:avLst/>
          </a:prstGeom>
          <a:noFill/>
          <a:ln w="19050">
            <a:solidFill>
              <a:srgbClr val="B8C4D9"/>
            </a:solidFill>
            <a:prstDash val="solid"/>
          </a:ln>
        </p:spPr>
      </p:sp>
      <p:sp>
        <p:nvSpPr>
          <p:cNvPr id="29" name="Text 26"/>
          <p:cNvSpPr txBox="1"/>
          <p:nvPr/>
        </p:nvSpPr>
        <p:spPr>
          <a:xfrm>
            <a:off x="4983480" y="1901952"/>
            <a:ext cx="1325880" cy="466344"/>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28 Aug  14:24</a:t>
            </a:r>
            <a:endParaRPr lang="en-US" sz="1200" dirty="0"/>
          </a:p>
        </p:txBody>
      </p:sp>
      <p:sp>
        <p:nvSpPr>
          <p:cNvPr id="30" name="Shape 27"/>
          <p:cNvSpPr/>
          <p:nvPr/>
        </p:nvSpPr>
        <p:spPr>
          <a:xfrm>
            <a:off x="6382512" y="2052828"/>
            <a:ext cx="164592" cy="164592"/>
          </a:xfrm>
          <a:prstGeom prst="ellipse">
            <a:avLst/>
          </a:prstGeom>
          <a:solidFill>
            <a:srgbClr val="1B2A4A"/>
          </a:solidFill>
          <a:ln w="19050">
            <a:solidFill>
              <a:srgbClr val="FFFFFF"/>
            </a:solidFill>
            <a:prstDash val="solid"/>
          </a:ln>
        </p:spPr>
      </p:sp>
      <p:sp>
        <p:nvSpPr>
          <p:cNvPr id="31" name="Text 28"/>
          <p:cNvSpPr txBox="1"/>
          <p:nvPr/>
        </p:nvSpPr>
        <p:spPr>
          <a:xfrm>
            <a:off x="6720840" y="1901952"/>
            <a:ext cx="4846320" cy="466344"/>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Vendor engineer logs on to Forcepoint with the shared super-admin account</a:t>
            </a:r>
            <a:endParaRPr lang="en-US" sz="1200" dirty="0"/>
          </a:p>
        </p:txBody>
      </p:sp>
      <p:sp>
        <p:nvSpPr>
          <p:cNvPr id="32" name="Text 29"/>
          <p:cNvSpPr txBox="1"/>
          <p:nvPr/>
        </p:nvSpPr>
        <p:spPr>
          <a:xfrm>
            <a:off x="4983480" y="2368296"/>
            <a:ext cx="1325880" cy="466344"/>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28 Aug  14:34</a:t>
            </a:r>
            <a:endParaRPr lang="en-US" sz="1200" dirty="0"/>
          </a:p>
        </p:txBody>
      </p:sp>
      <p:sp>
        <p:nvSpPr>
          <p:cNvPr id="33" name="Shape 30"/>
          <p:cNvSpPr/>
          <p:nvPr/>
        </p:nvSpPr>
        <p:spPr>
          <a:xfrm>
            <a:off x="6382512" y="2519172"/>
            <a:ext cx="164592" cy="164592"/>
          </a:xfrm>
          <a:prstGeom prst="ellipse">
            <a:avLst/>
          </a:prstGeom>
          <a:solidFill>
            <a:srgbClr val="1B2A4A"/>
          </a:solidFill>
          <a:ln w="19050">
            <a:solidFill>
              <a:srgbClr val="FFFFFF"/>
            </a:solidFill>
            <a:prstDash val="solid"/>
          </a:ln>
        </p:spPr>
      </p:sp>
      <p:sp>
        <p:nvSpPr>
          <p:cNvPr id="34" name="Text 31"/>
          <p:cNvSpPr txBox="1"/>
          <p:nvPr/>
        </p:nvSpPr>
        <p:spPr>
          <a:xfrm>
            <a:off x="6720840" y="2368296"/>
            <a:ext cx="4846320" cy="466344"/>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DLP rules updated in batch, with no documentation or coordination with Cybersecurity</a:t>
            </a:r>
            <a:endParaRPr lang="en-US" sz="1200" dirty="0"/>
          </a:p>
        </p:txBody>
      </p:sp>
      <p:sp>
        <p:nvSpPr>
          <p:cNvPr id="35" name="Text 32"/>
          <p:cNvSpPr txBox="1"/>
          <p:nvPr/>
        </p:nvSpPr>
        <p:spPr>
          <a:xfrm>
            <a:off x="4983480" y="2834640"/>
            <a:ext cx="1325880" cy="466344"/>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28 Aug  14:44</a:t>
            </a:r>
            <a:endParaRPr lang="en-US" sz="1200" dirty="0"/>
          </a:p>
        </p:txBody>
      </p:sp>
      <p:sp>
        <p:nvSpPr>
          <p:cNvPr id="36" name="Shape 33"/>
          <p:cNvSpPr/>
          <p:nvPr/>
        </p:nvSpPr>
        <p:spPr>
          <a:xfrm>
            <a:off x="6382512" y="2985516"/>
            <a:ext cx="164592" cy="164592"/>
          </a:xfrm>
          <a:prstGeom prst="ellipse">
            <a:avLst/>
          </a:prstGeom>
          <a:solidFill>
            <a:srgbClr val="C8452F"/>
          </a:solidFill>
          <a:ln w="19050">
            <a:solidFill>
              <a:srgbClr val="FFFFFF"/>
            </a:solidFill>
            <a:prstDash val="solid"/>
          </a:ln>
        </p:spPr>
      </p:sp>
      <p:sp>
        <p:nvSpPr>
          <p:cNvPr id="37" name="Text 34"/>
          <p:cNvSpPr txBox="1"/>
          <p:nvPr/>
        </p:nvSpPr>
        <p:spPr>
          <a:xfrm>
            <a:off x="6720840" y="2834640"/>
            <a:ext cx="4846320" cy="466344"/>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First deletions: 149 incidents</a:t>
            </a:r>
            <a:endParaRPr lang="en-US" sz="1200" dirty="0"/>
          </a:p>
        </p:txBody>
      </p:sp>
      <p:sp>
        <p:nvSpPr>
          <p:cNvPr id="38" name="Text 35"/>
          <p:cNvSpPr txBox="1"/>
          <p:nvPr/>
        </p:nvSpPr>
        <p:spPr>
          <a:xfrm>
            <a:off x="4983480" y="3300984"/>
            <a:ext cx="1325880" cy="466344"/>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29 Aug  11:52</a:t>
            </a:r>
            <a:endParaRPr lang="en-US" sz="1200" dirty="0"/>
          </a:p>
        </p:txBody>
      </p:sp>
      <p:sp>
        <p:nvSpPr>
          <p:cNvPr id="39" name="Shape 36"/>
          <p:cNvSpPr/>
          <p:nvPr/>
        </p:nvSpPr>
        <p:spPr>
          <a:xfrm>
            <a:off x="6382512" y="3451860"/>
            <a:ext cx="164592" cy="164592"/>
          </a:xfrm>
          <a:prstGeom prst="ellipse">
            <a:avLst/>
          </a:prstGeom>
          <a:solidFill>
            <a:srgbClr val="C8452F"/>
          </a:solidFill>
          <a:ln w="19050">
            <a:solidFill>
              <a:srgbClr val="FFFFFF"/>
            </a:solidFill>
            <a:prstDash val="solid"/>
          </a:ln>
        </p:spPr>
      </p:sp>
      <p:sp>
        <p:nvSpPr>
          <p:cNvPr id="40" name="Text 37"/>
          <p:cNvSpPr txBox="1"/>
          <p:nvPr/>
        </p:nvSpPr>
        <p:spPr>
          <a:xfrm>
            <a:off x="6720840" y="3300984"/>
            <a:ext cx="4846320" cy="466344"/>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1,082 incidents deleted within 40 minutes, reason entered as "false positive"</a:t>
            </a:r>
            <a:endParaRPr lang="en-US" sz="1200" dirty="0"/>
          </a:p>
        </p:txBody>
      </p:sp>
      <p:sp>
        <p:nvSpPr>
          <p:cNvPr id="41" name="Text 38"/>
          <p:cNvSpPr txBox="1"/>
          <p:nvPr/>
        </p:nvSpPr>
        <p:spPr>
          <a:xfrm>
            <a:off x="4983480" y="3767328"/>
            <a:ext cx="1325880" cy="466344"/>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29 Aug  21:40</a:t>
            </a:r>
            <a:endParaRPr lang="en-US" sz="1200" dirty="0"/>
          </a:p>
        </p:txBody>
      </p:sp>
      <p:sp>
        <p:nvSpPr>
          <p:cNvPr id="42" name="Shape 39"/>
          <p:cNvSpPr/>
          <p:nvPr/>
        </p:nvSpPr>
        <p:spPr>
          <a:xfrm>
            <a:off x="6382512" y="3918204"/>
            <a:ext cx="164592" cy="164592"/>
          </a:xfrm>
          <a:prstGeom prst="ellipse">
            <a:avLst/>
          </a:prstGeom>
          <a:solidFill>
            <a:srgbClr val="C8452F"/>
          </a:solidFill>
          <a:ln w="19050">
            <a:solidFill>
              <a:srgbClr val="FFFFFF"/>
            </a:solidFill>
            <a:prstDash val="solid"/>
          </a:ln>
        </p:spPr>
      </p:sp>
      <p:sp>
        <p:nvSpPr>
          <p:cNvPr id="43" name="Text 40"/>
          <p:cNvSpPr txBox="1"/>
          <p:nvPr/>
        </p:nvSpPr>
        <p:spPr>
          <a:xfrm>
            <a:off x="6720840" y="3767328"/>
            <a:ext cx="4846320" cy="466344"/>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A further 839 incidents deleted</a:t>
            </a:r>
            <a:endParaRPr lang="en-US" sz="1200" dirty="0"/>
          </a:p>
        </p:txBody>
      </p:sp>
      <p:sp>
        <p:nvSpPr>
          <p:cNvPr id="44" name="Text 41"/>
          <p:cNvSpPr txBox="1"/>
          <p:nvPr/>
        </p:nvSpPr>
        <p:spPr>
          <a:xfrm>
            <a:off x="4983480" y="4233672"/>
            <a:ext cx="1325880" cy="466344"/>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30 Aug  14:30</a:t>
            </a:r>
            <a:endParaRPr lang="en-US" sz="1200" dirty="0"/>
          </a:p>
        </p:txBody>
      </p:sp>
      <p:sp>
        <p:nvSpPr>
          <p:cNvPr id="45" name="Shape 42"/>
          <p:cNvSpPr/>
          <p:nvPr/>
        </p:nvSpPr>
        <p:spPr>
          <a:xfrm>
            <a:off x="6382512" y="4384548"/>
            <a:ext cx="164592" cy="164592"/>
          </a:xfrm>
          <a:prstGeom prst="ellipse">
            <a:avLst/>
          </a:prstGeom>
          <a:solidFill>
            <a:srgbClr val="2A8C96"/>
          </a:solidFill>
          <a:ln w="19050">
            <a:solidFill>
              <a:srgbClr val="FFFFFF"/>
            </a:solidFill>
            <a:prstDash val="solid"/>
          </a:ln>
        </p:spPr>
      </p:sp>
      <p:sp>
        <p:nvSpPr>
          <p:cNvPr id="46" name="Text 43"/>
          <p:cNvSpPr txBox="1"/>
          <p:nvPr/>
        </p:nvSpPr>
        <p:spPr>
          <a:xfrm>
            <a:off x="6720840" y="4233672"/>
            <a:ext cx="4846320" cy="466344"/>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SOC detects the mass deletion and notifies IT Security at 16:30</a:t>
            </a:r>
            <a:endParaRPr lang="en-US" sz="1200" dirty="0"/>
          </a:p>
        </p:txBody>
      </p:sp>
      <p:sp>
        <p:nvSpPr>
          <p:cNvPr id="47" name="Text 44"/>
          <p:cNvSpPr txBox="1"/>
          <p:nvPr/>
        </p:nvSpPr>
        <p:spPr>
          <a:xfrm>
            <a:off x="4983480" y="4700016"/>
            <a:ext cx="1325880" cy="466344"/>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16 Sep  12:21</a:t>
            </a:r>
            <a:endParaRPr lang="en-US" sz="1200" dirty="0"/>
          </a:p>
        </p:txBody>
      </p:sp>
      <p:sp>
        <p:nvSpPr>
          <p:cNvPr id="48" name="Shape 45"/>
          <p:cNvSpPr/>
          <p:nvPr/>
        </p:nvSpPr>
        <p:spPr>
          <a:xfrm>
            <a:off x="6382512" y="4850892"/>
            <a:ext cx="164592" cy="164592"/>
          </a:xfrm>
          <a:prstGeom prst="ellipse">
            <a:avLst/>
          </a:prstGeom>
          <a:solidFill>
            <a:srgbClr val="C8452F"/>
          </a:solidFill>
          <a:ln w="19050">
            <a:solidFill>
              <a:srgbClr val="FFFFFF"/>
            </a:solidFill>
            <a:prstDash val="solid"/>
          </a:ln>
        </p:spPr>
      </p:sp>
      <p:sp>
        <p:nvSpPr>
          <p:cNvPr id="49" name="Text 46"/>
          <p:cNvSpPr txBox="1"/>
          <p:nvPr/>
        </p:nvSpPr>
        <p:spPr>
          <a:xfrm>
            <a:off x="6720840" y="4700016"/>
            <a:ext cx="4846320" cy="466344"/>
          </a:xfrm>
          <a:prstGeom prst="rect">
            <a:avLst/>
          </a:prstGeom>
          <a:noFill/>
          <a:ln/>
        </p:spPr>
        <p:txBody>
          <a:bodyPr wrap="square" lIns="0" tIns="0" rIns="0" bIns="0" rtlCol="0" anchor="ctr"/>
          <a:lstStyle/>
          <a:p>
            <a:pPr indent="0" marL="0">
              <a:buNone/>
            </a:pPr>
            <a:r>
              <a:rPr lang="en-US" sz="1200" dirty="0">
                <a:solidFill>
                  <a:srgbClr val="1E293B"/>
                </a:solidFill>
                <a:latin typeface="Calibri" pitchFamily="34" charset="0"/>
                <a:ea typeface="Calibri" pitchFamily="34" charset="-122"/>
                <a:cs typeface="Calibri" pitchFamily="34" charset="-120"/>
              </a:rPr>
              <a:t>Audit-log read access removed from the SOC profile on DLP, blocking further investigation</a:t>
            </a:r>
            <a:endParaRPr lang="en-US" sz="1200" dirty="0"/>
          </a:p>
        </p:txBody>
      </p:sp>
      <p:sp>
        <p:nvSpPr>
          <p:cNvPr id="50" name="Shape 47"/>
          <p:cNvSpPr/>
          <p:nvPr/>
        </p:nvSpPr>
        <p:spPr>
          <a:xfrm>
            <a:off x="457200" y="5440680"/>
            <a:ext cx="11274552" cy="603504"/>
          </a:xfrm>
          <a:prstGeom prst="roundRect">
            <a:avLst>
              <a:gd name="adj" fmla="val 12121"/>
            </a:avLst>
          </a:prstGeom>
          <a:solidFill>
            <a:srgbClr val="EEF3FA"/>
          </a:solidFill>
          <a:ln/>
        </p:spPr>
      </p:sp>
      <p:sp>
        <p:nvSpPr>
          <p:cNvPr id="51" name="Text 48"/>
          <p:cNvSpPr txBox="1"/>
          <p:nvPr/>
        </p:nvSpPr>
        <p:spPr>
          <a:xfrm>
            <a:off x="658368" y="5440680"/>
            <a:ext cx="1554480" cy="603504"/>
          </a:xfrm>
          <a:prstGeom prst="rect">
            <a:avLst/>
          </a:prstGeom>
          <a:noFill/>
          <a:ln/>
        </p:spPr>
        <p:txBody>
          <a:bodyPr wrap="square" lIns="0" tIns="0" rIns="0" bIns="0" rtlCol="0" anchor="ctr"/>
          <a:lstStyle/>
          <a:p>
            <a:pPr indent="0" marL="0">
              <a:buNone/>
            </a:pPr>
            <a:r>
              <a:rPr lang="en-US" sz="1300" b="1" dirty="0">
                <a:solidFill>
                  <a:srgbClr val="1B2A4A"/>
                </a:solidFill>
                <a:latin typeface="Calibri" pitchFamily="34" charset="0"/>
                <a:ea typeface="Calibri" pitchFamily="34" charset="-122"/>
                <a:cs typeface="Calibri" pitchFamily="34" charset="-120"/>
              </a:rPr>
              <a:t>Concerns raised</a:t>
            </a:r>
            <a:endParaRPr lang="en-US" sz="1300" dirty="0"/>
          </a:p>
        </p:txBody>
      </p:sp>
      <p:sp>
        <p:nvSpPr>
          <p:cNvPr id="52" name="Shape 49"/>
          <p:cNvSpPr/>
          <p:nvPr/>
        </p:nvSpPr>
        <p:spPr>
          <a:xfrm>
            <a:off x="2286000" y="5605272"/>
            <a:ext cx="2212848" cy="274320"/>
          </a:xfrm>
          <a:prstGeom prst="roundRect">
            <a:avLst>
              <a:gd name="adj" fmla="val 50000"/>
            </a:avLst>
          </a:prstGeom>
          <a:solidFill>
            <a:srgbClr val="FFFFFF"/>
          </a:solidFill>
          <a:ln/>
        </p:spPr>
      </p:sp>
      <p:sp>
        <p:nvSpPr>
          <p:cNvPr id="53" name="Text 50"/>
          <p:cNvSpPr txBox="1"/>
          <p:nvPr/>
        </p:nvSpPr>
        <p:spPr>
          <a:xfrm>
            <a:off x="2286000" y="5605272"/>
            <a:ext cx="2212848" cy="274320"/>
          </a:xfrm>
          <a:prstGeom prst="rect">
            <a:avLst/>
          </a:prstGeom>
          <a:noFill/>
          <a:ln/>
        </p:spPr>
        <p:txBody>
          <a:bodyPr wrap="square" lIns="0" tIns="0" rIns="0" bIns="0" rtlCol="0" anchor="ctr"/>
          <a:lstStyle/>
          <a:p>
            <a:pPr algn="ctr" indent="0" marL="0">
              <a:buNone/>
            </a:pPr>
            <a:r>
              <a:rPr lang="en-US" sz="1100" b="1" dirty="0">
                <a:solidFill>
                  <a:srgbClr val="1B2A4A"/>
                </a:solidFill>
                <a:latin typeface="Calibri" pitchFamily="34" charset="0"/>
                <a:ea typeface="Calibri" pitchFamily="34" charset="-122"/>
                <a:cs typeface="Calibri" pitchFamily="34" charset="-120"/>
              </a:rPr>
              <a:t>Evidence preservation</a:t>
            </a:r>
            <a:endParaRPr lang="en-US" sz="1100" dirty="0"/>
          </a:p>
        </p:txBody>
      </p:sp>
      <p:sp>
        <p:nvSpPr>
          <p:cNvPr id="54" name="Shape 51"/>
          <p:cNvSpPr/>
          <p:nvPr/>
        </p:nvSpPr>
        <p:spPr>
          <a:xfrm>
            <a:off x="4626864" y="5605272"/>
            <a:ext cx="2212848" cy="274320"/>
          </a:xfrm>
          <a:prstGeom prst="roundRect">
            <a:avLst>
              <a:gd name="adj" fmla="val 50000"/>
            </a:avLst>
          </a:prstGeom>
          <a:solidFill>
            <a:srgbClr val="FFFFFF"/>
          </a:solidFill>
          <a:ln/>
        </p:spPr>
      </p:sp>
      <p:sp>
        <p:nvSpPr>
          <p:cNvPr id="55" name="Text 52"/>
          <p:cNvSpPr txBox="1"/>
          <p:nvPr/>
        </p:nvSpPr>
        <p:spPr>
          <a:xfrm>
            <a:off x="4626864" y="5605272"/>
            <a:ext cx="2212848" cy="274320"/>
          </a:xfrm>
          <a:prstGeom prst="rect">
            <a:avLst/>
          </a:prstGeom>
          <a:noFill/>
          <a:ln/>
        </p:spPr>
        <p:txBody>
          <a:bodyPr wrap="square" lIns="0" tIns="0" rIns="0" bIns="0" rtlCol="0" anchor="ctr"/>
          <a:lstStyle/>
          <a:p>
            <a:pPr algn="ctr" indent="0" marL="0">
              <a:buNone/>
            </a:pPr>
            <a:r>
              <a:rPr lang="en-US" sz="1100" b="1" dirty="0">
                <a:solidFill>
                  <a:srgbClr val="1B2A4A"/>
                </a:solidFill>
                <a:latin typeface="Calibri" pitchFamily="34" charset="0"/>
                <a:ea typeface="Calibri" pitchFamily="34" charset="-122"/>
                <a:cs typeface="Calibri" pitchFamily="34" charset="-120"/>
              </a:rPr>
              <a:t>Privileged-access governance</a:t>
            </a:r>
            <a:endParaRPr lang="en-US" sz="1100" dirty="0"/>
          </a:p>
        </p:txBody>
      </p:sp>
      <p:sp>
        <p:nvSpPr>
          <p:cNvPr id="56" name="Shape 53"/>
          <p:cNvSpPr/>
          <p:nvPr/>
        </p:nvSpPr>
        <p:spPr>
          <a:xfrm>
            <a:off x="6967728" y="5605272"/>
            <a:ext cx="2212848" cy="274320"/>
          </a:xfrm>
          <a:prstGeom prst="roundRect">
            <a:avLst>
              <a:gd name="adj" fmla="val 50000"/>
            </a:avLst>
          </a:prstGeom>
          <a:solidFill>
            <a:srgbClr val="FFFFFF"/>
          </a:solidFill>
          <a:ln/>
        </p:spPr>
      </p:sp>
      <p:sp>
        <p:nvSpPr>
          <p:cNvPr id="57" name="Text 54"/>
          <p:cNvSpPr txBox="1"/>
          <p:nvPr/>
        </p:nvSpPr>
        <p:spPr>
          <a:xfrm>
            <a:off x="6967728" y="5605272"/>
            <a:ext cx="2212848" cy="274320"/>
          </a:xfrm>
          <a:prstGeom prst="rect">
            <a:avLst/>
          </a:prstGeom>
          <a:noFill/>
          <a:ln/>
        </p:spPr>
        <p:txBody>
          <a:bodyPr wrap="square" lIns="0" tIns="0" rIns="0" bIns="0" rtlCol="0" anchor="ctr"/>
          <a:lstStyle/>
          <a:p>
            <a:pPr algn="ctr" indent="0" marL="0">
              <a:buNone/>
            </a:pPr>
            <a:r>
              <a:rPr lang="en-US" sz="1100" b="1" dirty="0">
                <a:solidFill>
                  <a:srgbClr val="1B2A4A"/>
                </a:solidFill>
                <a:latin typeface="Calibri" pitchFamily="34" charset="0"/>
                <a:ea typeface="Calibri" pitchFamily="34" charset="-122"/>
                <a:cs typeface="Calibri" pitchFamily="34" charset="-120"/>
              </a:rPr>
              <a:t>Segregation of duties</a:t>
            </a:r>
            <a:endParaRPr lang="en-US" sz="1100" dirty="0"/>
          </a:p>
        </p:txBody>
      </p:sp>
      <p:sp>
        <p:nvSpPr>
          <p:cNvPr id="58" name="Shape 55"/>
          <p:cNvSpPr/>
          <p:nvPr/>
        </p:nvSpPr>
        <p:spPr>
          <a:xfrm>
            <a:off x="9308592" y="5605272"/>
            <a:ext cx="2212848" cy="274320"/>
          </a:xfrm>
          <a:prstGeom prst="roundRect">
            <a:avLst>
              <a:gd name="adj" fmla="val 50000"/>
            </a:avLst>
          </a:prstGeom>
          <a:solidFill>
            <a:srgbClr val="FFFFFF"/>
          </a:solidFill>
          <a:ln/>
        </p:spPr>
      </p:sp>
      <p:sp>
        <p:nvSpPr>
          <p:cNvPr id="59" name="Text 56"/>
          <p:cNvSpPr txBox="1"/>
          <p:nvPr/>
        </p:nvSpPr>
        <p:spPr>
          <a:xfrm>
            <a:off x="9308592" y="5605272"/>
            <a:ext cx="2212848" cy="274320"/>
          </a:xfrm>
          <a:prstGeom prst="rect">
            <a:avLst/>
          </a:prstGeom>
          <a:noFill/>
          <a:ln/>
        </p:spPr>
        <p:txBody>
          <a:bodyPr wrap="square" lIns="0" tIns="0" rIns="0" bIns="0" rtlCol="0" anchor="ctr"/>
          <a:lstStyle/>
          <a:p>
            <a:pPr algn="ctr" indent="0" marL="0">
              <a:buNone/>
            </a:pPr>
            <a:r>
              <a:rPr lang="en-US" sz="1100" b="1" dirty="0">
                <a:solidFill>
                  <a:srgbClr val="1B2A4A"/>
                </a:solidFill>
                <a:latin typeface="Calibri" pitchFamily="34" charset="0"/>
                <a:ea typeface="Calibri" pitchFamily="34" charset="-122"/>
                <a:cs typeface="Calibri" pitchFamily="34" charset="-120"/>
              </a:rPr>
              <a:t>Integrity of DLP monitoring</a:t>
            </a:r>
            <a:endParaRPr lang="en-US" sz="11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457200" y="310896"/>
            <a:ext cx="530352" cy="530352"/>
          </a:xfrm>
          <a:prstGeom prst="ellipse">
            <a:avLst/>
          </a:prstGeom>
          <a:solidFill>
            <a:srgbClr val="1B2A4A"/>
          </a:solidFill>
          <a:ln/>
        </p:spPr>
      </p:sp>
      <p:pic>
        <p:nvPicPr>
          <p:cNvPr id="3" name="Image 0" descr="preencoded.png">    </p:cNvPr>
          <p:cNvPicPr>
            <a:picLocks noChangeAspect="1"/>
          </p:cNvPicPr>
          <p:nvPr/>
        </p:nvPicPr>
        <p:blipFill>
          <a:blip r:embed="rId1"/>
          <a:stretch>
            <a:fillRect/>
          </a:stretch>
        </p:blipFill>
        <p:spPr>
          <a:xfrm>
            <a:off x="589788" y="443484"/>
            <a:ext cx="265176" cy="265176"/>
          </a:xfrm>
          <a:prstGeom prst="rect">
            <a:avLst/>
          </a:prstGeom>
        </p:spPr>
      </p:pic>
      <p:sp>
        <p:nvSpPr>
          <p:cNvPr id="4" name="Text 1"/>
          <p:cNvSpPr/>
          <p:nvPr>
            <p:ph idx="101" type="title" hasCustomPrompt="1"/>
          </p:nvPr>
        </p:nvSpPr>
        <p:spPr>
          <a:xfrm>
            <a:off x="1143000" y="274320"/>
            <a:ext cx="7223760" cy="603504"/>
          </a:xfrm>
          <a:prstGeom prst="rect">
            <a:avLst/>
          </a:prstGeom>
          <a:noFill/>
          <a:ln/>
        </p:spPr>
        <p:txBody>
          <a:bodyPr wrap="square" lIns="0" tIns="0" rIns="0" bIns="0" rtlCol="0" anchor="ctr"/>
          <a:lstStyle/>
          <a:p>
            <a:pPr algn="l" indent="0" marL="0">
              <a:buNone/>
            </a:pPr>
            <a:r>
              <a:rPr lang="en-US" sz="3000" b="1" dirty="0">
                <a:solidFill>
                  <a:srgbClr val="1B2A4A"/>
                </a:solidFill>
                <a:latin typeface="Calibri" pitchFamily="34" charset="0"/>
                <a:ea typeface="Calibri" pitchFamily="34" charset="-122"/>
                <a:cs typeface="Calibri" pitchFamily="34" charset="-120"/>
              </a:rPr>
              <a:t>Incident: Recommendations</a:t>
            </a:r>
            <a:endParaRPr lang="en-US" sz="3000" dirty="0"/>
          </a:p>
        </p:txBody>
      </p:sp>
      <p:sp>
        <p:nvSpPr>
          <p:cNvPr id="5" name="Text 2"/>
          <p:cNvSpPr txBox="1"/>
          <p:nvPr/>
        </p:nvSpPr>
        <p:spPr>
          <a:xfrm>
            <a:off x="8458200" y="384048"/>
            <a:ext cx="3273552" cy="384048"/>
          </a:xfrm>
          <a:prstGeom prst="rect">
            <a:avLst/>
          </a:prstGeom>
          <a:noFill/>
          <a:ln/>
        </p:spPr>
        <p:txBody>
          <a:bodyPr wrap="square" lIns="0" tIns="0" rIns="0" bIns="0" rtlCol="0" anchor="ctr"/>
          <a:lstStyle/>
          <a:p>
            <a:pPr algn="r" indent="0" marL="0">
              <a:buNone/>
            </a:pPr>
            <a:r>
              <a:rPr lang="en-US" sz="1200" dirty="0">
                <a:solidFill>
                  <a:srgbClr val="64748B"/>
                </a:solidFill>
                <a:latin typeface="Calibri" pitchFamily="34" charset="0"/>
                <a:ea typeface="Calibri" pitchFamily="34" charset="-122"/>
                <a:cs typeface="Calibri" pitchFamily="34" charset="-120"/>
              </a:rPr>
              <a:t>IR  |  Notable Event</a:t>
            </a:r>
            <a:endParaRPr lang="en-US" sz="1200" dirty="0"/>
          </a:p>
        </p:txBody>
      </p:sp>
      <p:sp>
        <p:nvSpPr>
          <p:cNvPr id="6" name="Text 3"/>
          <p:cNvSpPr txBox="1"/>
          <p:nvPr/>
        </p:nvSpPr>
        <p:spPr>
          <a:xfrm>
            <a:off x="457200" y="932688"/>
            <a:ext cx="11274552" cy="310896"/>
          </a:xfrm>
          <a:prstGeom prst="rect">
            <a:avLst/>
          </a:prstGeom>
          <a:noFill/>
          <a:ln/>
        </p:spPr>
        <p:txBody>
          <a:bodyPr wrap="square" lIns="0" tIns="0" rIns="0" bIns="0" rtlCol="0" anchor="ctr"/>
          <a:lstStyle/>
          <a:p>
            <a:pPr indent="0" marL="0">
              <a:buNone/>
            </a:pPr>
            <a:r>
              <a:rPr lang="en-US" sz="1500" dirty="0">
                <a:solidFill>
                  <a:srgbClr val="64748B"/>
                </a:solidFill>
                <a:latin typeface="Calibri" pitchFamily="34" charset="0"/>
                <a:ea typeface="Calibri" pitchFamily="34" charset="-122"/>
                <a:cs typeface="Calibri" pitchFamily="34" charset="-120"/>
              </a:rPr>
              <a:t>Closing the gaps that allowed DLP evidence to be deleted without detection for two days</a:t>
            </a:r>
            <a:endParaRPr lang="en-US" sz="1500" dirty="0"/>
          </a:p>
        </p:txBody>
      </p:sp>
      <p:sp>
        <p:nvSpPr>
          <p:cNvPr id="7" name="Text 4"/>
          <p:cNvSpPr txBox="1"/>
          <p:nvPr/>
        </p:nvSpPr>
        <p:spPr>
          <a:xfrm>
            <a:off x="457200" y="1371600"/>
            <a:ext cx="3657600" cy="292608"/>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Immediate actions</a:t>
            </a:r>
            <a:endParaRPr lang="en-US" sz="1600" dirty="0"/>
          </a:p>
        </p:txBody>
      </p:sp>
      <p:sp>
        <p:nvSpPr>
          <p:cNvPr id="8" name="Text 5"/>
          <p:cNvSpPr txBox="1"/>
          <p:nvPr/>
        </p:nvSpPr>
        <p:spPr>
          <a:xfrm>
            <a:off x="4389120" y="1371600"/>
            <a:ext cx="5486400" cy="292608"/>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Preventive controls</a:t>
            </a:r>
            <a:endParaRPr lang="en-US" sz="1600" dirty="0"/>
          </a:p>
        </p:txBody>
      </p:sp>
      <p:sp>
        <p:nvSpPr>
          <p:cNvPr id="9" name="Shape 6"/>
          <p:cNvSpPr/>
          <p:nvPr/>
        </p:nvSpPr>
        <p:spPr>
          <a:xfrm>
            <a:off x="457200" y="1755648"/>
            <a:ext cx="3657600" cy="1344168"/>
          </a:xfrm>
          <a:prstGeom prst="roundRect">
            <a:avLst>
              <a:gd name="adj" fmla="val 4762"/>
            </a:avLst>
          </a:prstGeom>
          <a:solidFill>
            <a:srgbClr val="F4F7FC"/>
          </a:solidFill>
          <a:ln w="9525">
            <a:solidFill>
              <a:srgbClr val="DCE3EE"/>
            </a:solidFill>
            <a:prstDash val="solid"/>
          </a:ln>
        </p:spPr>
      </p:sp>
      <p:sp>
        <p:nvSpPr>
          <p:cNvPr id="10" name="Shape 7"/>
          <p:cNvSpPr/>
          <p:nvPr/>
        </p:nvSpPr>
        <p:spPr>
          <a:xfrm>
            <a:off x="640080" y="1938528"/>
            <a:ext cx="457200" cy="457200"/>
          </a:xfrm>
          <a:prstGeom prst="ellipse">
            <a:avLst/>
          </a:prstGeom>
          <a:solidFill>
            <a:srgbClr val="C8452F"/>
          </a:solidFill>
          <a:ln/>
        </p:spPr>
      </p:sp>
      <p:pic>
        <p:nvPicPr>
          <p:cNvPr id="11" name="Image 1" descr="preencoded.png">    </p:cNvPr>
          <p:cNvPicPr>
            <a:picLocks noChangeAspect="1"/>
          </p:cNvPicPr>
          <p:nvPr/>
        </p:nvPicPr>
        <p:blipFill>
          <a:blip r:embed="rId2"/>
          <a:stretch>
            <a:fillRect/>
          </a:stretch>
        </p:blipFill>
        <p:spPr>
          <a:xfrm>
            <a:off x="749808" y="2048256"/>
            <a:ext cx="237744" cy="237744"/>
          </a:xfrm>
          <a:prstGeom prst="rect">
            <a:avLst/>
          </a:prstGeom>
        </p:spPr>
      </p:pic>
      <p:sp>
        <p:nvSpPr>
          <p:cNvPr id="12" name="Text 8"/>
          <p:cNvSpPr txBox="1"/>
          <p:nvPr/>
        </p:nvSpPr>
        <p:spPr>
          <a:xfrm>
            <a:off x="1225296" y="1883664"/>
            <a:ext cx="2761488" cy="566928"/>
          </a:xfrm>
          <a:prstGeom prst="rect">
            <a:avLst/>
          </a:prstGeom>
          <a:noFill/>
          <a:ln/>
        </p:spPr>
        <p:txBody>
          <a:bodyPr wrap="square" lIns="0" tIns="0" rIns="0" bIns="0" rtlCol="0" anchor="ctr"/>
          <a:lstStyle/>
          <a:p>
            <a:pPr indent="0" marL="0">
              <a:buNone/>
            </a:pPr>
            <a:r>
              <a:rPr lang="en-US" sz="1350" b="1" dirty="0">
                <a:solidFill>
                  <a:srgbClr val="1B2A4A"/>
                </a:solidFill>
                <a:latin typeface="Calibri" pitchFamily="34" charset="0"/>
                <a:ea typeface="Calibri" pitchFamily="34" charset="-122"/>
                <a:cs typeface="Calibri" pitchFamily="34" charset="-120"/>
              </a:rPr>
              <a:t>Preserve evidence and confirm scope</a:t>
            </a:r>
            <a:endParaRPr lang="en-US" sz="1350" dirty="0"/>
          </a:p>
        </p:txBody>
      </p:sp>
      <p:sp>
        <p:nvSpPr>
          <p:cNvPr id="13" name="Text 9"/>
          <p:cNvSpPr txBox="1"/>
          <p:nvPr/>
        </p:nvSpPr>
        <p:spPr>
          <a:xfrm>
            <a:off x="640080" y="2487168"/>
            <a:ext cx="3310128" cy="539496"/>
          </a:xfrm>
          <a:prstGeom prst="rect">
            <a:avLst/>
          </a:prstGeom>
          <a:noFill/>
          <a:ln/>
        </p:spPr>
        <p:txBody>
          <a:bodyPr wrap="square" lIns="0" tIns="0" rIns="0" bIns="0" rtlCol="0" anchor="t"/>
          <a:lstStyle/>
          <a:p>
            <a:pPr indent="0" marL="0">
              <a:buNone/>
            </a:pPr>
            <a:r>
              <a:rPr lang="en-US" sz="1150" dirty="0">
                <a:solidFill>
                  <a:srgbClr val="64748B"/>
                </a:solidFill>
                <a:latin typeface="Calibri" pitchFamily="34" charset="0"/>
                <a:ea typeface="Calibri" pitchFamily="34" charset="-122"/>
                <a:cs typeface="Calibri" pitchFamily="34" charset="-120"/>
              </a:rPr>
              <a:t>Secure the remaining DLP and QRadar logs, and validate the full scope and business impact of the deleted incidents.</a:t>
            </a:r>
            <a:endParaRPr lang="en-US" sz="1150" dirty="0"/>
          </a:p>
        </p:txBody>
      </p:sp>
      <p:sp>
        <p:nvSpPr>
          <p:cNvPr id="14" name="Shape 10"/>
          <p:cNvSpPr/>
          <p:nvPr/>
        </p:nvSpPr>
        <p:spPr>
          <a:xfrm>
            <a:off x="457200" y="3227832"/>
            <a:ext cx="3657600" cy="1344168"/>
          </a:xfrm>
          <a:prstGeom prst="roundRect">
            <a:avLst>
              <a:gd name="adj" fmla="val 4762"/>
            </a:avLst>
          </a:prstGeom>
          <a:solidFill>
            <a:srgbClr val="F4F7FC"/>
          </a:solidFill>
          <a:ln w="9525">
            <a:solidFill>
              <a:srgbClr val="DCE3EE"/>
            </a:solidFill>
            <a:prstDash val="solid"/>
          </a:ln>
        </p:spPr>
      </p:sp>
      <p:sp>
        <p:nvSpPr>
          <p:cNvPr id="15" name="Shape 11"/>
          <p:cNvSpPr/>
          <p:nvPr/>
        </p:nvSpPr>
        <p:spPr>
          <a:xfrm>
            <a:off x="640080" y="3410712"/>
            <a:ext cx="457200" cy="457200"/>
          </a:xfrm>
          <a:prstGeom prst="ellipse">
            <a:avLst/>
          </a:prstGeom>
          <a:solidFill>
            <a:srgbClr val="C8452F"/>
          </a:solidFill>
          <a:ln/>
        </p:spPr>
      </p:sp>
      <p:pic>
        <p:nvPicPr>
          <p:cNvPr id="16" name="Image 2" descr="preencoded.png">    </p:cNvPr>
          <p:cNvPicPr>
            <a:picLocks noChangeAspect="1"/>
          </p:cNvPicPr>
          <p:nvPr/>
        </p:nvPicPr>
        <p:blipFill>
          <a:blip r:embed="rId3"/>
          <a:stretch>
            <a:fillRect/>
          </a:stretch>
        </p:blipFill>
        <p:spPr>
          <a:xfrm>
            <a:off x="749808" y="3520440"/>
            <a:ext cx="237744" cy="237744"/>
          </a:xfrm>
          <a:prstGeom prst="rect">
            <a:avLst/>
          </a:prstGeom>
        </p:spPr>
      </p:pic>
      <p:sp>
        <p:nvSpPr>
          <p:cNvPr id="17" name="Text 12"/>
          <p:cNvSpPr txBox="1"/>
          <p:nvPr/>
        </p:nvSpPr>
        <p:spPr>
          <a:xfrm>
            <a:off x="1225296" y="3355848"/>
            <a:ext cx="2761488" cy="566928"/>
          </a:xfrm>
          <a:prstGeom prst="rect">
            <a:avLst/>
          </a:prstGeom>
          <a:noFill/>
          <a:ln/>
        </p:spPr>
        <p:txBody>
          <a:bodyPr wrap="square" lIns="0" tIns="0" rIns="0" bIns="0" rtlCol="0" anchor="ctr"/>
          <a:lstStyle/>
          <a:p>
            <a:pPr indent="0" marL="0">
              <a:buNone/>
            </a:pPr>
            <a:r>
              <a:rPr lang="en-US" sz="1350" b="1" dirty="0">
                <a:solidFill>
                  <a:srgbClr val="1B2A4A"/>
                </a:solidFill>
                <a:latin typeface="Calibri" pitchFamily="34" charset="0"/>
                <a:ea typeface="Calibri" pitchFamily="34" charset="-122"/>
                <a:cs typeface="Calibri" pitchFamily="34" charset="-120"/>
              </a:rPr>
              <a:t>Restore SOC audit-log access</a:t>
            </a:r>
            <a:endParaRPr lang="en-US" sz="1350" dirty="0"/>
          </a:p>
        </p:txBody>
      </p:sp>
      <p:sp>
        <p:nvSpPr>
          <p:cNvPr id="18" name="Text 13"/>
          <p:cNvSpPr txBox="1"/>
          <p:nvPr/>
        </p:nvSpPr>
        <p:spPr>
          <a:xfrm>
            <a:off x="640080" y="3959352"/>
            <a:ext cx="3310128" cy="539496"/>
          </a:xfrm>
          <a:prstGeom prst="rect">
            <a:avLst/>
          </a:prstGeom>
          <a:noFill/>
          <a:ln/>
        </p:spPr>
        <p:txBody>
          <a:bodyPr wrap="square" lIns="0" tIns="0" rIns="0" bIns="0" rtlCol="0" anchor="t"/>
          <a:lstStyle/>
          <a:p>
            <a:pPr indent="0" marL="0">
              <a:buNone/>
            </a:pPr>
            <a:r>
              <a:rPr lang="en-US" sz="1150" dirty="0">
                <a:solidFill>
                  <a:srgbClr val="64748B"/>
                </a:solidFill>
                <a:latin typeface="Calibri" pitchFamily="34" charset="0"/>
                <a:ea typeface="Calibri" pitchFamily="34" charset="-122"/>
                <a:cs typeface="Calibri" pitchFamily="34" charset="-120"/>
              </a:rPr>
              <a:t>Re-enable read access to DLP audit logs for the SOC profile so the investigation can continue.</a:t>
            </a:r>
            <a:endParaRPr lang="en-US" sz="1150" dirty="0"/>
          </a:p>
        </p:txBody>
      </p:sp>
      <p:sp>
        <p:nvSpPr>
          <p:cNvPr id="19" name="Shape 14"/>
          <p:cNvSpPr/>
          <p:nvPr/>
        </p:nvSpPr>
        <p:spPr>
          <a:xfrm>
            <a:off x="457200" y="4700016"/>
            <a:ext cx="3657600" cy="1344168"/>
          </a:xfrm>
          <a:prstGeom prst="roundRect">
            <a:avLst>
              <a:gd name="adj" fmla="val 4762"/>
            </a:avLst>
          </a:prstGeom>
          <a:solidFill>
            <a:srgbClr val="F4F7FC"/>
          </a:solidFill>
          <a:ln w="9525">
            <a:solidFill>
              <a:srgbClr val="DCE3EE"/>
            </a:solidFill>
            <a:prstDash val="solid"/>
          </a:ln>
        </p:spPr>
      </p:sp>
      <p:sp>
        <p:nvSpPr>
          <p:cNvPr id="20" name="Shape 15"/>
          <p:cNvSpPr/>
          <p:nvPr/>
        </p:nvSpPr>
        <p:spPr>
          <a:xfrm>
            <a:off x="640080" y="4882896"/>
            <a:ext cx="457200" cy="457200"/>
          </a:xfrm>
          <a:prstGeom prst="ellipse">
            <a:avLst/>
          </a:prstGeom>
          <a:solidFill>
            <a:srgbClr val="C8452F"/>
          </a:solidFill>
          <a:ln/>
        </p:spPr>
      </p:sp>
      <p:pic>
        <p:nvPicPr>
          <p:cNvPr id="21" name="Image 3" descr="preencoded.png">    </p:cNvPr>
          <p:cNvPicPr>
            <a:picLocks noChangeAspect="1"/>
          </p:cNvPicPr>
          <p:nvPr/>
        </p:nvPicPr>
        <p:blipFill>
          <a:blip r:embed="rId4"/>
          <a:stretch>
            <a:fillRect/>
          </a:stretch>
        </p:blipFill>
        <p:spPr>
          <a:xfrm>
            <a:off x="749808" y="4992624"/>
            <a:ext cx="237744" cy="237744"/>
          </a:xfrm>
          <a:prstGeom prst="rect">
            <a:avLst/>
          </a:prstGeom>
        </p:spPr>
      </p:pic>
      <p:sp>
        <p:nvSpPr>
          <p:cNvPr id="22" name="Text 16"/>
          <p:cNvSpPr txBox="1"/>
          <p:nvPr/>
        </p:nvSpPr>
        <p:spPr>
          <a:xfrm>
            <a:off x="1225296" y="4828032"/>
            <a:ext cx="2761488" cy="566928"/>
          </a:xfrm>
          <a:prstGeom prst="rect">
            <a:avLst/>
          </a:prstGeom>
          <a:noFill/>
          <a:ln/>
        </p:spPr>
        <p:txBody>
          <a:bodyPr wrap="square" lIns="0" tIns="0" rIns="0" bIns="0" rtlCol="0" anchor="ctr"/>
          <a:lstStyle/>
          <a:p>
            <a:pPr indent="0" marL="0">
              <a:buNone/>
            </a:pPr>
            <a:r>
              <a:rPr lang="en-US" sz="1350" b="1" dirty="0">
                <a:solidFill>
                  <a:srgbClr val="1B2A4A"/>
                </a:solidFill>
                <a:latin typeface="Calibri" pitchFamily="34" charset="0"/>
                <a:ea typeface="Calibri" pitchFamily="34" charset="-122"/>
                <a:cs typeface="Calibri" pitchFamily="34" charset="-120"/>
              </a:rPr>
              <a:t>Stop sharing the admin password</a:t>
            </a:r>
            <a:endParaRPr lang="en-US" sz="1350" dirty="0"/>
          </a:p>
        </p:txBody>
      </p:sp>
      <p:sp>
        <p:nvSpPr>
          <p:cNvPr id="23" name="Text 17"/>
          <p:cNvSpPr txBox="1"/>
          <p:nvPr/>
        </p:nvSpPr>
        <p:spPr>
          <a:xfrm>
            <a:off x="640080" y="5431536"/>
            <a:ext cx="3310128" cy="539496"/>
          </a:xfrm>
          <a:prstGeom prst="rect">
            <a:avLst/>
          </a:prstGeom>
          <a:noFill/>
          <a:ln/>
        </p:spPr>
        <p:txBody>
          <a:bodyPr wrap="square" lIns="0" tIns="0" rIns="0" bIns="0" rtlCol="0" anchor="t"/>
          <a:lstStyle/>
          <a:p>
            <a:pPr indent="0" marL="0">
              <a:buNone/>
            </a:pPr>
            <a:r>
              <a:rPr lang="en-US" sz="1150" dirty="0">
                <a:solidFill>
                  <a:srgbClr val="64748B"/>
                </a:solidFill>
                <a:latin typeface="Calibri" pitchFamily="34" charset="0"/>
                <a:ea typeface="Calibri" pitchFamily="34" charset="-122"/>
                <a:cs typeface="Calibri" pitchFamily="34" charset="-120"/>
              </a:rPr>
              <a:t>Rotate the shared super-admin credentials now and prohibit password sharing.</a:t>
            </a:r>
            <a:endParaRPr lang="en-US" sz="1150" dirty="0"/>
          </a:p>
        </p:txBody>
      </p:sp>
      <p:sp>
        <p:nvSpPr>
          <p:cNvPr id="24" name="Shape 18"/>
          <p:cNvSpPr/>
          <p:nvPr/>
        </p:nvSpPr>
        <p:spPr>
          <a:xfrm>
            <a:off x="4389120" y="1755648"/>
            <a:ext cx="3607308" cy="1344168"/>
          </a:xfrm>
          <a:prstGeom prst="roundRect">
            <a:avLst>
              <a:gd name="adj" fmla="val 4762"/>
            </a:avLst>
          </a:prstGeom>
          <a:solidFill>
            <a:srgbClr val="F4F7FC"/>
          </a:solidFill>
          <a:ln w="9525">
            <a:solidFill>
              <a:srgbClr val="DCE3EE"/>
            </a:solidFill>
            <a:prstDash val="solid"/>
          </a:ln>
        </p:spPr>
      </p:sp>
      <p:sp>
        <p:nvSpPr>
          <p:cNvPr id="25" name="Shape 19"/>
          <p:cNvSpPr/>
          <p:nvPr/>
        </p:nvSpPr>
        <p:spPr>
          <a:xfrm>
            <a:off x="4572000" y="1938528"/>
            <a:ext cx="457200" cy="457200"/>
          </a:xfrm>
          <a:prstGeom prst="ellipse">
            <a:avLst/>
          </a:prstGeom>
          <a:solidFill>
            <a:srgbClr val="1B2A4A"/>
          </a:solidFill>
          <a:ln/>
        </p:spPr>
      </p:sp>
      <p:pic>
        <p:nvPicPr>
          <p:cNvPr id="26" name="Image 4" descr="preencoded.png">    </p:cNvPr>
          <p:cNvPicPr>
            <a:picLocks noChangeAspect="1"/>
          </p:cNvPicPr>
          <p:nvPr/>
        </p:nvPicPr>
        <p:blipFill>
          <a:blip r:embed="rId5"/>
          <a:stretch>
            <a:fillRect/>
          </a:stretch>
        </p:blipFill>
        <p:spPr>
          <a:xfrm>
            <a:off x="4681728" y="2048256"/>
            <a:ext cx="237744" cy="237744"/>
          </a:xfrm>
          <a:prstGeom prst="rect">
            <a:avLst/>
          </a:prstGeom>
        </p:spPr>
      </p:pic>
      <p:sp>
        <p:nvSpPr>
          <p:cNvPr id="27" name="Text 20"/>
          <p:cNvSpPr txBox="1"/>
          <p:nvPr/>
        </p:nvSpPr>
        <p:spPr>
          <a:xfrm>
            <a:off x="5157216" y="1883664"/>
            <a:ext cx="2711196" cy="566928"/>
          </a:xfrm>
          <a:prstGeom prst="rect">
            <a:avLst/>
          </a:prstGeom>
          <a:noFill/>
          <a:ln/>
        </p:spPr>
        <p:txBody>
          <a:bodyPr wrap="square" lIns="0" tIns="0" rIns="0" bIns="0" rtlCol="0" anchor="ctr"/>
          <a:lstStyle/>
          <a:p>
            <a:pPr indent="0" marL="0">
              <a:buNone/>
            </a:pPr>
            <a:r>
              <a:rPr lang="en-US" sz="1350" b="1" dirty="0">
                <a:solidFill>
                  <a:srgbClr val="1B2A4A"/>
                </a:solidFill>
                <a:latin typeface="Calibri" pitchFamily="34" charset="0"/>
                <a:ea typeface="Calibri" pitchFamily="34" charset="-122"/>
                <a:cs typeface="Calibri" pitchFamily="34" charset="-120"/>
              </a:rPr>
              <a:t>Role-based access in DLP</a:t>
            </a:r>
            <a:endParaRPr lang="en-US" sz="1350" dirty="0"/>
          </a:p>
        </p:txBody>
      </p:sp>
      <p:sp>
        <p:nvSpPr>
          <p:cNvPr id="28" name="Text 21"/>
          <p:cNvSpPr txBox="1"/>
          <p:nvPr/>
        </p:nvSpPr>
        <p:spPr>
          <a:xfrm>
            <a:off x="4572000" y="2487168"/>
            <a:ext cx="3259836" cy="539496"/>
          </a:xfrm>
          <a:prstGeom prst="rect">
            <a:avLst/>
          </a:prstGeom>
          <a:noFill/>
          <a:ln/>
        </p:spPr>
        <p:txBody>
          <a:bodyPr wrap="square" lIns="0" tIns="0" rIns="0" bIns="0" rtlCol="0" anchor="t"/>
          <a:lstStyle/>
          <a:p>
            <a:pPr indent="0" marL="0">
              <a:buNone/>
            </a:pPr>
            <a:r>
              <a:rPr lang="en-US" sz="1150" dirty="0">
                <a:solidFill>
                  <a:srgbClr val="64748B"/>
                </a:solidFill>
                <a:latin typeface="Calibri" pitchFamily="34" charset="0"/>
                <a:ea typeface="Calibri" pitchFamily="34" charset="-122"/>
                <a:cs typeface="Calibri" pitchFamily="34" charset="-120"/>
              </a:rPr>
              <a:t>Named accounts with least-privilege roles for admins, vendors and SOC. No shared accounts.</a:t>
            </a:r>
            <a:endParaRPr lang="en-US" sz="1150" dirty="0"/>
          </a:p>
        </p:txBody>
      </p:sp>
      <p:sp>
        <p:nvSpPr>
          <p:cNvPr id="29" name="Shape 22"/>
          <p:cNvSpPr/>
          <p:nvPr/>
        </p:nvSpPr>
        <p:spPr>
          <a:xfrm>
            <a:off x="8124444" y="1755648"/>
            <a:ext cx="3607308" cy="1344168"/>
          </a:xfrm>
          <a:prstGeom prst="roundRect">
            <a:avLst>
              <a:gd name="adj" fmla="val 4762"/>
            </a:avLst>
          </a:prstGeom>
          <a:solidFill>
            <a:srgbClr val="F4F7FC"/>
          </a:solidFill>
          <a:ln w="9525">
            <a:solidFill>
              <a:srgbClr val="DCE3EE"/>
            </a:solidFill>
            <a:prstDash val="solid"/>
          </a:ln>
        </p:spPr>
      </p:sp>
      <p:sp>
        <p:nvSpPr>
          <p:cNvPr id="30" name="Shape 23"/>
          <p:cNvSpPr/>
          <p:nvPr/>
        </p:nvSpPr>
        <p:spPr>
          <a:xfrm>
            <a:off x="8307324" y="1938528"/>
            <a:ext cx="457200" cy="457200"/>
          </a:xfrm>
          <a:prstGeom prst="ellipse">
            <a:avLst/>
          </a:prstGeom>
          <a:solidFill>
            <a:srgbClr val="2A8C96"/>
          </a:solidFill>
          <a:ln/>
        </p:spPr>
      </p:sp>
      <p:pic>
        <p:nvPicPr>
          <p:cNvPr id="31" name="Image 5" descr="preencoded.png">    </p:cNvPr>
          <p:cNvPicPr>
            <a:picLocks noChangeAspect="1"/>
          </p:cNvPicPr>
          <p:nvPr/>
        </p:nvPicPr>
        <p:blipFill>
          <a:blip r:embed="rId6"/>
          <a:stretch>
            <a:fillRect/>
          </a:stretch>
        </p:blipFill>
        <p:spPr>
          <a:xfrm>
            <a:off x="8417052" y="2048256"/>
            <a:ext cx="237744" cy="237744"/>
          </a:xfrm>
          <a:prstGeom prst="rect">
            <a:avLst/>
          </a:prstGeom>
        </p:spPr>
      </p:pic>
      <p:sp>
        <p:nvSpPr>
          <p:cNvPr id="32" name="Text 24"/>
          <p:cNvSpPr txBox="1"/>
          <p:nvPr/>
        </p:nvSpPr>
        <p:spPr>
          <a:xfrm>
            <a:off x="8892540" y="1883664"/>
            <a:ext cx="2711196" cy="566928"/>
          </a:xfrm>
          <a:prstGeom prst="rect">
            <a:avLst/>
          </a:prstGeom>
          <a:noFill/>
          <a:ln/>
        </p:spPr>
        <p:txBody>
          <a:bodyPr wrap="square" lIns="0" tIns="0" rIns="0" bIns="0" rtlCol="0" anchor="ctr"/>
          <a:lstStyle/>
          <a:p>
            <a:pPr indent="0" marL="0">
              <a:buNone/>
            </a:pPr>
            <a:r>
              <a:rPr lang="en-US" sz="1350" b="1" dirty="0">
                <a:solidFill>
                  <a:srgbClr val="1B2A4A"/>
                </a:solidFill>
                <a:latin typeface="Calibri" pitchFamily="34" charset="0"/>
                <a:ea typeface="Calibri" pitchFamily="34" charset="-122"/>
                <a:cs typeface="Calibri" pitchFamily="34" charset="-120"/>
              </a:rPr>
              <a:t>Super-admin only with a Change Request</a:t>
            </a:r>
            <a:endParaRPr lang="en-US" sz="1350" dirty="0"/>
          </a:p>
        </p:txBody>
      </p:sp>
      <p:sp>
        <p:nvSpPr>
          <p:cNvPr id="33" name="Text 25"/>
          <p:cNvSpPr txBox="1"/>
          <p:nvPr/>
        </p:nvSpPr>
        <p:spPr>
          <a:xfrm>
            <a:off x="8307324" y="2487168"/>
            <a:ext cx="3259836" cy="539496"/>
          </a:xfrm>
          <a:prstGeom prst="rect">
            <a:avLst/>
          </a:prstGeom>
          <a:noFill/>
          <a:ln/>
        </p:spPr>
        <p:txBody>
          <a:bodyPr wrap="square" lIns="0" tIns="0" rIns="0" bIns="0" rtlCol="0" anchor="t"/>
          <a:lstStyle/>
          <a:p>
            <a:pPr indent="0" marL="0">
              <a:buNone/>
            </a:pPr>
            <a:r>
              <a:rPr lang="en-US" sz="1150" dirty="0">
                <a:solidFill>
                  <a:srgbClr val="64748B"/>
                </a:solidFill>
                <a:latin typeface="Calibri" pitchFamily="34" charset="0"/>
                <a:ea typeface="Calibri" pitchFamily="34" charset="-122"/>
                <a:cs typeface="Calibri" pitchFamily="34" charset="-120"/>
              </a:rPr>
              <a:t>Break-glass use tied to an approved CR, time-bound, with credentials rotated after each use.</a:t>
            </a:r>
            <a:endParaRPr lang="en-US" sz="1150" dirty="0"/>
          </a:p>
        </p:txBody>
      </p:sp>
      <p:sp>
        <p:nvSpPr>
          <p:cNvPr id="34" name="Shape 26"/>
          <p:cNvSpPr/>
          <p:nvPr/>
        </p:nvSpPr>
        <p:spPr>
          <a:xfrm>
            <a:off x="4389120" y="3227832"/>
            <a:ext cx="3607308" cy="1344168"/>
          </a:xfrm>
          <a:prstGeom prst="roundRect">
            <a:avLst>
              <a:gd name="adj" fmla="val 4762"/>
            </a:avLst>
          </a:prstGeom>
          <a:solidFill>
            <a:srgbClr val="F4F7FC"/>
          </a:solidFill>
          <a:ln w="9525">
            <a:solidFill>
              <a:srgbClr val="DCE3EE"/>
            </a:solidFill>
            <a:prstDash val="solid"/>
          </a:ln>
        </p:spPr>
      </p:sp>
      <p:sp>
        <p:nvSpPr>
          <p:cNvPr id="35" name="Shape 27"/>
          <p:cNvSpPr/>
          <p:nvPr/>
        </p:nvSpPr>
        <p:spPr>
          <a:xfrm>
            <a:off x="4572000" y="3410712"/>
            <a:ext cx="457200" cy="457200"/>
          </a:xfrm>
          <a:prstGeom prst="ellipse">
            <a:avLst/>
          </a:prstGeom>
          <a:solidFill>
            <a:srgbClr val="1B2A4A"/>
          </a:solidFill>
          <a:ln/>
        </p:spPr>
      </p:sp>
      <p:pic>
        <p:nvPicPr>
          <p:cNvPr id="36" name="Image 6" descr="preencoded.png">    </p:cNvPr>
          <p:cNvPicPr>
            <a:picLocks noChangeAspect="1"/>
          </p:cNvPicPr>
          <p:nvPr/>
        </p:nvPicPr>
        <p:blipFill>
          <a:blip r:embed="rId7"/>
          <a:stretch>
            <a:fillRect/>
          </a:stretch>
        </p:blipFill>
        <p:spPr>
          <a:xfrm>
            <a:off x="4681728" y="3520440"/>
            <a:ext cx="237744" cy="237744"/>
          </a:xfrm>
          <a:prstGeom prst="rect">
            <a:avLst/>
          </a:prstGeom>
        </p:spPr>
      </p:pic>
      <p:sp>
        <p:nvSpPr>
          <p:cNvPr id="37" name="Text 28"/>
          <p:cNvSpPr txBox="1"/>
          <p:nvPr/>
        </p:nvSpPr>
        <p:spPr>
          <a:xfrm>
            <a:off x="5157216" y="3355848"/>
            <a:ext cx="2711196" cy="566928"/>
          </a:xfrm>
          <a:prstGeom prst="rect">
            <a:avLst/>
          </a:prstGeom>
          <a:noFill/>
          <a:ln/>
        </p:spPr>
        <p:txBody>
          <a:bodyPr wrap="square" lIns="0" tIns="0" rIns="0" bIns="0" rtlCol="0" anchor="ctr"/>
          <a:lstStyle/>
          <a:p>
            <a:pPr indent="0" marL="0">
              <a:buNone/>
            </a:pPr>
            <a:r>
              <a:rPr lang="en-US" sz="1350" b="1" dirty="0">
                <a:solidFill>
                  <a:srgbClr val="1B2A4A"/>
                </a:solidFill>
                <a:latin typeface="Calibri" pitchFamily="34" charset="0"/>
                <a:ea typeface="Calibri" pitchFamily="34" charset="-122"/>
                <a:cs typeface="Calibri" pitchFamily="34" charset="-120"/>
              </a:rPr>
              <a:t>Block incident deletion</a:t>
            </a:r>
            <a:endParaRPr lang="en-US" sz="1350" dirty="0"/>
          </a:p>
        </p:txBody>
      </p:sp>
      <p:sp>
        <p:nvSpPr>
          <p:cNvPr id="38" name="Text 29"/>
          <p:cNvSpPr txBox="1"/>
          <p:nvPr/>
        </p:nvSpPr>
        <p:spPr>
          <a:xfrm>
            <a:off x="4572000" y="3959352"/>
            <a:ext cx="3259836" cy="539496"/>
          </a:xfrm>
          <a:prstGeom prst="rect">
            <a:avLst/>
          </a:prstGeom>
          <a:noFill/>
          <a:ln/>
        </p:spPr>
        <p:txBody>
          <a:bodyPr wrap="square" lIns="0" tIns="0" rIns="0" bIns="0" rtlCol="0" anchor="t"/>
          <a:lstStyle/>
          <a:p>
            <a:pPr indent="0" marL="0">
              <a:buNone/>
            </a:pPr>
            <a:r>
              <a:rPr lang="en-US" sz="1150" dirty="0">
                <a:solidFill>
                  <a:srgbClr val="64748B"/>
                </a:solidFill>
                <a:latin typeface="Calibri" pitchFamily="34" charset="0"/>
                <a:ea typeface="Calibri" pitchFamily="34" charset="-122"/>
                <a:cs typeface="Calibri" pitchFamily="34" charset="-120"/>
              </a:rPr>
              <a:t>Remove the delete permission. Incidents are closed or marked ignored with a reason, never deleted.</a:t>
            </a:r>
            <a:endParaRPr lang="en-US" sz="1150" dirty="0"/>
          </a:p>
        </p:txBody>
      </p:sp>
      <p:sp>
        <p:nvSpPr>
          <p:cNvPr id="39" name="Shape 30"/>
          <p:cNvSpPr/>
          <p:nvPr/>
        </p:nvSpPr>
        <p:spPr>
          <a:xfrm>
            <a:off x="8124444" y="3227832"/>
            <a:ext cx="3607308" cy="1344168"/>
          </a:xfrm>
          <a:prstGeom prst="roundRect">
            <a:avLst>
              <a:gd name="adj" fmla="val 4762"/>
            </a:avLst>
          </a:prstGeom>
          <a:solidFill>
            <a:srgbClr val="F4F7FC"/>
          </a:solidFill>
          <a:ln w="9525">
            <a:solidFill>
              <a:srgbClr val="DCE3EE"/>
            </a:solidFill>
            <a:prstDash val="solid"/>
          </a:ln>
        </p:spPr>
      </p:sp>
      <p:sp>
        <p:nvSpPr>
          <p:cNvPr id="40" name="Shape 31"/>
          <p:cNvSpPr/>
          <p:nvPr/>
        </p:nvSpPr>
        <p:spPr>
          <a:xfrm>
            <a:off x="8307324" y="3410712"/>
            <a:ext cx="457200" cy="457200"/>
          </a:xfrm>
          <a:prstGeom prst="ellipse">
            <a:avLst/>
          </a:prstGeom>
          <a:solidFill>
            <a:srgbClr val="2A8C96"/>
          </a:solidFill>
          <a:ln/>
        </p:spPr>
      </p:sp>
      <p:pic>
        <p:nvPicPr>
          <p:cNvPr id="41" name="Image 7" descr="preencoded.png">    </p:cNvPr>
          <p:cNvPicPr>
            <a:picLocks noChangeAspect="1"/>
          </p:cNvPicPr>
          <p:nvPr/>
        </p:nvPicPr>
        <p:blipFill>
          <a:blip r:embed="rId8"/>
          <a:stretch>
            <a:fillRect/>
          </a:stretch>
        </p:blipFill>
        <p:spPr>
          <a:xfrm>
            <a:off x="8417052" y="3520440"/>
            <a:ext cx="237744" cy="237744"/>
          </a:xfrm>
          <a:prstGeom prst="rect">
            <a:avLst/>
          </a:prstGeom>
        </p:spPr>
      </p:pic>
      <p:sp>
        <p:nvSpPr>
          <p:cNvPr id="42" name="Text 32"/>
          <p:cNvSpPr txBox="1"/>
          <p:nvPr/>
        </p:nvSpPr>
        <p:spPr>
          <a:xfrm>
            <a:off x="8892540" y="3355848"/>
            <a:ext cx="2711196" cy="566928"/>
          </a:xfrm>
          <a:prstGeom prst="rect">
            <a:avLst/>
          </a:prstGeom>
          <a:noFill/>
          <a:ln/>
        </p:spPr>
        <p:txBody>
          <a:bodyPr wrap="square" lIns="0" tIns="0" rIns="0" bIns="0" rtlCol="0" anchor="ctr"/>
          <a:lstStyle/>
          <a:p>
            <a:pPr indent="0" marL="0">
              <a:buNone/>
            </a:pPr>
            <a:r>
              <a:rPr lang="en-US" sz="1350" b="1" dirty="0">
                <a:solidFill>
                  <a:srgbClr val="1B2A4A"/>
                </a:solidFill>
                <a:latin typeface="Calibri" pitchFamily="34" charset="0"/>
                <a:ea typeface="Calibri" pitchFamily="34" charset="-122"/>
                <a:cs typeface="Calibri" pitchFamily="34" charset="-120"/>
              </a:rPr>
              <a:t>SIEM monitoring of DLP admin activity</a:t>
            </a:r>
            <a:endParaRPr lang="en-US" sz="1350" dirty="0"/>
          </a:p>
        </p:txBody>
      </p:sp>
      <p:sp>
        <p:nvSpPr>
          <p:cNvPr id="43" name="Text 33"/>
          <p:cNvSpPr txBox="1"/>
          <p:nvPr/>
        </p:nvSpPr>
        <p:spPr>
          <a:xfrm>
            <a:off x="8307324" y="3959352"/>
            <a:ext cx="3259836" cy="539496"/>
          </a:xfrm>
          <a:prstGeom prst="rect">
            <a:avLst/>
          </a:prstGeom>
          <a:noFill/>
          <a:ln/>
        </p:spPr>
        <p:txBody>
          <a:bodyPr wrap="square" lIns="0" tIns="0" rIns="0" bIns="0" rtlCol="0" anchor="t"/>
          <a:lstStyle/>
          <a:p>
            <a:pPr indent="0" marL="0">
              <a:buNone/>
            </a:pPr>
            <a:r>
              <a:rPr lang="en-US" sz="1150" dirty="0">
                <a:solidFill>
                  <a:srgbClr val="64748B"/>
                </a:solidFill>
                <a:latin typeface="Calibri" pitchFamily="34" charset="0"/>
                <a:ea typeface="Calibri" pitchFamily="34" charset="-122"/>
                <a:cs typeface="Calibri" pitchFamily="34" charset="-120"/>
              </a:rPr>
              <a:t>QRadar use cases for incident deletion, policy changes, privilege changes and admin logons.</a:t>
            </a:r>
            <a:endParaRPr lang="en-US" sz="1150" dirty="0"/>
          </a:p>
        </p:txBody>
      </p:sp>
      <p:sp>
        <p:nvSpPr>
          <p:cNvPr id="44" name="Shape 34"/>
          <p:cNvSpPr/>
          <p:nvPr/>
        </p:nvSpPr>
        <p:spPr>
          <a:xfrm>
            <a:off x="4389120" y="4700016"/>
            <a:ext cx="3607308" cy="1344168"/>
          </a:xfrm>
          <a:prstGeom prst="roundRect">
            <a:avLst>
              <a:gd name="adj" fmla="val 4762"/>
            </a:avLst>
          </a:prstGeom>
          <a:solidFill>
            <a:srgbClr val="F4F7FC"/>
          </a:solidFill>
          <a:ln w="9525">
            <a:solidFill>
              <a:srgbClr val="DCE3EE"/>
            </a:solidFill>
            <a:prstDash val="solid"/>
          </a:ln>
        </p:spPr>
      </p:sp>
      <p:sp>
        <p:nvSpPr>
          <p:cNvPr id="45" name="Shape 35"/>
          <p:cNvSpPr/>
          <p:nvPr/>
        </p:nvSpPr>
        <p:spPr>
          <a:xfrm>
            <a:off x="4572000" y="4882896"/>
            <a:ext cx="457200" cy="457200"/>
          </a:xfrm>
          <a:prstGeom prst="ellipse">
            <a:avLst/>
          </a:prstGeom>
          <a:solidFill>
            <a:srgbClr val="1B2A4A"/>
          </a:solidFill>
          <a:ln/>
        </p:spPr>
      </p:sp>
      <p:pic>
        <p:nvPicPr>
          <p:cNvPr id="46" name="Image 8" descr="preencoded.png">    </p:cNvPr>
          <p:cNvPicPr>
            <a:picLocks noChangeAspect="1"/>
          </p:cNvPicPr>
          <p:nvPr/>
        </p:nvPicPr>
        <p:blipFill>
          <a:blip r:embed="rId9"/>
          <a:stretch>
            <a:fillRect/>
          </a:stretch>
        </p:blipFill>
        <p:spPr>
          <a:xfrm>
            <a:off x="4681728" y="4992624"/>
            <a:ext cx="237744" cy="237744"/>
          </a:xfrm>
          <a:prstGeom prst="rect">
            <a:avLst/>
          </a:prstGeom>
        </p:spPr>
      </p:pic>
      <p:sp>
        <p:nvSpPr>
          <p:cNvPr id="47" name="Text 36"/>
          <p:cNvSpPr txBox="1"/>
          <p:nvPr/>
        </p:nvSpPr>
        <p:spPr>
          <a:xfrm>
            <a:off x="5157216" y="4828032"/>
            <a:ext cx="2711196" cy="566928"/>
          </a:xfrm>
          <a:prstGeom prst="rect">
            <a:avLst/>
          </a:prstGeom>
          <a:noFill/>
          <a:ln/>
        </p:spPr>
        <p:txBody>
          <a:bodyPr wrap="square" lIns="0" tIns="0" rIns="0" bIns="0" rtlCol="0" anchor="ctr"/>
          <a:lstStyle/>
          <a:p>
            <a:pPr indent="0" marL="0">
              <a:buNone/>
            </a:pPr>
            <a:r>
              <a:rPr lang="en-US" sz="1350" b="1" dirty="0">
                <a:solidFill>
                  <a:srgbClr val="1B2A4A"/>
                </a:solidFill>
                <a:latin typeface="Calibri" pitchFamily="34" charset="0"/>
                <a:ea typeface="Calibri" pitchFamily="34" charset="-122"/>
                <a:cs typeface="Calibri" pitchFamily="34" charset="-120"/>
              </a:rPr>
              <a:t>Policy changes through change management</a:t>
            </a:r>
            <a:endParaRPr lang="en-US" sz="1350" dirty="0"/>
          </a:p>
        </p:txBody>
      </p:sp>
      <p:sp>
        <p:nvSpPr>
          <p:cNvPr id="48" name="Text 37"/>
          <p:cNvSpPr txBox="1"/>
          <p:nvPr/>
        </p:nvSpPr>
        <p:spPr>
          <a:xfrm>
            <a:off x="4572000" y="5431536"/>
            <a:ext cx="3259836" cy="539496"/>
          </a:xfrm>
          <a:prstGeom prst="rect">
            <a:avLst/>
          </a:prstGeom>
          <a:noFill/>
          <a:ln/>
        </p:spPr>
        <p:txBody>
          <a:bodyPr wrap="square" lIns="0" tIns="0" rIns="0" bIns="0" rtlCol="0" anchor="t"/>
          <a:lstStyle/>
          <a:p>
            <a:pPr indent="0" marL="0">
              <a:buNone/>
            </a:pPr>
            <a:r>
              <a:rPr lang="en-US" sz="1150" dirty="0">
                <a:solidFill>
                  <a:srgbClr val="64748B"/>
                </a:solidFill>
                <a:latin typeface="Calibri" pitchFamily="34" charset="0"/>
                <a:ea typeface="Calibri" pitchFamily="34" charset="-122"/>
                <a:cs typeface="Calibri" pitchFamily="34" charset="-120"/>
              </a:rPr>
              <a:t>DLP rule and policy changes documented and approved by Cybersecurity before implementation.</a:t>
            </a:r>
            <a:endParaRPr lang="en-US" sz="1150" dirty="0"/>
          </a:p>
        </p:txBody>
      </p:sp>
      <p:sp>
        <p:nvSpPr>
          <p:cNvPr id="49" name="Shape 38"/>
          <p:cNvSpPr/>
          <p:nvPr/>
        </p:nvSpPr>
        <p:spPr>
          <a:xfrm>
            <a:off x="8124444" y="4700016"/>
            <a:ext cx="3607308" cy="1344168"/>
          </a:xfrm>
          <a:prstGeom prst="roundRect">
            <a:avLst>
              <a:gd name="adj" fmla="val 4762"/>
            </a:avLst>
          </a:prstGeom>
          <a:solidFill>
            <a:srgbClr val="F4F7FC"/>
          </a:solidFill>
          <a:ln w="9525">
            <a:solidFill>
              <a:srgbClr val="DCE3EE"/>
            </a:solidFill>
            <a:prstDash val="solid"/>
          </a:ln>
        </p:spPr>
      </p:sp>
      <p:sp>
        <p:nvSpPr>
          <p:cNvPr id="50" name="Shape 39"/>
          <p:cNvSpPr/>
          <p:nvPr/>
        </p:nvSpPr>
        <p:spPr>
          <a:xfrm>
            <a:off x="8307324" y="4882896"/>
            <a:ext cx="457200" cy="457200"/>
          </a:xfrm>
          <a:prstGeom prst="ellipse">
            <a:avLst/>
          </a:prstGeom>
          <a:solidFill>
            <a:srgbClr val="2A8C96"/>
          </a:solidFill>
          <a:ln/>
        </p:spPr>
      </p:sp>
      <p:pic>
        <p:nvPicPr>
          <p:cNvPr id="51" name="Image 9" descr="preencoded.png">    </p:cNvPr>
          <p:cNvPicPr>
            <a:picLocks noChangeAspect="1"/>
          </p:cNvPicPr>
          <p:nvPr/>
        </p:nvPicPr>
        <p:blipFill>
          <a:blip r:embed="rId10"/>
          <a:stretch>
            <a:fillRect/>
          </a:stretch>
        </p:blipFill>
        <p:spPr>
          <a:xfrm>
            <a:off x="8417052" y="4992624"/>
            <a:ext cx="237744" cy="237744"/>
          </a:xfrm>
          <a:prstGeom prst="rect">
            <a:avLst/>
          </a:prstGeom>
        </p:spPr>
      </p:pic>
      <p:sp>
        <p:nvSpPr>
          <p:cNvPr id="52" name="Text 40"/>
          <p:cNvSpPr txBox="1"/>
          <p:nvPr/>
        </p:nvSpPr>
        <p:spPr>
          <a:xfrm>
            <a:off x="8892540" y="4828032"/>
            <a:ext cx="2711196" cy="566928"/>
          </a:xfrm>
          <a:prstGeom prst="rect">
            <a:avLst/>
          </a:prstGeom>
          <a:noFill/>
          <a:ln/>
        </p:spPr>
        <p:txBody>
          <a:bodyPr wrap="square" lIns="0" tIns="0" rIns="0" bIns="0" rtlCol="0" anchor="ctr"/>
          <a:lstStyle/>
          <a:p>
            <a:pPr indent="0" marL="0">
              <a:buNone/>
            </a:pPr>
            <a:r>
              <a:rPr lang="en-US" sz="1350" b="1" dirty="0">
                <a:solidFill>
                  <a:srgbClr val="1B2A4A"/>
                </a:solidFill>
                <a:latin typeface="Calibri" pitchFamily="34" charset="0"/>
                <a:ea typeface="Calibri" pitchFamily="34" charset="-122"/>
                <a:cs typeface="Calibri" pitchFamily="34" charset="-120"/>
              </a:rPr>
              <a:t>Controlled vendor access</a:t>
            </a:r>
            <a:endParaRPr lang="en-US" sz="1350" dirty="0"/>
          </a:p>
        </p:txBody>
      </p:sp>
      <p:sp>
        <p:nvSpPr>
          <p:cNvPr id="53" name="Text 41"/>
          <p:cNvSpPr txBox="1"/>
          <p:nvPr/>
        </p:nvSpPr>
        <p:spPr>
          <a:xfrm>
            <a:off x="8307324" y="5431536"/>
            <a:ext cx="3259836" cy="539496"/>
          </a:xfrm>
          <a:prstGeom prst="rect">
            <a:avLst/>
          </a:prstGeom>
          <a:noFill/>
          <a:ln/>
        </p:spPr>
        <p:txBody>
          <a:bodyPr wrap="square" lIns="0" tIns="0" rIns="0" bIns="0" rtlCol="0" anchor="t"/>
          <a:lstStyle/>
          <a:p>
            <a:pPr indent="0" marL="0">
              <a:buNone/>
            </a:pPr>
            <a:r>
              <a:rPr lang="en-US" sz="1150" dirty="0">
                <a:solidFill>
                  <a:srgbClr val="64748B"/>
                </a:solidFill>
                <a:latin typeface="Calibri" pitchFamily="34" charset="0"/>
                <a:ea typeface="Calibri" pitchFamily="34" charset="-122"/>
                <a:cs typeface="Calibri" pitchFamily="34" charset="-120"/>
              </a:rPr>
              <a:t>Vendor sessions approved, time-bound and recorded, with a periodic review of privileged access.</a:t>
            </a:r>
            <a:endParaRPr lang="en-US" sz="115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457200" y="310896"/>
            <a:ext cx="530352" cy="530352"/>
          </a:xfrm>
          <a:prstGeom prst="ellipse">
            <a:avLst/>
          </a:prstGeom>
          <a:solidFill>
            <a:srgbClr val="1B2A4A"/>
          </a:solidFill>
          <a:ln/>
        </p:spPr>
      </p:sp>
      <p:pic>
        <p:nvPicPr>
          <p:cNvPr id="3" name="Image 0" descr="preencoded.png">    </p:cNvPr>
          <p:cNvPicPr>
            <a:picLocks noChangeAspect="1"/>
          </p:cNvPicPr>
          <p:nvPr/>
        </p:nvPicPr>
        <p:blipFill>
          <a:blip r:embed="rId1"/>
          <a:stretch>
            <a:fillRect/>
          </a:stretch>
        </p:blipFill>
        <p:spPr>
          <a:xfrm>
            <a:off x="589788" y="443484"/>
            <a:ext cx="265176" cy="265176"/>
          </a:xfrm>
          <a:prstGeom prst="rect">
            <a:avLst/>
          </a:prstGeom>
        </p:spPr>
      </p:pic>
      <p:sp>
        <p:nvSpPr>
          <p:cNvPr id="4" name="Text 1"/>
          <p:cNvSpPr/>
          <p:nvPr>
            <p:ph idx="101" type="title" hasCustomPrompt="1"/>
          </p:nvPr>
        </p:nvSpPr>
        <p:spPr>
          <a:xfrm>
            <a:off x="1143000" y="274320"/>
            <a:ext cx="7223760" cy="603504"/>
          </a:xfrm>
          <a:prstGeom prst="rect">
            <a:avLst/>
          </a:prstGeom>
          <a:noFill/>
          <a:ln/>
        </p:spPr>
        <p:txBody>
          <a:bodyPr wrap="square" lIns="0" tIns="0" rIns="0" bIns="0" rtlCol="0" anchor="ctr"/>
          <a:lstStyle/>
          <a:p>
            <a:pPr algn="l" indent="0" marL="0">
              <a:buNone/>
            </a:pPr>
            <a:r>
              <a:rPr lang="en-US" sz="3000" b="1" dirty="0">
                <a:solidFill>
                  <a:srgbClr val="1B2A4A"/>
                </a:solidFill>
                <a:latin typeface="Calibri" pitchFamily="34" charset="0"/>
                <a:ea typeface="Calibri" pitchFamily="34" charset="-122"/>
                <a:cs typeface="Calibri" pitchFamily="34" charset="-120"/>
              </a:rPr>
              <a:t>DLP Incidents: Overview</a:t>
            </a:r>
            <a:endParaRPr lang="en-US" sz="3000" dirty="0"/>
          </a:p>
        </p:txBody>
      </p:sp>
      <p:sp>
        <p:nvSpPr>
          <p:cNvPr id="5" name="Text 2"/>
          <p:cNvSpPr txBox="1"/>
          <p:nvPr/>
        </p:nvSpPr>
        <p:spPr>
          <a:xfrm>
            <a:off x="8458200" y="384048"/>
            <a:ext cx="3273552" cy="384048"/>
          </a:xfrm>
          <a:prstGeom prst="rect">
            <a:avLst/>
          </a:prstGeom>
          <a:noFill/>
          <a:ln/>
        </p:spPr>
        <p:txBody>
          <a:bodyPr wrap="square" lIns="0" tIns="0" rIns="0" bIns="0" rtlCol="0" anchor="ctr"/>
          <a:lstStyle/>
          <a:p>
            <a:pPr algn="r" indent="0" marL="0">
              <a:buNone/>
            </a:pPr>
            <a:r>
              <a:rPr lang="en-US" sz="1200" dirty="0">
                <a:solidFill>
                  <a:srgbClr val="64748B"/>
                </a:solidFill>
                <a:latin typeface="Calibri" pitchFamily="34" charset="0"/>
                <a:ea typeface="Calibri" pitchFamily="34" charset="-122"/>
                <a:cs typeface="Calibri" pitchFamily="34" charset="-120"/>
              </a:rPr>
              <a:t>IR  |  DLP Incidents</a:t>
            </a:r>
            <a:endParaRPr lang="en-US" sz="1200" dirty="0"/>
          </a:p>
        </p:txBody>
      </p:sp>
      <p:sp>
        <p:nvSpPr>
          <p:cNvPr id="6" name="Text 3"/>
          <p:cNvSpPr txBox="1"/>
          <p:nvPr/>
        </p:nvSpPr>
        <p:spPr>
          <a:xfrm>
            <a:off x="457200" y="932688"/>
            <a:ext cx="11274552" cy="310896"/>
          </a:xfrm>
          <a:prstGeom prst="rect">
            <a:avLst/>
          </a:prstGeom>
          <a:noFill/>
          <a:ln/>
        </p:spPr>
        <p:txBody>
          <a:bodyPr wrap="square" lIns="0" tIns="0" rIns="0" bIns="0" rtlCol="0" anchor="ctr"/>
          <a:lstStyle/>
          <a:p>
            <a:pPr indent="0" marL="0">
              <a:buNone/>
            </a:pPr>
            <a:r>
              <a:rPr lang="en-US" sz="1500" dirty="0">
                <a:solidFill>
                  <a:srgbClr val="64748B"/>
                </a:solidFill>
                <a:latin typeface="Calibri" pitchFamily="34" charset="0"/>
                <a:ea typeface="Calibri" pitchFamily="34" charset="-122"/>
                <a:cs typeface="Calibri" pitchFamily="34" charset="-120"/>
              </a:rPr>
              <a:t>Forcepoint DLP incidents by severity and action, </a:t>
            </a:r>
            <a:pPr indent="0" marL="0">
              <a:buNone/>
            </a:pPr>
            <a:r>
              <a:rPr lang="en-US" sz="1500" dirty="0">
                <a:solidFill>
                  <a:srgbClr val="B97A1F"/>
                </a:solidFill>
                <a:latin typeface="Calibri" pitchFamily="34" charset="0"/>
                <a:ea typeface="Calibri" pitchFamily="34" charset="-122"/>
                <a:cs typeface="Calibri" pitchFamily="34" charset="-120"/>
              </a:rPr>
              <a:t>[reporting period]</a:t>
            </a:r>
            <a:endParaRPr lang="en-US" sz="1500" dirty="0"/>
          </a:p>
        </p:txBody>
      </p:sp>
      <p:sp>
        <p:nvSpPr>
          <p:cNvPr id="7" name="Shape 4"/>
          <p:cNvSpPr/>
          <p:nvPr/>
        </p:nvSpPr>
        <p:spPr>
          <a:xfrm>
            <a:off x="457200" y="1371600"/>
            <a:ext cx="3017520" cy="1417320"/>
          </a:xfrm>
          <a:prstGeom prst="roundRect">
            <a:avLst>
              <a:gd name="adj" fmla="val 4516"/>
            </a:avLst>
          </a:prstGeom>
          <a:solidFill>
            <a:srgbClr val="1B2A4A"/>
          </a:solidFill>
          <a:ln/>
        </p:spPr>
      </p:sp>
      <p:sp>
        <p:nvSpPr>
          <p:cNvPr id="8" name="Text 5"/>
          <p:cNvSpPr txBox="1"/>
          <p:nvPr/>
        </p:nvSpPr>
        <p:spPr>
          <a:xfrm>
            <a:off x="713232" y="1371600"/>
            <a:ext cx="2651760" cy="1417320"/>
          </a:xfrm>
          <a:prstGeom prst="rect">
            <a:avLst/>
          </a:prstGeom>
          <a:noFill/>
          <a:ln/>
        </p:spPr>
        <p:txBody>
          <a:bodyPr wrap="square" lIns="0" tIns="0" rIns="0" bIns="0" rtlCol="0" anchor="ctr"/>
          <a:lstStyle/>
          <a:p>
            <a:pPr indent="0" marL="0">
              <a:buNone/>
            </a:pPr>
            <a:r>
              <a:rPr lang="en-US" sz="4000" b="1" dirty="0">
                <a:solidFill>
                  <a:srgbClr val="F5C46B"/>
                </a:solidFill>
                <a:latin typeface="Calibri" pitchFamily="34" charset="0"/>
                <a:ea typeface="Calibri" pitchFamily="34" charset="-122"/>
                <a:cs typeface="Calibri" pitchFamily="34" charset="-120"/>
              </a:rPr>
              <a:t>48,504</a:t>
            </a:r>
            <a:endParaRPr lang="en-US" sz="4000" dirty="0"/>
          </a:p>
          <a:p>
            <a:pPr indent="0" marL="0">
              <a:buNone/>
            </a:pPr>
            <a:r>
              <a:rPr lang="en-US" sz="1300" dirty="0">
                <a:solidFill>
                  <a:srgbClr val="CADCFC"/>
                </a:solidFill>
                <a:latin typeface="Calibri" pitchFamily="34" charset="0"/>
                <a:ea typeface="Calibri" pitchFamily="34" charset="-122"/>
                <a:cs typeface="Calibri" pitchFamily="34" charset="-120"/>
              </a:rPr>
              <a:t>Total DLP incidents</a:t>
            </a:r>
            <a:endParaRPr lang="en-US" sz="4000" dirty="0"/>
          </a:p>
        </p:txBody>
      </p:sp>
      <p:sp>
        <p:nvSpPr>
          <p:cNvPr id="9" name="Shape 6"/>
          <p:cNvSpPr/>
          <p:nvPr/>
        </p:nvSpPr>
        <p:spPr>
          <a:xfrm>
            <a:off x="457200" y="2926080"/>
            <a:ext cx="3017520" cy="960120"/>
          </a:xfrm>
          <a:prstGeom prst="roundRect">
            <a:avLst>
              <a:gd name="adj" fmla="val 6667"/>
            </a:avLst>
          </a:prstGeom>
          <a:solidFill>
            <a:srgbClr val="F4F7FC"/>
          </a:solidFill>
          <a:ln w="9525">
            <a:solidFill>
              <a:srgbClr val="DCE3EE"/>
            </a:solidFill>
            <a:prstDash val="solid"/>
          </a:ln>
        </p:spPr>
      </p:sp>
      <p:sp>
        <p:nvSpPr>
          <p:cNvPr id="10" name="Shape 7"/>
          <p:cNvSpPr/>
          <p:nvPr/>
        </p:nvSpPr>
        <p:spPr>
          <a:xfrm>
            <a:off x="658368" y="3291840"/>
            <a:ext cx="219456" cy="219456"/>
          </a:xfrm>
          <a:prstGeom prst="ellipse">
            <a:avLst/>
          </a:prstGeom>
          <a:solidFill>
            <a:srgbClr val="D9412B"/>
          </a:solidFill>
          <a:ln/>
        </p:spPr>
      </p:sp>
      <p:sp>
        <p:nvSpPr>
          <p:cNvPr id="11" name="Text 8"/>
          <p:cNvSpPr txBox="1"/>
          <p:nvPr/>
        </p:nvSpPr>
        <p:spPr>
          <a:xfrm>
            <a:off x="1051560" y="2926080"/>
            <a:ext cx="1463040" cy="960120"/>
          </a:xfrm>
          <a:prstGeom prst="rect">
            <a:avLst/>
          </a:prstGeom>
          <a:noFill/>
          <a:ln/>
        </p:spPr>
        <p:txBody>
          <a:bodyPr wrap="square" lIns="0" tIns="0" rIns="0" bIns="0" rtlCol="0" anchor="ctr"/>
          <a:lstStyle/>
          <a:p>
            <a:pPr indent="0" marL="0">
              <a:buNone/>
            </a:pPr>
            <a:r>
              <a:rPr lang="en-US" sz="2200" b="1" dirty="0">
                <a:solidFill>
                  <a:srgbClr val="1B2A4A"/>
                </a:solidFill>
                <a:latin typeface="Calibri" pitchFamily="34" charset="0"/>
                <a:ea typeface="Calibri" pitchFamily="34" charset="-122"/>
                <a:cs typeface="Calibri" pitchFamily="34" charset="-120"/>
              </a:rPr>
              <a:t>13,568</a:t>
            </a:r>
            <a:endParaRPr lang="en-US" sz="2200" dirty="0"/>
          </a:p>
          <a:p>
            <a:pPr indent="0" marL="0">
              <a:buNone/>
            </a:pPr>
            <a:r>
              <a:rPr lang="en-US" sz="1200" dirty="0">
                <a:solidFill>
                  <a:srgbClr val="64748B"/>
                </a:solidFill>
                <a:latin typeface="Calibri" pitchFamily="34" charset="0"/>
                <a:ea typeface="Calibri" pitchFamily="34" charset="-122"/>
                <a:cs typeface="Calibri" pitchFamily="34" charset="-120"/>
              </a:rPr>
              <a:t>High severity</a:t>
            </a:r>
            <a:endParaRPr lang="en-US" sz="2200" dirty="0"/>
          </a:p>
        </p:txBody>
      </p:sp>
      <p:sp>
        <p:nvSpPr>
          <p:cNvPr id="12" name="Text 9"/>
          <p:cNvSpPr txBox="1"/>
          <p:nvPr/>
        </p:nvSpPr>
        <p:spPr>
          <a:xfrm>
            <a:off x="2377440" y="2926080"/>
            <a:ext cx="914400" cy="960120"/>
          </a:xfrm>
          <a:prstGeom prst="rect">
            <a:avLst/>
          </a:prstGeom>
          <a:noFill/>
          <a:ln/>
        </p:spPr>
        <p:txBody>
          <a:bodyPr wrap="square" lIns="0" tIns="0" rIns="0" bIns="0" rtlCol="0" anchor="ctr"/>
          <a:lstStyle/>
          <a:p>
            <a:pPr algn="r" indent="0" marL="0">
              <a:buNone/>
            </a:pPr>
            <a:r>
              <a:rPr lang="en-US" sz="1600" b="1" dirty="0">
                <a:solidFill>
                  <a:srgbClr val="64748B"/>
                </a:solidFill>
                <a:latin typeface="Calibri" pitchFamily="34" charset="0"/>
                <a:ea typeface="Calibri" pitchFamily="34" charset="-122"/>
                <a:cs typeface="Calibri" pitchFamily="34" charset="-120"/>
              </a:rPr>
              <a:t>28.0%</a:t>
            </a:r>
            <a:endParaRPr lang="en-US" sz="1600" dirty="0"/>
          </a:p>
        </p:txBody>
      </p:sp>
      <p:sp>
        <p:nvSpPr>
          <p:cNvPr id="13" name="Shape 10"/>
          <p:cNvSpPr/>
          <p:nvPr/>
        </p:nvSpPr>
        <p:spPr>
          <a:xfrm>
            <a:off x="457200" y="3977640"/>
            <a:ext cx="3017520" cy="960120"/>
          </a:xfrm>
          <a:prstGeom prst="roundRect">
            <a:avLst>
              <a:gd name="adj" fmla="val 6667"/>
            </a:avLst>
          </a:prstGeom>
          <a:solidFill>
            <a:srgbClr val="F4F7FC"/>
          </a:solidFill>
          <a:ln w="9525">
            <a:solidFill>
              <a:srgbClr val="DCE3EE"/>
            </a:solidFill>
            <a:prstDash val="solid"/>
          </a:ln>
        </p:spPr>
      </p:sp>
      <p:sp>
        <p:nvSpPr>
          <p:cNvPr id="14" name="Shape 11"/>
          <p:cNvSpPr/>
          <p:nvPr/>
        </p:nvSpPr>
        <p:spPr>
          <a:xfrm>
            <a:off x="658368" y="4343400"/>
            <a:ext cx="219456" cy="219456"/>
          </a:xfrm>
          <a:prstGeom prst="ellipse">
            <a:avLst/>
          </a:prstGeom>
          <a:solidFill>
            <a:srgbClr val="E8842C"/>
          </a:solidFill>
          <a:ln/>
        </p:spPr>
      </p:sp>
      <p:sp>
        <p:nvSpPr>
          <p:cNvPr id="15" name="Text 12"/>
          <p:cNvSpPr txBox="1"/>
          <p:nvPr/>
        </p:nvSpPr>
        <p:spPr>
          <a:xfrm>
            <a:off x="1051560" y="3977640"/>
            <a:ext cx="1463040" cy="960120"/>
          </a:xfrm>
          <a:prstGeom prst="rect">
            <a:avLst/>
          </a:prstGeom>
          <a:noFill/>
          <a:ln/>
        </p:spPr>
        <p:txBody>
          <a:bodyPr wrap="square" lIns="0" tIns="0" rIns="0" bIns="0" rtlCol="0" anchor="ctr"/>
          <a:lstStyle/>
          <a:p>
            <a:pPr indent="0" marL="0">
              <a:buNone/>
            </a:pPr>
            <a:r>
              <a:rPr lang="en-US" sz="2200" b="1" dirty="0">
                <a:solidFill>
                  <a:srgbClr val="1B2A4A"/>
                </a:solidFill>
                <a:latin typeface="Calibri" pitchFamily="34" charset="0"/>
                <a:ea typeface="Calibri" pitchFamily="34" charset="-122"/>
                <a:cs typeface="Calibri" pitchFamily="34" charset="-120"/>
              </a:rPr>
              <a:t>26,248</a:t>
            </a:r>
            <a:endParaRPr lang="en-US" sz="2200" dirty="0"/>
          </a:p>
          <a:p>
            <a:pPr indent="0" marL="0">
              <a:buNone/>
            </a:pPr>
            <a:r>
              <a:rPr lang="en-US" sz="1200" dirty="0">
                <a:solidFill>
                  <a:srgbClr val="64748B"/>
                </a:solidFill>
                <a:latin typeface="Calibri" pitchFamily="34" charset="0"/>
                <a:ea typeface="Calibri" pitchFamily="34" charset="-122"/>
                <a:cs typeface="Calibri" pitchFamily="34" charset="-120"/>
              </a:rPr>
              <a:t>Medium severity</a:t>
            </a:r>
            <a:endParaRPr lang="en-US" sz="2200" dirty="0"/>
          </a:p>
        </p:txBody>
      </p:sp>
      <p:sp>
        <p:nvSpPr>
          <p:cNvPr id="16" name="Text 13"/>
          <p:cNvSpPr txBox="1"/>
          <p:nvPr/>
        </p:nvSpPr>
        <p:spPr>
          <a:xfrm>
            <a:off x="2377440" y="3977640"/>
            <a:ext cx="914400" cy="960120"/>
          </a:xfrm>
          <a:prstGeom prst="rect">
            <a:avLst/>
          </a:prstGeom>
          <a:noFill/>
          <a:ln/>
        </p:spPr>
        <p:txBody>
          <a:bodyPr wrap="square" lIns="0" tIns="0" rIns="0" bIns="0" rtlCol="0" anchor="ctr"/>
          <a:lstStyle/>
          <a:p>
            <a:pPr algn="r" indent="0" marL="0">
              <a:buNone/>
            </a:pPr>
            <a:r>
              <a:rPr lang="en-US" sz="1600" b="1" dirty="0">
                <a:solidFill>
                  <a:srgbClr val="64748B"/>
                </a:solidFill>
                <a:latin typeface="Calibri" pitchFamily="34" charset="0"/>
                <a:ea typeface="Calibri" pitchFamily="34" charset="-122"/>
                <a:cs typeface="Calibri" pitchFamily="34" charset="-120"/>
              </a:rPr>
              <a:t>54.1%</a:t>
            </a:r>
            <a:endParaRPr lang="en-US" sz="1600" dirty="0"/>
          </a:p>
        </p:txBody>
      </p:sp>
      <p:sp>
        <p:nvSpPr>
          <p:cNvPr id="17" name="Shape 14"/>
          <p:cNvSpPr/>
          <p:nvPr/>
        </p:nvSpPr>
        <p:spPr>
          <a:xfrm>
            <a:off x="457200" y="5029200"/>
            <a:ext cx="3017520" cy="960120"/>
          </a:xfrm>
          <a:prstGeom prst="roundRect">
            <a:avLst>
              <a:gd name="adj" fmla="val 6667"/>
            </a:avLst>
          </a:prstGeom>
          <a:solidFill>
            <a:srgbClr val="F4F7FC"/>
          </a:solidFill>
          <a:ln w="9525">
            <a:solidFill>
              <a:srgbClr val="DCE3EE"/>
            </a:solidFill>
            <a:prstDash val="solid"/>
          </a:ln>
        </p:spPr>
      </p:sp>
      <p:sp>
        <p:nvSpPr>
          <p:cNvPr id="18" name="Shape 15"/>
          <p:cNvSpPr/>
          <p:nvPr/>
        </p:nvSpPr>
        <p:spPr>
          <a:xfrm>
            <a:off x="658368" y="5394960"/>
            <a:ext cx="219456" cy="219456"/>
          </a:xfrm>
          <a:prstGeom prst="ellipse">
            <a:avLst/>
          </a:prstGeom>
          <a:solidFill>
            <a:srgbClr val="EBCB3B"/>
          </a:solidFill>
          <a:ln/>
        </p:spPr>
      </p:sp>
      <p:sp>
        <p:nvSpPr>
          <p:cNvPr id="19" name="Text 16"/>
          <p:cNvSpPr txBox="1"/>
          <p:nvPr/>
        </p:nvSpPr>
        <p:spPr>
          <a:xfrm>
            <a:off x="1051560" y="5029200"/>
            <a:ext cx="1463040" cy="960120"/>
          </a:xfrm>
          <a:prstGeom prst="rect">
            <a:avLst/>
          </a:prstGeom>
          <a:noFill/>
          <a:ln/>
        </p:spPr>
        <p:txBody>
          <a:bodyPr wrap="square" lIns="0" tIns="0" rIns="0" bIns="0" rtlCol="0" anchor="ctr"/>
          <a:lstStyle/>
          <a:p>
            <a:pPr indent="0" marL="0">
              <a:buNone/>
            </a:pPr>
            <a:r>
              <a:rPr lang="en-US" sz="2200" b="1" dirty="0">
                <a:solidFill>
                  <a:srgbClr val="1B2A4A"/>
                </a:solidFill>
                <a:latin typeface="Calibri" pitchFamily="34" charset="0"/>
                <a:ea typeface="Calibri" pitchFamily="34" charset="-122"/>
                <a:cs typeface="Calibri" pitchFamily="34" charset="-120"/>
              </a:rPr>
              <a:t>8,688</a:t>
            </a:r>
            <a:endParaRPr lang="en-US" sz="2200" dirty="0"/>
          </a:p>
          <a:p>
            <a:pPr indent="0" marL="0">
              <a:buNone/>
            </a:pPr>
            <a:r>
              <a:rPr lang="en-US" sz="1200" dirty="0">
                <a:solidFill>
                  <a:srgbClr val="64748B"/>
                </a:solidFill>
                <a:latin typeface="Calibri" pitchFamily="34" charset="0"/>
                <a:ea typeface="Calibri" pitchFamily="34" charset="-122"/>
                <a:cs typeface="Calibri" pitchFamily="34" charset="-120"/>
              </a:rPr>
              <a:t>Low severity</a:t>
            </a:r>
            <a:endParaRPr lang="en-US" sz="2200" dirty="0"/>
          </a:p>
        </p:txBody>
      </p:sp>
      <p:sp>
        <p:nvSpPr>
          <p:cNvPr id="20" name="Text 17"/>
          <p:cNvSpPr txBox="1"/>
          <p:nvPr/>
        </p:nvSpPr>
        <p:spPr>
          <a:xfrm>
            <a:off x="2377440" y="5029200"/>
            <a:ext cx="914400" cy="960120"/>
          </a:xfrm>
          <a:prstGeom prst="rect">
            <a:avLst/>
          </a:prstGeom>
          <a:noFill/>
          <a:ln/>
        </p:spPr>
        <p:txBody>
          <a:bodyPr wrap="square" lIns="0" tIns="0" rIns="0" bIns="0" rtlCol="0" anchor="ctr"/>
          <a:lstStyle/>
          <a:p>
            <a:pPr algn="r" indent="0" marL="0">
              <a:buNone/>
            </a:pPr>
            <a:r>
              <a:rPr lang="en-US" sz="1600" b="1" dirty="0">
                <a:solidFill>
                  <a:srgbClr val="64748B"/>
                </a:solidFill>
                <a:latin typeface="Calibri" pitchFamily="34" charset="0"/>
                <a:ea typeface="Calibri" pitchFamily="34" charset="-122"/>
                <a:cs typeface="Calibri" pitchFamily="34" charset="-120"/>
              </a:rPr>
              <a:t>17.9%</a:t>
            </a:r>
            <a:endParaRPr lang="en-US" sz="1600" dirty="0"/>
          </a:p>
        </p:txBody>
      </p:sp>
      <p:sp>
        <p:nvSpPr>
          <p:cNvPr id="21" name="Shape 18"/>
          <p:cNvSpPr/>
          <p:nvPr/>
        </p:nvSpPr>
        <p:spPr>
          <a:xfrm>
            <a:off x="3703320" y="1371600"/>
            <a:ext cx="3657600" cy="4572000"/>
          </a:xfrm>
          <a:prstGeom prst="roundRect">
            <a:avLst>
              <a:gd name="adj" fmla="val 1750"/>
            </a:avLst>
          </a:prstGeom>
          <a:solidFill>
            <a:srgbClr val="F4F7FC"/>
          </a:solidFill>
          <a:ln w="9525">
            <a:solidFill>
              <a:srgbClr val="DCE3EE"/>
            </a:solidFill>
            <a:prstDash val="solid"/>
          </a:ln>
        </p:spPr>
      </p:sp>
      <p:sp>
        <p:nvSpPr>
          <p:cNvPr id="22" name="Text 19"/>
          <p:cNvSpPr txBox="1"/>
          <p:nvPr/>
        </p:nvSpPr>
        <p:spPr>
          <a:xfrm>
            <a:off x="3931920" y="1481328"/>
            <a:ext cx="3200400" cy="329184"/>
          </a:xfrm>
          <a:prstGeom prst="rect">
            <a:avLst/>
          </a:prstGeom>
          <a:noFill/>
          <a:ln/>
        </p:spPr>
        <p:txBody>
          <a:bodyPr wrap="square" lIns="0" tIns="0" rIns="0" bIns="0"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Incidents by severity</a:t>
            </a:r>
            <a:endParaRPr lang="en-US" sz="1500" dirty="0"/>
          </a:p>
        </p:txBody>
      </p:sp>
      <p:graphicFrame>
        <p:nvGraphicFramePr>
          <p:cNvPr id="23" name="Chart 0" descr=""/>
          <p:cNvGraphicFramePr/>
          <p:nvPr/>
        </p:nvGraphicFramePr>
        <p:xfrm>
          <a:off x="3794760" y="1874520"/>
          <a:ext cx="3474720" cy="3931920"/>
        </p:xfrm>
        <a:graphic xmlns:a="http://schemas.openxmlformats.org/drawingml/2006/main">
          <a:graphicData uri="http://schemas.openxmlformats.org/drawingml/2006/chart">
            <c:chart xmlns:c="http://schemas.openxmlformats.org/drawingml/2006/chart" r:id="rId2"/>
          </a:graphicData>
        </a:graphic>
      </p:graphicFrame>
      <p:sp>
        <p:nvSpPr>
          <p:cNvPr id="24" name="Shape 20"/>
          <p:cNvSpPr/>
          <p:nvPr/>
        </p:nvSpPr>
        <p:spPr>
          <a:xfrm>
            <a:off x="7589520" y="1371600"/>
            <a:ext cx="4142232" cy="4572000"/>
          </a:xfrm>
          <a:prstGeom prst="roundRect">
            <a:avLst>
              <a:gd name="adj" fmla="val 1545"/>
            </a:avLst>
          </a:prstGeom>
          <a:solidFill>
            <a:srgbClr val="F4F7FC"/>
          </a:solidFill>
          <a:ln w="9525">
            <a:solidFill>
              <a:srgbClr val="DCE3EE"/>
            </a:solidFill>
            <a:prstDash val="solid"/>
          </a:ln>
        </p:spPr>
      </p:sp>
      <p:sp>
        <p:nvSpPr>
          <p:cNvPr id="25" name="Text 21"/>
          <p:cNvSpPr txBox="1"/>
          <p:nvPr/>
        </p:nvSpPr>
        <p:spPr>
          <a:xfrm>
            <a:off x="7818120" y="1481328"/>
            <a:ext cx="3657600" cy="329184"/>
          </a:xfrm>
          <a:prstGeom prst="rect">
            <a:avLst/>
          </a:prstGeom>
          <a:noFill/>
          <a:ln/>
        </p:spPr>
        <p:txBody>
          <a:bodyPr wrap="square" lIns="0" tIns="0" rIns="0" bIns="0"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Incidents by action</a:t>
            </a:r>
            <a:endParaRPr lang="en-US" sz="1500" dirty="0"/>
          </a:p>
        </p:txBody>
      </p:sp>
      <p:sp>
        <p:nvSpPr>
          <p:cNvPr id="26" name="Shape 22"/>
          <p:cNvSpPr/>
          <p:nvPr/>
        </p:nvSpPr>
        <p:spPr>
          <a:xfrm>
            <a:off x="7772400" y="1901952"/>
            <a:ext cx="3776472" cy="365760"/>
          </a:xfrm>
          <a:prstGeom prst="roundRect">
            <a:avLst>
              <a:gd name="adj" fmla="val 12500"/>
            </a:avLst>
          </a:prstGeom>
          <a:solidFill>
            <a:srgbClr val="FFFFFF"/>
          </a:solidFill>
          <a:ln/>
        </p:spPr>
      </p:sp>
      <p:sp>
        <p:nvSpPr>
          <p:cNvPr id="27" name="Shape 23"/>
          <p:cNvSpPr/>
          <p:nvPr/>
        </p:nvSpPr>
        <p:spPr>
          <a:xfrm>
            <a:off x="7909560" y="2020824"/>
            <a:ext cx="128016" cy="128016"/>
          </a:xfrm>
          <a:prstGeom prst="ellipse">
            <a:avLst/>
          </a:prstGeom>
          <a:solidFill>
            <a:srgbClr val="94A0B8"/>
          </a:solidFill>
          <a:ln/>
        </p:spPr>
      </p:sp>
      <p:sp>
        <p:nvSpPr>
          <p:cNvPr id="28" name="Text 24"/>
          <p:cNvSpPr txBox="1"/>
          <p:nvPr/>
        </p:nvSpPr>
        <p:spPr>
          <a:xfrm>
            <a:off x="8156448" y="1901952"/>
            <a:ext cx="2286000" cy="365760"/>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Permitted</a:t>
            </a:r>
            <a:endParaRPr lang="en-US" sz="1250" dirty="0"/>
          </a:p>
        </p:txBody>
      </p:sp>
      <p:sp>
        <p:nvSpPr>
          <p:cNvPr id="29" name="Text 25"/>
          <p:cNvSpPr txBox="1"/>
          <p:nvPr/>
        </p:nvSpPr>
        <p:spPr>
          <a:xfrm>
            <a:off x="10332720" y="1901952"/>
            <a:ext cx="1097280" cy="365760"/>
          </a:xfrm>
          <a:prstGeom prst="rect">
            <a:avLst/>
          </a:prstGeom>
          <a:noFill/>
          <a:ln/>
        </p:spPr>
        <p:txBody>
          <a:bodyPr wrap="square" lIns="0" tIns="0" rIns="0" bIns="0" rtlCol="0" anchor="ctr"/>
          <a:lstStyle/>
          <a:p>
            <a:pPr algn="r" indent="0" marL="0">
              <a:buNone/>
            </a:pPr>
            <a:r>
              <a:rPr lang="en-US" sz="1300" b="1" dirty="0">
                <a:solidFill>
                  <a:srgbClr val="1B2A4A"/>
                </a:solidFill>
                <a:latin typeface="Calibri" pitchFamily="34" charset="0"/>
                <a:ea typeface="Calibri" pitchFamily="34" charset="-122"/>
                <a:cs typeface="Calibri" pitchFamily="34" charset="-120"/>
              </a:rPr>
              <a:t>46,169</a:t>
            </a:r>
            <a:endParaRPr lang="en-US" sz="1300" dirty="0"/>
          </a:p>
        </p:txBody>
      </p:sp>
      <p:sp>
        <p:nvSpPr>
          <p:cNvPr id="30" name="Shape 26"/>
          <p:cNvSpPr/>
          <p:nvPr/>
        </p:nvSpPr>
        <p:spPr>
          <a:xfrm>
            <a:off x="7909560" y="2386584"/>
            <a:ext cx="128016" cy="128016"/>
          </a:xfrm>
          <a:prstGeom prst="ellipse">
            <a:avLst/>
          </a:prstGeom>
          <a:solidFill>
            <a:srgbClr val="94A0B8"/>
          </a:solidFill>
          <a:ln/>
        </p:spPr>
      </p:sp>
      <p:sp>
        <p:nvSpPr>
          <p:cNvPr id="31" name="Text 27"/>
          <p:cNvSpPr txBox="1"/>
          <p:nvPr/>
        </p:nvSpPr>
        <p:spPr>
          <a:xfrm>
            <a:off x="8156448" y="2267712"/>
            <a:ext cx="2286000" cy="365760"/>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Monitor mode</a:t>
            </a:r>
            <a:endParaRPr lang="en-US" sz="1250" dirty="0"/>
          </a:p>
        </p:txBody>
      </p:sp>
      <p:sp>
        <p:nvSpPr>
          <p:cNvPr id="32" name="Text 28"/>
          <p:cNvSpPr txBox="1"/>
          <p:nvPr/>
        </p:nvSpPr>
        <p:spPr>
          <a:xfrm>
            <a:off x="10332720" y="2267712"/>
            <a:ext cx="1097280" cy="365760"/>
          </a:xfrm>
          <a:prstGeom prst="rect">
            <a:avLst/>
          </a:prstGeom>
          <a:noFill/>
          <a:ln/>
        </p:spPr>
        <p:txBody>
          <a:bodyPr wrap="square" lIns="0" tIns="0" rIns="0" bIns="0" rtlCol="0" anchor="ctr"/>
          <a:lstStyle/>
          <a:p>
            <a:pPr algn="r" indent="0" marL="0">
              <a:buNone/>
            </a:pPr>
            <a:r>
              <a:rPr lang="en-US" sz="1300" b="1" dirty="0">
                <a:solidFill>
                  <a:srgbClr val="1B2A4A"/>
                </a:solidFill>
                <a:latin typeface="Calibri" pitchFamily="34" charset="0"/>
                <a:ea typeface="Calibri" pitchFamily="34" charset="-122"/>
                <a:cs typeface="Calibri" pitchFamily="34" charset="-120"/>
              </a:rPr>
              <a:t>7,976</a:t>
            </a:r>
            <a:endParaRPr lang="en-US" sz="1300" dirty="0"/>
          </a:p>
        </p:txBody>
      </p:sp>
      <p:sp>
        <p:nvSpPr>
          <p:cNvPr id="33" name="Shape 29"/>
          <p:cNvSpPr/>
          <p:nvPr/>
        </p:nvSpPr>
        <p:spPr>
          <a:xfrm>
            <a:off x="7772400" y="2633472"/>
            <a:ext cx="3776472" cy="365760"/>
          </a:xfrm>
          <a:prstGeom prst="roundRect">
            <a:avLst>
              <a:gd name="adj" fmla="val 12500"/>
            </a:avLst>
          </a:prstGeom>
          <a:solidFill>
            <a:srgbClr val="FFFFFF"/>
          </a:solidFill>
          <a:ln/>
        </p:spPr>
      </p:sp>
      <p:sp>
        <p:nvSpPr>
          <p:cNvPr id="34" name="Shape 30"/>
          <p:cNvSpPr/>
          <p:nvPr/>
        </p:nvSpPr>
        <p:spPr>
          <a:xfrm>
            <a:off x="7909560" y="2752344"/>
            <a:ext cx="128016" cy="128016"/>
          </a:xfrm>
          <a:prstGeom prst="ellipse">
            <a:avLst/>
          </a:prstGeom>
          <a:solidFill>
            <a:srgbClr val="E8A13D"/>
          </a:solidFill>
          <a:ln/>
        </p:spPr>
      </p:sp>
      <p:sp>
        <p:nvSpPr>
          <p:cNvPr id="35" name="Text 31"/>
          <p:cNvSpPr txBox="1"/>
          <p:nvPr/>
        </p:nvSpPr>
        <p:spPr>
          <a:xfrm>
            <a:off x="8156448" y="2633472"/>
            <a:ext cx="2286000" cy="365760"/>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Permitted (acknowledged)</a:t>
            </a:r>
            <a:endParaRPr lang="en-US" sz="1250" dirty="0"/>
          </a:p>
        </p:txBody>
      </p:sp>
      <p:sp>
        <p:nvSpPr>
          <p:cNvPr id="36" name="Text 32"/>
          <p:cNvSpPr txBox="1"/>
          <p:nvPr/>
        </p:nvSpPr>
        <p:spPr>
          <a:xfrm>
            <a:off x="10332720" y="2633472"/>
            <a:ext cx="1097280" cy="365760"/>
          </a:xfrm>
          <a:prstGeom prst="rect">
            <a:avLst/>
          </a:prstGeom>
          <a:noFill/>
          <a:ln/>
        </p:spPr>
        <p:txBody>
          <a:bodyPr wrap="square" lIns="0" tIns="0" rIns="0" bIns="0" rtlCol="0" anchor="ctr"/>
          <a:lstStyle/>
          <a:p>
            <a:pPr algn="r" indent="0" marL="0">
              <a:buNone/>
            </a:pPr>
            <a:r>
              <a:rPr lang="en-US" sz="1300" b="1" dirty="0">
                <a:solidFill>
                  <a:srgbClr val="1B2A4A"/>
                </a:solidFill>
                <a:latin typeface="Calibri" pitchFamily="34" charset="0"/>
                <a:ea typeface="Calibri" pitchFamily="34" charset="-122"/>
                <a:cs typeface="Calibri" pitchFamily="34" charset="-120"/>
              </a:rPr>
              <a:t>1,189</a:t>
            </a:r>
            <a:endParaRPr lang="en-US" sz="1300" dirty="0"/>
          </a:p>
        </p:txBody>
      </p:sp>
      <p:sp>
        <p:nvSpPr>
          <p:cNvPr id="37" name="Shape 33"/>
          <p:cNvSpPr/>
          <p:nvPr/>
        </p:nvSpPr>
        <p:spPr>
          <a:xfrm>
            <a:off x="7909560" y="3118104"/>
            <a:ext cx="128016" cy="128016"/>
          </a:xfrm>
          <a:prstGeom prst="ellipse">
            <a:avLst/>
          </a:prstGeom>
          <a:solidFill>
            <a:srgbClr val="E8A13D"/>
          </a:solidFill>
          <a:ln/>
        </p:spPr>
      </p:sp>
      <p:sp>
        <p:nvSpPr>
          <p:cNvPr id="38" name="Text 34"/>
          <p:cNvSpPr txBox="1"/>
          <p:nvPr/>
        </p:nvSpPr>
        <p:spPr>
          <a:xfrm>
            <a:off x="8156448" y="2999232"/>
            <a:ext cx="2286000" cy="365760"/>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Continued (confirmed)</a:t>
            </a:r>
            <a:endParaRPr lang="en-US" sz="1250" dirty="0"/>
          </a:p>
        </p:txBody>
      </p:sp>
      <p:sp>
        <p:nvSpPr>
          <p:cNvPr id="39" name="Text 35"/>
          <p:cNvSpPr txBox="1"/>
          <p:nvPr/>
        </p:nvSpPr>
        <p:spPr>
          <a:xfrm>
            <a:off x="10332720" y="2999232"/>
            <a:ext cx="1097280" cy="365760"/>
          </a:xfrm>
          <a:prstGeom prst="rect">
            <a:avLst/>
          </a:prstGeom>
          <a:noFill/>
          <a:ln/>
        </p:spPr>
        <p:txBody>
          <a:bodyPr wrap="square" lIns="0" tIns="0" rIns="0" bIns="0" rtlCol="0" anchor="ctr"/>
          <a:lstStyle/>
          <a:p>
            <a:pPr algn="r" indent="0" marL="0">
              <a:buNone/>
            </a:pPr>
            <a:r>
              <a:rPr lang="en-US" sz="1300" b="1" dirty="0">
                <a:solidFill>
                  <a:srgbClr val="1B2A4A"/>
                </a:solidFill>
                <a:latin typeface="Calibri" pitchFamily="34" charset="0"/>
                <a:ea typeface="Calibri" pitchFamily="34" charset="-122"/>
                <a:cs typeface="Calibri" pitchFamily="34" charset="-120"/>
              </a:rPr>
              <a:t>1,111</a:t>
            </a:r>
            <a:endParaRPr lang="en-US" sz="1300" dirty="0"/>
          </a:p>
        </p:txBody>
      </p:sp>
      <p:sp>
        <p:nvSpPr>
          <p:cNvPr id="40" name="Shape 36"/>
          <p:cNvSpPr/>
          <p:nvPr/>
        </p:nvSpPr>
        <p:spPr>
          <a:xfrm>
            <a:off x="7772400" y="3364992"/>
            <a:ext cx="3776472" cy="365760"/>
          </a:xfrm>
          <a:prstGeom prst="roundRect">
            <a:avLst>
              <a:gd name="adj" fmla="val 12500"/>
            </a:avLst>
          </a:prstGeom>
          <a:solidFill>
            <a:srgbClr val="FFFFFF"/>
          </a:solidFill>
          <a:ln/>
        </p:spPr>
      </p:sp>
      <p:sp>
        <p:nvSpPr>
          <p:cNvPr id="41" name="Shape 37"/>
          <p:cNvSpPr/>
          <p:nvPr/>
        </p:nvSpPr>
        <p:spPr>
          <a:xfrm>
            <a:off x="7909560" y="3483864"/>
            <a:ext cx="128016" cy="128016"/>
          </a:xfrm>
          <a:prstGeom prst="ellipse">
            <a:avLst/>
          </a:prstGeom>
          <a:solidFill>
            <a:srgbClr val="2E8B57"/>
          </a:solidFill>
          <a:ln/>
        </p:spPr>
      </p:sp>
      <p:sp>
        <p:nvSpPr>
          <p:cNvPr id="42" name="Text 38"/>
          <p:cNvSpPr txBox="1"/>
          <p:nvPr/>
        </p:nvSpPr>
        <p:spPr>
          <a:xfrm>
            <a:off x="8156448" y="3364992"/>
            <a:ext cx="2286000" cy="365760"/>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Blocked</a:t>
            </a:r>
            <a:endParaRPr lang="en-US" sz="1250" dirty="0"/>
          </a:p>
        </p:txBody>
      </p:sp>
      <p:sp>
        <p:nvSpPr>
          <p:cNvPr id="43" name="Text 39"/>
          <p:cNvSpPr txBox="1"/>
          <p:nvPr/>
        </p:nvSpPr>
        <p:spPr>
          <a:xfrm>
            <a:off x="10332720" y="3364992"/>
            <a:ext cx="1097280" cy="365760"/>
          </a:xfrm>
          <a:prstGeom prst="rect">
            <a:avLst/>
          </a:prstGeom>
          <a:noFill/>
          <a:ln/>
        </p:spPr>
        <p:txBody>
          <a:bodyPr wrap="square" lIns="0" tIns="0" rIns="0" bIns="0" rtlCol="0" anchor="ctr"/>
          <a:lstStyle/>
          <a:p>
            <a:pPr algn="r" indent="0" marL="0">
              <a:buNone/>
            </a:pPr>
            <a:r>
              <a:rPr lang="en-US" sz="1300" b="1" dirty="0">
                <a:solidFill>
                  <a:srgbClr val="1B2A4A"/>
                </a:solidFill>
                <a:latin typeface="Calibri" pitchFamily="34" charset="0"/>
                <a:ea typeface="Calibri" pitchFamily="34" charset="-122"/>
                <a:cs typeface="Calibri" pitchFamily="34" charset="-120"/>
              </a:rPr>
              <a:t>875</a:t>
            </a:r>
            <a:endParaRPr lang="en-US" sz="1300" dirty="0"/>
          </a:p>
        </p:txBody>
      </p:sp>
      <p:sp>
        <p:nvSpPr>
          <p:cNvPr id="44" name="Shape 40"/>
          <p:cNvSpPr/>
          <p:nvPr/>
        </p:nvSpPr>
        <p:spPr>
          <a:xfrm>
            <a:off x="7909560" y="3849624"/>
            <a:ext cx="128016" cy="128016"/>
          </a:xfrm>
          <a:prstGeom prst="ellipse">
            <a:avLst/>
          </a:prstGeom>
          <a:solidFill>
            <a:srgbClr val="2E8B57"/>
          </a:solidFill>
          <a:ln/>
        </p:spPr>
      </p:sp>
      <p:sp>
        <p:nvSpPr>
          <p:cNvPr id="45" name="Text 41"/>
          <p:cNvSpPr txBox="1"/>
          <p:nvPr/>
        </p:nvSpPr>
        <p:spPr>
          <a:xfrm>
            <a:off x="8156448" y="3730752"/>
            <a:ext cx="2286000" cy="365760"/>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Quarantined</a:t>
            </a:r>
            <a:endParaRPr lang="en-US" sz="1250" dirty="0"/>
          </a:p>
        </p:txBody>
      </p:sp>
      <p:sp>
        <p:nvSpPr>
          <p:cNvPr id="46" name="Text 42"/>
          <p:cNvSpPr txBox="1"/>
          <p:nvPr/>
        </p:nvSpPr>
        <p:spPr>
          <a:xfrm>
            <a:off x="10332720" y="3730752"/>
            <a:ext cx="1097280" cy="365760"/>
          </a:xfrm>
          <a:prstGeom prst="rect">
            <a:avLst/>
          </a:prstGeom>
          <a:noFill/>
          <a:ln/>
        </p:spPr>
        <p:txBody>
          <a:bodyPr wrap="square" lIns="0" tIns="0" rIns="0" bIns="0" rtlCol="0" anchor="ctr"/>
          <a:lstStyle/>
          <a:p>
            <a:pPr algn="r" indent="0" marL="0">
              <a:buNone/>
            </a:pPr>
            <a:r>
              <a:rPr lang="en-US" sz="1300" b="1" dirty="0">
                <a:solidFill>
                  <a:srgbClr val="1B2A4A"/>
                </a:solidFill>
                <a:latin typeface="Calibri" pitchFamily="34" charset="0"/>
                <a:ea typeface="Calibri" pitchFamily="34" charset="-122"/>
                <a:cs typeface="Calibri" pitchFamily="34" charset="-120"/>
              </a:rPr>
              <a:t>271</a:t>
            </a:r>
            <a:endParaRPr lang="en-US" sz="1300" dirty="0"/>
          </a:p>
        </p:txBody>
      </p:sp>
      <p:sp>
        <p:nvSpPr>
          <p:cNvPr id="47" name="Shape 43"/>
          <p:cNvSpPr/>
          <p:nvPr/>
        </p:nvSpPr>
        <p:spPr>
          <a:xfrm>
            <a:off x="7772400" y="4096512"/>
            <a:ext cx="3776472" cy="365760"/>
          </a:xfrm>
          <a:prstGeom prst="roundRect">
            <a:avLst>
              <a:gd name="adj" fmla="val 12500"/>
            </a:avLst>
          </a:prstGeom>
          <a:solidFill>
            <a:srgbClr val="FFFFFF"/>
          </a:solidFill>
          <a:ln/>
        </p:spPr>
      </p:sp>
      <p:sp>
        <p:nvSpPr>
          <p:cNvPr id="48" name="Shape 44"/>
          <p:cNvSpPr/>
          <p:nvPr/>
        </p:nvSpPr>
        <p:spPr>
          <a:xfrm>
            <a:off x="7909560" y="4215384"/>
            <a:ext cx="128016" cy="128016"/>
          </a:xfrm>
          <a:prstGeom prst="ellipse">
            <a:avLst/>
          </a:prstGeom>
          <a:solidFill>
            <a:srgbClr val="2E8B57"/>
          </a:solidFill>
          <a:ln/>
        </p:spPr>
      </p:sp>
      <p:sp>
        <p:nvSpPr>
          <p:cNvPr id="49" name="Text 45"/>
          <p:cNvSpPr txBox="1"/>
          <p:nvPr/>
        </p:nvSpPr>
        <p:spPr>
          <a:xfrm>
            <a:off x="8156448" y="4096512"/>
            <a:ext cx="2286000" cy="365760"/>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Denied (confirmed)</a:t>
            </a:r>
            <a:endParaRPr lang="en-US" sz="1250" dirty="0"/>
          </a:p>
        </p:txBody>
      </p:sp>
      <p:sp>
        <p:nvSpPr>
          <p:cNvPr id="50" name="Text 46"/>
          <p:cNvSpPr txBox="1"/>
          <p:nvPr/>
        </p:nvSpPr>
        <p:spPr>
          <a:xfrm>
            <a:off x="10332720" y="4096512"/>
            <a:ext cx="1097280" cy="365760"/>
          </a:xfrm>
          <a:prstGeom prst="rect">
            <a:avLst/>
          </a:prstGeom>
          <a:noFill/>
          <a:ln/>
        </p:spPr>
        <p:txBody>
          <a:bodyPr wrap="square" lIns="0" tIns="0" rIns="0" bIns="0" rtlCol="0" anchor="ctr"/>
          <a:lstStyle/>
          <a:p>
            <a:pPr algn="r" indent="0" marL="0">
              <a:buNone/>
            </a:pPr>
            <a:r>
              <a:rPr lang="en-US" sz="1300" b="1" dirty="0">
                <a:solidFill>
                  <a:srgbClr val="1B2A4A"/>
                </a:solidFill>
                <a:latin typeface="Calibri" pitchFamily="34" charset="0"/>
                <a:ea typeface="Calibri" pitchFamily="34" charset="-122"/>
                <a:cs typeface="Calibri" pitchFamily="34" charset="-120"/>
              </a:rPr>
              <a:t>77</a:t>
            </a:r>
            <a:endParaRPr lang="en-US" sz="1300" dirty="0"/>
          </a:p>
        </p:txBody>
      </p:sp>
      <p:sp>
        <p:nvSpPr>
          <p:cNvPr id="51" name="Shape 47"/>
          <p:cNvSpPr/>
          <p:nvPr/>
        </p:nvSpPr>
        <p:spPr>
          <a:xfrm>
            <a:off x="7909560" y="4581144"/>
            <a:ext cx="128016" cy="128016"/>
          </a:xfrm>
          <a:prstGeom prst="ellipse">
            <a:avLst/>
          </a:prstGeom>
          <a:solidFill>
            <a:srgbClr val="E8A13D"/>
          </a:solidFill>
          <a:ln/>
        </p:spPr>
      </p:sp>
      <p:sp>
        <p:nvSpPr>
          <p:cNvPr id="52" name="Text 48"/>
          <p:cNvSpPr txBox="1"/>
          <p:nvPr/>
        </p:nvSpPr>
        <p:spPr>
          <a:xfrm>
            <a:off x="8156448" y="4462272"/>
            <a:ext cx="2286000" cy="365760"/>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Released</a:t>
            </a:r>
            <a:endParaRPr lang="en-US" sz="1250" dirty="0"/>
          </a:p>
        </p:txBody>
      </p:sp>
      <p:sp>
        <p:nvSpPr>
          <p:cNvPr id="53" name="Text 49"/>
          <p:cNvSpPr txBox="1"/>
          <p:nvPr/>
        </p:nvSpPr>
        <p:spPr>
          <a:xfrm>
            <a:off x="10332720" y="4462272"/>
            <a:ext cx="1097280" cy="365760"/>
          </a:xfrm>
          <a:prstGeom prst="rect">
            <a:avLst/>
          </a:prstGeom>
          <a:noFill/>
          <a:ln/>
        </p:spPr>
        <p:txBody>
          <a:bodyPr wrap="square" lIns="0" tIns="0" rIns="0" bIns="0" rtlCol="0" anchor="ctr"/>
          <a:lstStyle/>
          <a:p>
            <a:pPr algn="r" indent="0" marL="0">
              <a:buNone/>
            </a:pPr>
            <a:r>
              <a:rPr lang="en-US" sz="1300" b="1" dirty="0">
                <a:solidFill>
                  <a:srgbClr val="1B2A4A"/>
                </a:solidFill>
                <a:latin typeface="Calibri" pitchFamily="34" charset="0"/>
                <a:ea typeface="Calibri" pitchFamily="34" charset="-122"/>
                <a:cs typeface="Calibri" pitchFamily="34" charset="-120"/>
              </a:rPr>
              <a:t>2</a:t>
            </a:r>
            <a:endParaRPr lang="en-US" sz="1300" dirty="0"/>
          </a:p>
        </p:txBody>
      </p:sp>
      <p:sp>
        <p:nvSpPr>
          <p:cNvPr id="54" name="Shape 50"/>
          <p:cNvSpPr/>
          <p:nvPr/>
        </p:nvSpPr>
        <p:spPr>
          <a:xfrm>
            <a:off x="7772400" y="4956048"/>
            <a:ext cx="3776472" cy="822960"/>
          </a:xfrm>
          <a:prstGeom prst="roundRect">
            <a:avLst>
              <a:gd name="adj" fmla="val 8889"/>
            </a:avLst>
          </a:prstGeom>
          <a:solidFill>
            <a:srgbClr val="2A8C96"/>
          </a:solidFill>
          <a:ln/>
        </p:spPr>
      </p:sp>
      <p:sp>
        <p:nvSpPr>
          <p:cNvPr id="55" name="Text 51"/>
          <p:cNvSpPr txBox="1"/>
          <p:nvPr/>
        </p:nvSpPr>
        <p:spPr>
          <a:xfrm>
            <a:off x="7955280" y="4956048"/>
            <a:ext cx="1097280" cy="82296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1,223</a:t>
            </a:r>
            <a:endParaRPr lang="en-US" sz="2600" dirty="0"/>
          </a:p>
        </p:txBody>
      </p:sp>
      <p:sp>
        <p:nvSpPr>
          <p:cNvPr id="56" name="Text 52"/>
          <p:cNvSpPr txBox="1"/>
          <p:nvPr/>
        </p:nvSpPr>
        <p:spPr>
          <a:xfrm>
            <a:off x="9098280" y="4956048"/>
            <a:ext cx="2331720" cy="82296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incidents blocked, quarantined or denied</a:t>
            </a:r>
            <a:endParaRPr lang="en-US" sz="125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457200" y="310896"/>
            <a:ext cx="530352" cy="530352"/>
          </a:xfrm>
          <a:prstGeom prst="ellipse">
            <a:avLst/>
          </a:prstGeom>
          <a:solidFill>
            <a:srgbClr val="1B2A4A"/>
          </a:solidFill>
          <a:ln/>
        </p:spPr>
      </p:sp>
      <p:pic>
        <p:nvPicPr>
          <p:cNvPr id="3" name="Image 0" descr="preencoded.png">    </p:cNvPr>
          <p:cNvPicPr>
            <a:picLocks noChangeAspect="1"/>
          </p:cNvPicPr>
          <p:nvPr/>
        </p:nvPicPr>
        <p:blipFill>
          <a:blip r:embed="rId1"/>
          <a:stretch>
            <a:fillRect/>
          </a:stretch>
        </p:blipFill>
        <p:spPr>
          <a:xfrm>
            <a:off x="589788" y="443484"/>
            <a:ext cx="265176" cy="265176"/>
          </a:xfrm>
          <a:prstGeom prst="rect">
            <a:avLst/>
          </a:prstGeom>
        </p:spPr>
      </p:pic>
      <p:sp>
        <p:nvSpPr>
          <p:cNvPr id="4" name="Text 1"/>
          <p:cNvSpPr/>
          <p:nvPr>
            <p:ph idx="101" type="title" hasCustomPrompt="1"/>
          </p:nvPr>
        </p:nvSpPr>
        <p:spPr>
          <a:xfrm>
            <a:off x="1143000" y="274320"/>
            <a:ext cx="7223760" cy="603504"/>
          </a:xfrm>
          <a:prstGeom prst="rect">
            <a:avLst/>
          </a:prstGeom>
          <a:noFill/>
          <a:ln/>
        </p:spPr>
        <p:txBody>
          <a:bodyPr wrap="square" lIns="0" tIns="0" rIns="0" bIns="0" rtlCol="0" anchor="ctr"/>
          <a:lstStyle/>
          <a:p>
            <a:pPr algn="l" indent="0" marL="0">
              <a:buNone/>
            </a:pPr>
            <a:r>
              <a:rPr lang="en-US" sz="3000" b="1" dirty="0">
                <a:solidFill>
                  <a:srgbClr val="1B2A4A"/>
                </a:solidFill>
                <a:latin typeface="Calibri" pitchFamily="34" charset="0"/>
                <a:ea typeface="Calibri" pitchFamily="34" charset="-122"/>
                <a:cs typeface="Calibri" pitchFamily="34" charset="-120"/>
              </a:rPr>
              <a:t>DLP Incidents: Channels &amp; Top Sources</a:t>
            </a:r>
            <a:endParaRPr lang="en-US" sz="3000" dirty="0"/>
          </a:p>
        </p:txBody>
      </p:sp>
      <p:sp>
        <p:nvSpPr>
          <p:cNvPr id="5" name="Text 2"/>
          <p:cNvSpPr txBox="1"/>
          <p:nvPr/>
        </p:nvSpPr>
        <p:spPr>
          <a:xfrm>
            <a:off x="8458200" y="384048"/>
            <a:ext cx="3273552" cy="384048"/>
          </a:xfrm>
          <a:prstGeom prst="rect">
            <a:avLst/>
          </a:prstGeom>
          <a:noFill/>
          <a:ln/>
        </p:spPr>
        <p:txBody>
          <a:bodyPr wrap="square" lIns="0" tIns="0" rIns="0" bIns="0" rtlCol="0" anchor="ctr"/>
          <a:lstStyle/>
          <a:p>
            <a:pPr algn="r" indent="0" marL="0">
              <a:buNone/>
            </a:pPr>
            <a:r>
              <a:rPr lang="en-US" sz="1200" dirty="0">
                <a:solidFill>
                  <a:srgbClr val="64748B"/>
                </a:solidFill>
                <a:latin typeface="Calibri" pitchFamily="34" charset="0"/>
                <a:ea typeface="Calibri" pitchFamily="34" charset="-122"/>
                <a:cs typeface="Calibri" pitchFamily="34" charset="-120"/>
              </a:rPr>
              <a:t>IR  |  DLP Incidents</a:t>
            </a:r>
            <a:endParaRPr lang="en-US" sz="1200" dirty="0"/>
          </a:p>
        </p:txBody>
      </p:sp>
      <p:sp>
        <p:nvSpPr>
          <p:cNvPr id="6" name="Text 3"/>
          <p:cNvSpPr txBox="1"/>
          <p:nvPr/>
        </p:nvSpPr>
        <p:spPr>
          <a:xfrm>
            <a:off x="457200" y="932688"/>
            <a:ext cx="11274552" cy="310896"/>
          </a:xfrm>
          <a:prstGeom prst="rect">
            <a:avLst/>
          </a:prstGeom>
          <a:noFill/>
          <a:ln/>
        </p:spPr>
        <p:txBody>
          <a:bodyPr wrap="square" lIns="0" tIns="0" rIns="0" bIns="0" rtlCol="0" anchor="ctr"/>
          <a:lstStyle/>
          <a:p>
            <a:pPr indent="0" marL="0">
              <a:buNone/>
            </a:pPr>
            <a:r>
              <a:rPr lang="en-US" sz="1500" dirty="0">
                <a:solidFill>
                  <a:srgbClr val="64748B"/>
                </a:solidFill>
                <a:latin typeface="Calibri" pitchFamily="34" charset="0"/>
                <a:ea typeface="Calibri" pitchFamily="34" charset="-122"/>
                <a:cs typeface="Calibri" pitchFamily="34" charset="-120"/>
              </a:rPr>
              <a:t>Where incidents are generated and who generates the most</a:t>
            </a:r>
            <a:endParaRPr lang="en-US" sz="1500" dirty="0"/>
          </a:p>
        </p:txBody>
      </p:sp>
      <p:sp>
        <p:nvSpPr>
          <p:cNvPr id="7" name="Shape 4"/>
          <p:cNvSpPr/>
          <p:nvPr/>
        </p:nvSpPr>
        <p:spPr>
          <a:xfrm>
            <a:off x="457200" y="1371600"/>
            <a:ext cx="5486400" cy="3931920"/>
          </a:xfrm>
          <a:prstGeom prst="roundRect">
            <a:avLst>
              <a:gd name="adj" fmla="val 1628"/>
            </a:avLst>
          </a:prstGeom>
          <a:solidFill>
            <a:srgbClr val="F4F7FC"/>
          </a:solidFill>
          <a:ln w="9525">
            <a:solidFill>
              <a:srgbClr val="DCE3EE"/>
            </a:solidFill>
            <a:prstDash val="solid"/>
          </a:ln>
        </p:spPr>
      </p:sp>
      <p:sp>
        <p:nvSpPr>
          <p:cNvPr id="8" name="Text 5"/>
          <p:cNvSpPr txBox="1"/>
          <p:nvPr/>
        </p:nvSpPr>
        <p:spPr>
          <a:xfrm>
            <a:off x="685800" y="1481328"/>
            <a:ext cx="3657600" cy="329184"/>
          </a:xfrm>
          <a:prstGeom prst="rect">
            <a:avLst/>
          </a:prstGeom>
          <a:noFill/>
          <a:ln/>
        </p:spPr>
        <p:txBody>
          <a:bodyPr wrap="square" lIns="0" tIns="0" rIns="0" bIns="0"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Top 5 channels</a:t>
            </a:r>
            <a:endParaRPr lang="en-US" sz="1500" dirty="0"/>
          </a:p>
        </p:txBody>
      </p:sp>
      <p:graphicFrame>
        <p:nvGraphicFramePr>
          <p:cNvPr id="9" name="Chart 0" descr=""/>
          <p:cNvGraphicFramePr/>
          <p:nvPr/>
        </p:nvGraphicFramePr>
        <p:xfrm>
          <a:off x="548640" y="1828800"/>
          <a:ext cx="5303520" cy="3383280"/>
        </p:xfrm>
        <a:graphic xmlns:a="http://schemas.openxmlformats.org/drawingml/2006/main">
          <a:graphicData uri="http://schemas.openxmlformats.org/drawingml/2006/chart">
            <c:chart xmlns:c="http://schemas.openxmlformats.org/drawingml/2006/chart" r:id="rId2"/>
          </a:graphicData>
        </a:graphic>
      </p:graphicFrame>
      <p:sp>
        <p:nvSpPr>
          <p:cNvPr id="10" name="Text 6"/>
          <p:cNvSpPr txBox="1"/>
          <p:nvPr/>
        </p:nvSpPr>
        <p:spPr>
          <a:xfrm>
            <a:off x="6217920" y="1371600"/>
            <a:ext cx="4572000" cy="292608"/>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Top 5 sources</a:t>
            </a:r>
            <a:endParaRPr lang="en-US" sz="16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217920" y="1755648"/>
          <a:ext cx="5513832" cy="914400"/>
        </p:xfrm>
        <a:graphic>
          <a:graphicData uri="http://schemas.openxmlformats.org/drawingml/2006/table">
            <a:tbl>
              <a:tblPr/>
              <a:tblGrid>
                <a:gridCol w="2240280"/>
                <a:gridCol w="822960"/>
                <a:gridCol w="868680"/>
                <a:gridCol w="685800"/>
                <a:gridCol w="896112"/>
              </a:tblGrid>
              <a:tr h="411480">
                <a:tc>
                  <a:txBody>
                    <a:bodyPr/>
                    <a:lstStyle/>
                    <a:p>
                      <a:pPr algn="l" indent="0" marL="0">
                        <a:buNone/>
                      </a:pPr>
                      <a:r>
                        <a:rPr lang="en-US" sz="1200" b="1" dirty="0">
                          <a:solidFill>
                            <a:srgbClr val="FFFFFF"/>
                          </a:solidFill>
                          <a:latin typeface="Calibri" pitchFamily="34" charset="0"/>
                          <a:ea typeface="Calibri" pitchFamily="34" charset="-122"/>
                          <a:cs typeface="Calibri" pitchFamily="34" charset="-120"/>
                        </a:rPr>
                        <a:t>Source</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B2A4A"/>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High</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B2A4A"/>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Medium</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B2A4A"/>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Low</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B2A4A"/>
                    </a:solidFill>
                  </a:tcPr>
                </a:tc>
                <a:tc>
                  <a:txBody>
                    <a:bodyPr/>
                    <a:lstStyle/>
                    <a:p>
                      <a:pPr algn="r" indent="0" marL="0">
                        <a:buNone/>
                      </a:pPr>
                      <a:r>
                        <a:rPr lang="en-US" sz="1200" b="1" dirty="0">
                          <a:solidFill>
                            <a:srgbClr val="FFFFFF"/>
                          </a:solidFill>
                          <a:latin typeface="Calibri" pitchFamily="34" charset="0"/>
                          <a:ea typeface="Calibri" pitchFamily="34" charset="-122"/>
                          <a:cs typeface="Calibri" pitchFamily="34" charset="-120"/>
                        </a:rPr>
                        <a:t>Total</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B2A4A"/>
                    </a:solidFill>
                  </a:tcPr>
                </a:tc>
              </a:tr>
              <a:tr h="411480">
                <a:tc>
                  <a:txBody>
                    <a:bodyPr/>
                    <a:lstStyle/>
                    <a:p>
                      <a:pPr algn="l" indent="0" marL="0">
                        <a:buNone/>
                      </a:pPr>
                      <a:r>
                        <a:rPr lang="en-US" sz="1250" b="1" dirty="0">
                          <a:solidFill>
                            <a:srgbClr val="1B2A4A"/>
                          </a:solidFill>
                          <a:latin typeface="Calibri" pitchFamily="34" charset="0"/>
                          <a:ea typeface="Calibri" pitchFamily="34" charset="-122"/>
                          <a:cs typeface="Calibri" pitchFamily="34" charset="-120"/>
                        </a:rPr>
                        <a:t>Ashraf Abdelgawwad</a:t>
                      </a:r>
                      <a:endParaRPr lang="en-US" sz="125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250" dirty="0">
                          <a:solidFill>
                            <a:srgbClr val="D9412B"/>
                          </a:solidFill>
                          <a:latin typeface="Calibri" pitchFamily="34" charset="0"/>
                          <a:ea typeface="Calibri" pitchFamily="34" charset="-122"/>
                          <a:cs typeface="Calibri" pitchFamily="34" charset="-120"/>
                        </a:rPr>
                        <a:t>839</a:t>
                      </a:r>
                      <a:endParaRPr lang="en-US" sz="125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E293B"/>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E293B"/>
                          </a:solidFill>
                          <a:latin typeface="Calibri" pitchFamily="34" charset="0"/>
                          <a:ea typeface="Calibri" pitchFamily="34" charset="-122"/>
                          <a:cs typeface="Calibri" pitchFamily="34" charset="-120"/>
                        </a:rPr>
                        <a:t>270</a:t>
                      </a:r>
                      <a:endParaRPr lang="en-US" sz="125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250" b="1" dirty="0">
                          <a:solidFill>
                            <a:srgbClr val="1B2A4A"/>
                          </a:solidFill>
                          <a:latin typeface="Calibri" pitchFamily="34" charset="0"/>
                          <a:ea typeface="Calibri" pitchFamily="34" charset="-122"/>
                          <a:cs typeface="Calibri" pitchFamily="34" charset="-120"/>
                        </a:rPr>
                        <a:t>1,110</a:t>
                      </a:r>
                      <a:endParaRPr lang="en-US" sz="125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411480">
                <a:tc>
                  <a:txBody>
                    <a:bodyPr/>
                    <a:lstStyle/>
                    <a:p>
                      <a:pPr algn="l" indent="0" marL="0">
                        <a:buNone/>
                      </a:pPr>
                      <a:r>
                        <a:rPr lang="en-US" sz="1250" b="1" dirty="0">
                          <a:solidFill>
                            <a:srgbClr val="1B2A4A"/>
                          </a:solidFill>
                          <a:latin typeface="Calibri" pitchFamily="34" charset="0"/>
                          <a:ea typeface="Calibri" pitchFamily="34" charset="-122"/>
                          <a:cs typeface="Calibri" pitchFamily="34" charset="-120"/>
                        </a:rPr>
                        <a:t>Fahad Alnafisah</a:t>
                      </a:r>
                      <a:endParaRPr lang="en-US" sz="125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4F7FC"/>
                    </a:solidFill>
                  </a:tcPr>
                </a:tc>
                <a:tc>
                  <a:txBody>
                    <a:bodyPr/>
                    <a:lstStyle/>
                    <a:p>
                      <a:pPr algn="r" indent="0" marL="0">
                        <a:buNone/>
                      </a:pPr>
                      <a:r>
                        <a:rPr lang="en-US" sz="1250" dirty="0">
                          <a:solidFill>
                            <a:srgbClr val="D9412B"/>
                          </a:solidFill>
                          <a:latin typeface="Calibri" pitchFamily="34" charset="0"/>
                          <a:ea typeface="Calibri" pitchFamily="34" charset="-122"/>
                          <a:cs typeface="Calibri" pitchFamily="34" charset="-120"/>
                        </a:rPr>
                        <a:t>460</a:t>
                      </a:r>
                      <a:endParaRPr lang="en-US" sz="125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4F7FC"/>
                    </a:solidFill>
                  </a:tcPr>
                </a:tc>
                <a:tc>
                  <a:txBody>
                    <a:bodyPr/>
                    <a:lstStyle/>
                    <a:p>
                      <a:pPr algn="r" indent="0" marL="0">
                        <a:buNone/>
                      </a:pPr>
                      <a:r>
                        <a:rPr lang="en-US" sz="1250" dirty="0">
                          <a:solidFill>
                            <a:srgbClr val="1E293B"/>
                          </a:solidFill>
                          <a:latin typeface="Calibri" pitchFamily="34" charset="0"/>
                          <a:ea typeface="Calibri" pitchFamily="34" charset="-122"/>
                          <a:cs typeface="Calibri" pitchFamily="34" charset="-120"/>
                        </a:rPr>
                        <a:t>196</a:t>
                      </a:r>
                      <a:endParaRPr lang="en-US" sz="125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4F7FC"/>
                    </a:solidFill>
                  </a:tcPr>
                </a:tc>
                <a:tc>
                  <a:txBody>
                    <a:bodyPr/>
                    <a:lstStyle/>
                    <a:p>
                      <a:pPr algn="r" indent="0" marL="0">
                        <a:buNone/>
                      </a:pPr>
                      <a:r>
                        <a:rPr lang="en-US" sz="1250" dirty="0">
                          <a:solidFill>
                            <a:srgbClr val="1E293B"/>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4F7FC"/>
                    </a:solidFill>
                  </a:tcPr>
                </a:tc>
                <a:tc>
                  <a:txBody>
                    <a:bodyPr/>
                    <a:lstStyle/>
                    <a:p>
                      <a:pPr algn="r" indent="0" marL="0">
                        <a:buNone/>
                      </a:pPr>
                      <a:r>
                        <a:rPr lang="en-US" sz="1250" b="1" dirty="0">
                          <a:solidFill>
                            <a:srgbClr val="1B2A4A"/>
                          </a:solidFill>
                          <a:latin typeface="Calibri" pitchFamily="34" charset="0"/>
                          <a:ea typeface="Calibri" pitchFamily="34" charset="-122"/>
                          <a:cs typeface="Calibri" pitchFamily="34" charset="-120"/>
                        </a:rPr>
                        <a:t>660</a:t>
                      </a:r>
                      <a:endParaRPr lang="en-US" sz="125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4F7FC"/>
                    </a:solidFill>
                  </a:tcPr>
                </a:tc>
              </a:tr>
              <a:tr h="411480">
                <a:tc>
                  <a:txBody>
                    <a:bodyPr/>
                    <a:lstStyle/>
                    <a:p>
                      <a:pPr algn="l" indent="0" marL="0">
                        <a:buNone/>
                      </a:pPr>
                      <a:r>
                        <a:rPr lang="en-US" sz="1250" b="1" dirty="0">
                          <a:solidFill>
                            <a:srgbClr val="1B2A4A"/>
                          </a:solidFill>
                          <a:latin typeface="Calibri" pitchFamily="34" charset="0"/>
                          <a:ea typeface="Calibri" pitchFamily="34" charset="-122"/>
                          <a:cs typeface="Calibri" pitchFamily="34" charset="-120"/>
                        </a:rPr>
                        <a:t>Ahmed Rusal</a:t>
                      </a:r>
                      <a:endParaRPr lang="en-US" sz="125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250" dirty="0">
                          <a:solidFill>
                            <a:srgbClr val="D9412B"/>
                          </a:solidFill>
                          <a:latin typeface="Calibri" pitchFamily="34" charset="0"/>
                          <a:ea typeface="Calibri" pitchFamily="34" charset="-122"/>
                          <a:cs typeface="Calibri" pitchFamily="34" charset="-120"/>
                        </a:rPr>
                        <a:t>647</a:t>
                      </a:r>
                      <a:endParaRPr lang="en-US" sz="125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E293B"/>
                          </a:solidFill>
                          <a:latin typeface="Calibri" pitchFamily="34" charset="0"/>
                          <a:ea typeface="Calibri" pitchFamily="34" charset="-122"/>
                          <a:cs typeface="Calibri" pitchFamily="34" charset="-120"/>
                        </a:rPr>
                        <a:t>1</a:t>
                      </a:r>
                      <a:endParaRPr lang="en-US" sz="125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E293B"/>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250" b="1" dirty="0">
                          <a:solidFill>
                            <a:srgbClr val="1B2A4A"/>
                          </a:solidFill>
                          <a:latin typeface="Calibri" pitchFamily="34" charset="0"/>
                          <a:ea typeface="Calibri" pitchFamily="34" charset="-122"/>
                          <a:cs typeface="Calibri" pitchFamily="34" charset="-120"/>
                        </a:rPr>
                        <a:t>651</a:t>
                      </a:r>
                      <a:endParaRPr lang="en-US" sz="125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411480">
                <a:tc>
                  <a:txBody>
                    <a:bodyPr/>
                    <a:lstStyle/>
                    <a:p>
                      <a:pPr algn="l" indent="0" marL="0">
                        <a:buNone/>
                      </a:pPr>
                      <a:r>
                        <a:rPr lang="en-US" sz="1250" b="1" dirty="0">
                          <a:solidFill>
                            <a:srgbClr val="1B2A4A"/>
                          </a:solidFill>
                          <a:latin typeface="Calibri" pitchFamily="34" charset="0"/>
                          <a:ea typeface="Calibri" pitchFamily="34" charset="-122"/>
                          <a:cs typeface="Calibri" pitchFamily="34" charset="-120"/>
                        </a:rPr>
                        <a:t>Mohammed Imran Khan</a:t>
                      </a:r>
                      <a:endParaRPr lang="en-US" sz="125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4F7FC"/>
                    </a:solidFill>
                  </a:tcPr>
                </a:tc>
                <a:tc>
                  <a:txBody>
                    <a:bodyPr/>
                    <a:lstStyle/>
                    <a:p>
                      <a:pPr algn="r" indent="0" marL="0">
                        <a:buNone/>
                      </a:pPr>
                      <a:r>
                        <a:rPr lang="en-US" sz="1250" dirty="0">
                          <a:solidFill>
                            <a:srgbClr val="D9412B"/>
                          </a:solidFill>
                          <a:latin typeface="Calibri" pitchFamily="34" charset="0"/>
                          <a:ea typeface="Calibri" pitchFamily="34" charset="-122"/>
                          <a:cs typeface="Calibri" pitchFamily="34" charset="-120"/>
                        </a:rPr>
                        <a:t>576</a:t>
                      </a:r>
                      <a:endParaRPr lang="en-US" sz="125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4F7FC"/>
                    </a:solidFill>
                  </a:tcPr>
                </a:tc>
                <a:tc>
                  <a:txBody>
                    <a:bodyPr/>
                    <a:lstStyle/>
                    <a:p>
                      <a:pPr algn="r" indent="0" marL="0">
                        <a:buNone/>
                      </a:pPr>
                      <a:r>
                        <a:rPr lang="en-US" sz="1250" dirty="0">
                          <a:solidFill>
                            <a:srgbClr val="1E293B"/>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4F7FC"/>
                    </a:solidFill>
                  </a:tcPr>
                </a:tc>
                <a:tc>
                  <a:txBody>
                    <a:bodyPr/>
                    <a:lstStyle/>
                    <a:p>
                      <a:pPr algn="r" indent="0" marL="0">
                        <a:buNone/>
                      </a:pPr>
                      <a:r>
                        <a:rPr lang="en-US" sz="1250" dirty="0">
                          <a:solidFill>
                            <a:srgbClr val="1E293B"/>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4F7FC"/>
                    </a:solidFill>
                  </a:tcPr>
                </a:tc>
                <a:tc>
                  <a:txBody>
                    <a:bodyPr/>
                    <a:lstStyle/>
                    <a:p>
                      <a:pPr algn="r" indent="0" marL="0">
                        <a:buNone/>
                      </a:pPr>
                      <a:r>
                        <a:rPr lang="en-US" sz="1250" b="1" dirty="0">
                          <a:solidFill>
                            <a:srgbClr val="1B2A4A"/>
                          </a:solidFill>
                          <a:latin typeface="Calibri" pitchFamily="34" charset="0"/>
                          <a:ea typeface="Calibri" pitchFamily="34" charset="-122"/>
                          <a:cs typeface="Calibri" pitchFamily="34" charset="-120"/>
                        </a:rPr>
                        <a:t>580</a:t>
                      </a:r>
                      <a:endParaRPr lang="en-US" sz="125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4F7FC"/>
                    </a:solidFill>
                  </a:tcPr>
                </a:tc>
              </a:tr>
              <a:tr h="411480">
                <a:tc>
                  <a:txBody>
                    <a:bodyPr/>
                    <a:lstStyle/>
                    <a:p>
                      <a:pPr algn="l" indent="0" marL="0">
                        <a:buNone/>
                      </a:pPr>
                      <a:r>
                        <a:rPr lang="en-US" sz="1250" b="1" dirty="0">
                          <a:solidFill>
                            <a:srgbClr val="1B2A4A"/>
                          </a:solidFill>
                          <a:latin typeface="Calibri" pitchFamily="34" charset="0"/>
                          <a:ea typeface="Calibri" pitchFamily="34" charset="-122"/>
                          <a:cs typeface="Calibri" pitchFamily="34" charset="-120"/>
                        </a:rPr>
                        <a:t>Accounts Receivable</a:t>
                      </a:r>
                      <a:endParaRPr lang="en-US" sz="125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250" dirty="0">
                          <a:solidFill>
                            <a:srgbClr val="D9412B"/>
                          </a:solidFill>
                          <a:latin typeface="Calibri" pitchFamily="34" charset="0"/>
                          <a:ea typeface="Calibri" pitchFamily="34" charset="-122"/>
                          <a:cs typeface="Calibri" pitchFamily="34" charset="-120"/>
                        </a:rPr>
                        <a:t>466</a:t>
                      </a:r>
                      <a:endParaRPr lang="en-US" sz="125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E293B"/>
                          </a:solidFill>
                          <a:latin typeface="Calibri" pitchFamily="34" charset="0"/>
                          <a:ea typeface="Calibri" pitchFamily="34" charset="-122"/>
                          <a:cs typeface="Calibri" pitchFamily="34" charset="-120"/>
                        </a:rPr>
                        <a:t>33</a:t>
                      </a:r>
                      <a:endParaRPr lang="en-US" sz="125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250" dirty="0">
                          <a:solidFill>
                            <a:srgbClr val="1E293B"/>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algn="r" indent="0" marL="0">
                        <a:buNone/>
                      </a:pPr>
                      <a:r>
                        <a:rPr lang="en-US" sz="1250" b="1" dirty="0">
                          <a:solidFill>
                            <a:srgbClr val="1B2A4A"/>
                          </a:solidFill>
                          <a:latin typeface="Calibri" pitchFamily="34" charset="0"/>
                          <a:ea typeface="Calibri" pitchFamily="34" charset="-122"/>
                          <a:cs typeface="Calibri" pitchFamily="34" charset="-120"/>
                        </a:rPr>
                        <a:t>499</a:t>
                      </a:r>
                      <a:endParaRPr lang="en-US" sz="125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bl>
          </a:graphicData>
        </a:graphic>
      </p:graphicFrame>
      <p:sp>
        <p:nvSpPr>
          <p:cNvPr id="12" name="Shape 7"/>
          <p:cNvSpPr/>
          <p:nvPr/>
        </p:nvSpPr>
        <p:spPr>
          <a:xfrm>
            <a:off x="6217920" y="4389120"/>
            <a:ext cx="2670048" cy="914400"/>
          </a:xfrm>
          <a:prstGeom prst="roundRect">
            <a:avLst>
              <a:gd name="adj" fmla="val 7000"/>
            </a:avLst>
          </a:prstGeom>
          <a:solidFill>
            <a:srgbClr val="F4F7FC"/>
          </a:solidFill>
          <a:ln w="9525">
            <a:solidFill>
              <a:srgbClr val="DCE3EE"/>
            </a:solidFill>
            <a:prstDash val="solid"/>
          </a:ln>
        </p:spPr>
      </p:sp>
      <p:sp>
        <p:nvSpPr>
          <p:cNvPr id="13" name="Text 8"/>
          <p:cNvSpPr txBox="1"/>
          <p:nvPr/>
        </p:nvSpPr>
        <p:spPr>
          <a:xfrm>
            <a:off x="6400800" y="4389120"/>
            <a:ext cx="960120" cy="914400"/>
          </a:xfrm>
          <a:prstGeom prst="rect">
            <a:avLst/>
          </a:prstGeom>
          <a:noFill/>
          <a:ln/>
        </p:spPr>
        <p:txBody>
          <a:bodyPr wrap="square" lIns="0" tIns="0" rIns="0" bIns="0" rtlCol="0" anchor="ctr"/>
          <a:lstStyle/>
          <a:p>
            <a:pPr indent="0" marL="0">
              <a:buNone/>
            </a:pPr>
            <a:r>
              <a:rPr lang="en-US" sz="2200" b="1" dirty="0">
                <a:solidFill>
                  <a:srgbClr val="2A8C96"/>
                </a:solidFill>
                <a:latin typeface="Calibri" pitchFamily="34" charset="0"/>
                <a:ea typeface="Calibri" pitchFamily="34" charset="-122"/>
                <a:cs typeface="Calibri" pitchFamily="34" charset="-120"/>
              </a:rPr>
              <a:t>3,500</a:t>
            </a:r>
            <a:endParaRPr lang="en-US" sz="2200" dirty="0"/>
          </a:p>
        </p:txBody>
      </p:sp>
      <p:sp>
        <p:nvSpPr>
          <p:cNvPr id="14" name="Text 9"/>
          <p:cNvSpPr txBox="1"/>
          <p:nvPr/>
        </p:nvSpPr>
        <p:spPr>
          <a:xfrm>
            <a:off x="7360920" y="4389120"/>
            <a:ext cx="1417320" cy="9144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incidents from the top 5 sources, 7.2% of the total</a:t>
            </a:r>
            <a:endParaRPr lang="en-US" sz="1150" dirty="0"/>
          </a:p>
        </p:txBody>
      </p:sp>
      <p:sp>
        <p:nvSpPr>
          <p:cNvPr id="15" name="Shape 10"/>
          <p:cNvSpPr/>
          <p:nvPr/>
        </p:nvSpPr>
        <p:spPr>
          <a:xfrm>
            <a:off x="9061704" y="4389120"/>
            <a:ext cx="2670048" cy="914400"/>
          </a:xfrm>
          <a:prstGeom prst="roundRect">
            <a:avLst>
              <a:gd name="adj" fmla="val 7000"/>
            </a:avLst>
          </a:prstGeom>
          <a:solidFill>
            <a:srgbClr val="F4F7FC"/>
          </a:solidFill>
          <a:ln w="9525">
            <a:solidFill>
              <a:srgbClr val="DCE3EE"/>
            </a:solidFill>
            <a:prstDash val="solid"/>
          </a:ln>
        </p:spPr>
      </p:sp>
      <p:sp>
        <p:nvSpPr>
          <p:cNvPr id="16" name="Text 11"/>
          <p:cNvSpPr txBox="1"/>
          <p:nvPr/>
        </p:nvSpPr>
        <p:spPr>
          <a:xfrm>
            <a:off x="9244584" y="4389120"/>
            <a:ext cx="960120" cy="914400"/>
          </a:xfrm>
          <a:prstGeom prst="rect">
            <a:avLst/>
          </a:prstGeom>
          <a:noFill/>
          <a:ln/>
        </p:spPr>
        <p:txBody>
          <a:bodyPr wrap="square" lIns="0" tIns="0" rIns="0" bIns="0" rtlCol="0" anchor="ctr"/>
          <a:lstStyle/>
          <a:p>
            <a:pPr indent="0" marL="0">
              <a:buNone/>
            </a:pPr>
            <a:r>
              <a:rPr lang="en-US" sz="2200" b="1" dirty="0">
                <a:solidFill>
                  <a:srgbClr val="D9412B"/>
                </a:solidFill>
                <a:latin typeface="Calibri" pitchFamily="34" charset="0"/>
                <a:ea typeface="Calibri" pitchFamily="34" charset="-122"/>
                <a:cs typeface="Calibri" pitchFamily="34" charset="-120"/>
              </a:rPr>
              <a:t>85%</a:t>
            </a:r>
            <a:endParaRPr lang="en-US" sz="2200" dirty="0"/>
          </a:p>
        </p:txBody>
      </p:sp>
      <p:sp>
        <p:nvSpPr>
          <p:cNvPr id="17" name="Text 12"/>
          <p:cNvSpPr txBox="1"/>
          <p:nvPr/>
        </p:nvSpPr>
        <p:spPr>
          <a:xfrm>
            <a:off x="10204704" y="4389120"/>
            <a:ext cx="1417320" cy="91440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of top-5 incidents are high severity (2,988)</a:t>
            </a:r>
            <a:endParaRPr lang="en-US" sz="1150" dirty="0"/>
          </a:p>
        </p:txBody>
      </p:sp>
      <p:sp>
        <p:nvSpPr>
          <p:cNvPr id="18" name="Shape 13"/>
          <p:cNvSpPr/>
          <p:nvPr/>
        </p:nvSpPr>
        <p:spPr>
          <a:xfrm>
            <a:off x="457200" y="5504688"/>
            <a:ext cx="11274552" cy="402336"/>
          </a:xfrm>
          <a:prstGeom prst="roundRect">
            <a:avLst>
              <a:gd name="adj" fmla="val 18182"/>
            </a:avLst>
          </a:prstGeom>
          <a:solidFill>
            <a:srgbClr val="EEF3FA"/>
          </a:solidFill>
          <a:ln/>
        </p:spPr>
      </p:sp>
      <p:pic>
        <p:nvPicPr>
          <p:cNvPr id="19" name="Image 1" descr="preencoded.png">    </p:cNvPr>
          <p:cNvPicPr>
            <a:picLocks noChangeAspect="1"/>
          </p:cNvPicPr>
          <p:nvPr/>
        </p:nvPicPr>
        <p:blipFill>
          <a:blip r:embed="rId3"/>
          <a:stretch>
            <a:fillRect/>
          </a:stretch>
        </p:blipFill>
        <p:spPr>
          <a:xfrm>
            <a:off x="640080" y="5605272"/>
            <a:ext cx="201168" cy="201168"/>
          </a:xfrm>
          <a:prstGeom prst="rect">
            <a:avLst/>
          </a:prstGeom>
        </p:spPr>
      </p:pic>
      <p:sp>
        <p:nvSpPr>
          <p:cNvPr id="20" name="Text 14"/>
          <p:cNvSpPr txBox="1"/>
          <p:nvPr/>
        </p:nvSpPr>
        <p:spPr>
          <a:xfrm>
            <a:off x="960120" y="5504688"/>
            <a:ext cx="10607040" cy="402336"/>
          </a:xfrm>
          <a:prstGeom prst="rect">
            <a:avLst/>
          </a:prstGeom>
          <a:noFill/>
          <a:ln/>
        </p:spPr>
        <p:txBody>
          <a:bodyPr wrap="square" lIns="0" tIns="0" rIns="0" bIns="0" rtlCol="0" anchor="ctr"/>
          <a:lstStyle/>
          <a:p>
            <a:pPr indent="0" marL="0">
              <a:buNone/>
            </a:pPr>
            <a:r>
              <a:rPr lang="en-US" sz="1100" b="1" dirty="0">
                <a:solidFill>
                  <a:srgbClr val="1B2A4A"/>
                </a:solidFill>
                <a:latin typeface="Calibri" pitchFamily="34" charset="0"/>
                <a:ea typeface="Calibri" pitchFamily="34" charset="-122"/>
                <a:cs typeface="Calibri" pitchFamily="34" charset="-120"/>
              </a:rPr>
              <a:t>Email is the main channel: </a:t>
            </a:r>
            <a:pPr indent="0" marL="0">
              <a:buNone/>
            </a:pPr>
            <a:r>
              <a:rPr lang="en-US" sz="1100" dirty="0">
                <a:solidFill>
                  <a:srgbClr val="64748B"/>
                </a:solidFill>
                <a:latin typeface="Calibri" pitchFamily="34" charset="0"/>
                <a:ea typeface="Calibri" pitchFamily="34" charset="-122"/>
                <a:cs typeface="Calibri" pitchFamily="34" charset="-120"/>
              </a:rPr>
              <a:t>network and endpoint email together account for 28,875 incidents, 59.5% of the total.</a:t>
            </a:r>
            <a:endParaRPr lang="en-US" sz="11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457200" y="310896"/>
            <a:ext cx="530352" cy="530352"/>
          </a:xfrm>
          <a:prstGeom prst="ellipse">
            <a:avLst/>
          </a:prstGeom>
          <a:solidFill>
            <a:srgbClr val="1B2A4A"/>
          </a:solidFill>
          <a:ln/>
        </p:spPr>
      </p:sp>
      <p:pic>
        <p:nvPicPr>
          <p:cNvPr id="3" name="Image 0" descr="preencoded.png">    </p:cNvPr>
          <p:cNvPicPr>
            <a:picLocks noChangeAspect="1"/>
          </p:cNvPicPr>
          <p:nvPr/>
        </p:nvPicPr>
        <p:blipFill>
          <a:blip r:embed="rId1"/>
          <a:stretch>
            <a:fillRect/>
          </a:stretch>
        </p:blipFill>
        <p:spPr>
          <a:xfrm>
            <a:off x="589788" y="443484"/>
            <a:ext cx="265176" cy="265176"/>
          </a:xfrm>
          <a:prstGeom prst="rect">
            <a:avLst/>
          </a:prstGeom>
        </p:spPr>
      </p:pic>
      <p:sp>
        <p:nvSpPr>
          <p:cNvPr id="4" name="Text 1"/>
          <p:cNvSpPr/>
          <p:nvPr>
            <p:ph idx="101" type="title" hasCustomPrompt="1"/>
          </p:nvPr>
        </p:nvSpPr>
        <p:spPr>
          <a:xfrm>
            <a:off x="1143000" y="274320"/>
            <a:ext cx="7223760" cy="603504"/>
          </a:xfrm>
          <a:prstGeom prst="rect">
            <a:avLst/>
          </a:prstGeom>
          <a:noFill/>
          <a:ln/>
        </p:spPr>
        <p:txBody>
          <a:bodyPr wrap="square" lIns="0" tIns="0" rIns="0" bIns="0" rtlCol="0" anchor="ctr"/>
          <a:lstStyle/>
          <a:p>
            <a:pPr algn="l" indent="0" marL="0">
              <a:buNone/>
            </a:pPr>
            <a:r>
              <a:rPr lang="en-US" sz="3000" b="1" dirty="0">
                <a:solidFill>
                  <a:srgbClr val="1B2A4A"/>
                </a:solidFill>
                <a:latin typeface="Calibri" pitchFamily="34" charset="0"/>
                <a:ea typeface="Calibri" pitchFamily="34" charset="-122"/>
                <a:cs typeface="Calibri" pitchFamily="34" charset="-120"/>
              </a:rPr>
              <a:t>CTI: Threat Actors &amp; Geopolitical Situation</a:t>
            </a:r>
            <a:endParaRPr lang="en-US" sz="3000" dirty="0"/>
          </a:p>
        </p:txBody>
      </p:sp>
      <p:sp>
        <p:nvSpPr>
          <p:cNvPr id="5" name="Text 2"/>
          <p:cNvSpPr txBox="1"/>
          <p:nvPr/>
        </p:nvSpPr>
        <p:spPr>
          <a:xfrm>
            <a:off x="8458200" y="384048"/>
            <a:ext cx="3273552" cy="384048"/>
          </a:xfrm>
          <a:prstGeom prst="rect">
            <a:avLst/>
          </a:prstGeom>
          <a:noFill/>
          <a:ln/>
        </p:spPr>
        <p:txBody>
          <a:bodyPr wrap="square" lIns="0" tIns="0" rIns="0" bIns="0" rtlCol="0" anchor="ctr"/>
          <a:lstStyle/>
          <a:p>
            <a:pPr algn="r" indent="0" marL="0">
              <a:buNone/>
            </a:pPr>
            <a:r>
              <a:rPr lang="en-US" sz="1200" dirty="0">
                <a:solidFill>
                  <a:srgbClr val="64748B"/>
                </a:solidFill>
                <a:latin typeface="Calibri" pitchFamily="34" charset="0"/>
                <a:ea typeface="Calibri" pitchFamily="34" charset="-122"/>
                <a:cs typeface="Calibri" pitchFamily="34" charset="-120"/>
              </a:rPr>
              <a:t>CTI  |  Threat Landscape</a:t>
            </a:r>
            <a:endParaRPr lang="en-US" sz="1200" dirty="0"/>
          </a:p>
        </p:txBody>
      </p:sp>
      <p:sp>
        <p:nvSpPr>
          <p:cNvPr id="6" name="Text 3"/>
          <p:cNvSpPr txBox="1"/>
          <p:nvPr/>
        </p:nvSpPr>
        <p:spPr>
          <a:xfrm>
            <a:off x="457200" y="932688"/>
            <a:ext cx="11274552" cy="310896"/>
          </a:xfrm>
          <a:prstGeom prst="rect">
            <a:avLst/>
          </a:prstGeom>
          <a:noFill/>
          <a:ln/>
        </p:spPr>
        <p:txBody>
          <a:bodyPr wrap="square" lIns="0" tIns="0" rIns="0" bIns="0" rtlCol="0" anchor="ctr"/>
          <a:lstStyle/>
          <a:p>
            <a:pPr indent="0" marL="0">
              <a:buNone/>
            </a:pPr>
            <a:r>
              <a:rPr lang="en-US" sz="1500" dirty="0">
                <a:solidFill>
                  <a:srgbClr val="64748B"/>
                </a:solidFill>
                <a:latin typeface="Calibri" pitchFamily="34" charset="0"/>
                <a:ea typeface="Calibri" pitchFamily="34" charset="-122"/>
                <a:cs typeface="Calibri" pitchFamily="34" charset="-120"/>
              </a:rPr>
              <a:t>Who is targeting the Saudi financial sector, and why it matters now</a:t>
            </a:r>
            <a:endParaRPr lang="en-US" sz="1500" dirty="0"/>
          </a:p>
        </p:txBody>
      </p:sp>
      <p:sp>
        <p:nvSpPr>
          <p:cNvPr id="7" name="Text 4"/>
          <p:cNvSpPr txBox="1"/>
          <p:nvPr/>
        </p:nvSpPr>
        <p:spPr>
          <a:xfrm>
            <a:off x="457200" y="1371600"/>
            <a:ext cx="4572000" cy="292608"/>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Threat actors tracked</a:t>
            </a:r>
            <a:endParaRPr lang="en-US" sz="1600" dirty="0"/>
          </a:p>
        </p:txBody>
      </p:sp>
      <p:sp>
        <p:nvSpPr>
          <p:cNvPr id="8" name="Shape 5"/>
          <p:cNvSpPr/>
          <p:nvPr/>
        </p:nvSpPr>
        <p:spPr>
          <a:xfrm>
            <a:off x="457200" y="1755648"/>
            <a:ext cx="6583680" cy="1280160"/>
          </a:xfrm>
          <a:prstGeom prst="roundRect">
            <a:avLst>
              <a:gd name="adj" fmla="val 5000"/>
            </a:avLst>
          </a:prstGeom>
          <a:solidFill>
            <a:srgbClr val="F4F7FC"/>
          </a:solidFill>
          <a:ln w="9525">
            <a:solidFill>
              <a:srgbClr val="DCE3EE"/>
            </a:solidFill>
            <a:prstDash val="solid"/>
          </a:ln>
        </p:spPr>
      </p:sp>
      <p:sp>
        <p:nvSpPr>
          <p:cNvPr id="9" name="Shape 6"/>
          <p:cNvSpPr/>
          <p:nvPr/>
        </p:nvSpPr>
        <p:spPr>
          <a:xfrm>
            <a:off x="658368" y="1956816"/>
            <a:ext cx="457200" cy="457200"/>
          </a:xfrm>
          <a:prstGeom prst="ellipse">
            <a:avLst/>
          </a:prstGeom>
          <a:solidFill>
            <a:srgbClr val="1B2A4A"/>
          </a:solidFill>
          <a:ln/>
        </p:spPr>
      </p:sp>
      <p:pic>
        <p:nvPicPr>
          <p:cNvPr id="10" name="Image 1" descr="preencoded.png">    </p:cNvPr>
          <p:cNvPicPr>
            <a:picLocks noChangeAspect="1"/>
          </p:cNvPicPr>
          <p:nvPr/>
        </p:nvPicPr>
        <p:blipFill>
          <a:blip r:embed="rId2"/>
          <a:stretch>
            <a:fillRect/>
          </a:stretch>
        </p:blipFill>
        <p:spPr>
          <a:xfrm>
            <a:off x="768096" y="2066544"/>
            <a:ext cx="237744" cy="237744"/>
          </a:xfrm>
          <a:prstGeom prst="rect">
            <a:avLst/>
          </a:prstGeom>
        </p:spPr>
      </p:pic>
      <p:sp>
        <p:nvSpPr>
          <p:cNvPr id="11" name="Text 7"/>
          <p:cNvSpPr txBox="1"/>
          <p:nvPr/>
        </p:nvSpPr>
        <p:spPr>
          <a:xfrm>
            <a:off x="1243584" y="1911096"/>
            <a:ext cx="3291840" cy="292608"/>
          </a:xfrm>
          <a:prstGeom prst="rect">
            <a:avLst/>
          </a:prstGeom>
          <a:noFill/>
          <a:ln/>
        </p:spPr>
        <p:txBody>
          <a:bodyPr wrap="square" lIns="0" tIns="0" rIns="0" bIns="0" rtlCol="0" anchor="ctr"/>
          <a:lstStyle/>
          <a:p>
            <a:pPr indent="0" marL="0">
              <a:buNone/>
            </a:pPr>
            <a:r>
              <a:rPr lang="en-US" sz="1500" b="1" dirty="0">
                <a:solidFill>
                  <a:srgbClr val="B97A1F"/>
                </a:solidFill>
                <a:latin typeface="Calibri" pitchFamily="34" charset="0"/>
                <a:ea typeface="Calibri" pitchFamily="34" charset="-122"/>
                <a:cs typeface="Calibri" pitchFamily="34" charset="-120"/>
              </a:rPr>
              <a:t>[Threat actor]</a:t>
            </a:r>
            <a:endParaRPr lang="en-US" sz="1500" dirty="0"/>
          </a:p>
        </p:txBody>
      </p:sp>
      <p:sp>
        <p:nvSpPr>
          <p:cNvPr id="12" name="Text 8"/>
          <p:cNvSpPr txBox="1"/>
          <p:nvPr/>
        </p:nvSpPr>
        <p:spPr>
          <a:xfrm>
            <a:off x="1243584" y="2185416"/>
            <a:ext cx="3291840" cy="237744"/>
          </a:xfrm>
          <a:prstGeom prst="rect">
            <a:avLst/>
          </a:prstGeom>
          <a:noFill/>
          <a:ln/>
        </p:spPr>
        <p:txBody>
          <a:bodyPr wrap="square" lIns="0" tIns="0" rIns="0" bIns="0" rtlCol="0" anchor="ctr"/>
          <a:lstStyle/>
          <a:p>
            <a:pPr indent="0" marL="0">
              <a:buNone/>
            </a:pPr>
            <a:r>
              <a:rPr lang="en-US" sz="1100" dirty="0">
                <a:solidFill>
                  <a:srgbClr val="B97A1F"/>
                </a:solidFill>
                <a:latin typeface="Calibri" pitchFamily="34" charset="0"/>
                <a:ea typeface="Calibri" pitchFamily="34" charset="-122"/>
                <a:cs typeface="Calibri" pitchFamily="34" charset="-120"/>
              </a:rPr>
              <a:t>[Origin]  ·  [Motivation]</a:t>
            </a:r>
            <a:endParaRPr lang="en-US" sz="1100" dirty="0"/>
          </a:p>
        </p:txBody>
      </p:sp>
      <p:sp>
        <p:nvSpPr>
          <p:cNvPr id="13" name="Shape 9"/>
          <p:cNvSpPr/>
          <p:nvPr/>
        </p:nvSpPr>
        <p:spPr>
          <a:xfrm>
            <a:off x="5074920" y="1938528"/>
            <a:ext cx="1737360" cy="274320"/>
          </a:xfrm>
          <a:prstGeom prst="roundRect">
            <a:avLst>
              <a:gd name="adj" fmla="val 50000"/>
            </a:avLst>
          </a:prstGeom>
          <a:solidFill>
            <a:srgbClr val="FBF1DD"/>
          </a:solidFill>
          <a:ln/>
        </p:spPr>
      </p:sp>
      <p:sp>
        <p:nvSpPr>
          <p:cNvPr id="14" name="Text 10"/>
          <p:cNvSpPr txBox="1"/>
          <p:nvPr/>
        </p:nvSpPr>
        <p:spPr>
          <a:xfrm>
            <a:off x="5074920" y="1938528"/>
            <a:ext cx="1737360" cy="274320"/>
          </a:xfrm>
          <a:prstGeom prst="rect">
            <a:avLst/>
          </a:prstGeom>
          <a:noFill/>
          <a:ln/>
        </p:spPr>
        <p:txBody>
          <a:bodyPr wrap="square" lIns="0" tIns="0" rIns="0" bIns="0" rtlCol="0" anchor="ctr"/>
          <a:lstStyle/>
          <a:p>
            <a:pPr algn="ctr" indent="0" marL="0">
              <a:buNone/>
            </a:pPr>
            <a:r>
              <a:rPr lang="en-US" sz="1100" b="1" dirty="0">
                <a:solidFill>
                  <a:srgbClr val="B97A1F"/>
                </a:solidFill>
                <a:latin typeface="Calibri" pitchFamily="34" charset="0"/>
                <a:ea typeface="Calibri" pitchFamily="34" charset="-122"/>
                <a:cs typeface="Calibri" pitchFamily="34" charset="-120"/>
              </a:rPr>
              <a:t>[Relevance: High]</a:t>
            </a:r>
            <a:endParaRPr lang="en-US" sz="1100" dirty="0"/>
          </a:p>
        </p:txBody>
      </p:sp>
      <p:sp>
        <p:nvSpPr>
          <p:cNvPr id="15" name="Text 11"/>
          <p:cNvSpPr txBox="1"/>
          <p:nvPr/>
        </p:nvSpPr>
        <p:spPr>
          <a:xfrm>
            <a:off x="658368" y="2560320"/>
            <a:ext cx="6181344" cy="329184"/>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TTPs: </a:t>
            </a:r>
            <a:pPr indent="0" marL="0">
              <a:buNone/>
            </a:pPr>
            <a:r>
              <a:rPr lang="en-US" sz="1200" dirty="0">
                <a:solidFill>
                  <a:srgbClr val="B97A1F"/>
                </a:solidFill>
                <a:latin typeface="Calibri" pitchFamily="34" charset="0"/>
                <a:ea typeface="Calibri" pitchFamily="34" charset="-122"/>
                <a:cs typeface="Calibri" pitchFamily="34" charset="-120"/>
              </a:rPr>
              <a:t>[key techniques]</a:t>
            </a:r>
            <a:pPr indent="0" marL="0">
              <a:buNone/>
            </a:pPr>
            <a:r>
              <a:rPr lang="en-US" sz="1200" b="1" dirty="0">
                <a:solidFill>
                  <a:srgbClr val="1B2A4A"/>
                </a:solidFill>
                <a:latin typeface="Calibri" pitchFamily="34" charset="0"/>
                <a:ea typeface="Calibri" pitchFamily="34" charset="-122"/>
                <a:cs typeface="Calibri" pitchFamily="34" charset="-120"/>
              </a:rPr>
              <a:t>     SIMAH posture: </a:t>
            </a:r>
            <a:pPr indent="0" marL="0">
              <a:buNone/>
            </a:pPr>
            <a:r>
              <a:rPr lang="en-US" sz="1200" dirty="0">
                <a:solidFill>
                  <a:srgbClr val="B97A1F"/>
                </a:solidFill>
                <a:latin typeface="Calibri" pitchFamily="34" charset="0"/>
                <a:ea typeface="Calibri" pitchFamily="34" charset="-122"/>
                <a:cs typeface="Calibri" pitchFamily="34" charset="-120"/>
              </a:rPr>
              <a:t>[detections / controls in place]</a:t>
            </a:r>
            <a:endParaRPr lang="en-US" sz="1200" dirty="0"/>
          </a:p>
        </p:txBody>
      </p:sp>
      <p:sp>
        <p:nvSpPr>
          <p:cNvPr id="16" name="Shape 12"/>
          <p:cNvSpPr/>
          <p:nvPr/>
        </p:nvSpPr>
        <p:spPr>
          <a:xfrm>
            <a:off x="457200" y="3182112"/>
            <a:ext cx="6583680" cy="1280160"/>
          </a:xfrm>
          <a:prstGeom prst="roundRect">
            <a:avLst>
              <a:gd name="adj" fmla="val 5000"/>
            </a:avLst>
          </a:prstGeom>
          <a:solidFill>
            <a:srgbClr val="F4F7FC"/>
          </a:solidFill>
          <a:ln w="9525">
            <a:solidFill>
              <a:srgbClr val="DCE3EE"/>
            </a:solidFill>
            <a:prstDash val="solid"/>
          </a:ln>
        </p:spPr>
      </p:sp>
      <p:sp>
        <p:nvSpPr>
          <p:cNvPr id="17" name="Shape 13"/>
          <p:cNvSpPr/>
          <p:nvPr/>
        </p:nvSpPr>
        <p:spPr>
          <a:xfrm>
            <a:off x="658368" y="3383280"/>
            <a:ext cx="457200" cy="457200"/>
          </a:xfrm>
          <a:prstGeom prst="ellipse">
            <a:avLst/>
          </a:prstGeom>
          <a:solidFill>
            <a:srgbClr val="1B2A4A"/>
          </a:solidFill>
          <a:ln/>
        </p:spPr>
      </p:sp>
      <p:pic>
        <p:nvPicPr>
          <p:cNvPr id="18" name="Image 2" descr="preencoded.png">    </p:cNvPr>
          <p:cNvPicPr>
            <a:picLocks noChangeAspect="1"/>
          </p:cNvPicPr>
          <p:nvPr/>
        </p:nvPicPr>
        <p:blipFill>
          <a:blip r:embed="rId3"/>
          <a:stretch>
            <a:fillRect/>
          </a:stretch>
        </p:blipFill>
        <p:spPr>
          <a:xfrm>
            <a:off x="768096" y="3493008"/>
            <a:ext cx="237744" cy="237744"/>
          </a:xfrm>
          <a:prstGeom prst="rect">
            <a:avLst/>
          </a:prstGeom>
        </p:spPr>
      </p:pic>
      <p:sp>
        <p:nvSpPr>
          <p:cNvPr id="19" name="Text 14"/>
          <p:cNvSpPr txBox="1"/>
          <p:nvPr/>
        </p:nvSpPr>
        <p:spPr>
          <a:xfrm>
            <a:off x="1243584" y="3337560"/>
            <a:ext cx="3291840" cy="292608"/>
          </a:xfrm>
          <a:prstGeom prst="rect">
            <a:avLst/>
          </a:prstGeom>
          <a:noFill/>
          <a:ln/>
        </p:spPr>
        <p:txBody>
          <a:bodyPr wrap="square" lIns="0" tIns="0" rIns="0" bIns="0" rtlCol="0" anchor="ctr"/>
          <a:lstStyle/>
          <a:p>
            <a:pPr indent="0" marL="0">
              <a:buNone/>
            </a:pPr>
            <a:r>
              <a:rPr lang="en-US" sz="1500" b="1" dirty="0">
                <a:solidFill>
                  <a:srgbClr val="B97A1F"/>
                </a:solidFill>
                <a:latin typeface="Calibri" pitchFamily="34" charset="0"/>
                <a:ea typeface="Calibri" pitchFamily="34" charset="-122"/>
                <a:cs typeface="Calibri" pitchFamily="34" charset="-120"/>
              </a:rPr>
              <a:t>[Threat actor]</a:t>
            </a:r>
            <a:endParaRPr lang="en-US" sz="1500" dirty="0"/>
          </a:p>
        </p:txBody>
      </p:sp>
      <p:sp>
        <p:nvSpPr>
          <p:cNvPr id="20" name="Text 15"/>
          <p:cNvSpPr txBox="1"/>
          <p:nvPr/>
        </p:nvSpPr>
        <p:spPr>
          <a:xfrm>
            <a:off x="1243584" y="3611880"/>
            <a:ext cx="3291840" cy="237744"/>
          </a:xfrm>
          <a:prstGeom prst="rect">
            <a:avLst/>
          </a:prstGeom>
          <a:noFill/>
          <a:ln/>
        </p:spPr>
        <p:txBody>
          <a:bodyPr wrap="square" lIns="0" tIns="0" rIns="0" bIns="0" rtlCol="0" anchor="ctr"/>
          <a:lstStyle/>
          <a:p>
            <a:pPr indent="0" marL="0">
              <a:buNone/>
            </a:pPr>
            <a:r>
              <a:rPr lang="en-US" sz="1100" dirty="0">
                <a:solidFill>
                  <a:srgbClr val="B97A1F"/>
                </a:solidFill>
                <a:latin typeface="Calibri" pitchFamily="34" charset="0"/>
                <a:ea typeface="Calibri" pitchFamily="34" charset="-122"/>
                <a:cs typeface="Calibri" pitchFamily="34" charset="-120"/>
              </a:rPr>
              <a:t>[Origin]  ·  [Motivation]</a:t>
            </a:r>
            <a:endParaRPr lang="en-US" sz="1100" dirty="0"/>
          </a:p>
        </p:txBody>
      </p:sp>
      <p:sp>
        <p:nvSpPr>
          <p:cNvPr id="21" name="Shape 16"/>
          <p:cNvSpPr/>
          <p:nvPr/>
        </p:nvSpPr>
        <p:spPr>
          <a:xfrm>
            <a:off x="5074920" y="3364992"/>
            <a:ext cx="1737360" cy="274320"/>
          </a:xfrm>
          <a:prstGeom prst="roundRect">
            <a:avLst>
              <a:gd name="adj" fmla="val 50000"/>
            </a:avLst>
          </a:prstGeom>
          <a:solidFill>
            <a:srgbClr val="FBF1DD"/>
          </a:solidFill>
          <a:ln/>
        </p:spPr>
      </p:sp>
      <p:sp>
        <p:nvSpPr>
          <p:cNvPr id="22" name="Text 17"/>
          <p:cNvSpPr txBox="1"/>
          <p:nvPr/>
        </p:nvSpPr>
        <p:spPr>
          <a:xfrm>
            <a:off x="5074920" y="3364992"/>
            <a:ext cx="1737360" cy="274320"/>
          </a:xfrm>
          <a:prstGeom prst="rect">
            <a:avLst/>
          </a:prstGeom>
          <a:noFill/>
          <a:ln/>
        </p:spPr>
        <p:txBody>
          <a:bodyPr wrap="square" lIns="0" tIns="0" rIns="0" bIns="0" rtlCol="0" anchor="ctr"/>
          <a:lstStyle/>
          <a:p>
            <a:pPr algn="ctr" indent="0" marL="0">
              <a:buNone/>
            </a:pPr>
            <a:r>
              <a:rPr lang="en-US" sz="1100" b="1" dirty="0">
                <a:solidFill>
                  <a:srgbClr val="B97A1F"/>
                </a:solidFill>
                <a:latin typeface="Calibri" pitchFamily="34" charset="0"/>
                <a:ea typeface="Calibri" pitchFamily="34" charset="-122"/>
                <a:cs typeface="Calibri" pitchFamily="34" charset="-120"/>
              </a:rPr>
              <a:t>[Relevance: High]</a:t>
            </a:r>
            <a:endParaRPr lang="en-US" sz="1100" dirty="0"/>
          </a:p>
        </p:txBody>
      </p:sp>
      <p:sp>
        <p:nvSpPr>
          <p:cNvPr id="23" name="Text 18"/>
          <p:cNvSpPr txBox="1"/>
          <p:nvPr/>
        </p:nvSpPr>
        <p:spPr>
          <a:xfrm>
            <a:off x="658368" y="3986784"/>
            <a:ext cx="6181344" cy="329184"/>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TTPs: </a:t>
            </a:r>
            <a:pPr indent="0" marL="0">
              <a:buNone/>
            </a:pPr>
            <a:r>
              <a:rPr lang="en-US" sz="1200" dirty="0">
                <a:solidFill>
                  <a:srgbClr val="B97A1F"/>
                </a:solidFill>
                <a:latin typeface="Calibri" pitchFamily="34" charset="0"/>
                <a:ea typeface="Calibri" pitchFamily="34" charset="-122"/>
                <a:cs typeface="Calibri" pitchFamily="34" charset="-120"/>
              </a:rPr>
              <a:t>[key techniques]</a:t>
            </a:r>
            <a:pPr indent="0" marL="0">
              <a:buNone/>
            </a:pPr>
            <a:r>
              <a:rPr lang="en-US" sz="1200" b="1" dirty="0">
                <a:solidFill>
                  <a:srgbClr val="1B2A4A"/>
                </a:solidFill>
                <a:latin typeface="Calibri" pitchFamily="34" charset="0"/>
                <a:ea typeface="Calibri" pitchFamily="34" charset="-122"/>
                <a:cs typeface="Calibri" pitchFamily="34" charset="-120"/>
              </a:rPr>
              <a:t>     SIMAH posture: </a:t>
            </a:r>
            <a:pPr indent="0" marL="0">
              <a:buNone/>
            </a:pPr>
            <a:r>
              <a:rPr lang="en-US" sz="1200" dirty="0">
                <a:solidFill>
                  <a:srgbClr val="B97A1F"/>
                </a:solidFill>
                <a:latin typeface="Calibri" pitchFamily="34" charset="0"/>
                <a:ea typeface="Calibri" pitchFamily="34" charset="-122"/>
                <a:cs typeface="Calibri" pitchFamily="34" charset="-120"/>
              </a:rPr>
              <a:t>[detections / controls in place]</a:t>
            </a:r>
            <a:endParaRPr lang="en-US" sz="1200" dirty="0"/>
          </a:p>
        </p:txBody>
      </p:sp>
      <p:sp>
        <p:nvSpPr>
          <p:cNvPr id="24" name="Shape 19"/>
          <p:cNvSpPr/>
          <p:nvPr/>
        </p:nvSpPr>
        <p:spPr>
          <a:xfrm>
            <a:off x="457200" y="4608576"/>
            <a:ext cx="6583680" cy="1280160"/>
          </a:xfrm>
          <a:prstGeom prst="roundRect">
            <a:avLst>
              <a:gd name="adj" fmla="val 5000"/>
            </a:avLst>
          </a:prstGeom>
          <a:solidFill>
            <a:srgbClr val="F4F7FC"/>
          </a:solidFill>
          <a:ln w="9525">
            <a:solidFill>
              <a:srgbClr val="DCE3EE"/>
            </a:solidFill>
            <a:prstDash val="solid"/>
          </a:ln>
        </p:spPr>
      </p:sp>
      <p:sp>
        <p:nvSpPr>
          <p:cNvPr id="25" name="Shape 20"/>
          <p:cNvSpPr/>
          <p:nvPr/>
        </p:nvSpPr>
        <p:spPr>
          <a:xfrm>
            <a:off x="658368" y="4809744"/>
            <a:ext cx="457200" cy="457200"/>
          </a:xfrm>
          <a:prstGeom prst="ellipse">
            <a:avLst/>
          </a:prstGeom>
          <a:solidFill>
            <a:srgbClr val="1B2A4A"/>
          </a:solidFill>
          <a:ln/>
        </p:spPr>
      </p:sp>
      <p:pic>
        <p:nvPicPr>
          <p:cNvPr id="26" name="Image 3" descr="preencoded.png">    </p:cNvPr>
          <p:cNvPicPr>
            <a:picLocks noChangeAspect="1"/>
          </p:cNvPicPr>
          <p:nvPr/>
        </p:nvPicPr>
        <p:blipFill>
          <a:blip r:embed="rId4"/>
          <a:stretch>
            <a:fillRect/>
          </a:stretch>
        </p:blipFill>
        <p:spPr>
          <a:xfrm>
            <a:off x="768096" y="4919472"/>
            <a:ext cx="237744" cy="237744"/>
          </a:xfrm>
          <a:prstGeom prst="rect">
            <a:avLst/>
          </a:prstGeom>
        </p:spPr>
      </p:pic>
      <p:sp>
        <p:nvSpPr>
          <p:cNvPr id="27" name="Text 21"/>
          <p:cNvSpPr txBox="1"/>
          <p:nvPr/>
        </p:nvSpPr>
        <p:spPr>
          <a:xfrm>
            <a:off x="1243584" y="4764024"/>
            <a:ext cx="3291840" cy="292608"/>
          </a:xfrm>
          <a:prstGeom prst="rect">
            <a:avLst/>
          </a:prstGeom>
          <a:noFill/>
          <a:ln/>
        </p:spPr>
        <p:txBody>
          <a:bodyPr wrap="square" lIns="0" tIns="0" rIns="0" bIns="0" rtlCol="0" anchor="ctr"/>
          <a:lstStyle/>
          <a:p>
            <a:pPr indent="0" marL="0">
              <a:buNone/>
            </a:pPr>
            <a:r>
              <a:rPr lang="en-US" sz="1500" b="1" dirty="0">
                <a:solidFill>
                  <a:srgbClr val="B97A1F"/>
                </a:solidFill>
                <a:latin typeface="Calibri" pitchFamily="34" charset="0"/>
                <a:ea typeface="Calibri" pitchFamily="34" charset="-122"/>
                <a:cs typeface="Calibri" pitchFamily="34" charset="-120"/>
              </a:rPr>
              <a:t>[Threat actor]</a:t>
            </a:r>
            <a:endParaRPr lang="en-US" sz="1500" dirty="0"/>
          </a:p>
        </p:txBody>
      </p:sp>
      <p:sp>
        <p:nvSpPr>
          <p:cNvPr id="28" name="Text 22"/>
          <p:cNvSpPr txBox="1"/>
          <p:nvPr/>
        </p:nvSpPr>
        <p:spPr>
          <a:xfrm>
            <a:off x="1243584" y="5038344"/>
            <a:ext cx="3291840" cy="237744"/>
          </a:xfrm>
          <a:prstGeom prst="rect">
            <a:avLst/>
          </a:prstGeom>
          <a:noFill/>
          <a:ln/>
        </p:spPr>
        <p:txBody>
          <a:bodyPr wrap="square" lIns="0" tIns="0" rIns="0" bIns="0" rtlCol="0" anchor="ctr"/>
          <a:lstStyle/>
          <a:p>
            <a:pPr indent="0" marL="0">
              <a:buNone/>
            </a:pPr>
            <a:r>
              <a:rPr lang="en-US" sz="1100" dirty="0">
                <a:solidFill>
                  <a:srgbClr val="B97A1F"/>
                </a:solidFill>
                <a:latin typeface="Calibri" pitchFamily="34" charset="0"/>
                <a:ea typeface="Calibri" pitchFamily="34" charset="-122"/>
                <a:cs typeface="Calibri" pitchFamily="34" charset="-120"/>
              </a:rPr>
              <a:t>[Origin]  ·  [Motivation]</a:t>
            </a:r>
            <a:endParaRPr lang="en-US" sz="1100" dirty="0"/>
          </a:p>
        </p:txBody>
      </p:sp>
      <p:sp>
        <p:nvSpPr>
          <p:cNvPr id="29" name="Shape 23"/>
          <p:cNvSpPr/>
          <p:nvPr/>
        </p:nvSpPr>
        <p:spPr>
          <a:xfrm>
            <a:off x="5074920" y="4791456"/>
            <a:ext cx="1737360" cy="274320"/>
          </a:xfrm>
          <a:prstGeom prst="roundRect">
            <a:avLst>
              <a:gd name="adj" fmla="val 50000"/>
            </a:avLst>
          </a:prstGeom>
          <a:solidFill>
            <a:srgbClr val="FBF1DD"/>
          </a:solidFill>
          <a:ln/>
        </p:spPr>
      </p:sp>
      <p:sp>
        <p:nvSpPr>
          <p:cNvPr id="30" name="Text 24"/>
          <p:cNvSpPr txBox="1"/>
          <p:nvPr/>
        </p:nvSpPr>
        <p:spPr>
          <a:xfrm>
            <a:off x="5074920" y="4791456"/>
            <a:ext cx="1737360" cy="274320"/>
          </a:xfrm>
          <a:prstGeom prst="rect">
            <a:avLst/>
          </a:prstGeom>
          <a:noFill/>
          <a:ln/>
        </p:spPr>
        <p:txBody>
          <a:bodyPr wrap="square" lIns="0" tIns="0" rIns="0" bIns="0" rtlCol="0" anchor="ctr"/>
          <a:lstStyle/>
          <a:p>
            <a:pPr algn="ctr" indent="0" marL="0">
              <a:buNone/>
            </a:pPr>
            <a:r>
              <a:rPr lang="en-US" sz="1100" b="1" dirty="0">
                <a:solidFill>
                  <a:srgbClr val="B97A1F"/>
                </a:solidFill>
                <a:latin typeface="Calibri" pitchFamily="34" charset="0"/>
                <a:ea typeface="Calibri" pitchFamily="34" charset="-122"/>
                <a:cs typeface="Calibri" pitchFamily="34" charset="-120"/>
              </a:rPr>
              <a:t>[Relevance: High]</a:t>
            </a:r>
            <a:endParaRPr lang="en-US" sz="1100" dirty="0"/>
          </a:p>
        </p:txBody>
      </p:sp>
      <p:sp>
        <p:nvSpPr>
          <p:cNvPr id="31" name="Text 25"/>
          <p:cNvSpPr txBox="1"/>
          <p:nvPr/>
        </p:nvSpPr>
        <p:spPr>
          <a:xfrm>
            <a:off x="658368" y="5413248"/>
            <a:ext cx="6181344" cy="329184"/>
          </a:xfrm>
          <a:prstGeom prst="rect">
            <a:avLst/>
          </a:prstGeom>
          <a:noFill/>
          <a:ln/>
        </p:spPr>
        <p:txBody>
          <a:bodyPr wrap="square" lIns="0" tIns="0" rIns="0" bIns="0" rtlCol="0" anchor="ctr"/>
          <a:lstStyle/>
          <a:p>
            <a:pPr indent="0" marL="0">
              <a:buNone/>
            </a:pPr>
            <a:r>
              <a:rPr lang="en-US" sz="1200" b="1" dirty="0">
                <a:solidFill>
                  <a:srgbClr val="1B2A4A"/>
                </a:solidFill>
                <a:latin typeface="Calibri" pitchFamily="34" charset="0"/>
                <a:ea typeface="Calibri" pitchFamily="34" charset="-122"/>
                <a:cs typeface="Calibri" pitchFamily="34" charset="-120"/>
              </a:rPr>
              <a:t>TTPs: </a:t>
            </a:r>
            <a:pPr indent="0" marL="0">
              <a:buNone/>
            </a:pPr>
            <a:r>
              <a:rPr lang="en-US" sz="1200" dirty="0">
                <a:solidFill>
                  <a:srgbClr val="B97A1F"/>
                </a:solidFill>
                <a:latin typeface="Calibri" pitchFamily="34" charset="0"/>
                <a:ea typeface="Calibri" pitchFamily="34" charset="-122"/>
                <a:cs typeface="Calibri" pitchFamily="34" charset="-120"/>
              </a:rPr>
              <a:t>[key techniques]</a:t>
            </a:r>
            <a:pPr indent="0" marL="0">
              <a:buNone/>
            </a:pPr>
            <a:r>
              <a:rPr lang="en-US" sz="1200" b="1" dirty="0">
                <a:solidFill>
                  <a:srgbClr val="1B2A4A"/>
                </a:solidFill>
                <a:latin typeface="Calibri" pitchFamily="34" charset="0"/>
                <a:ea typeface="Calibri" pitchFamily="34" charset="-122"/>
                <a:cs typeface="Calibri" pitchFamily="34" charset="-120"/>
              </a:rPr>
              <a:t>     SIMAH posture: </a:t>
            </a:r>
            <a:pPr indent="0" marL="0">
              <a:buNone/>
            </a:pPr>
            <a:r>
              <a:rPr lang="en-US" sz="1200" dirty="0">
                <a:solidFill>
                  <a:srgbClr val="B97A1F"/>
                </a:solidFill>
                <a:latin typeface="Calibri" pitchFamily="34" charset="0"/>
                <a:ea typeface="Calibri" pitchFamily="34" charset="-122"/>
                <a:cs typeface="Calibri" pitchFamily="34" charset="-120"/>
              </a:rPr>
              <a:t>[detections / controls in place]</a:t>
            </a:r>
            <a:endParaRPr lang="en-US" sz="1200" dirty="0"/>
          </a:p>
        </p:txBody>
      </p:sp>
      <p:sp>
        <p:nvSpPr>
          <p:cNvPr id="32" name="Shape 26"/>
          <p:cNvSpPr/>
          <p:nvPr/>
        </p:nvSpPr>
        <p:spPr>
          <a:xfrm>
            <a:off x="7315200" y="1371600"/>
            <a:ext cx="4416552" cy="4663440"/>
          </a:xfrm>
          <a:prstGeom prst="roundRect">
            <a:avLst>
              <a:gd name="adj" fmla="val 1449"/>
            </a:avLst>
          </a:prstGeom>
          <a:solidFill>
            <a:srgbClr val="1B2A4A"/>
          </a:solidFill>
          <a:ln/>
        </p:spPr>
      </p:sp>
      <p:sp>
        <p:nvSpPr>
          <p:cNvPr id="33" name="Shape 27"/>
          <p:cNvSpPr/>
          <p:nvPr/>
        </p:nvSpPr>
        <p:spPr>
          <a:xfrm>
            <a:off x="7571232" y="1600200"/>
            <a:ext cx="512064" cy="512064"/>
          </a:xfrm>
          <a:prstGeom prst="ellipse">
            <a:avLst/>
          </a:prstGeom>
          <a:solidFill>
            <a:srgbClr val="2A8C96"/>
          </a:solidFill>
          <a:ln/>
        </p:spPr>
      </p:sp>
      <p:pic>
        <p:nvPicPr>
          <p:cNvPr id="34" name="Image 4" descr="preencoded.png">    </p:cNvPr>
          <p:cNvPicPr>
            <a:picLocks noChangeAspect="1"/>
          </p:cNvPicPr>
          <p:nvPr/>
        </p:nvPicPr>
        <p:blipFill>
          <a:blip r:embed="rId5"/>
          <a:stretch>
            <a:fillRect/>
          </a:stretch>
        </p:blipFill>
        <p:spPr>
          <a:xfrm>
            <a:off x="7699248" y="1728216"/>
            <a:ext cx="256032" cy="256032"/>
          </a:xfrm>
          <a:prstGeom prst="rect">
            <a:avLst/>
          </a:prstGeom>
        </p:spPr>
      </p:pic>
      <p:sp>
        <p:nvSpPr>
          <p:cNvPr id="35" name="Text 28"/>
          <p:cNvSpPr txBox="1"/>
          <p:nvPr/>
        </p:nvSpPr>
        <p:spPr>
          <a:xfrm>
            <a:off x="8229600" y="1600200"/>
            <a:ext cx="3291840" cy="512064"/>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Geopolitical Situation</a:t>
            </a:r>
            <a:endParaRPr lang="en-US" sz="1800" dirty="0"/>
          </a:p>
        </p:txBody>
      </p:sp>
      <p:sp>
        <p:nvSpPr>
          <p:cNvPr id="36" name="Text 29"/>
          <p:cNvSpPr txBox="1"/>
          <p:nvPr/>
        </p:nvSpPr>
        <p:spPr>
          <a:xfrm>
            <a:off x="7571232" y="2377440"/>
            <a:ext cx="3931920" cy="2011680"/>
          </a:xfrm>
          <a:prstGeom prst="rect">
            <a:avLst/>
          </a:prstGeom>
          <a:noFill/>
          <a:ln/>
        </p:spPr>
        <p:txBody>
          <a:bodyPr wrap="square" lIns="0" tIns="0" rIns="0" bIns="0" rtlCol="0" anchor="t"/>
          <a:lstStyle/>
          <a:p>
            <a:pPr marL="342900" indent="-342900">
              <a:spcAft>
                <a:spcPts val="1200"/>
              </a:spcAft>
              <a:buSzPct val="100000"/>
              <a:buChar char="•"/>
            </a:pPr>
            <a:r>
              <a:rPr lang="en-US" sz="1400" dirty="0">
                <a:solidFill>
                  <a:srgbClr val="F5C46B"/>
                </a:solidFill>
                <a:latin typeface="Calibri" pitchFamily="34" charset="0"/>
                <a:ea typeface="Calibri" pitchFamily="34" charset="-122"/>
                <a:cs typeface="Calibri" pitchFamily="34" charset="-120"/>
              </a:rPr>
              <a:t>[Regional development and its cyber dimension]</a:t>
            </a:r>
            <a:endParaRPr lang="en-US" sz="1400" dirty="0"/>
          </a:p>
          <a:p>
            <a:pPr marL="342900" indent="-342900">
              <a:spcAft>
                <a:spcPts val="1200"/>
              </a:spcAft>
              <a:buSzPct val="100000"/>
              <a:buChar char="•"/>
            </a:pPr>
            <a:r>
              <a:rPr lang="en-US" sz="1400" dirty="0">
                <a:solidFill>
                  <a:srgbClr val="F5C46B"/>
                </a:solidFill>
                <a:latin typeface="Calibri" pitchFamily="34" charset="0"/>
                <a:ea typeface="Calibri" pitchFamily="34" charset="-122"/>
                <a:cs typeface="Calibri" pitchFamily="34" charset="-120"/>
              </a:rPr>
              <a:t>[Hacktivist / state-aligned activity observed]</a:t>
            </a:r>
            <a:endParaRPr lang="en-US" sz="1400" dirty="0"/>
          </a:p>
          <a:p>
            <a:pPr marL="342900" indent="-342900">
              <a:spcAft>
                <a:spcPts val="1200"/>
              </a:spcAft>
              <a:buSzPct val="100000"/>
              <a:buChar char="•"/>
            </a:pPr>
            <a:r>
              <a:rPr lang="en-US" sz="1400" dirty="0">
                <a:solidFill>
                  <a:srgbClr val="F5C46B"/>
                </a:solidFill>
                <a:latin typeface="Calibri" pitchFamily="34" charset="0"/>
                <a:ea typeface="Calibri" pitchFamily="34" charset="-122"/>
                <a:cs typeface="Calibri" pitchFamily="34" charset="-120"/>
              </a:rPr>
              <a:t>[Sector-specific targeting: finance, credit data]</a:t>
            </a:r>
            <a:endParaRPr lang="en-US" sz="1400" dirty="0"/>
          </a:p>
        </p:txBody>
      </p:sp>
      <p:sp>
        <p:nvSpPr>
          <p:cNvPr id="37" name="Shape 30"/>
          <p:cNvSpPr/>
          <p:nvPr/>
        </p:nvSpPr>
        <p:spPr>
          <a:xfrm>
            <a:off x="7571232" y="4572000"/>
            <a:ext cx="3904488" cy="1234440"/>
          </a:xfrm>
          <a:prstGeom prst="roundRect">
            <a:avLst>
              <a:gd name="adj" fmla="val 5926"/>
            </a:avLst>
          </a:prstGeom>
          <a:solidFill>
            <a:srgbClr val="24365E"/>
          </a:solidFill>
          <a:ln/>
        </p:spPr>
      </p:sp>
      <p:sp>
        <p:nvSpPr>
          <p:cNvPr id="38" name="Text 31"/>
          <p:cNvSpPr txBox="1"/>
          <p:nvPr/>
        </p:nvSpPr>
        <p:spPr>
          <a:xfrm>
            <a:off x="7754112" y="4572000"/>
            <a:ext cx="3566160" cy="12344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Impact on SIMAH</a:t>
            </a:r>
            <a:endParaRPr lang="en-US" sz="1300" dirty="0"/>
          </a:p>
          <a:p>
            <a:pPr indent="0" marL="0">
              <a:buNone/>
            </a:pPr>
            <a:r>
              <a:rPr lang="en-US" sz="1250" dirty="0">
                <a:solidFill>
                  <a:srgbClr val="F5C46B"/>
                </a:solidFill>
                <a:latin typeface="Calibri" pitchFamily="34" charset="0"/>
                <a:ea typeface="Calibri" pitchFamily="34" charset="-122"/>
                <a:cs typeface="Calibri" pitchFamily="34" charset="-120"/>
              </a:rPr>
              <a:t>[Assessed risk level and what the SOC has changed in response]</a:t>
            </a:r>
            <a:endParaRPr lang="en-US" sz="13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457200" y="310896"/>
            <a:ext cx="530352" cy="530352"/>
          </a:xfrm>
          <a:prstGeom prst="ellipse">
            <a:avLst/>
          </a:prstGeom>
          <a:solidFill>
            <a:srgbClr val="1B2A4A"/>
          </a:solidFill>
          <a:ln/>
        </p:spPr>
      </p:sp>
      <p:pic>
        <p:nvPicPr>
          <p:cNvPr id="3" name="Image 0" descr="preencoded.png">    </p:cNvPr>
          <p:cNvPicPr>
            <a:picLocks noChangeAspect="1"/>
          </p:cNvPicPr>
          <p:nvPr/>
        </p:nvPicPr>
        <p:blipFill>
          <a:blip r:embed="rId1"/>
          <a:stretch>
            <a:fillRect/>
          </a:stretch>
        </p:blipFill>
        <p:spPr>
          <a:xfrm>
            <a:off x="589788" y="443484"/>
            <a:ext cx="265176" cy="265176"/>
          </a:xfrm>
          <a:prstGeom prst="rect">
            <a:avLst/>
          </a:prstGeom>
        </p:spPr>
      </p:pic>
      <p:sp>
        <p:nvSpPr>
          <p:cNvPr id="4" name="Text 1"/>
          <p:cNvSpPr/>
          <p:nvPr>
            <p:ph idx="101" type="title" hasCustomPrompt="1"/>
          </p:nvPr>
        </p:nvSpPr>
        <p:spPr>
          <a:xfrm>
            <a:off x="1143000" y="274320"/>
            <a:ext cx="7223760" cy="603504"/>
          </a:xfrm>
          <a:prstGeom prst="rect">
            <a:avLst/>
          </a:prstGeom>
          <a:noFill/>
          <a:ln/>
        </p:spPr>
        <p:txBody>
          <a:bodyPr wrap="square" lIns="0" tIns="0" rIns="0" bIns="0" rtlCol="0" anchor="ctr"/>
          <a:lstStyle/>
          <a:p>
            <a:pPr algn="l" indent="0" marL="0">
              <a:buNone/>
            </a:pPr>
            <a:r>
              <a:rPr lang="en-US" sz="3000" b="1" dirty="0">
                <a:solidFill>
                  <a:srgbClr val="1B2A4A"/>
                </a:solidFill>
                <a:latin typeface="Calibri" pitchFamily="34" charset="0"/>
                <a:ea typeface="Calibri" pitchFamily="34" charset="-122"/>
                <a:cs typeface="Calibri" pitchFamily="34" charset="-120"/>
              </a:rPr>
              <a:t>CTI: Recent Breaches &amp; Vulnerabilities</a:t>
            </a:r>
            <a:endParaRPr lang="en-US" sz="3000" dirty="0"/>
          </a:p>
        </p:txBody>
      </p:sp>
      <p:sp>
        <p:nvSpPr>
          <p:cNvPr id="5" name="Text 2"/>
          <p:cNvSpPr txBox="1"/>
          <p:nvPr/>
        </p:nvSpPr>
        <p:spPr>
          <a:xfrm>
            <a:off x="8458200" y="384048"/>
            <a:ext cx="3273552" cy="384048"/>
          </a:xfrm>
          <a:prstGeom prst="rect">
            <a:avLst/>
          </a:prstGeom>
          <a:noFill/>
          <a:ln/>
        </p:spPr>
        <p:txBody>
          <a:bodyPr wrap="square" lIns="0" tIns="0" rIns="0" bIns="0" rtlCol="0" anchor="ctr"/>
          <a:lstStyle/>
          <a:p>
            <a:pPr algn="r" indent="0" marL="0">
              <a:buNone/>
            </a:pPr>
            <a:r>
              <a:rPr lang="en-US" sz="1200" dirty="0">
                <a:solidFill>
                  <a:srgbClr val="64748B"/>
                </a:solidFill>
                <a:latin typeface="Calibri" pitchFamily="34" charset="0"/>
                <a:ea typeface="Calibri" pitchFamily="34" charset="-122"/>
                <a:cs typeface="Calibri" pitchFamily="34" charset="-120"/>
              </a:rPr>
              <a:t>CTI  |  Exposure Assessment</a:t>
            </a:r>
            <a:endParaRPr lang="en-US" sz="1200" dirty="0"/>
          </a:p>
        </p:txBody>
      </p:sp>
      <p:sp>
        <p:nvSpPr>
          <p:cNvPr id="6" name="Text 3"/>
          <p:cNvSpPr txBox="1"/>
          <p:nvPr/>
        </p:nvSpPr>
        <p:spPr>
          <a:xfrm>
            <a:off x="457200" y="932688"/>
            <a:ext cx="11274552" cy="310896"/>
          </a:xfrm>
          <a:prstGeom prst="rect">
            <a:avLst/>
          </a:prstGeom>
          <a:noFill/>
          <a:ln/>
        </p:spPr>
        <p:txBody>
          <a:bodyPr wrap="square" lIns="0" tIns="0" rIns="0" bIns="0" rtlCol="0" anchor="ctr"/>
          <a:lstStyle/>
          <a:p>
            <a:pPr indent="0" marL="0">
              <a:buNone/>
            </a:pPr>
            <a:r>
              <a:rPr lang="en-US" sz="1500" dirty="0">
                <a:solidFill>
                  <a:srgbClr val="64748B"/>
                </a:solidFill>
                <a:latin typeface="Calibri" pitchFamily="34" charset="0"/>
                <a:ea typeface="Calibri" pitchFamily="34" charset="-122"/>
                <a:cs typeface="Calibri" pitchFamily="34" charset="-120"/>
              </a:rPr>
              <a:t>Recent external events assessed for their effect on SIMAH</a:t>
            </a:r>
            <a:endParaRPr lang="en-US" sz="1500" dirty="0"/>
          </a:p>
        </p:txBody>
      </p:sp>
      <p:sp>
        <p:nvSpPr>
          <p:cNvPr id="7" name="Shape 4"/>
          <p:cNvSpPr/>
          <p:nvPr/>
        </p:nvSpPr>
        <p:spPr>
          <a:xfrm>
            <a:off x="457200" y="1463040"/>
            <a:ext cx="3630168" cy="1051560"/>
          </a:xfrm>
          <a:prstGeom prst="roundRect">
            <a:avLst>
              <a:gd name="adj" fmla="val 6087"/>
            </a:avLst>
          </a:prstGeom>
          <a:solidFill>
            <a:srgbClr val="F4F7FC"/>
          </a:solidFill>
          <a:ln w="9525">
            <a:solidFill>
              <a:srgbClr val="DCE3EE"/>
            </a:solidFill>
            <a:prstDash val="solid"/>
          </a:ln>
        </p:spPr>
      </p:sp>
      <p:sp>
        <p:nvSpPr>
          <p:cNvPr id="8" name="Shape 5"/>
          <p:cNvSpPr/>
          <p:nvPr/>
        </p:nvSpPr>
        <p:spPr>
          <a:xfrm>
            <a:off x="640080" y="1760220"/>
            <a:ext cx="457200" cy="457200"/>
          </a:xfrm>
          <a:prstGeom prst="ellipse">
            <a:avLst/>
          </a:prstGeom>
          <a:solidFill>
            <a:srgbClr val="FFFFFF"/>
          </a:solidFill>
          <a:ln/>
        </p:spPr>
      </p:sp>
      <p:pic>
        <p:nvPicPr>
          <p:cNvPr id="9" name="Image 1" descr="preencoded.png">    </p:cNvPr>
          <p:cNvPicPr>
            <a:picLocks noChangeAspect="1"/>
          </p:cNvPicPr>
          <p:nvPr/>
        </p:nvPicPr>
        <p:blipFill>
          <a:blip r:embed="rId2"/>
          <a:stretch>
            <a:fillRect/>
          </a:stretch>
        </p:blipFill>
        <p:spPr>
          <a:xfrm>
            <a:off x="749808" y="1869948"/>
            <a:ext cx="237744" cy="237744"/>
          </a:xfrm>
          <a:prstGeom prst="rect">
            <a:avLst/>
          </a:prstGeom>
        </p:spPr>
      </p:pic>
      <p:sp>
        <p:nvSpPr>
          <p:cNvPr id="10" name="Text 6"/>
          <p:cNvSpPr txBox="1"/>
          <p:nvPr/>
        </p:nvSpPr>
        <p:spPr>
          <a:xfrm>
            <a:off x="1243584" y="1463040"/>
            <a:ext cx="2734056" cy="1051560"/>
          </a:xfrm>
          <a:prstGeom prst="rect">
            <a:avLst/>
          </a:prstGeom>
          <a:noFill/>
          <a:ln/>
        </p:spPr>
        <p:txBody>
          <a:bodyPr wrap="square" lIns="0" tIns="0" rIns="0" bIns="0" rtlCol="0" anchor="ctr"/>
          <a:lstStyle/>
          <a:p>
            <a:pPr algn="l" indent="0" marL="0">
              <a:buNone/>
            </a:pPr>
            <a:r>
              <a:rPr lang="en-US" sz="2400" b="1" dirty="0">
                <a:solidFill>
                  <a:srgbClr val="B97A1F"/>
                </a:solidFill>
                <a:latin typeface="Calibri" pitchFamily="34" charset="0"/>
                <a:ea typeface="Calibri" pitchFamily="34" charset="-122"/>
                <a:cs typeface="Calibri" pitchFamily="34" charset="-120"/>
              </a:rPr>
              <a:t>XX</a:t>
            </a:r>
            <a:endParaRPr lang="en-US" sz="2400" dirty="0"/>
          </a:p>
          <a:p>
            <a:pPr algn="l" indent="0" marL="0">
              <a:buNone/>
            </a:pPr>
            <a:r>
              <a:rPr lang="en-US" sz="1200" dirty="0">
                <a:solidFill>
                  <a:srgbClr val="64748B"/>
                </a:solidFill>
                <a:latin typeface="Calibri" pitchFamily="34" charset="0"/>
                <a:ea typeface="Calibri" pitchFamily="34" charset="-122"/>
                <a:cs typeface="Calibri" pitchFamily="34" charset="-120"/>
              </a:rPr>
              <a:t>Breaches / vulnerabilities assessed</a:t>
            </a:r>
            <a:endParaRPr lang="en-US" sz="2400" dirty="0"/>
          </a:p>
        </p:txBody>
      </p:sp>
      <p:sp>
        <p:nvSpPr>
          <p:cNvPr id="11" name="Shape 7"/>
          <p:cNvSpPr/>
          <p:nvPr/>
        </p:nvSpPr>
        <p:spPr>
          <a:xfrm>
            <a:off x="4279392" y="1463040"/>
            <a:ext cx="3630168" cy="1051560"/>
          </a:xfrm>
          <a:prstGeom prst="roundRect">
            <a:avLst>
              <a:gd name="adj" fmla="val 6087"/>
            </a:avLst>
          </a:prstGeom>
          <a:solidFill>
            <a:srgbClr val="F4F7FC"/>
          </a:solidFill>
          <a:ln w="9525">
            <a:solidFill>
              <a:srgbClr val="DCE3EE"/>
            </a:solidFill>
            <a:prstDash val="solid"/>
          </a:ln>
        </p:spPr>
      </p:sp>
      <p:sp>
        <p:nvSpPr>
          <p:cNvPr id="12" name="Shape 8"/>
          <p:cNvSpPr/>
          <p:nvPr/>
        </p:nvSpPr>
        <p:spPr>
          <a:xfrm>
            <a:off x="4462272" y="1760220"/>
            <a:ext cx="457200" cy="457200"/>
          </a:xfrm>
          <a:prstGeom prst="ellipse">
            <a:avLst/>
          </a:prstGeom>
          <a:solidFill>
            <a:srgbClr val="FFFFFF"/>
          </a:solidFill>
          <a:ln/>
        </p:spPr>
      </p:sp>
      <p:pic>
        <p:nvPicPr>
          <p:cNvPr id="13" name="Image 2" descr="preencoded.png">    </p:cNvPr>
          <p:cNvPicPr>
            <a:picLocks noChangeAspect="1"/>
          </p:cNvPicPr>
          <p:nvPr/>
        </p:nvPicPr>
        <p:blipFill>
          <a:blip r:embed="rId3"/>
          <a:stretch>
            <a:fillRect/>
          </a:stretch>
        </p:blipFill>
        <p:spPr>
          <a:xfrm>
            <a:off x="4572000" y="1869948"/>
            <a:ext cx="237744" cy="237744"/>
          </a:xfrm>
          <a:prstGeom prst="rect">
            <a:avLst/>
          </a:prstGeom>
        </p:spPr>
      </p:pic>
      <p:sp>
        <p:nvSpPr>
          <p:cNvPr id="14" name="Text 9"/>
          <p:cNvSpPr txBox="1"/>
          <p:nvPr/>
        </p:nvSpPr>
        <p:spPr>
          <a:xfrm>
            <a:off x="5065776" y="1463040"/>
            <a:ext cx="2734056" cy="1051560"/>
          </a:xfrm>
          <a:prstGeom prst="rect">
            <a:avLst/>
          </a:prstGeom>
          <a:noFill/>
          <a:ln/>
        </p:spPr>
        <p:txBody>
          <a:bodyPr wrap="square" lIns="0" tIns="0" rIns="0" bIns="0" rtlCol="0" anchor="ctr"/>
          <a:lstStyle/>
          <a:p>
            <a:pPr algn="l" indent="0" marL="0">
              <a:buNone/>
            </a:pPr>
            <a:r>
              <a:rPr lang="en-US" sz="2400" b="1" dirty="0">
                <a:solidFill>
                  <a:srgbClr val="B97A1F"/>
                </a:solidFill>
                <a:latin typeface="Calibri" pitchFamily="34" charset="0"/>
                <a:ea typeface="Calibri" pitchFamily="34" charset="-122"/>
                <a:cs typeface="Calibri" pitchFamily="34" charset="-120"/>
              </a:rPr>
              <a:t>XX</a:t>
            </a:r>
            <a:endParaRPr lang="en-US" sz="2400" dirty="0"/>
          </a:p>
          <a:p>
            <a:pPr algn="l" indent="0" marL="0">
              <a:buNone/>
            </a:pPr>
            <a:r>
              <a:rPr lang="en-US" sz="1200" dirty="0">
                <a:solidFill>
                  <a:srgbClr val="64748B"/>
                </a:solidFill>
                <a:latin typeface="Calibri" pitchFamily="34" charset="0"/>
                <a:ea typeface="Calibri" pitchFamily="34" charset="-122"/>
                <a:cs typeface="Calibri" pitchFamily="34" charset="-120"/>
              </a:rPr>
              <a:t>With exposure at SIMAH</a:t>
            </a:r>
            <a:endParaRPr lang="en-US" sz="2400" dirty="0"/>
          </a:p>
        </p:txBody>
      </p:sp>
      <p:sp>
        <p:nvSpPr>
          <p:cNvPr id="15" name="Shape 10"/>
          <p:cNvSpPr/>
          <p:nvPr/>
        </p:nvSpPr>
        <p:spPr>
          <a:xfrm>
            <a:off x="8101584" y="1463040"/>
            <a:ext cx="3630168" cy="1051560"/>
          </a:xfrm>
          <a:prstGeom prst="roundRect">
            <a:avLst>
              <a:gd name="adj" fmla="val 6087"/>
            </a:avLst>
          </a:prstGeom>
          <a:solidFill>
            <a:srgbClr val="F4F7FC"/>
          </a:solidFill>
          <a:ln w="9525">
            <a:solidFill>
              <a:srgbClr val="DCE3EE"/>
            </a:solidFill>
            <a:prstDash val="solid"/>
          </a:ln>
        </p:spPr>
      </p:sp>
      <p:sp>
        <p:nvSpPr>
          <p:cNvPr id="16" name="Shape 11"/>
          <p:cNvSpPr/>
          <p:nvPr/>
        </p:nvSpPr>
        <p:spPr>
          <a:xfrm>
            <a:off x="8284464" y="1760220"/>
            <a:ext cx="457200" cy="457200"/>
          </a:xfrm>
          <a:prstGeom prst="ellipse">
            <a:avLst/>
          </a:prstGeom>
          <a:solidFill>
            <a:srgbClr val="FFFFFF"/>
          </a:solidFill>
          <a:ln/>
        </p:spPr>
      </p:sp>
      <p:pic>
        <p:nvPicPr>
          <p:cNvPr id="17" name="Image 3" descr="preencoded.png">    </p:cNvPr>
          <p:cNvPicPr>
            <a:picLocks noChangeAspect="1"/>
          </p:cNvPicPr>
          <p:nvPr/>
        </p:nvPicPr>
        <p:blipFill>
          <a:blip r:embed="rId4"/>
          <a:stretch>
            <a:fillRect/>
          </a:stretch>
        </p:blipFill>
        <p:spPr>
          <a:xfrm>
            <a:off x="8394192" y="1869948"/>
            <a:ext cx="237744" cy="237744"/>
          </a:xfrm>
          <a:prstGeom prst="rect">
            <a:avLst/>
          </a:prstGeom>
        </p:spPr>
      </p:pic>
      <p:sp>
        <p:nvSpPr>
          <p:cNvPr id="18" name="Text 12"/>
          <p:cNvSpPr txBox="1"/>
          <p:nvPr/>
        </p:nvSpPr>
        <p:spPr>
          <a:xfrm>
            <a:off x="8887968" y="1463040"/>
            <a:ext cx="2734056" cy="1051560"/>
          </a:xfrm>
          <a:prstGeom prst="rect">
            <a:avLst/>
          </a:prstGeom>
          <a:noFill/>
          <a:ln/>
        </p:spPr>
        <p:txBody>
          <a:bodyPr wrap="square" lIns="0" tIns="0" rIns="0" bIns="0" rtlCol="0" anchor="ctr"/>
          <a:lstStyle/>
          <a:p>
            <a:pPr algn="l" indent="0" marL="0">
              <a:buNone/>
            </a:pPr>
            <a:r>
              <a:rPr lang="en-US" sz="2400" b="1" dirty="0">
                <a:solidFill>
                  <a:srgbClr val="B97A1F"/>
                </a:solidFill>
                <a:latin typeface="Calibri" pitchFamily="34" charset="0"/>
                <a:ea typeface="Calibri" pitchFamily="34" charset="-122"/>
                <a:cs typeface="Calibri" pitchFamily="34" charset="-120"/>
              </a:rPr>
              <a:t>XX</a:t>
            </a:r>
            <a:endParaRPr lang="en-US" sz="2400" dirty="0"/>
          </a:p>
          <a:p>
            <a:pPr algn="l" indent="0" marL="0">
              <a:buNone/>
            </a:pPr>
            <a:r>
              <a:rPr lang="en-US" sz="1200" dirty="0">
                <a:solidFill>
                  <a:srgbClr val="64748B"/>
                </a:solidFill>
                <a:latin typeface="Calibri" pitchFamily="34" charset="0"/>
                <a:ea typeface="Calibri" pitchFamily="34" charset="-122"/>
                <a:cs typeface="Calibri" pitchFamily="34" charset="-120"/>
              </a:rPr>
              <a:t>Remediated or mitigated</a:t>
            </a:r>
            <a:endParaRPr lang="en-US" sz="24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2724912"/>
          <a:ext cx="11274552" cy="914400"/>
        </p:xfrm>
        <a:graphic>
          <a:graphicData uri="http://schemas.openxmlformats.org/drawingml/2006/table">
            <a:tbl>
              <a:tblPr/>
              <a:tblGrid>
                <a:gridCol w="3017520"/>
                <a:gridCol w="1280160"/>
                <a:gridCol w="2103120"/>
                <a:gridCol w="2194560"/>
                <a:gridCol w="2679192"/>
              </a:tblGrid>
              <a:tr h="512064">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Breach / Vulnerability</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B2A4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Date</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B2A4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Product / Sector</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B2A4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Effect on SIMAH</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B2A4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Action taken</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B2A4A"/>
                    </a:solidFill>
                  </a:tcPr>
                </a:tc>
              </a:tr>
              <a:tr h="512064">
                <a:tc>
                  <a:txBody>
                    <a:bodyPr/>
                    <a:lstStyle/>
                    <a:p>
                      <a:pPr indent="0" marL="0">
                        <a:buNone/>
                      </a:pPr>
                      <a:r>
                        <a:rPr lang="en-US" sz="1200" dirty="0">
                          <a:solidFill>
                            <a:srgbClr val="B97A1F"/>
                          </a:solidFill>
                          <a:latin typeface="Calibri" pitchFamily="34" charset="0"/>
                          <a:ea typeface="Calibri" pitchFamily="34" charset="-122"/>
                          <a:cs typeface="Calibri" pitchFamily="34" charset="-120"/>
                        </a:rPr>
                        <a:t>[Breach or CVE]</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B97A1F"/>
                          </a:solidFill>
                          <a:latin typeface="Calibri" pitchFamily="34" charset="0"/>
                          <a:ea typeface="Calibri" pitchFamily="34" charset="-122"/>
                          <a:cs typeface="Calibri" pitchFamily="34" charset="-120"/>
                        </a:rPr>
                        <a:t>[Date]</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B97A1F"/>
                          </a:solidFill>
                          <a:latin typeface="Calibri" pitchFamily="34" charset="0"/>
                          <a:ea typeface="Calibri" pitchFamily="34" charset="-122"/>
                          <a:cs typeface="Calibri" pitchFamily="34" charset="-120"/>
                        </a:rPr>
                        <a:t>[Product / sector]</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B97A1F"/>
                          </a:solidFill>
                          <a:latin typeface="Calibri" pitchFamily="34" charset="0"/>
                          <a:ea typeface="Calibri" pitchFamily="34" charset="-122"/>
                          <a:cs typeface="Calibri" pitchFamily="34" charset="-120"/>
                        </a:rPr>
                        <a:t>[Affected / Not affected]</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B97A1F"/>
                          </a:solidFill>
                          <a:latin typeface="Calibri" pitchFamily="34" charset="0"/>
                          <a:ea typeface="Calibri" pitchFamily="34" charset="-122"/>
                          <a:cs typeface="Calibri" pitchFamily="34" charset="-120"/>
                        </a:rPr>
                        <a:t>[Patch, block, hunt, monitor]</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512064">
                <a:tc>
                  <a:txBody>
                    <a:bodyPr/>
                    <a:lstStyle/>
                    <a:p>
                      <a:pPr indent="0" marL="0">
                        <a:buNone/>
                      </a:pPr>
                      <a:r>
                        <a:rPr lang="en-US" sz="1200" dirty="0">
                          <a:solidFill>
                            <a:srgbClr val="B97A1F"/>
                          </a:solidFill>
                          <a:latin typeface="Calibri" pitchFamily="34" charset="0"/>
                          <a:ea typeface="Calibri" pitchFamily="34" charset="-122"/>
                          <a:cs typeface="Calibri" pitchFamily="34" charset="-120"/>
                        </a:rPr>
                        <a:t>[Breach or CVE]</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4F7FC"/>
                    </a:solidFill>
                  </a:tcPr>
                </a:tc>
                <a:tc>
                  <a:txBody>
                    <a:bodyPr/>
                    <a:lstStyle/>
                    <a:p>
                      <a:pPr indent="0" marL="0">
                        <a:buNone/>
                      </a:pPr>
                      <a:r>
                        <a:rPr lang="en-US" sz="1200" dirty="0">
                          <a:solidFill>
                            <a:srgbClr val="B97A1F"/>
                          </a:solidFill>
                          <a:latin typeface="Calibri" pitchFamily="34" charset="0"/>
                          <a:ea typeface="Calibri" pitchFamily="34" charset="-122"/>
                          <a:cs typeface="Calibri" pitchFamily="34" charset="-120"/>
                        </a:rPr>
                        <a:t>[Date]</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4F7FC"/>
                    </a:solidFill>
                  </a:tcPr>
                </a:tc>
                <a:tc>
                  <a:txBody>
                    <a:bodyPr/>
                    <a:lstStyle/>
                    <a:p>
                      <a:pPr indent="0" marL="0">
                        <a:buNone/>
                      </a:pPr>
                      <a:r>
                        <a:rPr lang="en-US" sz="1200" dirty="0">
                          <a:solidFill>
                            <a:srgbClr val="B97A1F"/>
                          </a:solidFill>
                          <a:latin typeface="Calibri" pitchFamily="34" charset="0"/>
                          <a:ea typeface="Calibri" pitchFamily="34" charset="-122"/>
                          <a:cs typeface="Calibri" pitchFamily="34" charset="-120"/>
                        </a:rPr>
                        <a:t>[Product / sector]</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4F7FC"/>
                    </a:solidFill>
                  </a:tcPr>
                </a:tc>
                <a:tc>
                  <a:txBody>
                    <a:bodyPr/>
                    <a:lstStyle/>
                    <a:p>
                      <a:pPr indent="0" marL="0">
                        <a:buNone/>
                      </a:pPr>
                      <a:r>
                        <a:rPr lang="en-US" sz="1200" dirty="0">
                          <a:solidFill>
                            <a:srgbClr val="B97A1F"/>
                          </a:solidFill>
                          <a:latin typeface="Calibri" pitchFamily="34" charset="0"/>
                          <a:ea typeface="Calibri" pitchFamily="34" charset="-122"/>
                          <a:cs typeface="Calibri" pitchFamily="34" charset="-120"/>
                        </a:rPr>
                        <a:t>[Affected / Not affected]</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4F7FC"/>
                    </a:solidFill>
                  </a:tcPr>
                </a:tc>
                <a:tc>
                  <a:txBody>
                    <a:bodyPr/>
                    <a:lstStyle/>
                    <a:p>
                      <a:pPr indent="0" marL="0">
                        <a:buNone/>
                      </a:pPr>
                      <a:r>
                        <a:rPr lang="en-US" sz="1200" dirty="0">
                          <a:solidFill>
                            <a:srgbClr val="B97A1F"/>
                          </a:solidFill>
                          <a:latin typeface="Calibri" pitchFamily="34" charset="0"/>
                          <a:ea typeface="Calibri" pitchFamily="34" charset="-122"/>
                          <a:cs typeface="Calibri" pitchFamily="34" charset="-120"/>
                        </a:rPr>
                        <a:t>[Patch, block, hunt, monitor]</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4F7FC"/>
                    </a:solidFill>
                  </a:tcPr>
                </a:tc>
              </a:tr>
              <a:tr h="512064">
                <a:tc>
                  <a:txBody>
                    <a:bodyPr/>
                    <a:lstStyle/>
                    <a:p>
                      <a:pPr indent="0" marL="0">
                        <a:buNone/>
                      </a:pPr>
                      <a:r>
                        <a:rPr lang="en-US" sz="1200" dirty="0">
                          <a:solidFill>
                            <a:srgbClr val="B97A1F"/>
                          </a:solidFill>
                          <a:latin typeface="Calibri" pitchFamily="34" charset="0"/>
                          <a:ea typeface="Calibri" pitchFamily="34" charset="-122"/>
                          <a:cs typeface="Calibri" pitchFamily="34" charset="-120"/>
                        </a:rPr>
                        <a:t>[Breach or CVE]</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B97A1F"/>
                          </a:solidFill>
                          <a:latin typeface="Calibri" pitchFamily="34" charset="0"/>
                          <a:ea typeface="Calibri" pitchFamily="34" charset="-122"/>
                          <a:cs typeface="Calibri" pitchFamily="34" charset="-120"/>
                        </a:rPr>
                        <a:t>[Date]</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B97A1F"/>
                          </a:solidFill>
                          <a:latin typeface="Calibri" pitchFamily="34" charset="0"/>
                          <a:ea typeface="Calibri" pitchFamily="34" charset="-122"/>
                          <a:cs typeface="Calibri" pitchFamily="34" charset="-120"/>
                        </a:rPr>
                        <a:t>[Product / sector]</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B97A1F"/>
                          </a:solidFill>
                          <a:latin typeface="Calibri" pitchFamily="34" charset="0"/>
                          <a:ea typeface="Calibri" pitchFamily="34" charset="-122"/>
                          <a:cs typeface="Calibri" pitchFamily="34" charset="-120"/>
                        </a:rPr>
                        <a:t>[Affected / Not affected]</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B97A1F"/>
                          </a:solidFill>
                          <a:latin typeface="Calibri" pitchFamily="34" charset="0"/>
                          <a:ea typeface="Calibri" pitchFamily="34" charset="-122"/>
                          <a:cs typeface="Calibri" pitchFamily="34" charset="-120"/>
                        </a:rPr>
                        <a:t>[Patch, block, hunt, monitor]</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512064">
                <a:tc>
                  <a:txBody>
                    <a:bodyPr/>
                    <a:lstStyle/>
                    <a:p>
                      <a:pPr indent="0" marL="0">
                        <a:buNone/>
                      </a:pPr>
                      <a:r>
                        <a:rPr lang="en-US" sz="1200" dirty="0">
                          <a:solidFill>
                            <a:srgbClr val="B97A1F"/>
                          </a:solidFill>
                          <a:latin typeface="Calibri" pitchFamily="34" charset="0"/>
                          <a:ea typeface="Calibri" pitchFamily="34" charset="-122"/>
                          <a:cs typeface="Calibri" pitchFamily="34" charset="-120"/>
                        </a:rPr>
                        <a:t>[Breach or CVE]</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4F7FC"/>
                    </a:solidFill>
                  </a:tcPr>
                </a:tc>
                <a:tc>
                  <a:txBody>
                    <a:bodyPr/>
                    <a:lstStyle/>
                    <a:p>
                      <a:pPr indent="0" marL="0">
                        <a:buNone/>
                      </a:pPr>
                      <a:r>
                        <a:rPr lang="en-US" sz="1200" dirty="0">
                          <a:solidFill>
                            <a:srgbClr val="B97A1F"/>
                          </a:solidFill>
                          <a:latin typeface="Calibri" pitchFamily="34" charset="0"/>
                          <a:ea typeface="Calibri" pitchFamily="34" charset="-122"/>
                          <a:cs typeface="Calibri" pitchFamily="34" charset="-120"/>
                        </a:rPr>
                        <a:t>[Date]</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4F7FC"/>
                    </a:solidFill>
                  </a:tcPr>
                </a:tc>
                <a:tc>
                  <a:txBody>
                    <a:bodyPr/>
                    <a:lstStyle/>
                    <a:p>
                      <a:pPr indent="0" marL="0">
                        <a:buNone/>
                      </a:pPr>
                      <a:r>
                        <a:rPr lang="en-US" sz="1200" dirty="0">
                          <a:solidFill>
                            <a:srgbClr val="B97A1F"/>
                          </a:solidFill>
                          <a:latin typeface="Calibri" pitchFamily="34" charset="0"/>
                          <a:ea typeface="Calibri" pitchFamily="34" charset="-122"/>
                          <a:cs typeface="Calibri" pitchFamily="34" charset="-120"/>
                        </a:rPr>
                        <a:t>[Product / sector]</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4F7FC"/>
                    </a:solidFill>
                  </a:tcPr>
                </a:tc>
                <a:tc>
                  <a:txBody>
                    <a:bodyPr/>
                    <a:lstStyle/>
                    <a:p>
                      <a:pPr indent="0" marL="0">
                        <a:buNone/>
                      </a:pPr>
                      <a:r>
                        <a:rPr lang="en-US" sz="1200" dirty="0">
                          <a:solidFill>
                            <a:srgbClr val="B97A1F"/>
                          </a:solidFill>
                          <a:latin typeface="Calibri" pitchFamily="34" charset="0"/>
                          <a:ea typeface="Calibri" pitchFamily="34" charset="-122"/>
                          <a:cs typeface="Calibri" pitchFamily="34" charset="-120"/>
                        </a:rPr>
                        <a:t>[Affected / Not affected]</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4F7FC"/>
                    </a:solidFill>
                  </a:tcPr>
                </a:tc>
                <a:tc>
                  <a:txBody>
                    <a:bodyPr/>
                    <a:lstStyle/>
                    <a:p>
                      <a:pPr indent="0" marL="0">
                        <a:buNone/>
                      </a:pPr>
                      <a:r>
                        <a:rPr lang="en-US" sz="1200" dirty="0">
                          <a:solidFill>
                            <a:srgbClr val="B97A1F"/>
                          </a:solidFill>
                          <a:latin typeface="Calibri" pitchFamily="34" charset="0"/>
                          <a:ea typeface="Calibri" pitchFamily="34" charset="-122"/>
                          <a:cs typeface="Calibri" pitchFamily="34" charset="-120"/>
                        </a:rPr>
                        <a:t>[Patch, block, hunt, monitor]</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4F7FC"/>
                    </a:solidFill>
                  </a:tcPr>
                </a:tc>
              </a:tr>
              <a:tr h="512064">
                <a:tc>
                  <a:txBody>
                    <a:bodyPr/>
                    <a:lstStyle/>
                    <a:p>
                      <a:pPr indent="0" marL="0">
                        <a:buNone/>
                      </a:pPr>
                      <a:r>
                        <a:rPr lang="en-US" sz="1200" dirty="0">
                          <a:solidFill>
                            <a:srgbClr val="B97A1F"/>
                          </a:solidFill>
                          <a:latin typeface="Calibri" pitchFamily="34" charset="0"/>
                          <a:ea typeface="Calibri" pitchFamily="34" charset="-122"/>
                          <a:cs typeface="Calibri" pitchFamily="34" charset="-120"/>
                        </a:rPr>
                        <a:t>[Breach or CVE]</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B97A1F"/>
                          </a:solidFill>
                          <a:latin typeface="Calibri" pitchFamily="34" charset="0"/>
                          <a:ea typeface="Calibri" pitchFamily="34" charset="-122"/>
                          <a:cs typeface="Calibri" pitchFamily="34" charset="-120"/>
                        </a:rPr>
                        <a:t>[Date]</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B97A1F"/>
                          </a:solidFill>
                          <a:latin typeface="Calibri" pitchFamily="34" charset="0"/>
                          <a:ea typeface="Calibri" pitchFamily="34" charset="-122"/>
                          <a:cs typeface="Calibri" pitchFamily="34" charset="-120"/>
                        </a:rPr>
                        <a:t>[Product / sector]</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B97A1F"/>
                          </a:solidFill>
                          <a:latin typeface="Calibri" pitchFamily="34" charset="0"/>
                          <a:ea typeface="Calibri" pitchFamily="34" charset="-122"/>
                          <a:cs typeface="Calibri" pitchFamily="34" charset="-120"/>
                        </a:rPr>
                        <a:t>[Affected / Not affected]</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B97A1F"/>
                          </a:solidFill>
                          <a:latin typeface="Calibri" pitchFamily="34" charset="0"/>
                          <a:ea typeface="Calibri" pitchFamily="34" charset="-122"/>
                          <a:cs typeface="Calibri" pitchFamily="34" charset="-120"/>
                        </a:rPr>
                        <a:t>[Patch, block, hunt, monitor]</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457200" y="310896"/>
            <a:ext cx="530352" cy="530352"/>
          </a:xfrm>
          <a:prstGeom prst="ellipse">
            <a:avLst/>
          </a:prstGeom>
          <a:solidFill>
            <a:srgbClr val="1B2A4A"/>
          </a:solidFill>
          <a:ln/>
        </p:spPr>
      </p:sp>
      <p:pic>
        <p:nvPicPr>
          <p:cNvPr id="3" name="Image 0" descr="preencoded.png">    </p:cNvPr>
          <p:cNvPicPr>
            <a:picLocks noChangeAspect="1"/>
          </p:cNvPicPr>
          <p:nvPr/>
        </p:nvPicPr>
        <p:blipFill>
          <a:blip r:embed="rId1"/>
          <a:stretch>
            <a:fillRect/>
          </a:stretch>
        </p:blipFill>
        <p:spPr>
          <a:xfrm>
            <a:off x="589788" y="443484"/>
            <a:ext cx="265176" cy="265176"/>
          </a:xfrm>
          <a:prstGeom prst="rect">
            <a:avLst/>
          </a:prstGeom>
        </p:spPr>
      </p:pic>
      <p:sp>
        <p:nvSpPr>
          <p:cNvPr id="4" name="Text 1"/>
          <p:cNvSpPr/>
          <p:nvPr>
            <p:ph idx="101" type="title" hasCustomPrompt="1"/>
          </p:nvPr>
        </p:nvSpPr>
        <p:spPr>
          <a:xfrm>
            <a:off x="1143000" y="274320"/>
            <a:ext cx="7223760" cy="603504"/>
          </a:xfrm>
          <a:prstGeom prst="rect">
            <a:avLst/>
          </a:prstGeom>
          <a:noFill/>
          <a:ln/>
        </p:spPr>
        <p:txBody>
          <a:bodyPr wrap="square" lIns="0" tIns="0" rIns="0" bIns="0" rtlCol="0" anchor="ctr"/>
          <a:lstStyle/>
          <a:p>
            <a:pPr algn="l" indent="0" marL="0">
              <a:buNone/>
            </a:pPr>
            <a:r>
              <a:rPr lang="en-US" sz="3000" b="1" dirty="0">
                <a:solidFill>
                  <a:srgbClr val="1B2A4A"/>
                </a:solidFill>
                <a:latin typeface="Calibri" pitchFamily="34" charset="0"/>
                <a:ea typeface="Calibri" pitchFamily="34" charset="-122"/>
                <a:cs typeface="Calibri" pitchFamily="34" charset="-120"/>
              </a:rPr>
              <a:t>CTI: Feeds, Automatic Blocking &amp; Zero-Days</a:t>
            </a:r>
            <a:endParaRPr lang="en-US" sz="3000" dirty="0"/>
          </a:p>
        </p:txBody>
      </p:sp>
      <p:sp>
        <p:nvSpPr>
          <p:cNvPr id="5" name="Text 2"/>
          <p:cNvSpPr txBox="1"/>
          <p:nvPr/>
        </p:nvSpPr>
        <p:spPr>
          <a:xfrm>
            <a:off x="8458200" y="384048"/>
            <a:ext cx="3273552" cy="384048"/>
          </a:xfrm>
          <a:prstGeom prst="rect">
            <a:avLst/>
          </a:prstGeom>
          <a:noFill/>
          <a:ln/>
        </p:spPr>
        <p:txBody>
          <a:bodyPr wrap="square" lIns="0" tIns="0" rIns="0" bIns="0" rtlCol="0" anchor="ctr"/>
          <a:lstStyle/>
          <a:p>
            <a:pPr algn="r" indent="0" marL="0">
              <a:buNone/>
            </a:pPr>
            <a:r>
              <a:rPr lang="en-US" sz="1200" dirty="0">
                <a:solidFill>
                  <a:srgbClr val="64748B"/>
                </a:solidFill>
                <a:latin typeface="Calibri" pitchFamily="34" charset="0"/>
                <a:ea typeface="Calibri" pitchFamily="34" charset="-122"/>
                <a:cs typeface="Calibri" pitchFamily="34" charset="-120"/>
              </a:rPr>
              <a:t>CTI  |  Operations</a:t>
            </a:r>
            <a:endParaRPr lang="en-US" sz="1200" dirty="0"/>
          </a:p>
        </p:txBody>
      </p:sp>
      <p:sp>
        <p:nvSpPr>
          <p:cNvPr id="6" name="Text 3"/>
          <p:cNvSpPr txBox="1"/>
          <p:nvPr/>
        </p:nvSpPr>
        <p:spPr>
          <a:xfrm>
            <a:off x="457200" y="932688"/>
            <a:ext cx="11274552" cy="310896"/>
          </a:xfrm>
          <a:prstGeom prst="rect">
            <a:avLst/>
          </a:prstGeom>
          <a:noFill/>
          <a:ln/>
        </p:spPr>
        <p:txBody>
          <a:bodyPr wrap="square" lIns="0" tIns="0" rIns="0" bIns="0" rtlCol="0" anchor="ctr"/>
          <a:lstStyle/>
          <a:p>
            <a:pPr indent="0" marL="0">
              <a:buNone/>
            </a:pPr>
            <a:r>
              <a:rPr lang="en-US" sz="1500" dirty="0">
                <a:solidFill>
                  <a:srgbClr val="64748B"/>
                </a:solidFill>
                <a:latin typeface="Calibri" pitchFamily="34" charset="0"/>
                <a:ea typeface="Calibri" pitchFamily="34" charset="-122"/>
                <a:cs typeface="Calibri" pitchFamily="34" charset="-120"/>
              </a:rPr>
              <a:t>How intelligence reaches the SOC and turns into action</a:t>
            </a:r>
            <a:endParaRPr lang="en-US" sz="1500" dirty="0"/>
          </a:p>
        </p:txBody>
      </p:sp>
      <p:sp>
        <p:nvSpPr>
          <p:cNvPr id="7" name="Shape 4"/>
          <p:cNvSpPr/>
          <p:nvPr/>
        </p:nvSpPr>
        <p:spPr>
          <a:xfrm>
            <a:off x="457200" y="1463040"/>
            <a:ext cx="2651760" cy="1188720"/>
          </a:xfrm>
          <a:prstGeom prst="roundRect">
            <a:avLst>
              <a:gd name="adj" fmla="val 5385"/>
            </a:avLst>
          </a:prstGeom>
          <a:solidFill>
            <a:srgbClr val="F4F7FC"/>
          </a:solidFill>
          <a:ln w="9525">
            <a:solidFill>
              <a:srgbClr val="DCE3EE"/>
            </a:solidFill>
            <a:prstDash val="solid"/>
          </a:ln>
        </p:spPr>
      </p:sp>
      <p:sp>
        <p:nvSpPr>
          <p:cNvPr id="8" name="Shape 5"/>
          <p:cNvSpPr/>
          <p:nvPr/>
        </p:nvSpPr>
        <p:spPr>
          <a:xfrm>
            <a:off x="640080" y="1828800"/>
            <a:ext cx="457200" cy="457200"/>
          </a:xfrm>
          <a:prstGeom prst="ellipse">
            <a:avLst/>
          </a:prstGeom>
          <a:solidFill>
            <a:srgbClr val="FFFFFF"/>
          </a:solidFill>
          <a:ln/>
        </p:spPr>
      </p:sp>
      <p:pic>
        <p:nvPicPr>
          <p:cNvPr id="9" name="Image 1" descr="preencoded.png">    </p:cNvPr>
          <p:cNvPicPr>
            <a:picLocks noChangeAspect="1"/>
          </p:cNvPicPr>
          <p:nvPr/>
        </p:nvPicPr>
        <p:blipFill>
          <a:blip r:embed="rId2"/>
          <a:stretch>
            <a:fillRect/>
          </a:stretch>
        </p:blipFill>
        <p:spPr>
          <a:xfrm>
            <a:off x="749808" y="1938528"/>
            <a:ext cx="237744" cy="237744"/>
          </a:xfrm>
          <a:prstGeom prst="rect">
            <a:avLst/>
          </a:prstGeom>
        </p:spPr>
      </p:pic>
      <p:sp>
        <p:nvSpPr>
          <p:cNvPr id="10" name="Text 6"/>
          <p:cNvSpPr txBox="1"/>
          <p:nvPr/>
        </p:nvSpPr>
        <p:spPr>
          <a:xfrm>
            <a:off x="1243584" y="1463040"/>
            <a:ext cx="1755648" cy="1188720"/>
          </a:xfrm>
          <a:prstGeom prst="rect">
            <a:avLst/>
          </a:prstGeom>
          <a:noFill/>
          <a:ln/>
        </p:spPr>
        <p:txBody>
          <a:bodyPr wrap="square" lIns="0" tIns="0" rIns="0" bIns="0" rtlCol="0" anchor="ctr"/>
          <a:lstStyle/>
          <a:p>
            <a:pPr algn="l" indent="0" marL="0">
              <a:buNone/>
            </a:pPr>
            <a:r>
              <a:rPr lang="en-US" sz="2600" b="1" dirty="0">
                <a:solidFill>
                  <a:srgbClr val="B97A1F"/>
                </a:solidFill>
                <a:latin typeface="Calibri" pitchFamily="34" charset="0"/>
                <a:ea typeface="Calibri" pitchFamily="34" charset="-122"/>
                <a:cs typeface="Calibri" pitchFamily="34" charset="-120"/>
              </a:rPr>
              <a:t>XX</a:t>
            </a:r>
            <a:endParaRPr lang="en-US" sz="2600" dirty="0"/>
          </a:p>
          <a:p>
            <a:pPr algn="l" indent="0" marL="0">
              <a:buNone/>
            </a:pPr>
            <a:r>
              <a:rPr lang="en-US" sz="1200" dirty="0">
                <a:solidFill>
                  <a:srgbClr val="64748B"/>
                </a:solidFill>
                <a:latin typeface="Calibri" pitchFamily="34" charset="0"/>
                <a:ea typeface="Calibri" pitchFamily="34" charset="-122"/>
                <a:cs typeface="Calibri" pitchFamily="34" charset="-120"/>
              </a:rPr>
              <a:t>Intelligence feeds integrated</a:t>
            </a:r>
            <a:endParaRPr lang="en-US" sz="2600" dirty="0"/>
          </a:p>
        </p:txBody>
      </p:sp>
      <p:sp>
        <p:nvSpPr>
          <p:cNvPr id="11" name="Shape 7"/>
          <p:cNvSpPr/>
          <p:nvPr/>
        </p:nvSpPr>
        <p:spPr>
          <a:xfrm>
            <a:off x="3331464" y="1463040"/>
            <a:ext cx="2651760" cy="1188720"/>
          </a:xfrm>
          <a:prstGeom prst="roundRect">
            <a:avLst>
              <a:gd name="adj" fmla="val 5385"/>
            </a:avLst>
          </a:prstGeom>
          <a:solidFill>
            <a:srgbClr val="F4F7FC"/>
          </a:solidFill>
          <a:ln w="9525">
            <a:solidFill>
              <a:srgbClr val="DCE3EE"/>
            </a:solidFill>
            <a:prstDash val="solid"/>
          </a:ln>
        </p:spPr>
      </p:sp>
      <p:sp>
        <p:nvSpPr>
          <p:cNvPr id="12" name="Shape 8"/>
          <p:cNvSpPr/>
          <p:nvPr/>
        </p:nvSpPr>
        <p:spPr>
          <a:xfrm>
            <a:off x="3514344" y="1828800"/>
            <a:ext cx="457200" cy="457200"/>
          </a:xfrm>
          <a:prstGeom prst="ellipse">
            <a:avLst/>
          </a:prstGeom>
          <a:solidFill>
            <a:srgbClr val="FFFFFF"/>
          </a:solidFill>
          <a:ln/>
        </p:spPr>
      </p:sp>
      <p:pic>
        <p:nvPicPr>
          <p:cNvPr id="13" name="Image 2" descr="preencoded.png">    </p:cNvPr>
          <p:cNvPicPr>
            <a:picLocks noChangeAspect="1"/>
          </p:cNvPicPr>
          <p:nvPr/>
        </p:nvPicPr>
        <p:blipFill>
          <a:blip r:embed="rId3"/>
          <a:stretch>
            <a:fillRect/>
          </a:stretch>
        </p:blipFill>
        <p:spPr>
          <a:xfrm>
            <a:off x="3624072" y="1938528"/>
            <a:ext cx="237744" cy="237744"/>
          </a:xfrm>
          <a:prstGeom prst="rect">
            <a:avLst/>
          </a:prstGeom>
        </p:spPr>
      </p:pic>
      <p:sp>
        <p:nvSpPr>
          <p:cNvPr id="14" name="Text 9"/>
          <p:cNvSpPr txBox="1"/>
          <p:nvPr/>
        </p:nvSpPr>
        <p:spPr>
          <a:xfrm>
            <a:off x="4117848" y="1463040"/>
            <a:ext cx="1755648" cy="1188720"/>
          </a:xfrm>
          <a:prstGeom prst="rect">
            <a:avLst/>
          </a:prstGeom>
          <a:noFill/>
          <a:ln/>
        </p:spPr>
        <p:txBody>
          <a:bodyPr wrap="square" lIns="0" tIns="0" rIns="0" bIns="0" rtlCol="0" anchor="ctr"/>
          <a:lstStyle/>
          <a:p>
            <a:pPr algn="l" indent="0" marL="0">
              <a:buNone/>
            </a:pPr>
            <a:r>
              <a:rPr lang="en-US" sz="2600" b="1" dirty="0">
                <a:solidFill>
                  <a:srgbClr val="B97A1F"/>
                </a:solidFill>
                <a:latin typeface="Calibri" pitchFamily="34" charset="0"/>
                <a:ea typeface="Calibri" pitchFamily="34" charset="-122"/>
                <a:cs typeface="Calibri" pitchFamily="34" charset="-120"/>
              </a:rPr>
              <a:t>XX</a:t>
            </a:r>
            <a:endParaRPr lang="en-US" sz="2600" dirty="0"/>
          </a:p>
          <a:p>
            <a:pPr algn="l" indent="0" marL="0">
              <a:buNone/>
            </a:pPr>
            <a:r>
              <a:rPr lang="en-US" sz="1200" dirty="0">
                <a:solidFill>
                  <a:srgbClr val="64748B"/>
                </a:solidFill>
                <a:latin typeface="Calibri" pitchFamily="34" charset="0"/>
                <a:ea typeface="Calibri" pitchFamily="34" charset="-122"/>
                <a:cs typeface="Calibri" pitchFamily="34" charset="-120"/>
              </a:rPr>
              <a:t>IOCs delivered to the SOC</a:t>
            </a:r>
            <a:endParaRPr lang="en-US" sz="2600" dirty="0"/>
          </a:p>
        </p:txBody>
      </p:sp>
      <p:sp>
        <p:nvSpPr>
          <p:cNvPr id="15" name="Shape 10"/>
          <p:cNvSpPr/>
          <p:nvPr/>
        </p:nvSpPr>
        <p:spPr>
          <a:xfrm>
            <a:off x="6205728" y="1463040"/>
            <a:ext cx="2651760" cy="1188720"/>
          </a:xfrm>
          <a:prstGeom prst="roundRect">
            <a:avLst>
              <a:gd name="adj" fmla="val 5385"/>
            </a:avLst>
          </a:prstGeom>
          <a:solidFill>
            <a:srgbClr val="F4F7FC"/>
          </a:solidFill>
          <a:ln w="9525">
            <a:solidFill>
              <a:srgbClr val="DCE3EE"/>
            </a:solidFill>
            <a:prstDash val="solid"/>
          </a:ln>
        </p:spPr>
      </p:sp>
      <p:sp>
        <p:nvSpPr>
          <p:cNvPr id="16" name="Shape 11"/>
          <p:cNvSpPr/>
          <p:nvPr/>
        </p:nvSpPr>
        <p:spPr>
          <a:xfrm>
            <a:off x="6388608" y="1828800"/>
            <a:ext cx="457200" cy="457200"/>
          </a:xfrm>
          <a:prstGeom prst="ellipse">
            <a:avLst/>
          </a:prstGeom>
          <a:solidFill>
            <a:srgbClr val="FFFFFF"/>
          </a:solidFill>
          <a:ln/>
        </p:spPr>
      </p:sp>
      <p:pic>
        <p:nvPicPr>
          <p:cNvPr id="17" name="Image 3" descr="preencoded.png">    </p:cNvPr>
          <p:cNvPicPr>
            <a:picLocks noChangeAspect="1"/>
          </p:cNvPicPr>
          <p:nvPr/>
        </p:nvPicPr>
        <p:blipFill>
          <a:blip r:embed="rId4"/>
          <a:stretch>
            <a:fillRect/>
          </a:stretch>
        </p:blipFill>
        <p:spPr>
          <a:xfrm>
            <a:off x="6498336" y="1938528"/>
            <a:ext cx="237744" cy="237744"/>
          </a:xfrm>
          <a:prstGeom prst="rect">
            <a:avLst/>
          </a:prstGeom>
        </p:spPr>
      </p:pic>
      <p:sp>
        <p:nvSpPr>
          <p:cNvPr id="18" name="Text 12"/>
          <p:cNvSpPr txBox="1"/>
          <p:nvPr/>
        </p:nvSpPr>
        <p:spPr>
          <a:xfrm>
            <a:off x="6992112" y="1463040"/>
            <a:ext cx="1755648" cy="1188720"/>
          </a:xfrm>
          <a:prstGeom prst="rect">
            <a:avLst/>
          </a:prstGeom>
          <a:noFill/>
          <a:ln/>
        </p:spPr>
        <p:txBody>
          <a:bodyPr wrap="square" lIns="0" tIns="0" rIns="0" bIns="0" rtlCol="0" anchor="ctr"/>
          <a:lstStyle/>
          <a:p>
            <a:pPr algn="l" indent="0" marL="0">
              <a:buNone/>
            </a:pPr>
            <a:r>
              <a:rPr lang="en-US" sz="2600" b="1" dirty="0">
                <a:solidFill>
                  <a:srgbClr val="B97A1F"/>
                </a:solidFill>
                <a:latin typeface="Calibri" pitchFamily="34" charset="0"/>
                <a:ea typeface="Calibri" pitchFamily="34" charset="-122"/>
                <a:cs typeface="Calibri" pitchFamily="34" charset="-120"/>
              </a:rPr>
              <a:t>XX</a:t>
            </a:r>
            <a:endParaRPr lang="en-US" sz="2600" dirty="0"/>
          </a:p>
          <a:p>
            <a:pPr algn="l" indent="0" marL="0">
              <a:buNone/>
            </a:pPr>
            <a:r>
              <a:rPr lang="en-US" sz="1200" dirty="0">
                <a:solidFill>
                  <a:srgbClr val="64748B"/>
                </a:solidFill>
                <a:latin typeface="Calibri" pitchFamily="34" charset="0"/>
                <a:ea typeface="Calibri" pitchFamily="34" charset="-122"/>
                <a:cs typeface="Calibri" pitchFamily="34" charset="-120"/>
              </a:rPr>
              <a:t>IOCs blocked automatically</a:t>
            </a:r>
            <a:endParaRPr lang="en-US" sz="2600" dirty="0"/>
          </a:p>
        </p:txBody>
      </p:sp>
      <p:sp>
        <p:nvSpPr>
          <p:cNvPr id="19" name="Shape 13"/>
          <p:cNvSpPr/>
          <p:nvPr/>
        </p:nvSpPr>
        <p:spPr>
          <a:xfrm>
            <a:off x="9079992" y="1463040"/>
            <a:ext cx="2651760" cy="1188720"/>
          </a:xfrm>
          <a:prstGeom prst="roundRect">
            <a:avLst>
              <a:gd name="adj" fmla="val 5385"/>
            </a:avLst>
          </a:prstGeom>
          <a:solidFill>
            <a:srgbClr val="F4F7FC"/>
          </a:solidFill>
          <a:ln w="9525">
            <a:solidFill>
              <a:srgbClr val="DCE3EE"/>
            </a:solidFill>
            <a:prstDash val="solid"/>
          </a:ln>
        </p:spPr>
      </p:sp>
      <p:sp>
        <p:nvSpPr>
          <p:cNvPr id="20" name="Shape 14"/>
          <p:cNvSpPr/>
          <p:nvPr/>
        </p:nvSpPr>
        <p:spPr>
          <a:xfrm>
            <a:off x="9262872" y="1828800"/>
            <a:ext cx="457200" cy="457200"/>
          </a:xfrm>
          <a:prstGeom prst="ellipse">
            <a:avLst/>
          </a:prstGeom>
          <a:solidFill>
            <a:srgbClr val="2A8C96"/>
          </a:solidFill>
          <a:ln/>
        </p:spPr>
      </p:sp>
      <p:pic>
        <p:nvPicPr>
          <p:cNvPr id="21" name="Image 4" descr="preencoded.png">    </p:cNvPr>
          <p:cNvPicPr>
            <a:picLocks noChangeAspect="1"/>
          </p:cNvPicPr>
          <p:nvPr/>
        </p:nvPicPr>
        <p:blipFill>
          <a:blip r:embed="rId5"/>
          <a:stretch>
            <a:fillRect/>
          </a:stretch>
        </p:blipFill>
        <p:spPr>
          <a:xfrm>
            <a:off x="9372600" y="1938528"/>
            <a:ext cx="237744" cy="237744"/>
          </a:xfrm>
          <a:prstGeom prst="rect">
            <a:avLst/>
          </a:prstGeom>
        </p:spPr>
      </p:pic>
      <p:sp>
        <p:nvSpPr>
          <p:cNvPr id="22" name="Text 15"/>
          <p:cNvSpPr txBox="1"/>
          <p:nvPr/>
        </p:nvSpPr>
        <p:spPr>
          <a:xfrm>
            <a:off x="9866376" y="1463040"/>
            <a:ext cx="1755648" cy="1188720"/>
          </a:xfrm>
          <a:prstGeom prst="rect">
            <a:avLst/>
          </a:prstGeom>
          <a:noFill/>
          <a:ln/>
        </p:spPr>
        <p:txBody>
          <a:bodyPr wrap="square" lIns="0" tIns="0" rIns="0" bIns="0" rtlCol="0" anchor="ctr"/>
          <a:lstStyle/>
          <a:p>
            <a:pPr algn="l" indent="0" marL="0">
              <a:buNone/>
            </a:pPr>
            <a:r>
              <a:rPr lang="en-US" sz="2600" b="1" dirty="0">
                <a:solidFill>
                  <a:srgbClr val="B97A1F"/>
                </a:solidFill>
                <a:latin typeface="Calibri" pitchFamily="34" charset="0"/>
                <a:ea typeface="Calibri" pitchFamily="34" charset="-122"/>
                <a:cs typeface="Calibri" pitchFamily="34" charset="-120"/>
              </a:rPr>
              <a:t>XX</a:t>
            </a:r>
            <a:endParaRPr lang="en-US" sz="2600" dirty="0"/>
          </a:p>
          <a:p>
            <a:pPr algn="l" indent="0" marL="0">
              <a:buNone/>
            </a:pPr>
            <a:r>
              <a:rPr lang="en-US" sz="1200" dirty="0">
                <a:solidFill>
                  <a:srgbClr val="64748B"/>
                </a:solidFill>
                <a:latin typeface="Calibri" pitchFamily="34" charset="0"/>
                <a:ea typeface="Calibri" pitchFamily="34" charset="-122"/>
                <a:cs typeface="Calibri" pitchFamily="34" charset="-120"/>
              </a:rPr>
              <a:t>Zero-days handled by CTI</a:t>
            </a:r>
            <a:endParaRPr lang="en-US" sz="2600" dirty="0"/>
          </a:p>
        </p:txBody>
      </p:sp>
      <p:sp>
        <p:nvSpPr>
          <p:cNvPr id="23" name="Text 16"/>
          <p:cNvSpPr txBox="1"/>
          <p:nvPr/>
        </p:nvSpPr>
        <p:spPr>
          <a:xfrm>
            <a:off x="457200" y="2834640"/>
            <a:ext cx="4572000" cy="292608"/>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Automatic blocking status</a:t>
            </a:r>
            <a:endParaRPr lang="en-US" sz="1600" dirty="0"/>
          </a:p>
        </p:txBody>
      </p:sp>
      <p:sp>
        <p:nvSpPr>
          <p:cNvPr id="24" name="Shape 17"/>
          <p:cNvSpPr/>
          <p:nvPr/>
        </p:nvSpPr>
        <p:spPr>
          <a:xfrm>
            <a:off x="457200" y="3200400"/>
            <a:ext cx="5120640" cy="603504"/>
          </a:xfrm>
          <a:prstGeom prst="roundRect">
            <a:avLst>
              <a:gd name="adj" fmla="val 12121"/>
            </a:avLst>
          </a:prstGeom>
          <a:solidFill>
            <a:srgbClr val="F4F7FC"/>
          </a:solidFill>
          <a:ln/>
        </p:spPr>
      </p:sp>
      <p:pic>
        <p:nvPicPr>
          <p:cNvPr id="25" name="Image 5" descr="preencoded.png">    </p:cNvPr>
          <p:cNvPicPr>
            <a:picLocks noChangeAspect="1"/>
          </p:cNvPicPr>
          <p:nvPr/>
        </p:nvPicPr>
        <p:blipFill>
          <a:blip r:embed="rId6"/>
          <a:stretch>
            <a:fillRect/>
          </a:stretch>
        </p:blipFill>
        <p:spPr>
          <a:xfrm>
            <a:off x="658368" y="3383280"/>
            <a:ext cx="237744" cy="237744"/>
          </a:xfrm>
          <a:prstGeom prst="rect">
            <a:avLst/>
          </a:prstGeom>
        </p:spPr>
      </p:pic>
      <p:sp>
        <p:nvSpPr>
          <p:cNvPr id="26" name="Text 18"/>
          <p:cNvSpPr txBox="1"/>
          <p:nvPr/>
        </p:nvSpPr>
        <p:spPr>
          <a:xfrm>
            <a:off x="1051560" y="3200400"/>
            <a:ext cx="2194560" cy="603504"/>
          </a:xfrm>
          <a:prstGeom prst="rect">
            <a:avLst/>
          </a:prstGeom>
          <a:noFill/>
          <a:ln/>
        </p:spPr>
        <p:txBody>
          <a:bodyPr wrap="square" lIns="0" tIns="0" rIns="0" bIns="0"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Firewall</a:t>
            </a:r>
            <a:endParaRPr lang="en-US" sz="1400" dirty="0"/>
          </a:p>
        </p:txBody>
      </p:sp>
      <p:sp>
        <p:nvSpPr>
          <p:cNvPr id="27" name="Shape 19"/>
          <p:cNvSpPr/>
          <p:nvPr/>
        </p:nvSpPr>
        <p:spPr>
          <a:xfrm>
            <a:off x="3429000" y="3364992"/>
            <a:ext cx="1965960" cy="274320"/>
          </a:xfrm>
          <a:prstGeom prst="roundRect">
            <a:avLst>
              <a:gd name="adj" fmla="val 50000"/>
            </a:avLst>
          </a:prstGeom>
          <a:solidFill>
            <a:srgbClr val="FBF1DD"/>
          </a:solidFill>
          <a:ln/>
        </p:spPr>
      </p:sp>
      <p:sp>
        <p:nvSpPr>
          <p:cNvPr id="28" name="Text 20"/>
          <p:cNvSpPr txBox="1"/>
          <p:nvPr/>
        </p:nvSpPr>
        <p:spPr>
          <a:xfrm>
            <a:off x="3429000" y="3364992"/>
            <a:ext cx="1965960" cy="274320"/>
          </a:xfrm>
          <a:prstGeom prst="rect">
            <a:avLst/>
          </a:prstGeom>
          <a:noFill/>
          <a:ln/>
        </p:spPr>
        <p:txBody>
          <a:bodyPr wrap="square" lIns="0" tIns="0" rIns="0" bIns="0" rtlCol="0" anchor="ctr"/>
          <a:lstStyle/>
          <a:p>
            <a:pPr algn="ctr" indent="0" marL="0">
              <a:buNone/>
            </a:pPr>
            <a:r>
              <a:rPr lang="en-US" sz="1100" b="1" dirty="0">
                <a:solidFill>
                  <a:srgbClr val="B97A1F"/>
                </a:solidFill>
                <a:latin typeface="Calibri" pitchFamily="34" charset="0"/>
                <a:ea typeface="Calibri" pitchFamily="34" charset="-122"/>
                <a:cs typeface="Calibri" pitchFamily="34" charset="-120"/>
              </a:rPr>
              <a:t>[Automated / Manual]</a:t>
            </a:r>
            <a:endParaRPr lang="en-US" sz="1100" dirty="0"/>
          </a:p>
        </p:txBody>
      </p:sp>
      <p:sp>
        <p:nvSpPr>
          <p:cNvPr id="29" name="Shape 21"/>
          <p:cNvSpPr/>
          <p:nvPr/>
        </p:nvSpPr>
        <p:spPr>
          <a:xfrm>
            <a:off x="457200" y="3913632"/>
            <a:ext cx="5120640" cy="603504"/>
          </a:xfrm>
          <a:prstGeom prst="roundRect">
            <a:avLst>
              <a:gd name="adj" fmla="val 12121"/>
            </a:avLst>
          </a:prstGeom>
          <a:solidFill>
            <a:srgbClr val="F4F7FC"/>
          </a:solidFill>
          <a:ln/>
        </p:spPr>
      </p:sp>
      <p:pic>
        <p:nvPicPr>
          <p:cNvPr id="30" name="Image 6" descr="preencoded.png">    </p:cNvPr>
          <p:cNvPicPr>
            <a:picLocks noChangeAspect="1"/>
          </p:cNvPicPr>
          <p:nvPr/>
        </p:nvPicPr>
        <p:blipFill>
          <a:blip r:embed="rId7"/>
          <a:stretch>
            <a:fillRect/>
          </a:stretch>
        </p:blipFill>
        <p:spPr>
          <a:xfrm>
            <a:off x="658368" y="4096512"/>
            <a:ext cx="237744" cy="237744"/>
          </a:xfrm>
          <a:prstGeom prst="rect">
            <a:avLst/>
          </a:prstGeom>
        </p:spPr>
      </p:pic>
      <p:sp>
        <p:nvSpPr>
          <p:cNvPr id="31" name="Text 22"/>
          <p:cNvSpPr txBox="1"/>
          <p:nvPr/>
        </p:nvSpPr>
        <p:spPr>
          <a:xfrm>
            <a:off x="1051560" y="3913632"/>
            <a:ext cx="2194560" cy="603504"/>
          </a:xfrm>
          <a:prstGeom prst="rect">
            <a:avLst/>
          </a:prstGeom>
          <a:noFill/>
          <a:ln/>
        </p:spPr>
        <p:txBody>
          <a:bodyPr wrap="square" lIns="0" tIns="0" rIns="0" bIns="0"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Web proxy</a:t>
            </a:r>
            <a:endParaRPr lang="en-US" sz="1400" dirty="0"/>
          </a:p>
        </p:txBody>
      </p:sp>
      <p:sp>
        <p:nvSpPr>
          <p:cNvPr id="32" name="Shape 23"/>
          <p:cNvSpPr/>
          <p:nvPr/>
        </p:nvSpPr>
        <p:spPr>
          <a:xfrm>
            <a:off x="3429000" y="4078224"/>
            <a:ext cx="1965960" cy="274320"/>
          </a:xfrm>
          <a:prstGeom prst="roundRect">
            <a:avLst>
              <a:gd name="adj" fmla="val 50000"/>
            </a:avLst>
          </a:prstGeom>
          <a:solidFill>
            <a:srgbClr val="FBF1DD"/>
          </a:solidFill>
          <a:ln/>
        </p:spPr>
      </p:sp>
      <p:sp>
        <p:nvSpPr>
          <p:cNvPr id="33" name="Text 24"/>
          <p:cNvSpPr txBox="1"/>
          <p:nvPr/>
        </p:nvSpPr>
        <p:spPr>
          <a:xfrm>
            <a:off x="3429000" y="4078224"/>
            <a:ext cx="1965960" cy="274320"/>
          </a:xfrm>
          <a:prstGeom prst="rect">
            <a:avLst/>
          </a:prstGeom>
          <a:noFill/>
          <a:ln/>
        </p:spPr>
        <p:txBody>
          <a:bodyPr wrap="square" lIns="0" tIns="0" rIns="0" bIns="0" rtlCol="0" anchor="ctr"/>
          <a:lstStyle/>
          <a:p>
            <a:pPr algn="ctr" indent="0" marL="0">
              <a:buNone/>
            </a:pPr>
            <a:r>
              <a:rPr lang="en-US" sz="1100" b="1" dirty="0">
                <a:solidFill>
                  <a:srgbClr val="B97A1F"/>
                </a:solidFill>
                <a:latin typeface="Calibri" pitchFamily="34" charset="0"/>
                <a:ea typeface="Calibri" pitchFamily="34" charset="-122"/>
                <a:cs typeface="Calibri" pitchFamily="34" charset="-120"/>
              </a:rPr>
              <a:t>[Automated / Manual]</a:t>
            </a:r>
            <a:endParaRPr lang="en-US" sz="1100" dirty="0"/>
          </a:p>
        </p:txBody>
      </p:sp>
      <p:sp>
        <p:nvSpPr>
          <p:cNvPr id="34" name="Shape 25"/>
          <p:cNvSpPr/>
          <p:nvPr/>
        </p:nvSpPr>
        <p:spPr>
          <a:xfrm>
            <a:off x="457200" y="4626864"/>
            <a:ext cx="5120640" cy="603504"/>
          </a:xfrm>
          <a:prstGeom prst="roundRect">
            <a:avLst>
              <a:gd name="adj" fmla="val 12121"/>
            </a:avLst>
          </a:prstGeom>
          <a:solidFill>
            <a:srgbClr val="F4F7FC"/>
          </a:solidFill>
          <a:ln/>
        </p:spPr>
      </p:sp>
      <p:pic>
        <p:nvPicPr>
          <p:cNvPr id="35" name="Image 7" descr="preencoded.png">    </p:cNvPr>
          <p:cNvPicPr>
            <a:picLocks noChangeAspect="1"/>
          </p:cNvPicPr>
          <p:nvPr/>
        </p:nvPicPr>
        <p:blipFill>
          <a:blip r:embed="rId8"/>
          <a:stretch>
            <a:fillRect/>
          </a:stretch>
        </p:blipFill>
        <p:spPr>
          <a:xfrm>
            <a:off x="658368" y="4809744"/>
            <a:ext cx="237744" cy="237744"/>
          </a:xfrm>
          <a:prstGeom prst="rect">
            <a:avLst/>
          </a:prstGeom>
        </p:spPr>
      </p:pic>
      <p:sp>
        <p:nvSpPr>
          <p:cNvPr id="36" name="Text 26"/>
          <p:cNvSpPr txBox="1"/>
          <p:nvPr/>
        </p:nvSpPr>
        <p:spPr>
          <a:xfrm>
            <a:off x="1051560" y="4626864"/>
            <a:ext cx="2194560" cy="603504"/>
          </a:xfrm>
          <a:prstGeom prst="rect">
            <a:avLst/>
          </a:prstGeom>
          <a:noFill/>
          <a:ln/>
        </p:spPr>
        <p:txBody>
          <a:bodyPr wrap="square" lIns="0" tIns="0" rIns="0" bIns="0"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EDR</a:t>
            </a:r>
            <a:endParaRPr lang="en-US" sz="1400" dirty="0"/>
          </a:p>
        </p:txBody>
      </p:sp>
      <p:sp>
        <p:nvSpPr>
          <p:cNvPr id="37" name="Shape 27"/>
          <p:cNvSpPr/>
          <p:nvPr/>
        </p:nvSpPr>
        <p:spPr>
          <a:xfrm>
            <a:off x="3429000" y="4791456"/>
            <a:ext cx="1965960" cy="274320"/>
          </a:xfrm>
          <a:prstGeom prst="roundRect">
            <a:avLst>
              <a:gd name="adj" fmla="val 50000"/>
            </a:avLst>
          </a:prstGeom>
          <a:solidFill>
            <a:srgbClr val="FBF1DD"/>
          </a:solidFill>
          <a:ln/>
        </p:spPr>
      </p:sp>
      <p:sp>
        <p:nvSpPr>
          <p:cNvPr id="38" name="Text 28"/>
          <p:cNvSpPr txBox="1"/>
          <p:nvPr/>
        </p:nvSpPr>
        <p:spPr>
          <a:xfrm>
            <a:off x="3429000" y="4791456"/>
            <a:ext cx="1965960" cy="274320"/>
          </a:xfrm>
          <a:prstGeom prst="rect">
            <a:avLst/>
          </a:prstGeom>
          <a:noFill/>
          <a:ln/>
        </p:spPr>
        <p:txBody>
          <a:bodyPr wrap="square" lIns="0" tIns="0" rIns="0" bIns="0" rtlCol="0" anchor="ctr"/>
          <a:lstStyle/>
          <a:p>
            <a:pPr algn="ctr" indent="0" marL="0">
              <a:buNone/>
            </a:pPr>
            <a:r>
              <a:rPr lang="en-US" sz="1100" b="1" dirty="0">
                <a:solidFill>
                  <a:srgbClr val="B97A1F"/>
                </a:solidFill>
                <a:latin typeface="Calibri" pitchFamily="34" charset="0"/>
                <a:ea typeface="Calibri" pitchFamily="34" charset="-122"/>
                <a:cs typeface="Calibri" pitchFamily="34" charset="-120"/>
              </a:rPr>
              <a:t>[Automated / Manual]</a:t>
            </a:r>
            <a:endParaRPr lang="en-US" sz="1100" dirty="0"/>
          </a:p>
        </p:txBody>
      </p:sp>
      <p:sp>
        <p:nvSpPr>
          <p:cNvPr id="39" name="Shape 29"/>
          <p:cNvSpPr/>
          <p:nvPr/>
        </p:nvSpPr>
        <p:spPr>
          <a:xfrm>
            <a:off x="457200" y="5340096"/>
            <a:ext cx="5120640" cy="603504"/>
          </a:xfrm>
          <a:prstGeom prst="roundRect">
            <a:avLst>
              <a:gd name="adj" fmla="val 12121"/>
            </a:avLst>
          </a:prstGeom>
          <a:solidFill>
            <a:srgbClr val="F4F7FC"/>
          </a:solidFill>
          <a:ln/>
        </p:spPr>
      </p:sp>
      <p:pic>
        <p:nvPicPr>
          <p:cNvPr id="40" name="Image 8" descr="preencoded.png">    </p:cNvPr>
          <p:cNvPicPr>
            <a:picLocks noChangeAspect="1"/>
          </p:cNvPicPr>
          <p:nvPr/>
        </p:nvPicPr>
        <p:blipFill>
          <a:blip r:embed="rId9"/>
          <a:stretch>
            <a:fillRect/>
          </a:stretch>
        </p:blipFill>
        <p:spPr>
          <a:xfrm>
            <a:off x="658368" y="5522976"/>
            <a:ext cx="237744" cy="237744"/>
          </a:xfrm>
          <a:prstGeom prst="rect">
            <a:avLst/>
          </a:prstGeom>
        </p:spPr>
      </p:pic>
      <p:sp>
        <p:nvSpPr>
          <p:cNvPr id="41" name="Text 30"/>
          <p:cNvSpPr txBox="1"/>
          <p:nvPr/>
        </p:nvSpPr>
        <p:spPr>
          <a:xfrm>
            <a:off x="1051560" y="5340096"/>
            <a:ext cx="2194560" cy="603504"/>
          </a:xfrm>
          <a:prstGeom prst="rect">
            <a:avLst/>
          </a:prstGeom>
          <a:noFill/>
          <a:ln/>
        </p:spPr>
        <p:txBody>
          <a:bodyPr wrap="square" lIns="0" tIns="0" rIns="0" bIns="0"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Email gateway</a:t>
            </a:r>
            <a:endParaRPr lang="en-US" sz="1400" dirty="0"/>
          </a:p>
        </p:txBody>
      </p:sp>
      <p:sp>
        <p:nvSpPr>
          <p:cNvPr id="42" name="Shape 31"/>
          <p:cNvSpPr/>
          <p:nvPr/>
        </p:nvSpPr>
        <p:spPr>
          <a:xfrm>
            <a:off x="3429000" y="5504688"/>
            <a:ext cx="1965960" cy="274320"/>
          </a:xfrm>
          <a:prstGeom prst="roundRect">
            <a:avLst>
              <a:gd name="adj" fmla="val 50000"/>
            </a:avLst>
          </a:prstGeom>
          <a:solidFill>
            <a:srgbClr val="FBF1DD"/>
          </a:solidFill>
          <a:ln/>
        </p:spPr>
      </p:sp>
      <p:sp>
        <p:nvSpPr>
          <p:cNvPr id="43" name="Text 32"/>
          <p:cNvSpPr txBox="1"/>
          <p:nvPr/>
        </p:nvSpPr>
        <p:spPr>
          <a:xfrm>
            <a:off x="3429000" y="5504688"/>
            <a:ext cx="1965960" cy="274320"/>
          </a:xfrm>
          <a:prstGeom prst="rect">
            <a:avLst/>
          </a:prstGeom>
          <a:noFill/>
          <a:ln/>
        </p:spPr>
        <p:txBody>
          <a:bodyPr wrap="square" lIns="0" tIns="0" rIns="0" bIns="0" rtlCol="0" anchor="ctr"/>
          <a:lstStyle/>
          <a:p>
            <a:pPr algn="ctr" indent="0" marL="0">
              <a:buNone/>
            </a:pPr>
            <a:r>
              <a:rPr lang="en-US" sz="1100" b="1" dirty="0">
                <a:solidFill>
                  <a:srgbClr val="B97A1F"/>
                </a:solidFill>
                <a:latin typeface="Calibri" pitchFamily="34" charset="0"/>
                <a:ea typeface="Calibri" pitchFamily="34" charset="-122"/>
                <a:cs typeface="Calibri" pitchFamily="34" charset="-120"/>
              </a:rPr>
              <a:t>[Automated / Manual]</a:t>
            </a:r>
            <a:endParaRPr lang="en-US" sz="1100" dirty="0"/>
          </a:p>
        </p:txBody>
      </p:sp>
      <p:sp>
        <p:nvSpPr>
          <p:cNvPr id="44" name="Text 33"/>
          <p:cNvSpPr txBox="1"/>
          <p:nvPr/>
        </p:nvSpPr>
        <p:spPr>
          <a:xfrm>
            <a:off x="5852160" y="2834640"/>
            <a:ext cx="4572000" cy="292608"/>
          </a:xfrm>
          <a:prstGeom prst="rect">
            <a:avLst/>
          </a:prstGeom>
          <a:noFill/>
          <a:ln/>
        </p:spPr>
        <p:txBody>
          <a:bodyPr wrap="square" lIns="0" tIns="0" rIns="0" bIns="0" rtlCol="0" anchor="ctr"/>
          <a:lstStyle/>
          <a:p>
            <a:pPr indent="0" marL="0">
              <a:buNone/>
            </a:pPr>
            <a:r>
              <a:rPr lang="en-US" sz="1600" b="1" dirty="0">
                <a:solidFill>
                  <a:srgbClr val="1B2A4A"/>
                </a:solidFill>
                <a:latin typeface="Calibri" pitchFamily="34" charset="0"/>
                <a:ea typeface="Calibri" pitchFamily="34" charset="-122"/>
                <a:cs typeface="Calibri" pitchFamily="34" charset="-120"/>
              </a:rPr>
              <a:t>Zero-days handled</a:t>
            </a:r>
            <a:endParaRPr lang="en-US" sz="16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852160" y="3200400"/>
          <a:ext cx="5879592" cy="914400"/>
        </p:xfrm>
        <a:graphic>
          <a:graphicData uri="http://schemas.openxmlformats.org/drawingml/2006/table">
            <a:tbl>
              <a:tblPr/>
              <a:tblGrid>
                <a:gridCol w="1554480"/>
                <a:gridCol w="1600200"/>
                <a:gridCol w="1280160"/>
                <a:gridCol w="1444752"/>
              </a:tblGrid>
              <a:tr h="554126">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CVE</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B2A4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Product</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B2A4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Exposure</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B2A4A"/>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Action</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1B2A4A"/>
                    </a:solidFill>
                  </a:tcPr>
                </a:tc>
              </a:tr>
              <a:tr h="554126">
                <a:tc>
                  <a:txBody>
                    <a:bodyPr/>
                    <a:lstStyle/>
                    <a:p>
                      <a:pPr indent="0" marL="0">
                        <a:buNone/>
                      </a:pPr>
                      <a:r>
                        <a:rPr lang="en-US" sz="1200" dirty="0">
                          <a:solidFill>
                            <a:srgbClr val="B97A1F"/>
                          </a:solidFill>
                          <a:latin typeface="Calibri" pitchFamily="34" charset="0"/>
                          <a:ea typeface="Calibri" pitchFamily="34" charset="-122"/>
                          <a:cs typeface="Calibri" pitchFamily="34" charset="-120"/>
                        </a:rPr>
                        <a:t>[CVE-XXXX-XXXXX]</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B97A1F"/>
                          </a:solidFill>
                          <a:latin typeface="Calibri" pitchFamily="34" charset="0"/>
                          <a:ea typeface="Calibri" pitchFamily="34" charset="-122"/>
                          <a:cs typeface="Calibri" pitchFamily="34" charset="-120"/>
                        </a:rPr>
                        <a:t>[Product]</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B97A1F"/>
                          </a:solidFill>
                          <a:latin typeface="Calibri" pitchFamily="34" charset="0"/>
                          <a:ea typeface="Calibri" pitchFamily="34" charset="-122"/>
                          <a:cs typeface="Calibri" pitchFamily="34" charset="-120"/>
                        </a:rPr>
                        <a:t>[Yes / No]</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B97A1F"/>
                          </a:solidFill>
                          <a:latin typeface="Calibri" pitchFamily="34" charset="0"/>
                          <a:ea typeface="Calibri" pitchFamily="34" charset="-122"/>
                          <a:cs typeface="Calibri" pitchFamily="34" charset="-120"/>
                        </a:rPr>
                        <a:t>[Action taken]</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554126">
                <a:tc>
                  <a:txBody>
                    <a:bodyPr/>
                    <a:lstStyle/>
                    <a:p>
                      <a:pPr indent="0" marL="0">
                        <a:buNone/>
                      </a:pPr>
                      <a:r>
                        <a:rPr lang="en-US" sz="1200" dirty="0">
                          <a:solidFill>
                            <a:srgbClr val="B97A1F"/>
                          </a:solidFill>
                          <a:latin typeface="Calibri" pitchFamily="34" charset="0"/>
                          <a:ea typeface="Calibri" pitchFamily="34" charset="-122"/>
                          <a:cs typeface="Calibri" pitchFamily="34" charset="-120"/>
                        </a:rPr>
                        <a:t>[CVE-XXXX-XXXXX]</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4F7FC"/>
                    </a:solidFill>
                  </a:tcPr>
                </a:tc>
                <a:tc>
                  <a:txBody>
                    <a:bodyPr/>
                    <a:lstStyle/>
                    <a:p>
                      <a:pPr indent="0" marL="0">
                        <a:buNone/>
                      </a:pPr>
                      <a:r>
                        <a:rPr lang="en-US" sz="1200" dirty="0">
                          <a:solidFill>
                            <a:srgbClr val="B97A1F"/>
                          </a:solidFill>
                          <a:latin typeface="Calibri" pitchFamily="34" charset="0"/>
                          <a:ea typeface="Calibri" pitchFamily="34" charset="-122"/>
                          <a:cs typeface="Calibri" pitchFamily="34" charset="-120"/>
                        </a:rPr>
                        <a:t>[Product]</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4F7FC"/>
                    </a:solidFill>
                  </a:tcPr>
                </a:tc>
                <a:tc>
                  <a:txBody>
                    <a:bodyPr/>
                    <a:lstStyle/>
                    <a:p>
                      <a:pPr indent="0" marL="0">
                        <a:buNone/>
                      </a:pPr>
                      <a:r>
                        <a:rPr lang="en-US" sz="1200" dirty="0">
                          <a:solidFill>
                            <a:srgbClr val="B97A1F"/>
                          </a:solidFill>
                          <a:latin typeface="Calibri" pitchFamily="34" charset="0"/>
                          <a:ea typeface="Calibri" pitchFamily="34" charset="-122"/>
                          <a:cs typeface="Calibri" pitchFamily="34" charset="-120"/>
                        </a:rPr>
                        <a:t>[Yes / No]</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4F7FC"/>
                    </a:solidFill>
                  </a:tcPr>
                </a:tc>
                <a:tc>
                  <a:txBody>
                    <a:bodyPr/>
                    <a:lstStyle/>
                    <a:p>
                      <a:pPr indent="0" marL="0">
                        <a:buNone/>
                      </a:pPr>
                      <a:r>
                        <a:rPr lang="en-US" sz="1200" dirty="0">
                          <a:solidFill>
                            <a:srgbClr val="B97A1F"/>
                          </a:solidFill>
                          <a:latin typeface="Calibri" pitchFamily="34" charset="0"/>
                          <a:ea typeface="Calibri" pitchFamily="34" charset="-122"/>
                          <a:cs typeface="Calibri" pitchFamily="34" charset="-120"/>
                        </a:rPr>
                        <a:t>[Action taken]</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4F7FC"/>
                    </a:solidFill>
                  </a:tcPr>
                </a:tc>
              </a:tr>
              <a:tr h="554126">
                <a:tc>
                  <a:txBody>
                    <a:bodyPr/>
                    <a:lstStyle/>
                    <a:p>
                      <a:pPr indent="0" marL="0">
                        <a:buNone/>
                      </a:pPr>
                      <a:r>
                        <a:rPr lang="en-US" sz="1200" dirty="0">
                          <a:solidFill>
                            <a:srgbClr val="B97A1F"/>
                          </a:solidFill>
                          <a:latin typeface="Calibri" pitchFamily="34" charset="0"/>
                          <a:ea typeface="Calibri" pitchFamily="34" charset="-122"/>
                          <a:cs typeface="Calibri" pitchFamily="34" charset="-120"/>
                        </a:rPr>
                        <a:t>[CVE-XXXX-XXXXX]</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B97A1F"/>
                          </a:solidFill>
                          <a:latin typeface="Calibri" pitchFamily="34" charset="0"/>
                          <a:ea typeface="Calibri" pitchFamily="34" charset="-122"/>
                          <a:cs typeface="Calibri" pitchFamily="34" charset="-120"/>
                        </a:rPr>
                        <a:t>[Product]</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B97A1F"/>
                          </a:solidFill>
                          <a:latin typeface="Calibri" pitchFamily="34" charset="0"/>
                          <a:ea typeface="Calibri" pitchFamily="34" charset="-122"/>
                          <a:cs typeface="Calibri" pitchFamily="34" charset="-120"/>
                        </a:rPr>
                        <a:t>[Yes / No]</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c>
                  <a:txBody>
                    <a:bodyPr/>
                    <a:lstStyle/>
                    <a:p>
                      <a:pPr indent="0" marL="0">
                        <a:buNone/>
                      </a:pPr>
                      <a:r>
                        <a:rPr lang="en-US" sz="1200" dirty="0">
                          <a:solidFill>
                            <a:srgbClr val="B97A1F"/>
                          </a:solidFill>
                          <a:latin typeface="Calibri" pitchFamily="34" charset="0"/>
                          <a:ea typeface="Calibri" pitchFamily="34" charset="-122"/>
                          <a:cs typeface="Calibri" pitchFamily="34" charset="-120"/>
                        </a:rPr>
                        <a:t>[Action taken]</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FFFFF"/>
                    </a:solidFill>
                  </a:tcPr>
                </a:tc>
              </a:tr>
              <a:tr h="554126">
                <a:tc>
                  <a:txBody>
                    <a:bodyPr/>
                    <a:lstStyle/>
                    <a:p>
                      <a:pPr indent="0" marL="0">
                        <a:buNone/>
                      </a:pPr>
                      <a:r>
                        <a:rPr lang="en-US" sz="1200" dirty="0">
                          <a:solidFill>
                            <a:srgbClr val="B97A1F"/>
                          </a:solidFill>
                          <a:latin typeface="Calibri" pitchFamily="34" charset="0"/>
                          <a:ea typeface="Calibri" pitchFamily="34" charset="-122"/>
                          <a:cs typeface="Calibri" pitchFamily="34" charset="-120"/>
                        </a:rPr>
                        <a:t>[CVE-XXXX-XXXXX]</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4F7FC"/>
                    </a:solidFill>
                  </a:tcPr>
                </a:tc>
                <a:tc>
                  <a:txBody>
                    <a:bodyPr/>
                    <a:lstStyle/>
                    <a:p>
                      <a:pPr indent="0" marL="0">
                        <a:buNone/>
                      </a:pPr>
                      <a:r>
                        <a:rPr lang="en-US" sz="1200" dirty="0">
                          <a:solidFill>
                            <a:srgbClr val="B97A1F"/>
                          </a:solidFill>
                          <a:latin typeface="Calibri" pitchFamily="34" charset="0"/>
                          <a:ea typeface="Calibri" pitchFamily="34" charset="-122"/>
                          <a:cs typeface="Calibri" pitchFamily="34" charset="-120"/>
                        </a:rPr>
                        <a:t>[Product]</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4F7FC"/>
                    </a:solidFill>
                  </a:tcPr>
                </a:tc>
                <a:tc>
                  <a:txBody>
                    <a:bodyPr/>
                    <a:lstStyle/>
                    <a:p>
                      <a:pPr indent="0" marL="0">
                        <a:buNone/>
                      </a:pPr>
                      <a:r>
                        <a:rPr lang="en-US" sz="1200" dirty="0">
                          <a:solidFill>
                            <a:srgbClr val="B97A1F"/>
                          </a:solidFill>
                          <a:latin typeface="Calibri" pitchFamily="34" charset="0"/>
                          <a:ea typeface="Calibri" pitchFamily="34" charset="-122"/>
                          <a:cs typeface="Calibri" pitchFamily="34" charset="-120"/>
                        </a:rPr>
                        <a:t>[Yes / No]</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4F7FC"/>
                    </a:solidFill>
                  </a:tcPr>
                </a:tc>
                <a:tc>
                  <a:txBody>
                    <a:bodyPr/>
                    <a:lstStyle/>
                    <a:p>
                      <a:pPr indent="0" marL="0">
                        <a:buNone/>
                      </a:pPr>
                      <a:r>
                        <a:rPr lang="en-US" sz="1200" dirty="0">
                          <a:solidFill>
                            <a:srgbClr val="B97A1F"/>
                          </a:solidFill>
                          <a:latin typeface="Calibri" pitchFamily="34" charset="0"/>
                          <a:ea typeface="Calibri" pitchFamily="34" charset="-122"/>
                          <a:cs typeface="Calibri" pitchFamily="34" charset="-120"/>
                        </a:rPr>
                        <a:t>[Action taken]</a:t>
                      </a:r>
                      <a:endParaRPr lang="en-US" sz="1200" dirty="0">
                        <a:latin typeface="Calibri" charset="0"/>
                        <a:ea typeface="Calibri" charset="0"/>
                        <a:cs typeface="Calibri" charset="0"/>
                      </a:endParaRPr>
                    </a:p>
                  </a:txBody>
                  <a:tcPr marL="109728" marR="109728" marT="0" marB="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rgbClr val="F4F7FC"/>
                    </a:solidFill>
                  </a:tcPr>
                </a:tc>
              </a:tr>
            </a:tbl>
          </a:graphicData>
        </a:graphic>
      </p:graphicFrame>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457200" y="310896"/>
            <a:ext cx="530352" cy="530352"/>
          </a:xfrm>
          <a:prstGeom prst="ellipse">
            <a:avLst/>
          </a:prstGeom>
          <a:solidFill>
            <a:srgbClr val="1B2A4A"/>
          </a:solidFill>
          <a:ln/>
        </p:spPr>
      </p:sp>
      <p:pic>
        <p:nvPicPr>
          <p:cNvPr id="3" name="Image 0" descr="preencoded.png">    </p:cNvPr>
          <p:cNvPicPr>
            <a:picLocks noChangeAspect="1"/>
          </p:cNvPicPr>
          <p:nvPr/>
        </p:nvPicPr>
        <p:blipFill>
          <a:blip r:embed="rId1"/>
          <a:stretch>
            <a:fillRect/>
          </a:stretch>
        </p:blipFill>
        <p:spPr>
          <a:xfrm>
            <a:off x="589788" y="443484"/>
            <a:ext cx="265176" cy="265176"/>
          </a:xfrm>
          <a:prstGeom prst="rect">
            <a:avLst/>
          </a:prstGeom>
        </p:spPr>
      </p:pic>
      <p:sp>
        <p:nvSpPr>
          <p:cNvPr id="4" name="Text 1"/>
          <p:cNvSpPr/>
          <p:nvPr>
            <p:ph idx="101" type="title" hasCustomPrompt="1"/>
          </p:nvPr>
        </p:nvSpPr>
        <p:spPr>
          <a:xfrm>
            <a:off x="1143000" y="274320"/>
            <a:ext cx="7223760" cy="603504"/>
          </a:xfrm>
          <a:prstGeom prst="rect">
            <a:avLst/>
          </a:prstGeom>
          <a:noFill/>
          <a:ln/>
        </p:spPr>
        <p:txBody>
          <a:bodyPr wrap="square" lIns="0" tIns="0" rIns="0" bIns="0" rtlCol="0" anchor="ctr"/>
          <a:lstStyle/>
          <a:p>
            <a:pPr algn="l" indent="0" marL="0">
              <a:buNone/>
            </a:pPr>
            <a:r>
              <a:rPr lang="en-US" sz="3000" b="1" dirty="0">
                <a:solidFill>
                  <a:srgbClr val="1B2A4A"/>
                </a:solidFill>
                <a:latin typeface="Calibri" pitchFamily="34" charset="0"/>
                <a:ea typeface="Calibri" pitchFamily="34" charset="-122"/>
                <a:cs typeface="Calibri" pitchFamily="34" charset="-120"/>
              </a:rPr>
              <a:t>Decisions Requested</a:t>
            </a:r>
            <a:endParaRPr lang="en-US" sz="3000" dirty="0"/>
          </a:p>
        </p:txBody>
      </p:sp>
      <p:sp>
        <p:nvSpPr>
          <p:cNvPr id="5" name="Text 2"/>
          <p:cNvSpPr txBox="1"/>
          <p:nvPr/>
        </p:nvSpPr>
        <p:spPr>
          <a:xfrm>
            <a:off x="8458200" y="384048"/>
            <a:ext cx="3273552" cy="384048"/>
          </a:xfrm>
          <a:prstGeom prst="rect">
            <a:avLst/>
          </a:prstGeom>
          <a:noFill/>
          <a:ln/>
        </p:spPr>
        <p:txBody>
          <a:bodyPr wrap="square" lIns="0" tIns="0" rIns="0" bIns="0" rtlCol="0" anchor="ctr"/>
          <a:lstStyle/>
          <a:p>
            <a:pPr algn="r" indent="0" marL="0">
              <a:buNone/>
            </a:pPr>
            <a:r>
              <a:rPr lang="en-US" sz="1200" dirty="0">
                <a:solidFill>
                  <a:srgbClr val="64748B"/>
                </a:solidFill>
                <a:latin typeface="Calibri" pitchFamily="34" charset="0"/>
                <a:ea typeface="Calibri" pitchFamily="34" charset="-122"/>
                <a:cs typeface="Calibri" pitchFamily="34" charset="-120"/>
              </a:rPr>
              <a:t>Cybersecurity Committee  |  SOC</a:t>
            </a:r>
            <a:endParaRPr lang="en-US" sz="1200" dirty="0"/>
          </a:p>
        </p:txBody>
      </p:sp>
      <p:sp>
        <p:nvSpPr>
          <p:cNvPr id="6" name="Text 3"/>
          <p:cNvSpPr txBox="1"/>
          <p:nvPr/>
        </p:nvSpPr>
        <p:spPr>
          <a:xfrm>
            <a:off x="457200" y="932688"/>
            <a:ext cx="11274552" cy="310896"/>
          </a:xfrm>
          <a:prstGeom prst="rect">
            <a:avLst/>
          </a:prstGeom>
          <a:noFill/>
          <a:ln/>
        </p:spPr>
        <p:txBody>
          <a:bodyPr wrap="square" lIns="0" tIns="0" rIns="0" bIns="0" rtlCol="0" anchor="ctr"/>
          <a:lstStyle/>
          <a:p>
            <a:pPr indent="0" marL="0">
              <a:buNone/>
            </a:pPr>
            <a:r>
              <a:rPr lang="en-US" sz="1500" dirty="0">
                <a:solidFill>
                  <a:srgbClr val="64748B"/>
                </a:solidFill>
                <a:latin typeface="Calibri" pitchFamily="34" charset="0"/>
                <a:ea typeface="Calibri" pitchFamily="34" charset="-122"/>
                <a:cs typeface="Calibri" pitchFamily="34" charset="-120"/>
              </a:rPr>
              <a:t>What the SOC is asking the committee to endorse or support</a:t>
            </a:r>
            <a:endParaRPr lang="en-US" sz="1500" dirty="0"/>
          </a:p>
        </p:txBody>
      </p:sp>
      <p:sp>
        <p:nvSpPr>
          <p:cNvPr id="7" name="Shape 4"/>
          <p:cNvSpPr/>
          <p:nvPr/>
        </p:nvSpPr>
        <p:spPr>
          <a:xfrm>
            <a:off x="457200" y="1463040"/>
            <a:ext cx="11274552" cy="1280160"/>
          </a:xfrm>
          <a:prstGeom prst="roundRect">
            <a:avLst>
              <a:gd name="adj" fmla="val 5000"/>
            </a:avLst>
          </a:prstGeom>
          <a:solidFill>
            <a:srgbClr val="F4F7FC"/>
          </a:solidFill>
          <a:ln w="9525">
            <a:solidFill>
              <a:srgbClr val="DCE3EE"/>
            </a:solidFill>
            <a:prstDash val="solid"/>
          </a:ln>
        </p:spPr>
      </p:sp>
      <p:sp>
        <p:nvSpPr>
          <p:cNvPr id="8" name="Shape 5"/>
          <p:cNvSpPr/>
          <p:nvPr/>
        </p:nvSpPr>
        <p:spPr>
          <a:xfrm>
            <a:off x="731520" y="1783080"/>
            <a:ext cx="640080" cy="640080"/>
          </a:xfrm>
          <a:prstGeom prst="ellipse">
            <a:avLst/>
          </a:prstGeom>
          <a:solidFill>
            <a:srgbClr val="1B2A4A"/>
          </a:solidFill>
          <a:ln/>
        </p:spPr>
      </p:sp>
      <p:sp>
        <p:nvSpPr>
          <p:cNvPr id="9" name="Text 6"/>
          <p:cNvSpPr txBox="1"/>
          <p:nvPr/>
        </p:nvSpPr>
        <p:spPr>
          <a:xfrm>
            <a:off x="731520" y="178308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0" name="Text 7"/>
          <p:cNvSpPr txBox="1"/>
          <p:nvPr/>
        </p:nvSpPr>
        <p:spPr>
          <a:xfrm>
            <a:off x="1645920" y="1463040"/>
            <a:ext cx="7772400" cy="1280160"/>
          </a:xfrm>
          <a:prstGeom prst="rect">
            <a:avLst/>
          </a:prstGeom>
          <a:noFill/>
          <a:ln/>
        </p:spPr>
        <p:txBody>
          <a:bodyPr wrap="square" lIns="0" tIns="0" rIns="0" bIns="0" rtlCol="0" anchor="ctr"/>
          <a:lstStyle/>
          <a:p>
            <a:pPr indent="0" marL="0">
              <a:spcAft>
                <a:spcPts val="400"/>
              </a:spcAft>
              <a:buNone/>
            </a:pPr>
            <a:r>
              <a:rPr lang="en-US" sz="1700" b="1" dirty="0">
                <a:solidFill>
                  <a:srgbClr val="1B2A4A"/>
                </a:solidFill>
                <a:latin typeface="Calibri" pitchFamily="34" charset="0"/>
                <a:ea typeface="Calibri" pitchFamily="34" charset="-122"/>
                <a:cs typeface="Calibri" pitchFamily="34" charset="-120"/>
              </a:rPr>
              <a:t>Endorse the DLP incident recommendations</a:t>
            </a:r>
            <a:endParaRPr lang="en-US" sz="1700" dirty="0"/>
          </a:p>
          <a:p>
            <a:pPr indent="0" marL="0">
              <a:spcAft>
                <a:spcPts val="400"/>
              </a:spcAft>
              <a:buNone/>
            </a:pPr>
            <a:r>
              <a:rPr lang="en-US" sz="1250" dirty="0">
                <a:solidFill>
                  <a:srgbClr val="64748B"/>
                </a:solidFill>
                <a:latin typeface="Calibri" pitchFamily="34" charset="0"/>
                <a:ea typeface="Calibri" pitchFamily="34" charset="-122"/>
                <a:cs typeface="Calibri" pitchFamily="34" charset="-120"/>
              </a:rPr>
              <a:t>Role-based access in DLP, super-admin use only under an approved Change Request, incident deletion blocked, and SOC audit-log access restored.</a:t>
            </a:r>
            <a:endParaRPr lang="en-US" sz="1700" dirty="0"/>
          </a:p>
        </p:txBody>
      </p:sp>
      <p:sp>
        <p:nvSpPr>
          <p:cNvPr id="11" name="Shape 8"/>
          <p:cNvSpPr/>
          <p:nvPr/>
        </p:nvSpPr>
        <p:spPr>
          <a:xfrm>
            <a:off x="9829800" y="1965960"/>
            <a:ext cx="1645920" cy="274320"/>
          </a:xfrm>
          <a:prstGeom prst="roundRect">
            <a:avLst>
              <a:gd name="adj" fmla="val 50000"/>
            </a:avLst>
          </a:prstGeom>
          <a:solidFill>
            <a:srgbClr val="E4F0F1"/>
          </a:solidFill>
          <a:ln/>
        </p:spPr>
      </p:sp>
      <p:sp>
        <p:nvSpPr>
          <p:cNvPr id="12" name="Text 9"/>
          <p:cNvSpPr txBox="1"/>
          <p:nvPr/>
        </p:nvSpPr>
        <p:spPr>
          <a:xfrm>
            <a:off x="9829800" y="1965960"/>
            <a:ext cx="1645920" cy="274320"/>
          </a:xfrm>
          <a:prstGeom prst="rect">
            <a:avLst/>
          </a:prstGeom>
          <a:noFill/>
          <a:ln/>
        </p:spPr>
        <p:txBody>
          <a:bodyPr wrap="square" lIns="0" tIns="0" rIns="0" bIns="0" rtlCol="0" anchor="ctr"/>
          <a:lstStyle/>
          <a:p>
            <a:pPr algn="ctr" indent="0" marL="0">
              <a:buNone/>
            </a:pPr>
            <a:r>
              <a:rPr lang="en-US" sz="1100" b="1" dirty="0">
                <a:solidFill>
                  <a:srgbClr val="2A8C96"/>
                </a:solidFill>
                <a:latin typeface="Calibri" pitchFamily="34" charset="0"/>
                <a:ea typeface="Calibri" pitchFamily="34" charset="-122"/>
                <a:cs typeface="Calibri" pitchFamily="34" charset="-120"/>
              </a:rPr>
              <a:t>For endorsement</a:t>
            </a:r>
            <a:endParaRPr lang="en-US" sz="1100" dirty="0"/>
          </a:p>
        </p:txBody>
      </p:sp>
      <p:sp>
        <p:nvSpPr>
          <p:cNvPr id="13" name="Shape 10"/>
          <p:cNvSpPr/>
          <p:nvPr/>
        </p:nvSpPr>
        <p:spPr>
          <a:xfrm>
            <a:off x="457200" y="2926080"/>
            <a:ext cx="11274552" cy="1280160"/>
          </a:xfrm>
          <a:prstGeom prst="roundRect">
            <a:avLst>
              <a:gd name="adj" fmla="val 5000"/>
            </a:avLst>
          </a:prstGeom>
          <a:solidFill>
            <a:srgbClr val="F4F7FC"/>
          </a:solidFill>
          <a:ln w="9525">
            <a:solidFill>
              <a:srgbClr val="DCE3EE"/>
            </a:solidFill>
            <a:prstDash val="solid"/>
          </a:ln>
        </p:spPr>
      </p:sp>
      <p:sp>
        <p:nvSpPr>
          <p:cNvPr id="14" name="Shape 11"/>
          <p:cNvSpPr/>
          <p:nvPr/>
        </p:nvSpPr>
        <p:spPr>
          <a:xfrm>
            <a:off x="731520" y="3246120"/>
            <a:ext cx="640080" cy="640080"/>
          </a:xfrm>
          <a:prstGeom prst="ellipse">
            <a:avLst/>
          </a:prstGeom>
          <a:solidFill>
            <a:srgbClr val="1B2A4A"/>
          </a:solidFill>
          <a:ln/>
        </p:spPr>
      </p:sp>
      <p:sp>
        <p:nvSpPr>
          <p:cNvPr id="15" name="Text 12"/>
          <p:cNvSpPr txBox="1"/>
          <p:nvPr/>
        </p:nvSpPr>
        <p:spPr>
          <a:xfrm>
            <a:off x="731520" y="324612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6" name="Text 13"/>
          <p:cNvSpPr txBox="1"/>
          <p:nvPr/>
        </p:nvSpPr>
        <p:spPr>
          <a:xfrm>
            <a:off x="1645920" y="2926080"/>
            <a:ext cx="7772400" cy="1280160"/>
          </a:xfrm>
          <a:prstGeom prst="rect">
            <a:avLst/>
          </a:prstGeom>
          <a:noFill/>
          <a:ln/>
        </p:spPr>
        <p:txBody>
          <a:bodyPr wrap="square" lIns="0" tIns="0" rIns="0" bIns="0" rtlCol="0" anchor="ctr"/>
          <a:lstStyle/>
          <a:p>
            <a:pPr indent="0" marL="0">
              <a:spcAft>
                <a:spcPts val="400"/>
              </a:spcAft>
              <a:buNone/>
            </a:pPr>
            <a:r>
              <a:rPr lang="en-US" sz="1700" b="1" dirty="0">
                <a:solidFill>
                  <a:srgbClr val="1B2A4A"/>
                </a:solidFill>
                <a:latin typeface="Calibri" pitchFamily="34" charset="0"/>
                <a:ea typeface="Calibri" pitchFamily="34" charset="-122"/>
                <a:cs typeface="Calibri" pitchFamily="34" charset="-120"/>
              </a:rPr>
              <a:t>Support the SOC AI evaluation</a:t>
            </a:r>
            <a:endParaRPr lang="en-US" sz="1700" dirty="0"/>
          </a:p>
          <a:p>
            <a:pPr indent="0" marL="0">
              <a:spcAft>
                <a:spcPts val="400"/>
              </a:spcAft>
              <a:buNone/>
            </a:pPr>
            <a:r>
              <a:rPr lang="en-US" sz="1250" dirty="0">
                <a:solidFill>
                  <a:srgbClr val="64748B"/>
                </a:solidFill>
                <a:latin typeface="Calibri" pitchFamily="34" charset="0"/>
                <a:ea typeface="Calibri" pitchFamily="34" charset="-122"/>
                <a:cs typeface="Calibri" pitchFamily="34" charset="-120"/>
              </a:rPr>
              <a:t>Proceed to commercial proposals and a proof of concept with COGNNA and Palo Alto Cortex XSIAM, and report back with a recommendation.</a:t>
            </a:r>
            <a:endParaRPr lang="en-US" sz="1700" dirty="0"/>
          </a:p>
        </p:txBody>
      </p:sp>
      <p:sp>
        <p:nvSpPr>
          <p:cNvPr id="17" name="Shape 14"/>
          <p:cNvSpPr/>
          <p:nvPr/>
        </p:nvSpPr>
        <p:spPr>
          <a:xfrm>
            <a:off x="9829800" y="3429000"/>
            <a:ext cx="1645920" cy="274320"/>
          </a:xfrm>
          <a:prstGeom prst="roundRect">
            <a:avLst>
              <a:gd name="adj" fmla="val 50000"/>
            </a:avLst>
          </a:prstGeom>
          <a:solidFill>
            <a:srgbClr val="E4F0F1"/>
          </a:solidFill>
          <a:ln/>
        </p:spPr>
      </p:sp>
      <p:sp>
        <p:nvSpPr>
          <p:cNvPr id="18" name="Text 15"/>
          <p:cNvSpPr txBox="1"/>
          <p:nvPr/>
        </p:nvSpPr>
        <p:spPr>
          <a:xfrm>
            <a:off x="9829800" y="3429000"/>
            <a:ext cx="1645920" cy="274320"/>
          </a:xfrm>
          <a:prstGeom prst="rect">
            <a:avLst/>
          </a:prstGeom>
          <a:noFill/>
          <a:ln/>
        </p:spPr>
        <p:txBody>
          <a:bodyPr wrap="square" lIns="0" tIns="0" rIns="0" bIns="0" rtlCol="0" anchor="ctr"/>
          <a:lstStyle/>
          <a:p>
            <a:pPr algn="ctr" indent="0" marL="0">
              <a:buNone/>
            </a:pPr>
            <a:r>
              <a:rPr lang="en-US" sz="1100" b="1" dirty="0">
                <a:solidFill>
                  <a:srgbClr val="2A8C96"/>
                </a:solidFill>
                <a:latin typeface="Calibri" pitchFamily="34" charset="0"/>
                <a:ea typeface="Calibri" pitchFamily="34" charset="-122"/>
                <a:cs typeface="Calibri" pitchFamily="34" charset="-120"/>
              </a:rPr>
              <a:t>For support</a:t>
            </a:r>
            <a:endParaRPr lang="en-US" sz="1100" dirty="0"/>
          </a:p>
        </p:txBody>
      </p:sp>
      <p:sp>
        <p:nvSpPr>
          <p:cNvPr id="19" name="Shape 16"/>
          <p:cNvSpPr/>
          <p:nvPr/>
        </p:nvSpPr>
        <p:spPr>
          <a:xfrm>
            <a:off x="457200" y="4389120"/>
            <a:ext cx="11274552" cy="1280160"/>
          </a:xfrm>
          <a:prstGeom prst="roundRect">
            <a:avLst>
              <a:gd name="adj" fmla="val 5000"/>
            </a:avLst>
          </a:prstGeom>
          <a:solidFill>
            <a:srgbClr val="F4F7FC"/>
          </a:solidFill>
          <a:ln w="9525">
            <a:solidFill>
              <a:srgbClr val="DCE3EE"/>
            </a:solidFill>
            <a:prstDash val="solid"/>
          </a:ln>
        </p:spPr>
      </p:sp>
      <p:sp>
        <p:nvSpPr>
          <p:cNvPr id="20" name="Shape 17"/>
          <p:cNvSpPr/>
          <p:nvPr/>
        </p:nvSpPr>
        <p:spPr>
          <a:xfrm>
            <a:off x="731520" y="4709160"/>
            <a:ext cx="640080" cy="640080"/>
          </a:xfrm>
          <a:prstGeom prst="ellipse">
            <a:avLst/>
          </a:prstGeom>
          <a:solidFill>
            <a:srgbClr val="1B2A4A"/>
          </a:solidFill>
          <a:ln/>
        </p:spPr>
      </p:sp>
      <p:sp>
        <p:nvSpPr>
          <p:cNvPr id="21" name="Text 18"/>
          <p:cNvSpPr txBox="1"/>
          <p:nvPr/>
        </p:nvSpPr>
        <p:spPr>
          <a:xfrm>
            <a:off x="731520" y="4709160"/>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Text 19"/>
          <p:cNvSpPr txBox="1"/>
          <p:nvPr/>
        </p:nvSpPr>
        <p:spPr>
          <a:xfrm>
            <a:off x="1645920" y="4389120"/>
            <a:ext cx="7772400" cy="1280160"/>
          </a:xfrm>
          <a:prstGeom prst="rect">
            <a:avLst/>
          </a:prstGeom>
          <a:noFill/>
          <a:ln/>
        </p:spPr>
        <p:txBody>
          <a:bodyPr wrap="square" lIns="0" tIns="0" rIns="0" bIns="0" rtlCol="0" anchor="ctr"/>
          <a:lstStyle/>
          <a:p>
            <a:pPr indent="0" marL="0">
              <a:spcAft>
                <a:spcPts val="400"/>
              </a:spcAft>
              <a:buNone/>
            </a:pPr>
            <a:r>
              <a:rPr lang="en-US" sz="1700" b="1" dirty="0">
                <a:solidFill>
                  <a:srgbClr val="B97A1F"/>
                </a:solidFill>
                <a:latin typeface="Calibri" pitchFamily="34" charset="0"/>
                <a:ea typeface="Calibri" pitchFamily="34" charset="-122"/>
                <a:cs typeface="Calibri" pitchFamily="34" charset="-120"/>
              </a:rPr>
              <a:t>[Additional decision or support request]</a:t>
            </a:r>
            <a:endParaRPr lang="en-US" sz="1700" dirty="0"/>
          </a:p>
          <a:p>
            <a:pPr indent="0" marL="0">
              <a:spcAft>
                <a:spcPts val="400"/>
              </a:spcAft>
              <a:buNone/>
            </a:pPr>
            <a:r>
              <a:rPr lang="en-US" sz="1250" dirty="0">
                <a:solidFill>
                  <a:srgbClr val="B97A1F"/>
                </a:solidFill>
                <a:latin typeface="Calibri" pitchFamily="34" charset="0"/>
                <a:ea typeface="Calibri" pitchFamily="34" charset="-122"/>
                <a:cs typeface="Calibri" pitchFamily="34" charset="-120"/>
              </a:rPr>
              <a:t>[What is needed from the committee, and by when]</a:t>
            </a:r>
            <a:endParaRPr lang="en-US" sz="1700" dirty="0"/>
          </a:p>
        </p:txBody>
      </p:sp>
      <p:sp>
        <p:nvSpPr>
          <p:cNvPr id="23" name="Shape 20"/>
          <p:cNvSpPr/>
          <p:nvPr/>
        </p:nvSpPr>
        <p:spPr>
          <a:xfrm>
            <a:off x="9829800" y="4892040"/>
            <a:ext cx="1645920" cy="274320"/>
          </a:xfrm>
          <a:prstGeom prst="roundRect">
            <a:avLst>
              <a:gd name="adj" fmla="val 50000"/>
            </a:avLst>
          </a:prstGeom>
          <a:solidFill>
            <a:srgbClr val="FBF1DD"/>
          </a:solidFill>
          <a:ln/>
        </p:spPr>
      </p:sp>
      <p:sp>
        <p:nvSpPr>
          <p:cNvPr id="24" name="Text 21"/>
          <p:cNvSpPr txBox="1"/>
          <p:nvPr/>
        </p:nvSpPr>
        <p:spPr>
          <a:xfrm>
            <a:off x="9829800" y="4892040"/>
            <a:ext cx="1645920" cy="274320"/>
          </a:xfrm>
          <a:prstGeom prst="rect">
            <a:avLst/>
          </a:prstGeom>
          <a:noFill/>
          <a:ln/>
        </p:spPr>
        <p:txBody>
          <a:bodyPr wrap="square" lIns="0" tIns="0" rIns="0" bIns="0" rtlCol="0" anchor="ctr"/>
          <a:lstStyle/>
          <a:p>
            <a:pPr algn="ctr" indent="0" marL="0">
              <a:buNone/>
            </a:pPr>
            <a:r>
              <a:rPr lang="en-US" sz="1100" b="1" dirty="0">
                <a:solidFill>
                  <a:srgbClr val="B97A1F"/>
                </a:solidFill>
                <a:latin typeface="Calibri" pitchFamily="34" charset="0"/>
                <a:ea typeface="Calibri" pitchFamily="34" charset="-122"/>
                <a:cs typeface="Calibri" pitchFamily="34" charset="-120"/>
              </a:rPr>
              <a:t>[Type]</a:t>
            </a:r>
            <a:endParaRPr lang="en-US" sz="11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457200" y="310896"/>
            <a:ext cx="530352" cy="530352"/>
          </a:xfrm>
          <a:prstGeom prst="ellipse">
            <a:avLst/>
          </a:prstGeom>
          <a:solidFill>
            <a:srgbClr val="1B2A4A"/>
          </a:solidFill>
          <a:ln/>
        </p:spPr>
      </p:sp>
      <p:pic>
        <p:nvPicPr>
          <p:cNvPr id="3" name="Image 0" descr="preencoded.png">    </p:cNvPr>
          <p:cNvPicPr>
            <a:picLocks noChangeAspect="1"/>
          </p:cNvPicPr>
          <p:nvPr/>
        </p:nvPicPr>
        <p:blipFill>
          <a:blip r:embed="rId1"/>
          <a:stretch>
            <a:fillRect/>
          </a:stretch>
        </p:blipFill>
        <p:spPr>
          <a:xfrm>
            <a:off x="589788" y="443484"/>
            <a:ext cx="265176" cy="265176"/>
          </a:xfrm>
          <a:prstGeom prst="rect">
            <a:avLst/>
          </a:prstGeom>
        </p:spPr>
      </p:pic>
      <p:sp>
        <p:nvSpPr>
          <p:cNvPr id="4" name="Text 1"/>
          <p:cNvSpPr/>
          <p:nvPr>
            <p:ph idx="101" type="title" hasCustomPrompt="1"/>
          </p:nvPr>
        </p:nvSpPr>
        <p:spPr>
          <a:xfrm>
            <a:off x="1143000" y="274320"/>
            <a:ext cx="7223760" cy="603504"/>
          </a:xfrm>
          <a:prstGeom prst="rect">
            <a:avLst/>
          </a:prstGeom>
          <a:noFill/>
          <a:ln/>
        </p:spPr>
        <p:txBody>
          <a:bodyPr wrap="square" lIns="0" tIns="0" rIns="0" bIns="0" rtlCol="0" anchor="ctr"/>
          <a:lstStyle/>
          <a:p>
            <a:pPr algn="l" indent="0" marL="0">
              <a:buNone/>
            </a:pPr>
            <a:r>
              <a:rPr lang="en-US" sz="3000" b="1" dirty="0">
                <a:solidFill>
                  <a:srgbClr val="1B2A4A"/>
                </a:solidFill>
                <a:latin typeface="Calibri" pitchFamily="34" charset="0"/>
                <a:ea typeface="Calibri" pitchFamily="34" charset="-122"/>
                <a:cs typeface="Calibri" pitchFamily="34" charset="-120"/>
              </a:rPr>
              <a:t>SIEM: Application Coverage Gap</a:t>
            </a:r>
            <a:endParaRPr lang="en-US" sz="3000" dirty="0"/>
          </a:p>
        </p:txBody>
      </p:sp>
      <p:sp>
        <p:nvSpPr>
          <p:cNvPr id="5" name="Text 2"/>
          <p:cNvSpPr txBox="1"/>
          <p:nvPr/>
        </p:nvSpPr>
        <p:spPr>
          <a:xfrm>
            <a:off x="8458200" y="384048"/>
            <a:ext cx="3273552" cy="384048"/>
          </a:xfrm>
          <a:prstGeom prst="rect">
            <a:avLst/>
          </a:prstGeom>
          <a:noFill/>
          <a:ln/>
        </p:spPr>
        <p:txBody>
          <a:bodyPr wrap="square" lIns="0" tIns="0" rIns="0" bIns="0" rtlCol="0" anchor="ctr"/>
          <a:lstStyle/>
          <a:p>
            <a:pPr algn="r" indent="0" marL="0">
              <a:buNone/>
            </a:pPr>
            <a:r>
              <a:rPr lang="en-US" sz="1200" dirty="0">
                <a:solidFill>
                  <a:srgbClr val="64748B"/>
                </a:solidFill>
                <a:latin typeface="Calibri" pitchFamily="34" charset="0"/>
                <a:ea typeface="Calibri" pitchFamily="34" charset="-122"/>
                <a:cs typeface="Calibri" pitchFamily="34" charset="-120"/>
              </a:rPr>
              <a:t>SOC Technology  |  QRadar SIEM</a:t>
            </a:r>
            <a:endParaRPr lang="en-US" sz="1200" dirty="0"/>
          </a:p>
        </p:txBody>
      </p:sp>
      <p:sp>
        <p:nvSpPr>
          <p:cNvPr id="6" name="Text 3"/>
          <p:cNvSpPr txBox="1"/>
          <p:nvPr/>
        </p:nvSpPr>
        <p:spPr>
          <a:xfrm>
            <a:off x="457200" y="932688"/>
            <a:ext cx="11274552" cy="310896"/>
          </a:xfrm>
          <a:prstGeom prst="rect">
            <a:avLst/>
          </a:prstGeom>
          <a:noFill/>
          <a:ln/>
        </p:spPr>
        <p:txBody>
          <a:bodyPr wrap="square" lIns="0" tIns="0" rIns="0" bIns="0" rtlCol="0" anchor="ctr"/>
          <a:lstStyle/>
          <a:p>
            <a:pPr indent="0" marL="0">
              <a:buNone/>
            </a:pPr>
            <a:r>
              <a:rPr lang="en-US" sz="1500" dirty="0">
                <a:solidFill>
                  <a:srgbClr val="64748B"/>
                </a:solidFill>
                <a:latin typeface="Calibri" pitchFamily="34" charset="0"/>
                <a:ea typeface="Calibri" pitchFamily="34" charset="-122"/>
                <a:cs typeface="Calibri" pitchFamily="34" charset="-120"/>
              </a:rPr>
              <a:t>Applications are integrated with QRadar, but four of these five do not send complete logs</a:t>
            </a:r>
            <a:endParaRPr lang="en-US" sz="1500" dirty="0"/>
          </a:p>
        </p:txBody>
      </p:sp>
      <p:sp>
        <p:nvSpPr>
          <p:cNvPr id="7" name="Shape 4"/>
          <p:cNvSpPr/>
          <p:nvPr/>
        </p:nvSpPr>
        <p:spPr>
          <a:xfrm>
            <a:off x="457200" y="1353312"/>
            <a:ext cx="5545836" cy="640080"/>
          </a:xfrm>
          <a:prstGeom prst="roundRect">
            <a:avLst>
              <a:gd name="adj" fmla="val 10000"/>
            </a:avLst>
          </a:prstGeom>
          <a:solidFill>
            <a:srgbClr val="F4F7FC"/>
          </a:solidFill>
          <a:ln w="9525">
            <a:solidFill>
              <a:srgbClr val="DCE3EE"/>
            </a:solidFill>
            <a:prstDash val="solid"/>
          </a:ln>
        </p:spPr>
      </p:sp>
      <p:sp>
        <p:nvSpPr>
          <p:cNvPr id="8" name="Shape 5"/>
          <p:cNvSpPr/>
          <p:nvPr/>
        </p:nvSpPr>
        <p:spPr>
          <a:xfrm>
            <a:off x="658368" y="1472184"/>
            <a:ext cx="402336" cy="402336"/>
          </a:xfrm>
          <a:prstGeom prst="ellipse">
            <a:avLst/>
          </a:prstGeom>
          <a:solidFill>
            <a:srgbClr val="2E8B57"/>
          </a:solidFill>
          <a:ln/>
        </p:spPr>
      </p:sp>
      <p:pic>
        <p:nvPicPr>
          <p:cNvPr id="9" name="Image 1" descr="preencoded.png">    </p:cNvPr>
          <p:cNvPicPr>
            <a:picLocks noChangeAspect="1"/>
          </p:cNvPicPr>
          <p:nvPr/>
        </p:nvPicPr>
        <p:blipFill>
          <a:blip r:embed="rId2"/>
          <a:stretch>
            <a:fillRect/>
          </a:stretch>
        </p:blipFill>
        <p:spPr>
          <a:xfrm>
            <a:off x="758952" y="1572768"/>
            <a:ext cx="201168" cy="201168"/>
          </a:xfrm>
          <a:prstGeom prst="rect">
            <a:avLst/>
          </a:prstGeom>
        </p:spPr>
      </p:pic>
      <p:sp>
        <p:nvSpPr>
          <p:cNvPr id="10" name="Text 6"/>
          <p:cNvSpPr txBox="1"/>
          <p:nvPr/>
        </p:nvSpPr>
        <p:spPr>
          <a:xfrm>
            <a:off x="1243584" y="1353312"/>
            <a:ext cx="4631436" cy="640080"/>
          </a:xfrm>
          <a:prstGeom prst="rect">
            <a:avLst/>
          </a:prstGeom>
          <a:noFill/>
          <a:ln/>
        </p:spPr>
        <p:txBody>
          <a:bodyPr wrap="square" lIns="0" tIns="0" rIns="0" bIns="0" rtlCol="0" anchor="ctr"/>
          <a:lstStyle/>
          <a:p>
            <a:pPr indent="0" marL="0">
              <a:buNone/>
            </a:pPr>
            <a:r>
              <a:rPr lang="en-US" sz="1450" b="1" dirty="0">
                <a:solidFill>
                  <a:srgbClr val="1B2A4A"/>
                </a:solidFill>
                <a:latin typeface="Calibri" pitchFamily="34" charset="0"/>
                <a:ea typeface="Calibri" pitchFamily="34" charset="-122"/>
                <a:cs typeface="Calibri" pitchFamily="34" charset="-120"/>
              </a:rPr>
              <a:t>Key integrations are done</a:t>
            </a:r>
            <a:endParaRPr lang="en-US" sz="1450" dirty="0"/>
          </a:p>
          <a:p>
            <a:pPr indent="0" marL="0">
              <a:buNone/>
            </a:pPr>
            <a:r>
              <a:rPr lang="en-US" sz="1200" dirty="0">
                <a:solidFill>
                  <a:srgbClr val="64748B"/>
                </a:solidFill>
                <a:latin typeface="Calibri" pitchFamily="34" charset="0"/>
                <a:ea typeface="Calibri" pitchFamily="34" charset="-122"/>
                <a:cs typeface="Calibri" pitchFamily="34" charset="-120"/>
              </a:rPr>
              <a:t>The applications are connected to QRadar.</a:t>
            </a:r>
            <a:endParaRPr lang="en-US" sz="1450" dirty="0"/>
          </a:p>
        </p:txBody>
      </p:sp>
      <p:sp>
        <p:nvSpPr>
          <p:cNvPr id="11" name="Shape 7"/>
          <p:cNvSpPr/>
          <p:nvPr/>
        </p:nvSpPr>
        <p:spPr>
          <a:xfrm>
            <a:off x="6185916" y="1353312"/>
            <a:ext cx="5545836" cy="640080"/>
          </a:xfrm>
          <a:prstGeom prst="roundRect">
            <a:avLst>
              <a:gd name="adj" fmla="val 10000"/>
            </a:avLst>
          </a:prstGeom>
          <a:solidFill>
            <a:srgbClr val="F4F7FC"/>
          </a:solidFill>
          <a:ln w="9525">
            <a:solidFill>
              <a:srgbClr val="DCE3EE"/>
            </a:solidFill>
            <a:prstDash val="solid"/>
          </a:ln>
        </p:spPr>
      </p:sp>
      <p:sp>
        <p:nvSpPr>
          <p:cNvPr id="12" name="Shape 8"/>
          <p:cNvSpPr/>
          <p:nvPr/>
        </p:nvSpPr>
        <p:spPr>
          <a:xfrm>
            <a:off x="6387084" y="1472184"/>
            <a:ext cx="402336" cy="402336"/>
          </a:xfrm>
          <a:prstGeom prst="ellipse">
            <a:avLst/>
          </a:prstGeom>
          <a:solidFill>
            <a:srgbClr val="C8452F"/>
          </a:solidFill>
          <a:ln/>
        </p:spPr>
      </p:sp>
      <p:pic>
        <p:nvPicPr>
          <p:cNvPr id="13" name="Image 2" descr="preencoded.png">    </p:cNvPr>
          <p:cNvPicPr>
            <a:picLocks noChangeAspect="1"/>
          </p:cNvPicPr>
          <p:nvPr/>
        </p:nvPicPr>
        <p:blipFill>
          <a:blip r:embed="rId3"/>
          <a:stretch>
            <a:fillRect/>
          </a:stretch>
        </p:blipFill>
        <p:spPr>
          <a:xfrm>
            <a:off x="6487668" y="1572768"/>
            <a:ext cx="201168" cy="201168"/>
          </a:xfrm>
          <a:prstGeom prst="rect">
            <a:avLst/>
          </a:prstGeom>
        </p:spPr>
      </p:pic>
      <p:sp>
        <p:nvSpPr>
          <p:cNvPr id="14" name="Text 9"/>
          <p:cNvSpPr txBox="1"/>
          <p:nvPr/>
        </p:nvSpPr>
        <p:spPr>
          <a:xfrm>
            <a:off x="6972300" y="1353312"/>
            <a:ext cx="4631436" cy="640080"/>
          </a:xfrm>
          <a:prstGeom prst="rect">
            <a:avLst/>
          </a:prstGeom>
          <a:noFill/>
          <a:ln/>
        </p:spPr>
        <p:txBody>
          <a:bodyPr wrap="square" lIns="0" tIns="0" rIns="0" bIns="0" rtlCol="0" anchor="ctr"/>
          <a:lstStyle/>
          <a:p>
            <a:pPr indent="0" marL="0">
              <a:buNone/>
            </a:pPr>
            <a:r>
              <a:rPr lang="en-US" sz="1450" b="1" dirty="0">
                <a:solidFill>
                  <a:srgbClr val="1B2A4A"/>
                </a:solidFill>
                <a:latin typeface="Calibri" pitchFamily="34" charset="0"/>
                <a:ea typeface="Calibri" pitchFamily="34" charset="-122"/>
                <a:cs typeface="Calibri" pitchFamily="34" charset="-120"/>
              </a:rPr>
              <a:t>Log content is not fully covered</a:t>
            </a:r>
            <a:endParaRPr lang="en-US" sz="1450" dirty="0"/>
          </a:p>
          <a:p>
            <a:pPr indent="0" marL="0">
              <a:buNone/>
            </a:pPr>
            <a:r>
              <a:rPr lang="en-US" sz="1200" dirty="0">
                <a:solidFill>
                  <a:srgbClr val="64748B"/>
                </a:solidFill>
                <a:latin typeface="Calibri" pitchFamily="34" charset="0"/>
                <a:ea typeface="Calibri" pitchFamily="34" charset="-122"/>
                <a:cs typeface="Calibri" pitchFamily="34" charset="-120"/>
              </a:rPr>
              <a:t>Audit trail and admin activity logs are missing.</a:t>
            </a:r>
            <a:endParaRPr lang="en-US" sz="1450" dirty="0"/>
          </a:p>
        </p:txBody>
      </p:sp>
      <p:sp>
        <p:nvSpPr>
          <p:cNvPr id="15" name="Text 10"/>
          <p:cNvSpPr txBox="1"/>
          <p:nvPr/>
        </p:nvSpPr>
        <p:spPr>
          <a:xfrm>
            <a:off x="1097280" y="2057400"/>
            <a:ext cx="1371600" cy="219456"/>
          </a:xfrm>
          <a:prstGeom prst="rect">
            <a:avLst/>
          </a:prstGeom>
          <a:noFill/>
          <a:ln/>
        </p:spPr>
        <p:txBody>
          <a:bodyPr wrap="square" lIns="0" tIns="0" rIns="0" bIns="0" rtlCol="0" anchor="ctr"/>
          <a:lstStyle/>
          <a:p>
            <a:pPr indent="0" marL="0">
              <a:buNone/>
            </a:pPr>
            <a:r>
              <a:rPr lang="en-US" sz="1050" b="1" spc="200" kern="0" dirty="0">
                <a:solidFill>
                  <a:srgbClr val="2A8C96"/>
                </a:solidFill>
                <a:latin typeface="Calibri" pitchFamily="34" charset="0"/>
                <a:ea typeface="Calibri" pitchFamily="34" charset="-122"/>
                <a:cs typeface="Calibri" pitchFamily="34" charset="-120"/>
              </a:rPr>
              <a:t>APPLICATION</a:t>
            </a:r>
            <a:endParaRPr lang="en-US" sz="1050" dirty="0"/>
          </a:p>
        </p:txBody>
      </p:sp>
      <p:sp>
        <p:nvSpPr>
          <p:cNvPr id="16" name="Text 11"/>
          <p:cNvSpPr txBox="1"/>
          <p:nvPr/>
        </p:nvSpPr>
        <p:spPr>
          <a:xfrm>
            <a:off x="2606040" y="2057400"/>
            <a:ext cx="2103120" cy="219456"/>
          </a:xfrm>
          <a:prstGeom prst="rect">
            <a:avLst/>
          </a:prstGeom>
          <a:noFill/>
          <a:ln/>
        </p:spPr>
        <p:txBody>
          <a:bodyPr wrap="square" lIns="0" tIns="0" rIns="0" bIns="0" rtlCol="0" anchor="ctr"/>
          <a:lstStyle/>
          <a:p>
            <a:pPr indent="0" marL="0">
              <a:buNone/>
            </a:pPr>
            <a:r>
              <a:rPr lang="en-US" sz="1050" b="1" spc="200" kern="0" dirty="0">
                <a:solidFill>
                  <a:srgbClr val="2A8C96"/>
                </a:solidFill>
                <a:latin typeface="Calibri" pitchFamily="34" charset="0"/>
                <a:ea typeface="Calibri" pitchFamily="34" charset="-122"/>
                <a:cs typeface="Calibri" pitchFamily="34" charset="-120"/>
              </a:rPr>
              <a:t>AVAILABLE TODAY</a:t>
            </a:r>
            <a:endParaRPr lang="en-US" sz="1050" dirty="0"/>
          </a:p>
        </p:txBody>
      </p:sp>
      <p:sp>
        <p:nvSpPr>
          <p:cNvPr id="17" name="Text 12"/>
          <p:cNvSpPr txBox="1"/>
          <p:nvPr/>
        </p:nvSpPr>
        <p:spPr>
          <a:xfrm>
            <a:off x="4846320" y="2057400"/>
            <a:ext cx="2103120" cy="219456"/>
          </a:xfrm>
          <a:prstGeom prst="rect">
            <a:avLst/>
          </a:prstGeom>
          <a:noFill/>
          <a:ln/>
        </p:spPr>
        <p:txBody>
          <a:bodyPr wrap="square" lIns="0" tIns="0" rIns="0" bIns="0" rtlCol="0" anchor="ctr"/>
          <a:lstStyle/>
          <a:p>
            <a:pPr indent="0" marL="0">
              <a:buNone/>
            </a:pPr>
            <a:r>
              <a:rPr lang="en-US" sz="1050" b="1" spc="200" kern="0" dirty="0">
                <a:solidFill>
                  <a:srgbClr val="2A8C96"/>
                </a:solidFill>
                <a:latin typeface="Calibri" pitchFamily="34" charset="0"/>
                <a:ea typeface="Calibri" pitchFamily="34" charset="-122"/>
                <a:cs typeface="Calibri" pitchFamily="34" charset="-120"/>
              </a:rPr>
              <a:t>GAP</a:t>
            </a:r>
            <a:endParaRPr lang="en-US" sz="1050" dirty="0"/>
          </a:p>
        </p:txBody>
      </p:sp>
      <p:sp>
        <p:nvSpPr>
          <p:cNvPr id="18" name="Text 13"/>
          <p:cNvSpPr txBox="1"/>
          <p:nvPr/>
        </p:nvSpPr>
        <p:spPr>
          <a:xfrm>
            <a:off x="7114032" y="2057400"/>
            <a:ext cx="1463040" cy="219456"/>
          </a:xfrm>
          <a:prstGeom prst="rect">
            <a:avLst/>
          </a:prstGeom>
          <a:noFill/>
          <a:ln/>
        </p:spPr>
        <p:txBody>
          <a:bodyPr wrap="square" lIns="0" tIns="0" rIns="0" bIns="0" rtlCol="0" anchor="ctr"/>
          <a:lstStyle/>
          <a:p>
            <a:pPr indent="0" marL="0">
              <a:buNone/>
            </a:pPr>
            <a:r>
              <a:rPr lang="en-US" sz="1050" b="1" spc="200" kern="0" dirty="0">
                <a:solidFill>
                  <a:srgbClr val="2A8C96"/>
                </a:solidFill>
                <a:latin typeface="Calibri" pitchFamily="34" charset="0"/>
                <a:ea typeface="Calibri" pitchFamily="34" charset="-122"/>
                <a:cs typeface="Calibri" pitchFamily="34" charset="-120"/>
              </a:rPr>
              <a:t>CAUSE</a:t>
            </a:r>
            <a:endParaRPr lang="en-US" sz="1050" dirty="0"/>
          </a:p>
        </p:txBody>
      </p:sp>
      <p:sp>
        <p:nvSpPr>
          <p:cNvPr id="19" name="Text 14"/>
          <p:cNvSpPr txBox="1"/>
          <p:nvPr/>
        </p:nvSpPr>
        <p:spPr>
          <a:xfrm>
            <a:off x="8778240" y="2057400"/>
            <a:ext cx="2743200" cy="219456"/>
          </a:xfrm>
          <a:prstGeom prst="rect">
            <a:avLst/>
          </a:prstGeom>
          <a:noFill/>
          <a:ln/>
        </p:spPr>
        <p:txBody>
          <a:bodyPr wrap="square" lIns="0" tIns="0" rIns="0" bIns="0" rtlCol="0" anchor="ctr"/>
          <a:lstStyle/>
          <a:p>
            <a:pPr indent="0" marL="0">
              <a:buNone/>
            </a:pPr>
            <a:r>
              <a:rPr lang="en-US" sz="1050" b="1" spc="200" kern="0" dirty="0">
                <a:solidFill>
                  <a:srgbClr val="2A8C96"/>
                </a:solidFill>
                <a:latin typeface="Calibri" pitchFamily="34" charset="0"/>
                <a:ea typeface="Calibri" pitchFamily="34" charset="-122"/>
                <a:cs typeface="Calibri" pitchFamily="34" charset="-120"/>
              </a:rPr>
              <a:t>IMPACT</a:t>
            </a:r>
            <a:endParaRPr lang="en-US" sz="1050" dirty="0"/>
          </a:p>
        </p:txBody>
      </p:sp>
      <p:sp>
        <p:nvSpPr>
          <p:cNvPr id="20" name="Shape 15"/>
          <p:cNvSpPr/>
          <p:nvPr/>
        </p:nvSpPr>
        <p:spPr>
          <a:xfrm>
            <a:off x="457200" y="2313432"/>
            <a:ext cx="11274552" cy="640080"/>
          </a:xfrm>
          <a:prstGeom prst="roundRect">
            <a:avLst>
              <a:gd name="adj" fmla="val 10000"/>
            </a:avLst>
          </a:prstGeom>
          <a:solidFill>
            <a:srgbClr val="F4F7FC"/>
          </a:solidFill>
          <a:ln w="9525">
            <a:solidFill>
              <a:srgbClr val="DCE3EE"/>
            </a:solidFill>
            <a:prstDash val="solid"/>
          </a:ln>
        </p:spPr>
      </p:sp>
      <p:sp>
        <p:nvSpPr>
          <p:cNvPr id="21" name="Shape 16"/>
          <p:cNvSpPr/>
          <p:nvPr/>
        </p:nvSpPr>
        <p:spPr>
          <a:xfrm>
            <a:off x="603504" y="2441448"/>
            <a:ext cx="384048" cy="384048"/>
          </a:xfrm>
          <a:prstGeom prst="ellipse">
            <a:avLst/>
          </a:prstGeom>
          <a:solidFill>
            <a:srgbClr val="1B2A4A"/>
          </a:solidFill>
          <a:ln/>
        </p:spPr>
      </p:sp>
      <p:pic>
        <p:nvPicPr>
          <p:cNvPr id="22" name="Image 3" descr="preencoded.png">    </p:cNvPr>
          <p:cNvPicPr>
            <a:picLocks noChangeAspect="1"/>
          </p:cNvPicPr>
          <p:nvPr/>
        </p:nvPicPr>
        <p:blipFill>
          <a:blip r:embed="rId4"/>
          <a:stretch>
            <a:fillRect/>
          </a:stretch>
        </p:blipFill>
        <p:spPr>
          <a:xfrm>
            <a:off x="704088" y="2542032"/>
            <a:ext cx="182880" cy="182880"/>
          </a:xfrm>
          <a:prstGeom prst="rect">
            <a:avLst/>
          </a:prstGeom>
        </p:spPr>
      </p:pic>
      <p:sp>
        <p:nvSpPr>
          <p:cNvPr id="23" name="Text 17"/>
          <p:cNvSpPr txBox="1"/>
          <p:nvPr/>
        </p:nvSpPr>
        <p:spPr>
          <a:xfrm>
            <a:off x="1097280" y="2313432"/>
            <a:ext cx="1371600" cy="640080"/>
          </a:xfrm>
          <a:prstGeom prst="rect">
            <a:avLst/>
          </a:prstGeom>
          <a:noFill/>
          <a:ln/>
        </p:spPr>
        <p:txBody>
          <a:bodyPr wrap="square" lIns="0" tIns="0" rIns="0" bIns="0" rtlCol="0" anchor="ctr"/>
          <a:lstStyle/>
          <a:p>
            <a:pPr indent="0" marL="0">
              <a:buNone/>
            </a:pPr>
            <a:r>
              <a:rPr lang="en-US" sz="1350" b="1" dirty="0">
                <a:solidFill>
                  <a:srgbClr val="1B2A4A"/>
                </a:solidFill>
                <a:latin typeface="Calibri" pitchFamily="34" charset="0"/>
                <a:ea typeface="Calibri" pitchFamily="34" charset="-122"/>
                <a:cs typeface="Calibri" pitchFamily="34" charset="-120"/>
              </a:rPr>
              <a:t>MOLIM</a:t>
            </a:r>
            <a:endParaRPr lang="en-US" sz="1350" dirty="0"/>
          </a:p>
        </p:txBody>
      </p:sp>
      <p:pic>
        <p:nvPicPr>
          <p:cNvPr id="24" name="Image 4" descr="preencoded.png">    </p:cNvPr>
          <p:cNvPicPr>
            <a:picLocks noChangeAspect="1"/>
          </p:cNvPicPr>
          <p:nvPr/>
        </p:nvPicPr>
        <p:blipFill>
          <a:blip r:embed="rId5"/>
          <a:stretch>
            <a:fillRect/>
          </a:stretch>
        </p:blipFill>
        <p:spPr>
          <a:xfrm>
            <a:off x="2606040" y="2546604"/>
            <a:ext cx="173736" cy="173736"/>
          </a:xfrm>
          <a:prstGeom prst="rect">
            <a:avLst/>
          </a:prstGeom>
        </p:spPr>
      </p:pic>
      <p:sp>
        <p:nvSpPr>
          <p:cNvPr id="25" name="Text 18"/>
          <p:cNvSpPr txBox="1"/>
          <p:nvPr/>
        </p:nvSpPr>
        <p:spPr>
          <a:xfrm>
            <a:off x="2852928" y="2313432"/>
            <a:ext cx="1828800" cy="64008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Limited logs such as IIS. Access authentication is covered by PAM.</a:t>
            </a:r>
            <a:endParaRPr lang="en-US" sz="1150" dirty="0"/>
          </a:p>
        </p:txBody>
      </p:sp>
      <p:pic>
        <p:nvPicPr>
          <p:cNvPr id="26" name="Image 5" descr="preencoded.png">    </p:cNvPr>
          <p:cNvPicPr>
            <a:picLocks noChangeAspect="1"/>
          </p:cNvPicPr>
          <p:nvPr/>
        </p:nvPicPr>
        <p:blipFill>
          <a:blip r:embed="rId6"/>
          <a:stretch>
            <a:fillRect/>
          </a:stretch>
        </p:blipFill>
        <p:spPr>
          <a:xfrm>
            <a:off x="4846320" y="2546604"/>
            <a:ext cx="173736" cy="173736"/>
          </a:xfrm>
          <a:prstGeom prst="rect">
            <a:avLst/>
          </a:prstGeom>
        </p:spPr>
      </p:pic>
      <p:sp>
        <p:nvSpPr>
          <p:cNvPr id="27" name="Text 19"/>
          <p:cNvSpPr txBox="1"/>
          <p:nvPr/>
        </p:nvSpPr>
        <p:spPr>
          <a:xfrm>
            <a:off x="5093208" y="2313432"/>
            <a:ext cx="1874520" cy="64008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No admin activity or audit trail logs are received in QRadar.</a:t>
            </a:r>
            <a:endParaRPr lang="en-US" sz="1150" dirty="0"/>
          </a:p>
        </p:txBody>
      </p:sp>
      <p:sp>
        <p:nvSpPr>
          <p:cNvPr id="28" name="Shape 20"/>
          <p:cNvSpPr/>
          <p:nvPr/>
        </p:nvSpPr>
        <p:spPr>
          <a:xfrm>
            <a:off x="7114032" y="2505456"/>
            <a:ext cx="1481328" cy="256032"/>
          </a:xfrm>
          <a:prstGeom prst="roundRect">
            <a:avLst>
              <a:gd name="adj" fmla="val 50000"/>
            </a:avLst>
          </a:prstGeom>
          <a:solidFill>
            <a:srgbClr val="FBE4DE"/>
          </a:solidFill>
          <a:ln/>
        </p:spPr>
      </p:sp>
      <p:sp>
        <p:nvSpPr>
          <p:cNvPr id="29" name="Text 21"/>
          <p:cNvSpPr txBox="1"/>
          <p:nvPr/>
        </p:nvSpPr>
        <p:spPr>
          <a:xfrm>
            <a:off x="7114032" y="2505456"/>
            <a:ext cx="1481328" cy="256032"/>
          </a:xfrm>
          <a:prstGeom prst="rect">
            <a:avLst/>
          </a:prstGeom>
          <a:noFill/>
          <a:ln/>
        </p:spPr>
        <p:txBody>
          <a:bodyPr wrap="square" lIns="0" tIns="0" rIns="0" bIns="0" rtlCol="0" anchor="ctr"/>
          <a:lstStyle/>
          <a:p>
            <a:pPr algn="ctr" indent="0" marL="0">
              <a:buNone/>
            </a:pPr>
            <a:r>
              <a:rPr lang="en-US" sz="1050" b="1" dirty="0">
                <a:solidFill>
                  <a:srgbClr val="C8452F"/>
                </a:solidFill>
                <a:latin typeface="Calibri" pitchFamily="34" charset="0"/>
                <a:ea typeface="Calibri" pitchFamily="34" charset="-122"/>
                <a:cs typeface="Calibri" pitchFamily="34" charset="-120"/>
              </a:rPr>
              <a:t>Application limitation</a:t>
            </a:r>
            <a:endParaRPr lang="en-US" sz="1050" dirty="0"/>
          </a:p>
        </p:txBody>
      </p:sp>
      <p:pic>
        <p:nvPicPr>
          <p:cNvPr id="30" name="Image 6" descr="preencoded.png">    </p:cNvPr>
          <p:cNvPicPr>
            <a:picLocks noChangeAspect="1"/>
          </p:cNvPicPr>
          <p:nvPr/>
        </p:nvPicPr>
        <p:blipFill>
          <a:blip r:embed="rId7"/>
          <a:stretch>
            <a:fillRect/>
          </a:stretch>
        </p:blipFill>
        <p:spPr>
          <a:xfrm>
            <a:off x="8778240" y="2546604"/>
            <a:ext cx="173736" cy="173736"/>
          </a:xfrm>
          <a:prstGeom prst="rect">
            <a:avLst/>
          </a:prstGeom>
        </p:spPr>
      </p:pic>
      <p:sp>
        <p:nvSpPr>
          <p:cNvPr id="31" name="Text 22"/>
          <p:cNvSpPr txBox="1"/>
          <p:nvPr/>
        </p:nvSpPr>
        <p:spPr>
          <a:xfrm>
            <a:off x="9025128" y="2313432"/>
            <a:ext cx="2560320" cy="64008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Admin actions and unauthorized changes inside the application cannot be detected or investigated.</a:t>
            </a:r>
            <a:endParaRPr lang="en-US" sz="1150" dirty="0"/>
          </a:p>
        </p:txBody>
      </p:sp>
      <p:sp>
        <p:nvSpPr>
          <p:cNvPr id="32" name="Shape 23"/>
          <p:cNvSpPr/>
          <p:nvPr/>
        </p:nvSpPr>
        <p:spPr>
          <a:xfrm>
            <a:off x="457200" y="3008376"/>
            <a:ext cx="11274552" cy="640080"/>
          </a:xfrm>
          <a:prstGeom prst="roundRect">
            <a:avLst>
              <a:gd name="adj" fmla="val 10000"/>
            </a:avLst>
          </a:prstGeom>
          <a:solidFill>
            <a:srgbClr val="F4F7FC"/>
          </a:solidFill>
          <a:ln w="9525">
            <a:solidFill>
              <a:srgbClr val="DCE3EE"/>
            </a:solidFill>
            <a:prstDash val="solid"/>
          </a:ln>
        </p:spPr>
      </p:sp>
      <p:sp>
        <p:nvSpPr>
          <p:cNvPr id="33" name="Shape 24"/>
          <p:cNvSpPr/>
          <p:nvPr/>
        </p:nvSpPr>
        <p:spPr>
          <a:xfrm>
            <a:off x="603504" y="3136392"/>
            <a:ext cx="384048" cy="384048"/>
          </a:xfrm>
          <a:prstGeom prst="ellipse">
            <a:avLst/>
          </a:prstGeom>
          <a:solidFill>
            <a:srgbClr val="1B2A4A"/>
          </a:solidFill>
          <a:ln/>
        </p:spPr>
      </p:sp>
      <p:pic>
        <p:nvPicPr>
          <p:cNvPr id="34" name="Image 7" descr="preencoded.png">    </p:cNvPr>
          <p:cNvPicPr>
            <a:picLocks noChangeAspect="1"/>
          </p:cNvPicPr>
          <p:nvPr/>
        </p:nvPicPr>
        <p:blipFill>
          <a:blip r:embed="rId8"/>
          <a:stretch>
            <a:fillRect/>
          </a:stretch>
        </p:blipFill>
        <p:spPr>
          <a:xfrm>
            <a:off x="704088" y="3236976"/>
            <a:ext cx="182880" cy="182880"/>
          </a:xfrm>
          <a:prstGeom prst="rect">
            <a:avLst/>
          </a:prstGeom>
        </p:spPr>
      </p:pic>
      <p:sp>
        <p:nvSpPr>
          <p:cNvPr id="35" name="Text 25"/>
          <p:cNvSpPr txBox="1"/>
          <p:nvPr/>
        </p:nvSpPr>
        <p:spPr>
          <a:xfrm>
            <a:off x="1097280" y="3008376"/>
            <a:ext cx="1371600" cy="640080"/>
          </a:xfrm>
          <a:prstGeom prst="rect">
            <a:avLst/>
          </a:prstGeom>
          <a:noFill/>
          <a:ln/>
        </p:spPr>
        <p:txBody>
          <a:bodyPr wrap="square" lIns="0" tIns="0" rIns="0" bIns="0" rtlCol="0" anchor="ctr"/>
          <a:lstStyle/>
          <a:p>
            <a:pPr indent="0" marL="0">
              <a:buNone/>
            </a:pPr>
            <a:r>
              <a:rPr lang="en-US" sz="1350" b="1" dirty="0">
                <a:solidFill>
                  <a:srgbClr val="1B2A4A"/>
                </a:solidFill>
                <a:latin typeface="Calibri" pitchFamily="34" charset="0"/>
                <a:ea typeface="Calibri" pitchFamily="34" charset="-122"/>
                <a:cs typeface="Calibri" pitchFamily="34" charset="-120"/>
              </a:rPr>
              <a:t>SIMAH PRO</a:t>
            </a:r>
            <a:endParaRPr lang="en-US" sz="1350" dirty="0"/>
          </a:p>
        </p:txBody>
      </p:sp>
      <p:pic>
        <p:nvPicPr>
          <p:cNvPr id="36" name="Image 8" descr="preencoded.png">    </p:cNvPr>
          <p:cNvPicPr>
            <a:picLocks noChangeAspect="1"/>
          </p:cNvPicPr>
          <p:nvPr/>
        </p:nvPicPr>
        <p:blipFill>
          <a:blip r:embed="rId9"/>
          <a:stretch>
            <a:fillRect/>
          </a:stretch>
        </p:blipFill>
        <p:spPr>
          <a:xfrm>
            <a:off x="2606040" y="3241548"/>
            <a:ext cx="173736" cy="173736"/>
          </a:xfrm>
          <a:prstGeom prst="rect">
            <a:avLst/>
          </a:prstGeom>
        </p:spPr>
      </p:pic>
      <p:sp>
        <p:nvSpPr>
          <p:cNvPr id="37" name="Text 26"/>
          <p:cNvSpPr txBox="1"/>
          <p:nvPr/>
        </p:nvSpPr>
        <p:spPr>
          <a:xfrm>
            <a:off x="2852928" y="3008376"/>
            <a:ext cx="1828800" cy="64008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Limited logs such as IIS. Access authentication is covered by PAM.</a:t>
            </a:r>
            <a:endParaRPr lang="en-US" sz="1150" dirty="0"/>
          </a:p>
        </p:txBody>
      </p:sp>
      <p:pic>
        <p:nvPicPr>
          <p:cNvPr id="38" name="Image 9" descr="preencoded.png">    </p:cNvPr>
          <p:cNvPicPr>
            <a:picLocks noChangeAspect="1"/>
          </p:cNvPicPr>
          <p:nvPr/>
        </p:nvPicPr>
        <p:blipFill>
          <a:blip r:embed="rId10"/>
          <a:stretch>
            <a:fillRect/>
          </a:stretch>
        </p:blipFill>
        <p:spPr>
          <a:xfrm>
            <a:off x="4846320" y="3241548"/>
            <a:ext cx="173736" cy="173736"/>
          </a:xfrm>
          <a:prstGeom prst="rect">
            <a:avLst/>
          </a:prstGeom>
        </p:spPr>
      </p:pic>
      <p:sp>
        <p:nvSpPr>
          <p:cNvPr id="39" name="Text 27"/>
          <p:cNvSpPr txBox="1"/>
          <p:nvPr/>
        </p:nvSpPr>
        <p:spPr>
          <a:xfrm>
            <a:off x="5093208" y="3008376"/>
            <a:ext cx="1874520" cy="64008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No admin activity or audit trail logs are received in QRadar.</a:t>
            </a:r>
            <a:endParaRPr lang="en-US" sz="1150" dirty="0"/>
          </a:p>
        </p:txBody>
      </p:sp>
      <p:sp>
        <p:nvSpPr>
          <p:cNvPr id="40" name="Shape 28"/>
          <p:cNvSpPr/>
          <p:nvPr/>
        </p:nvSpPr>
        <p:spPr>
          <a:xfrm>
            <a:off x="7114032" y="3200400"/>
            <a:ext cx="1481328" cy="256032"/>
          </a:xfrm>
          <a:prstGeom prst="roundRect">
            <a:avLst>
              <a:gd name="adj" fmla="val 50000"/>
            </a:avLst>
          </a:prstGeom>
          <a:solidFill>
            <a:srgbClr val="FBE4DE"/>
          </a:solidFill>
          <a:ln/>
        </p:spPr>
      </p:sp>
      <p:sp>
        <p:nvSpPr>
          <p:cNvPr id="41" name="Text 29"/>
          <p:cNvSpPr txBox="1"/>
          <p:nvPr/>
        </p:nvSpPr>
        <p:spPr>
          <a:xfrm>
            <a:off x="7114032" y="3200400"/>
            <a:ext cx="1481328" cy="256032"/>
          </a:xfrm>
          <a:prstGeom prst="rect">
            <a:avLst/>
          </a:prstGeom>
          <a:noFill/>
          <a:ln/>
        </p:spPr>
        <p:txBody>
          <a:bodyPr wrap="square" lIns="0" tIns="0" rIns="0" bIns="0" rtlCol="0" anchor="ctr"/>
          <a:lstStyle/>
          <a:p>
            <a:pPr algn="ctr" indent="0" marL="0">
              <a:buNone/>
            </a:pPr>
            <a:r>
              <a:rPr lang="en-US" sz="1050" b="1" dirty="0">
                <a:solidFill>
                  <a:srgbClr val="C8452F"/>
                </a:solidFill>
                <a:latin typeface="Calibri" pitchFamily="34" charset="0"/>
                <a:ea typeface="Calibri" pitchFamily="34" charset="-122"/>
                <a:cs typeface="Calibri" pitchFamily="34" charset="-120"/>
              </a:rPr>
              <a:t>Application limitation</a:t>
            </a:r>
            <a:endParaRPr lang="en-US" sz="1050" dirty="0"/>
          </a:p>
        </p:txBody>
      </p:sp>
      <p:pic>
        <p:nvPicPr>
          <p:cNvPr id="42" name="Image 10" descr="preencoded.png">    </p:cNvPr>
          <p:cNvPicPr>
            <a:picLocks noChangeAspect="1"/>
          </p:cNvPicPr>
          <p:nvPr/>
        </p:nvPicPr>
        <p:blipFill>
          <a:blip r:embed="rId11"/>
          <a:stretch>
            <a:fillRect/>
          </a:stretch>
        </p:blipFill>
        <p:spPr>
          <a:xfrm>
            <a:off x="8778240" y="3241548"/>
            <a:ext cx="173736" cy="173736"/>
          </a:xfrm>
          <a:prstGeom prst="rect">
            <a:avLst/>
          </a:prstGeom>
        </p:spPr>
      </p:pic>
      <p:sp>
        <p:nvSpPr>
          <p:cNvPr id="43" name="Text 30"/>
          <p:cNvSpPr txBox="1"/>
          <p:nvPr/>
        </p:nvSpPr>
        <p:spPr>
          <a:xfrm>
            <a:off x="9025128" y="3008376"/>
            <a:ext cx="2560320" cy="64008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Admin actions and unauthorized changes inside the application cannot be detected or investigated.</a:t>
            </a:r>
            <a:endParaRPr lang="en-US" sz="1150" dirty="0"/>
          </a:p>
        </p:txBody>
      </p:sp>
      <p:sp>
        <p:nvSpPr>
          <p:cNvPr id="44" name="Shape 31"/>
          <p:cNvSpPr/>
          <p:nvPr/>
        </p:nvSpPr>
        <p:spPr>
          <a:xfrm>
            <a:off x="457200" y="3703320"/>
            <a:ext cx="11274552" cy="640080"/>
          </a:xfrm>
          <a:prstGeom prst="roundRect">
            <a:avLst>
              <a:gd name="adj" fmla="val 10000"/>
            </a:avLst>
          </a:prstGeom>
          <a:solidFill>
            <a:srgbClr val="F4F7FC"/>
          </a:solidFill>
          <a:ln w="9525">
            <a:solidFill>
              <a:srgbClr val="DCE3EE"/>
            </a:solidFill>
            <a:prstDash val="solid"/>
          </a:ln>
        </p:spPr>
      </p:sp>
      <p:sp>
        <p:nvSpPr>
          <p:cNvPr id="45" name="Shape 32"/>
          <p:cNvSpPr/>
          <p:nvPr/>
        </p:nvSpPr>
        <p:spPr>
          <a:xfrm>
            <a:off x="603504" y="3831336"/>
            <a:ext cx="384048" cy="384048"/>
          </a:xfrm>
          <a:prstGeom prst="ellipse">
            <a:avLst/>
          </a:prstGeom>
          <a:solidFill>
            <a:srgbClr val="1B2A4A"/>
          </a:solidFill>
          <a:ln/>
        </p:spPr>
      </p:sp>
      <p:pic>
        <p:nvPicPr>
          <p:cNvPr id="46" name="Image 11" descr="preencoded.png">    </p:cNvPr>
          <p:cNvPicPr>
            <a:picLocks noChangeAspect="1"/>
          </p:cNvPicPr>
          <p:nvPr/>
        </p:nvPicPr>
        <p:blipFill>
          <a:blip r:embed="rId12"/>
          <a:stretch>
            <a:fillRect/>
          </a:stretch>
        </p:blipFill>
        <p:spPr>
          <a:xfrm>
            <a:off x="704088" y="3931920"/>
            <a:ext cx="182880" cy="182880"/>
          </a:xfrm>
          <a:prstGeom prst="rect">
            <a:avLst/>
          </a:prstGeom>
        </p:spPr>
      </p:pic>
      <p:sp>
        <p:nvSpPr>
          <p:cNvPr id="47" name="Text 33"/>
          <p:cNvSpPr txBox="1"/>
          <p:nvPr/>
        </p:nvSpPr>
        <p:spPr>
          <a:xfrm>
            <a:off x="1097280" y="3703320"/>
            <a:ext cx="1371600" cy="640080"/>
          </a:xfrm>
          <a:prstGeom prst="rect">
            <a:avLst/>
          </a:prstGeom>
          <a:noFill/>
          <a:ln/>
        </p:spPr>
        <p:txBody>
          <a:bodyPr wrap="square" lIns="0" tIns="0" rIns="0" bIns="0" rtlCol="0" anchor="ctr"/>
          <a:lstStyle/>
          <a:p>
            <a:pPr indent="0" marL="0">
              <a:buNone/>
            </a:pPr>
            <a:r>
              <a:rPr lang="en-US" sz="1350" b="1" dirty="0">
                <a:solidFill>
                  <a:srgbClr val="1B2A4A"/>
                </a:solidFill>
                <a:latin typeface="Calibri" pitchFamily="34" charset="0"/>
                <a:ea typeface="Calibri" pitchFamily="34" charset="-122"/>
                <a:cs typeface="Calibri" pitchFamily="34" charset="-120"/>
              </a:rPr>
              <a:t>Informatica MFT</a:t>
            </a:r>
            <a:endParaRPr lang="en-US" sz="1350" dirty="0"/>
          </a:p>
        </p:txBody>
      </p:sp>
      <p:pic>
        <p:nvPicPr>
          <p:cNvPr id="48" name="Image 12" descr="preencoded.png">    </p:cNvPr>
          <p:cNvPicPr>
            <a:picLocks noChangeAspect="1"/>
          </p:cNvPicPr>
          <p:nvPr/>
        </p:nvPicPr>
        <p:blipFill>
          <a:blip r:embed="rId13"/>
          <a:stretch>
            <a:fillRect/>
          </a:stretch>
        </p:blipFill>
        <p:spPr>
          <a:xfrm>
            <a:off x="2606040" y="3936492"/>
            <a:ext cx="173736" cy="173736"/>
          </a:xfrm>
          <a:prstGeom prst="rect">
            <a:avLst/>
          </a:prstGeom>
        </p:spPr>
      </p:pic>
      <p:sp>
        <p:nvSpPr>
          <p:cNvPr id="49" name="Text 34"/>
          <p:cNvSpPr txBox="1"/>
          <p:nvPr/>
        </p:nvSpPr>
        <p:spPr>
          <a:xfrm>
            <a:off x="2852928" y="3703320"/>
            <a:ext cx="1828800" cy="64008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Integrated with QRadar.</a:t>
            </a:r>
            <a:endParaRPr lang="en-US" sz="1150" dirty="0"/>
          </a:p>
        </p:txBody>
      </p:sp>
      <p:pic>
        <p:nvPicPr>
          <p:cNvPr id="50" name="Image 13" descr="preencoded.png">    </p:cNvPr>
          <p:cNvPicPr>
            <a:picLocks noChangeAspect="1"/>
          </p:cNvPicPr>
          <p:nvPr/>
        </p:nvPicPr>
        <p:blipFill>
          <a:blip r:embed="rId14"/>
          <a:stretch>
            <a:fillRect/>
          </a:stretch>
        </p:blipFill>
        <p:spPr>
          <a:xfrm>
            <a:off x="4846320" y="3936492"/>
            <a:ext cx="173736" cy="173736"/>
          </a:xfrm>
          <a:prstGeom prst="rect">
            <a:avLst/>
          </a:prstGeom>
        </p:spPr>
      </p:pic>
      <p:sp>
        <p:nvSpPr>
          <p:cNvPr id="51" name="Text 35"/>
          <p:cNvSpPr txBox="1"/>
          <p:nvPr/>
        </p:nvSpPr>
        <p:spPr>
          <a:xfrm>
            <a:off x="5093208" y="3703320"/>
            <a:ext cx="1874520" cy="64008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MFT key deletion activities are not logged in the audit trail.</a:t>
            </a:r>
            <a:endParaRPr lang="en-US" sz="1150" dirty="0"/>
          </a:p>
        </p:txBody>
      </p:sp>
      <p:sp>
        <p:nvSpPr>
          <p:cNvPr id="52" name="Shape 36"/>
          <p:cNvSpPr/>
          <p:nvPr/>
        </p:nvSpPr>
        <p:spPr>
          <a:xfrm>
            <a:off x="7114032" y="3895344"/>
            <a:ext cx="1481328" cy="256032"/>
          </a:xfrm>
          <a:prstGeom prst="roundRect">
            <a:avLst>
              <a:gd name="adj" fmla="val 50000"/>
            </a:avLst>
          </a:prstGeom>
          <a:solidFill>
            <a:srgbClr val="FBE4DE"/>
          </a:solidFill>
          <a:ln/>
        </p:spPr>
      </p:sp>
      <p:sp>
        <p:nvSpPr>
          <p:cNvPr id="53" name="Text 37"/>
          <p:cNvSpPr txBox="1"/>
          <p:nvPr/>
        </p:nvSpPr>
        <p:spPr>
          <a:xfrm>
            <a:off x="7114032" y="3895344"/>
            <a:ext cx="1481328" cy="256032"/>
          </a:xfrm>
          <a:prstGeom prst="rect">
            <a:avLst/>
          </a:prstGeom>
          <a:noFill/>
          <a:ln/>
        </p:spPr>
        <p:txBody>
          <a:bodyPr wrap="square" lIns="0" tIns="0" rIns="0" bIns="0" rtlCol="0" anchor="ctr"/>
          <a:lstStyle/>
          <a:p>
            <a:pPr algn="ctr" indent="0" marL="0">
              <a:buNone/>
            </a:pPr>
            <a:r>
              <a:rPr lang="en-US" sz="1050" b="1" dirty="0">
                <a:solidFill>
                  <a:srgbClr val="C8452F"/>
                </a:solidFill>
                <a:latin typeface="Calibri" pitchFamily="34" charset="0"/>
                <a:ea typeface="Calibri" pitchFamily="34" charset="-122"/>
                <a:cs typeface="Calibri" pitchFamily="34" charset="-120"/>
              </a:rPr>
              <a:t>Application limitation</a:t>
            </a:r>
            <a:endParaRPr lang="en-US" sz="1050" dirty="0"/>
          </a:p>
        </p:txBody>
      </p:sp>
      <p:pic>
        <p:nvPicPr>
          <p:cNvPr id="54" name="Image 14" descr="preencoded.png">    </p:cNvPr>
          <p:cNvPicPr>
            <a:picLocks noChangeAspect="1"/>
          </p:cNvPicPr>
          <p:nvPr/>
        </p:nvPicPr>
        <p:blipFill>
          <a:blip r:embed="rId15"/>
          <a:stretch>
            <a:fillRect/>
          </a:stretch>
        </p:blipFill>
        <p:spPr>
          <a:xfrm>
            <a:off x="8778240" y="3936492"/>
            <a:ext cx="173736" cy="173736"/>
          </a:xfrm>
          <a:prstGeom prst="rect">
            <a:avLst/>
          </a:prstGeom>
        </p:spPr>
      </p:pic>
      <p:sp>
        <p:nvSpPr>
          <p:cNvPr id="55" name="Text 38"/>
          <p:cNvSpPr txBox="1"/>
          <p:nvPr/>
        </p:nvSpPr>
        <p:spPr>
          <a:xfrm>
            <a:off x="9025128" y="3703320"/>
            <a:ext cx="2560320" cy="64008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A key deletion cannot be detected or traced to the person who did it.</a:t>
            </a:r>
            <a:endParaRPr lang="en-US" sz="1150" dirty="0"/>
          </a:p>
        </p:txBody>
      </p:sp>
      <p:sp>
        <p:nvSpPr>
          <p:cNvPr id="56" name="Shape 39"/>
          <p:cNvSpPr/>
          <p:nvPr/>
        </p:nvSpPr>
        <p:spPr>
          <a:xfrm>
            <a:off x="457200" y="4398264"/>
            <a:ext cx="11274552" cy="640080"/>
          </a:xfrm>
          <a:prstGeom prst="roundRect">
            <a:avLst>
              <a:gd name="adj" fmla="val 10000"/>
            </a:avLst>
          </a:prstGeom>
          <a:solidFill>
            <a:srgbClr val="F4F7FC"/>
          </a:solidFill>
          <a:ln w="9525">
            <a:solidFill>
              <a:srgbClr val="DCE3EE"/>
            </a:solidFill>
            <a:prstDash val="solid"/>
          </a:ln>
        </p:spPr>
      </p:sp>
      <p:sp>
        <p:nvSpPr>
          <p:cNvPr id="57" name="Shape 40"/>
          <p:cNvSpPr/>
          <p:nvPr/>
        </p:nvSpPr>
        <p:spPr>
          <a:xfrm>
            <a:off x="603504" y="4526280"/>
            <a:ext cx="384048" cy="384048"/>
          </a:xfrm>
          <a:prstGeom prst="ellipse">
            <a:avLst/>
          </a:prstGeom>
          <a:solidFill>
            <a:srgbClr val="1B2A4A"/>
          </a:solidFill>
          <a:ln/>
        </p:spPr>
      </p:sp>
      <p:pic>
        <p:nvPicPr>
          <p:cNvPr id="58" name="Image 15" descr="preencoded.png">    </p:cNvPr>
          <p:cNvPicPr>
            <a:picLocks noChangeAspect="1"/>
          </p:cNvPicPr>
          <p:nvPr/>
        </p:nvPicPr>
        <p:blipFill>
          <a:blip r:embed="rId16"/>
          <a:stretch>
            <a:fillRect/>
          </a:stretch>
        </p:blipFill>
        <p:spPr>
          <a:xfrm>
            <a:off x="704088" y="4626864"/>
            <a:ext cx="182880" cy="182880"/>
          </a:xfrm>
          <a:prstGeom prst="rect">
            <a:avLst/>
          </a:prstGeom>
        </p:spPr>
      </p:pic>
      <p:sp>
        <p:nvSpPr>
          <p:cNvPr id="59" name="Text 41"/>
          <p:cNvSpPr txBox="1"/>
          <p:nvPr/>
        </p:nvSpPr>
        <p:spPr>
          <a:xfrm>
            <a:off x="1097280" y="4398264"/>
            <a:ext cx="1371600" cy="640080"/>
          </a:xfrm>
          <a:prstGeom prst="rect">
            <a:avLst/>
          </a:prstGeom>
          <a:noFill/>
          <a:ln/>
        </p:spPr>
        <p:txBody>
          <a:bodyPr wrap="square" lIns="0" tIns="0" rIns="0" bIns="0" rtlCol="0" anchor="ctr"/>
          <a:lstStyle/>
          <a:p>
            <a:pPr indent="0" marL="0">
              <a:buNone/>
            </a:pPr>
            <a:r>
              <a:rPr lang="en-US" sz="1350" b="1" dirty="0">
                <a:solidFill>
                  <a:srgbClr val="1B2A4A"/>
                </a:solidFill>
                <a:latin typeface="Calibri" pitchFamily="34" charset="0"/>
                <a:ea typeface="Calibri" pitchFamily="34" charset="-122"/>
                <a:cs typeface="Calibri" pitchFamily="34" charset="-120"/>
              </a:rPr>
              <a:t>IBM AS400 Equifax</a:t>
            </a:r>
            <a:endParaRPr lang="en-US" sz="1350" dirty="0"/>
          </a:p>
        </p:txBody>
      </p:sp>
      <p:pic>
        <p:nvPicPr>
          <p:cNvPr id="60" name="Image 16" descr="preencoded.png">    </p:cNvPr>
          <p:cNvPicPr>
            <a:picLocks noChangeAspect="1"/>
          </p:cNvPicPr>
          <p:nvPr/>
        </p:nvPicPr>
        <p:blipFill>
          <a:blip r:embed="rId17"/>
          <a:stretch>
            <a:fillRect/>
          </a:stretch>
        </p:blipFill>
        <p:spPr>
          <a:xfrm>
            <a:off x="2606040" y="4631436"/>
            <a:ext cx="173736" cy="173736"/>
          </a:xfrm>
          <a:prstGeom prst="rect">
            <a:avLst/>
          </a:prstGeom>
        </p:spPr>
      </p:pic>
      <p:sp>
        <p:nvSpPr>
          <p:cNvPr id="61" name="Text 42"/>
          <p:cNvSpPr txBox="1"/>
          <p:nvPr/>
        </p:nvSpPr>
        <p:spPr>
          <a:xfrm>
            <a:off x="2852928" y="4398264"/>
            <a:ext cx="1828800" cy="64008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Only 1 of 5 servers is reporting, possibly a licence issue.</a:t>
            </a:r>
            <a:endParaRPr lang="en-US" sz="1150" dirty="0"/>
          </a:p>
        </p:txBody>
      </p:sp>
      <p:pic>
        <p:nvPicPr>
          <p:cNvPr id="62" name="Image 17" descr="preencoded.png">    </p:cNvPr>
          <p:cNvPicPr>
            <a:picLocks noChangeAspect="1"/>
          </p:cNvPicPr>
          <p:nvPr/>
        </p:nvPicPr>
        <p:blipFill>
          <a:blip r:embed="rId18"/>
          <a:stretch>
            <a:fillRect/>
          </a:stretch>
        </p:blipFill>
        <p:spPr>
          <a:xfrm>
            <a:off x="4846320" y="4631436"/>
            <a:ext cx="173736" cy="173736"/>
          </a:xfrm>
          <a:prstGeom prst="rect">
            <a:avLst/>
          </a:prstGeom>
        </p:spPr>
      </p:pic>
      <p:sp>
        <p:nvSpPr>
          <p:cNvPr id="63" name="Text 43"/>
          <p:cNvSpPr txBox="1"/>
          <p:nvPr/>
        </p:nvSpPr>
        <p:spPr>
          <a:xfrm>
            <a:off x="5093208" y="4398264"/>
            <a:ext cx="1874520" cy="64008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Logs stopped reporting: once the log buffer is full, no new logs are sent to QRadar.</a:t>
            </a:r>
            <a:endParaRPr lang="en-US" sz="1150" dirty="0"/>
          </a:p>
        </p:txBody>
      </p:sp>
      <p:sp>
        <p:nvSpPr>
          <p:cNvPr id="64" name="Shape 44"/>
          <p:cNvSpPr/>
          <p:nvPr/>
        </p:nvSpPr>
        <p:spPr>
          <a:xfrm>
            <a:off x="7114032" y="4590288"/>
            <a:ext cx="1481328" cy="256032"/>
          </a:xfrm>
          <a:prstGeom prst="roundRect">
            <a:avLst>
              <a:gd name="adj" fmla="val 50000"/>
            </a:avLst>
          </a:prstGeom>
          <a:solidFill>
            <a:srgbClr val="E2EAF6"/>
          </a:solidFill>
          <a:ln/>
        </p:spPr>
      </p:sp>
      <p:sp>
        <p:nvSpPr>
          <p:cNvPr id="65" name="Text 45"/>
          <p:cNvSpPr txBox="1"/>
          <p:nvPr/>
        </p:nvSpPr>
        <p:spPr>
          <a:xfrm>
            <a:off x="7114032" y="4590288"/>
            <a:ext cx="1481328" cy="256032"/>
          </a:xfrm>
          <a:prstGeom prst="rect">
            <a:avLst/>
          </a:prstGeom>
          <a:noFill/>
          <a:ln/>
        </p:spPr>
        <p:txBody>
          <a:bodyPr wrap="square" lIns="0" tIns="0" rIns="0" bIns="0" rtlCol="0" anchor="ctr"/>
          <a:lstStyle/>
          <a:p>
            <a:pPr algn="ctr" indent="0" marL="0">
              <a:buNone/>
            </a:pPr>
            <a:r>
              <a:rPr lang="en-US" sz="1050" b="1" dirty="0">
                <a:solidFill>
                  <a:srgbClr val="1B2A4A"/>
                </a:solidFill>
                <a:latin typeface="Calibri" pitchFamily="34" charset="0"/>
                <a:ea typeface="Calibri" pitchFamily="34" charset="-122"/>
                <a:cs typeface="Calibri" pitchFamily="34" charset="-120"/>
              </a:rPr>
              <a:t>Operational issue</a:t>
            </a:r>
            <a:endParaRPr lang="en-US" sz="1050" dirty="0"/>
          </a:p>
        </p:txBody>
      </p:sp>
      <p:pic>
        <p:nvPicPr>
          <p:cNvPr id="66" name="Image 18" descr="preencoded.png">    </p:cNvPr>
          <p:cNvPicPr>
            <a:picLocks noChangeAspect="1"/>
          </p:cNvPicPr>
          <p:nvPr/>
        </p:nvPicPr>
        <p:blipFill>
          <a:blip r:embed="rId19"/>
          <a:stretch>
            <a:fillRect/>
          </a:stretch>
        </p:blipFill>
        <p:spPr>
          <a:xfrm>
            <a:off x="8778240" y="4631436"/>
            <a:ext cx="173736" cy="173736"/>
          </a:xfrm>
          <a:prstGeom prst="rect">
            <a:avLst/>
          </a:prstGeom>
        </p:spPr>
      </p:pic>
      <p:sp>
        <p:nvSpPr>
          <p:cNvPr id="67" name="Text 46"/>
          <p:cNvSpPr txBox="1"/>
          <p:nvPr/>
        </p:nvSpPr>
        <p:spPr>
          <a:xfrm>
            <a:off x="9025128" y="4398264"/>
            <a:ext cx="2560320" cy="64008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Little or no SOC visibility of AS400 activity. An incident there could go undetected.</a:t>
            </a:r>
            <a:endParaRPr lang="en-US" sz="1150" dirty="0"/>
          </a:p>
        </p:txBody>
      </p:sp>
      <p:sp>
        <p:nvSpPr>
          <p:cNvPr id="68" name="Shape 47"/>
          <p:cNvSpPr/>
          <p:nvPr/>
        </p:nvSpPr>
        <p:spPr>
          <a:xfrm>
            <a:off x="457200" y="5093208"/>
            <a:ext cx="11274552" cy="640080"/>
          </a:xfrm>
          <a:prstGeom prst="roundRect">
            <a:avLst>
              <a:gd name="adj" fmla="val 10000"/>
            </a:avLst>
          </a:prstGeom>
          <a:solidFill>
            <a:srgbClr val="F4F7FC"/>
          </a:solidFill>
          <a:ln w="9525">
            <a:solidFill>
              <a:srgbClr val="DCE3EE"/>
            </a:solidFill>
            <a:prstDash val="solid"/>
          </a:ln>
        </p:spPr>
      </p:sp>
      <p:sp>
        <p:nvSpPr>
          <p:cNvPr id="69" name="Shape 48"/>
          <p:cNvSpPr/>
          <p:nvPr/>
        </p:nvSpPr>
        <p:spPr>
          <a:xfrm>
            <a:off x="603504" y="5221224"/>
            <a:ext cx="384048" cy="384048"/>
          </a:xfrm>
          <a:prstGeom prst="ellipse">
            <a:avLst/>
          </a:prstGeom>
          <a:solidFill>
            <a:srgbClr val="2E8B57"/>
          </a:solidFill>
          <a:ln/>
        </p:spPr>
      </p:sp>
      <p:pic>
        <p:nvPicPr>
          <p:cNvPr id="70" name="Image 19" descr="preencoded.png">    </p:cNvPr>
          <p:cNvPicPr>
            <a:picLocks noChangeAspect="1"/>
          </p:cNvPicPr>
          <p:nvPr/>
        </p:nvPicPr>
        <p:blipFill>
          <a:blip r:embed="rId20"/>
          <a:stretch>
            <a:fillRect/>
          </a:stretch>
        </p:blipFill>
        <p:spPr>
          <a:xfrm>
            <a:off x="704088" y="5321808"/>
            <a:ext cx="182880" cy="182880"/>
          </a:xfrm>
          <a:prstGeom prst="rect">
            <a:avLst/>
          </a:prstGeom>
        </p:spPr>
      </p:pic>
      <p:sp>
        <p:nvSpPr>
          <p:cNvPr id="71" name="Text 49"/>
          <p:cNvSpPr txBox="1"/>
          <p:nvPr/>
        </p:nvSpPr>
        <p:spPr>
          <a:xfrm>
            <a:off x="1097280" y="5093208"/>
            <a:ext cx="1371600" cy="640080"/>
          </a:xfrm>
          <a:prstGeom prst="rect">
            <a:avLst/>
          </a:prstGeom>
          <a:noFill/>
          <a:ln/>
        </p:spPr>
        <p:txBody>
          <a:bodyPr wrap="square" lIns="0" tIns="0" rIns="0" bIns="0" rtlCol="0" anchor="ctr"/>
          <a:lstStyle/>
          <a:p>
            <a:pPr indent="0" marL="0">
              <a:buNone/>
            </a:pPr>
            <a:r>
              <a:rPr lang="en-US" sz="1350" b="1" dirty="0">
                <a:solidFill>
                  <a:srgbClr val="1B2A4A"/>
                </a:solidFill>
                <a:latin typeface="Calibri" pitchFamily="34" charset="0"/>
                <a:ea typeface="Calibri" pitchFamily="34" charset="-122"/>
                <a:cs typeface="Calibri" pitchFamily="34" charset="-120"/>
              </a:rPr>
              <a:t>CRM</a:t>
            </a:r>
            <a:endParaRPr lang="en-US" sz="1350" dirty="0"/>
          </a:p>
        </p:txBody>
      </p:sp>
      <p:pic>
        <p:nvPicPr>
          <p:cNvPr id="72" name="Image 20" descr="preencoded.png">    </p:cNvPr>
          <p:cNvPicPr>
            <a:picLocks noChangeAspect="1"/>
          </p:cNvPicPr>
          <p:nvPr/>
        </p:nvPicPr>
        <p:blipFill>
          <a:blip r:embed="rId21"/>
          <a:stretch>
            <a:fillRect/>
          </a:stretch>
        </p:blipFill>
        <p:spPr>
          <a:xfrm>
            <a:off x="2606040" y="5326380"/>
            <a:ext cx="173736" cy="173736"/>
          </a:xfrm>
          <a:prstGeom prst="rect">
            <a:avLst/>
          </a:prstGeom>
        </p:spPr>
      </p:pic>
      <p:sp>
        <p:nvSpPr>
          <p:cNvPr id="73" name="Text 50"/>
          <p:cNvSpPr txBox="1"/>
          <p:nvPr/>
        </p:nvSpPr>
        <p:spPr>
          <a:xfrm>
            <a:off x="2852928" y="5093208"/>
            <a:ext cx="1828800" cy="64008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Fully integrated with QRadar.</a:t>
            </a:r>
            <a:endParaRPr lang="en-US" sz="1150" dirty="0"/>
          </a:p>
        </p:txBody>
      </p:sp>
      <p:pic>
        <p:nvPicPr>
          <p:cNvPr id="74" name="Image 21" descr="preencoded.png">    </p:cNvPr>
          <p:cNvPicPr>
            <a:picLocks noChangeAspect="1"/>
          </p:cNvPicPr>
          <p:nvPr/>
        </p:nvPicPr>
        <p:blipFill>
          <a:blip r:embed="rId22"/>
          <a:stretch>
            <a:fillRect/>
          </a:stretch>
        </p:blipFill>
        <p:spPr>
          <a:xfrm>
            <a:off x="4846320" y="5326380"/>
            <a:ext cx="173736" cy="173736"/>
          </a:xfrm>
          <a:prstGeom prst="rect">
            <a:avLst/>
          </a:prstGeom>
        </p:spPr>
      </p:pic>
      <p:sp>
        <p:nvSpPr>
          <p:cNvPr id="75" name="Text 51"/>
          <p:cNvSpPr txBox="1"/>
          <p:nvPr/>
        </p:nvSpPr>
        <p:spPr>
          <a:xfrm>
            <a:off x="5093208" y="5093208"/>
            <a:ext cx="1874520" cy="64008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None.</a:t>
            </a:r>
            <a:endParaRPr lang="en-US" sz="1150" dirty="0"/>
          </a:p>
        </p:txBody>
      </p:sp>
      <p:sp>
        <p:nvSpPr>
          <p:cNvPr id="76" name="Shape 52"/>
          <p:cNvSpPr/>
          <p:nvPr/>
        </p:nvSpPr>
        <p:spPr>
          <a:xfrm>
            <a:off x="7114032" y="5285232"/>
            <a:ext cx="1481328" cy="256032"/>
          </a:xfrm>
          <a:prstGeom prst="roundRect">
            <a:avLst>
              <a:gd name="adj" fmla="val 50000"/>
            </a:avLst>
          </a:prstGeom>
          <a:solidFill>
            <a:srgbClr val="E6F4EA"/>
          </a:solidFill>
          <a:ln/>
        </p:spPr>
      </p:sp>
      <p:sp>
        <p:nvSpPr>
          <p:cNvPr id="77" name="Text 53"/>
          <p:cNvSpPr txBox="1"/>
          <p:nvPr/>
        </p:nvSpPr>
        <p:spPr>
          <a:xfrm>
            <a:off x="7114032" y="5285232"/>
            <a:ext cx="1481328" cy="256032"/>
          </a:xfrm>
          <a:prstGeom prst="rect">
            <a:avLst/>
          </a:prstGeom>
          <a:noFill/>
          <a:ln/>
        </p:spPr>
        <p:txBody>
          <a:bodyPr wrap="square" lIns="0" tIns="0" rIns="0" bIns="0" rtlCol="0" anchor="ctr"/>
          <a:lstStyle/>
          <a:p>
            <a:pPr algn="ctr" indent="0" marL="0">
              <a:buNone/>
            </a:pPr>
            <a:r>
              <a:rPr lang="en-US" sz="1050" b="1" dirty="0">
                <a:solidFill>
                  <a:srgbClr val="2E8B57"/>
                </a:solidFill>
                <a:latin typeface="Calibri" pitchFamily="34" charset="0"/>
                <a:ea typeface="Calibri" pitchFamily="34" charset="-122"/>
                <a:cs typeface="Calibri" pitchFamily="34" charset="-120"/>
              </a:rPr>
              <a:t>No gap</a:t>
            </a:r>
            <a:endParaRPr lang="en-US" sz="1050" dirty="0"/>
          </a:p>
        </p:txBody>
      </p:sp>
      <p:pic>
        <p:nvPicPr>
          <p:cNvPr id="78" name="Image 22" descr="preencoded.png">    </p:cNvPr>
          <p:cNvPicPr>
            <a:picLocks noChangeAspect="1"/>
          </p:cNvPicPr>
          <p:nvPr/>
        </p:nvPicPr>
        <p:blipFill>
          <a:blip r:embed="rId23"/>
          <a:stretch>
            <a:fillRect/>
          </a:stretch>
        </p:blipFill>
        <p:spPr>
          <a:xfrm>
            <a:off x="8778240" y="5326380"/>
            <a:ext cx="173736" cy="173736"/>
          </a:xfrm>
          <a:prstGeom prst="rect">
            <a:avLst/>
          </a:prstGeom>
        </p:spPr>
      </p:pic>
      <p:sp>
        <p:nvSpPr>
          <p:cNvPr id="79" name="Text 54"/>
          <p:cNvSpPr txBox="1"/>
          <p:nvPr/>
        </p:nvSpPr>
        <p:spPr>
          <a:xfrm>
            <a:off x="9025128" y="5093208"/>
            <a:ext cx="2560320" cy="640080"/>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None. Full SOC visibility.</a:t>
            </a:r>
            <a:endParaRPr lang="en-US" sz="1150" dirty="0"/>
          </a:p>
        </p:txBody>
      </p:sp>
      <p:sp>
        <p:nvSpPr>
          <p:cNvPr id="80" name="Shape 55"/>
          <p:cNvSpPr/>
          <p:nvPr/>
        </p:nvSpPr>
        <p:spPr>
          <a:xfrm>
            <a:off x="457200" y="5852160"/>
            <a:ext cx="11274552" cy="420624"/>
          </a:xfrm>
          <a:prstGeom prst="roundRect">
            <a:avLst>
              <a:gd name="adj" fmla="val 15217"/>
            </a:avLst>
          </a:prstGeom>
          <a:solidFill>
            <a:srgbClr val="1B2A4A"/>
          </a:solidFill>
          <a:ln/>
        </p:spPr>
      </p:sp>
      <p:sp>
        <p:nvSpPr>
          <p:cNvPr id="81" name="Shape 56"/>
          <p:cNvSpPr/>
          <p:nvPr/>
        </p:nvSpPr>
        <p:spPr>
          <a:xfrm>
            <a:off x="640080" y="5916168"/>
            <a:ext cx="292608" cy="292608"/>
          </a:xfrm>
          <a:prstGeom prst="ellipse">
            <a:avLst/>
          </a:prstGeom>
          <a:solidFill>
            <a:srgbClr val="2A8C96"/>
          </a:solidFill>
          <a:ln/>
        </p:spPr>
      </p:sp>
      <p:pic>
        <p:nvPicPr>
          <p:cNvPr id="82" name="Image 23" descr="preencoded.png">    </p:cNvPr>
          <p:cNvPicPr>
            <a:picLocks noChangeAspect="1"/>
          </p:cNvPicPr>
          <p:nvPr/>
        </p:nvPicPr>
        <p:blipFill>
          <a:blip r:embed="rId24"/>
          <a:stretch>
            <a:fillRect/>
          </a:stretch>
        </p:blipFill>
        <p:spPr>
          <a:xfrm>
            <a:off x="713232" y="5989320"/>
            <a:ext cx="146304" cy="146304"/>
          </a:xfrm>
          <a:prstGeom prst="rect">
            <a:avLst/>
          </a:prstGeom>
        </p:spPr>
      </p:pic>
      <p:sp>
        <p:nvSpPr>
          <p:cNvPr id="83" name="Text 57"/>
          <p:cNvSpPr txBox="1"/>
          <p:nvPr/>
        </p:nvSpPr>
        <p:spPr>
          <a:xfrm>
            <a:off x="1097280" y="5852160"/>
            <a:ext cx="10424160" cy="42062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Requirement:  </a:t>
            </a:r>
            <a:pPr indent="0" marL="0">
              <a:buNone/>
            </a:pPr>
            <a:r>
              <a:rPr lang="en-US" sz="1300" dirty="0">
                <a:solidFill>
                  <a:srgbClr val="CADCFC"/>
                </a:solidFill>
                <a:latin typeface="Calibri" pitchFamily="34" charset="0"/>
                <a:ea typeface="Calibri" pitchFamily="34" charset="-122"/>
                <a:cs typeface="Calibri" pitchFamily="34" charset="-120"/>
              </a:rPr>
              <a:t>the application itself must be able to send its audit and admin activity logs to the SIEM.</a:t>
            </a:r>
            <a:endParaRPr lang="en-US" sz="130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457200" y="310896"/>
            <a:ext cx="530352" cy="530352"/>
          </a:xfrm>
          <a:prstGeom prst="ellipse">
            <a:avLst/>
          </a:prstGeom>
          <a:solidFill>
            <a:srgbClr val="1B2A4A"/>
          </a:solidFill>
          <a:ln/>
        </p:spPr>
      </p:sp>
      <p:pic>
        <p:nvPicPr>
          <p:cNvPr id="3" name="Image 0" descr="preencoded.png">    </p:cNvPr>
          <p:cNvPicPr>
            <a:picLocks noChangeAspect="1"/>
          </p:cNvPicPr>
          <p:nvPr/>
        </p:nvPicPr>
        <p:blipFill>
          <a:blip r:embed="rId1"/>
          <a:stretch>
            <a:fillRect/>
          </a:stretch>
        </p:blipFill>
        <p:spPr>
          <a:xfrm>
            <a:off x="589788" y="443484"/>
            <a:ext cx="265176" cy="265176"/>
          </a:xfrm>
          <a:prstGeom prst="rect">
            <a:avLst/>
          </a:prstGeom>
        </p:spPr>
      </p:pic>
      <p:sp>
        <p:nvSpPr>
          <p:cNvPr id="4" name="Text 1"/>
          <p:cNvSpPr/>
          <p:nvPr>
            <p:ph idx="101" type="title" hasCustomPrompt="1"/>
          </p:nvPr>
        </p:nvSpPr>
        <p:spPr>
          <a:xfrm>
            <a:off x="1143000" y="274320"/>
            <a:ext cx="7223760" cy="603504"/>
          </a:xfrm>
          <a:prstGeom prst="rect">
            <a:avLst/>
          </a:prstGeom>
          <a:noFill/>
          <a:ln/>
        </p:spPr>
        <p:txBody>
          <a:bodyPr wrap="square" lIns="0" tIns="0" rIns="0" bIns="0" rtlCol="0" anchor="ctr"/>
          <a:lstStyle/>
          <a:p>
            <a:pPr algn="l" indent="0" marL="0">
              <a:buNone/>
            </a:pPr>
            <a:r>
              <a:rPr lang="en-US" sz="3000" b="1" dirty="0">
                <a:solidFill>
                  <a:srgbClr val="1B2A4A"/>
                </a:solidFill>
                <a:latin typeface="Calibri" pitchFamily="34" charset="0"/>
                <a:ea typeface="Calibri" pitchFamily="34" charset="-122"/>
                <a:cs typeface="Calibri" pitchFamily="34" charset="-120"/>
              </a:rPr>
              <a:t>Posture, Monitoring &amp; IR Readiness</a:t>
            </a:r>
            <a:endParaRPr lang="en-US" sz="3000" dirty="0"/>
          </a:p>
        </p:txBody>
      </p:sp>
      <p:sp>
        <p:nvSpPr>
          <p:cNvPr id="5" name="Text 2"/>
          <p:cNvSpPr txBox="1"/>
          <p:nvPr/>
        </p:nvSpPr>
        <p:spPr>
          <a:xfrm>
            <a:off x="8458200" y="384048"/>
            <a:ext cx="3273552" cy="384048"/>
          </a:xfrm>
          <a:prstGeom prst="rect">
            <a:avLst/>
          </a:prstGeom>
          <a:noFill/>
          <a:ln/>
        </p:spPr>
        <p:txBody>
          <a:bodyPr wrap="square" lIns="0" tIns="0" rIns="0" bIns="0" rtlCol="0" anchor="ctr"/>
          <a:lstStyle/>
          <a:p>
            <a:pPr algn="r" indent="0" marL="0">
              <a:buNone/>
            </a:pPr>
            <a:r>
              <a:rPr lang="en-US" sz="1200" dirty="0">
                <a:solidFill>
                  <a:srgbClr val="64748B"/>
                </a:solidFill>
                <a:latin typeface="Calibri" pitchFamily="34" charset="0"/>
                <a:ea typeface="Calibri" pitchFamily="34" charset="-122"/>
                <a:cs typeface="Calibri" pitchFamily="34" charset="-120"/>
              </a:rPr>
              <a:t>Cybersecurity Committee  |  SOC</a:t>
            </a:r>
            <a:endParaRPr lang="en-US" sz="1200" dirty="0"/>
          </a:p>
        </p:txBody>
      </p:sp>
      <p:sp>
        <p:nvSpPr>
          <p:cNvPr id="6" name="Text 3"/>
          <p:cNvSpPr txBox="1"/>
          <p:nvPr/>
        </p:nvSpPr>
        <p:spPr>
          <a:xfrm>
            <a:off x="457200" y="932688"/>
            <a:ext cx="11274552" cy="310896"/>
          </a:xfrm>
          <a:prstGeom prst="rect">
            <a:avLst/>
          </a:prstGeom>
          <a:noFill/>
          <a:ln/>
        </p:spPr>
        <p:txBody>
          <a:bodyPr wrap="square" lIns="0" tIns="0" rIns="0" bIns="0" rtlCol="0" anchor="ctr"/>
          <a:lstStyle/>
          <a:p>
            <a:pPr indent="0" marL="0">
              <a:buNone/>
            </a:pPr>
            <a:r>
              <a:rPr lang="en-US" sz="1500" dirty="0">
                <a:solidFill>
                  <a:srgbClr val="64748B"/>
                </a:solidFill>
                <a:latin typeface="Calibri" pitchFamily="34" charset="0"/>
                <a:ea typeface="Calibri" pitchFamily="34" charset="-122"/>
                <a:cs typeface="Calibri" pitchFamily="34" charset="-120"/>
              </a:rPr>
              <a:t>Where the SOC stands across the three areas the committee tracks</a:t>
            </a:r>
            <a:endParaRPr lang="en-US" sz="1500" dirty="0"/>
          </a:p>
        </p:txBody>
      </p:sp>
      <p:sp>
        <p:nvSpPr>
          <p:cNvPr id="7" name="Shape 4"/>
          <p:cNvSpPr/>
          <p:nvPr/>
        </p:nvSpPr>
        <p:spPr>
          <a:xfrm>
            <a:off x="457200" y="1371600"/>
            <a:ext cx="3636569" cy="4114800"/>
          </a:xfrm>
          <a:prstGeom prst="roundRect">
            <a:avLst>
              <a:gd name="adj" fmla="val 1760"/>
            </a:avLst>
          </a:prstGeom>
          <a:solidFill>
            <a:srgbClr val="F4F7FC"/>
          </a:solidFill>
          <a:ln w="9525">
            <a:solidFill>
              <a:srgbClr val="DCE3EE"/>
            </a:solidFill>
            <a:prstDash val="solid"/>
          </a:ln>
        </p:spPr>
      </p:sp>
      <p:sp>
        <p:nvSpPr>
          <p:cNvPr id="8" name="Shape 5"/>
          <p:cNvSpPr/>
          <p:nvPr/>
        </p:nvSpPr>
        <p:spPr>
          <a:xfrm>
            <a:off x="685800" y="1572768"/>
            <a:ext cx="475488" cy="475488"/>
          </a:xfrm>
          <a:prstGeom prst="ellipse">
            <a:avLst/>
          </a:prstGeom>
          <a:solidFill>
            <a:srgbClr val="1B2A4A"/>
          </a:solidFill>
          <a:ln/>
        </p:spPr>
      </p:sp>
      <p:pic>
        <p:nvPicPr>
          <p:cNvPr id="9" name="Image 1" descr="preencoded.png">    </p:cNvPr>
          <p:cNvPicPr>
            <a:picLocks noChangeAspect="1"/>
          </p:cNvPicPr>
          <p:nvPr/>
        </p:nvPicPr>
        <p:blipFill>
          <a:blip r:embed="rId2"/>
          <a:stretch>
            <a:fillRect/>
          </a:stretch>
        </p:blipFill>
        <p:spPr>
          <a:xfrm>
            <a:off x="804672" y="1691640"/>
            <a:ext cx="237744" cy="237744"/>
          </a:xfrm>
          <a:prstGeom prst="rect">
            <a:avLst/>
          </a:prstGeom>
        </p:spPr>
      </p:pic>
      <p:sp>
        <p:nvSpPr>
          <p:cNvPr id="10" name="Text 6"/>
          <p:cNvSpPr txBox="1"/>
          <p:nvPr/>
        </p:nvSpPr>
        <p:spPr>
          <a:xfrm>
            <a:off x="1280160" y="1554480"/>
            <a:ext cx="2630729" cy="274320"/>
          </a:xfrm>
          <a:prstGeom prst="rect">
            <a:avLst/>
          </a:prstGeom>
          <a:noFill/>
          <a:ln/>
        </p:spPr>
        <p:txBody>
          <a:bodyPr wrap="square" lIns="0" tIns="0" rIns="0" bIns="0"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Cybersecurity Posture</a:t>
            </a:r>
            <a:endParaRPr lang="en-US" sz="1500" dirty="0"/>
          </a:p>
        </p:txBody>
      </p:sp>
      <p:sp>
        <p:nvSpPr>
          <p:cNvPr id="11" name="Shape 7"/>
          <p:cNvSpPr/>
          <p:nvPr/>
        </p:nvSpPr>
        <p:spPr>
          <a:xfrm>
            <a:off x="1280160" y="1856232"/>
            <a:ext cx="658368" cy="219456"/>
          </a:xfrm>
          <a:prstGeom prst="roundRect">
            <a:avLst>
              <a:gd name="adj" fmla="val 50000"/>
            </a:avLst>
          </a:prstGeom>
          <a:solidFill>
            <a:srgbClr val="FBF1DD"/>
          </a:solidFill>
          <a:ln/>
        </p:spPr>
      </p:sp>
      <p:sp>
        <p:nvSpPr>
          <p:cNvPr id="12" name="Text 8"/>
          <p:cNvSpPr txBox="1"/>
          <p:nvPr/>
        </p:nvSpPr>
        <p:spPr>
          <a:xfrm>
            <a:off x="1280160" y="1856232"/>
            <a:ext cx="658368" cy="219456"/>
          </a:xfrm>
          <a:prstGeom prst="rect">
            <a:avLst/>
          </a:prstGeom>
          <a:noFill/>
          <a:ln/>
        </p:spPr>
        <p:txBody>
          <a:bodyPr wrap="square" lIns="0" tIns="0" rIns="0" bIns="0" rtlCol="0" anchor="ctr"/>
          <a:lstStyle/>
          <a:p>
            <a:pPr algn="ctr" indent="0" marL="0">
              <a:buNone/>
            </a:pPr>
            <a:r>
              <a:rPr lang="en-US" sz="1000" b="1" dirty="0">
                <a:solidFill>
                  <a:srgbClr val="B97A1F"/>
                </a:solidFill>
                <a:latin typeface="Calibri" pitchFamily="34" charset="0"/>
                <a:ea typeface="Calibri" pitchFamily="34" charset="-122"/>
                <a:cs typeface="Calibri" pitchFamily="34" charset="-120"/>
              </a:rPr>
              <a:t>Amber</a:t>
            </a:r>
            <a:endParaRPr lang="en-US" sz="1000" dirty="0"/>
          </a:p>
        </p:txBody>
      </p:sp>
      <p:sp>
        <p:nvSpPr>
          <p:cNvPr id="13" name="Text 9"/>
          <p:cNvSpPr txBox="1"/>
          <p:nvPr/>
        </p:nvSpPr>
        <p:spPr>
          <a:xfrm>
            <a:off x="2011680" y="1856232"/>
            <a:ext cx="1944929" cy="219456"/>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Coverage gaps</a:t>
            </a:r>
            <a:endParaRPr lang="en-US" sz="1050" dirty="0"/>
          </a:p>
        </p:txBody>
      </p:sp>
      <p:sp>
        <p:nvSpPr>
          <p:cNvPr id="14" name="Text 10"/>
          <p:cNvSpPr txBox="1"/>
          <p:nvPr/>
        </p:nvSpPr>
        <p:spPr>
          <a:xfrm>
            <a:off x="685800" y="2194560"/>
            <a:ext cx="3179369" cy="960120"/>
          </a:xfrm>
          <a:prstGeom prst="rect">
            <a:avLst/>
          </a:prstGeom>
          <a:noFill/>
          <a:ln/>
        </p:spPr>
        <p:txBody>
          <a:bodyPr wrap="square" lIns="0" tIns="0" rIns="0" bIns="0" rtlCol="0" anchor="t"/>
          <a:lstStyle/>
          <a:p>
            <a:pPr indent="0" marL="0">
              <a:spcAft>
                <a:spcPts val="200"/>
              </a:spcAft>
              <a:buNone/>
            </a:pPr>
            <a:r>
              <a:rPr lang="en-US" sz="2800" b="1" dirty="0">
                <a:solidFill>
                  <a:srgbClr val="1B2A4A"/>
                </a:solidFill>
                <a:latin typeface="Calibri" pitchFamily="34" charset="0"/>
                <a:ea typeface="Calibri" pitchFamily="34" charset="-122"/>
                <a:cs typeface="Calibri" pitchFamily="34" charset="-120"/>
              </a:rPr>
              <a:t>96%</a:t>
            </a:r>
            <a:endParaRPr lang="en-US" sz="2800" dirty="0"/>
          </a:p>
          <a:p>
            <a:pPr indent="0" marL="0">
              <a:spcAft>
                <a:spcPts val="200"/>
              </a:spcAft>
              <a:buNone/>
            </a:pPr>
            <a:r>
              <a:rPr lang="en-US" sz="1100" dirty="0">
                <a:solidFill>
                  <a:srgbClr val="64748B"/>
                </a:solidFill>
                <a:latin typeface="Calibri" pitchFamily="34" charset="0"/>
                <a:ea typeface="Calibri" pitchFamily="34" charset="-122"/>
                <a:cs typeface="Calibri" pitchFamily="34" charset="-120"/>
              </a:rPr>
              <a:t>of the estate onboarded to the SIEM across 3,258 log sources</a:t>
            </a:r>
            <a:endParaRPr lang="en-US" sz="2800" dirty="0"/>
          </a:p>
        </p:txBody>
      </p:sp>
      <p:sp>
        <p:nvSpPr>
          <p:cNvPr id="15" name="Shape 11"/>
          <p:cNvSpPr/>
          <p:nvPr/>
        </p:nvSpPr>
        <p:spPr>
          <a:xfrm>
            <a:off x="685800" y="3227832"/>
            <a:ext cx="3179369" cy="0"/>
          </a:xfrm>
          <a:prstGeom prst="line">
            <a:avLst/>
          </a:prstGeom>
          <a:noFill/>
          <a:ln w="9525">
            <a:solidFill>
              <a:srgbClr val="DCE3EE"/>
            </a:solidFill>
            <a:prstDash val="solid"/>
          </a:ln>
        </p:spPr>
      </p:sp>
      <p:pic>
        <p:nvPicPr>
          <p:cNvPr id="16" name="Image 2" descr="preencoded.png">    </p:cNvPr>
          <p:cNvPicPr>
            <a:picLocks noChangeAspect="1"/>
          </p:cNvPicPr>
          <p:nvPr/>
        </p:nvPicPr>
        <p:blipFill>
          <a:blip r:embed="rId3"/>
          <a:stretch>
            <a:fillRect/>
          </a:stretch>
        </p:blipFill>
        <p:spPr>
          <a:xfrm>
            <a:off x="685800" y="3374136"/>
            <a:ext cx="164592" cy="164592"/>
          </a:xfrm>
          <a:prstGeom prst="rect">
            <a:avLst/>
          </a:prstGeom>
        </p:spPr>
      </p:pic>
      <p:sp>
        <p:nvSpPr>
          <p:cNvPr id="17" name="Text 12"/>
          <p:cNvSpPr txBox="1"/>
          <p:nvPr/>
        </p:nvSpPr>
        <p:spPr>
          <a:xfrm>
            <a:off x="932688" y="3328416"/>
            <a:ext cx="2932481" cy="457200"/>
          </a:xfrm>
          <a:prstGeom prst="rect">
            <a:avLst/>
          </a:prstGeom>
          <a:noFill/>
          <a:ln/>
        </p:spPr>
        <p:txBody>
          <a:bodyPr wrap="square" lIns="0" tIns="0" rIns="0" bIns="0" rtlCol="0" anchor="t"/>
          <a:lstStyle/>
          <a:p>
            <a:pPr indent="0" marL="0">
              <a:buNone/>
            </a:pPr>
            <a:r>
              <a:rPr lang="en-US" sz="1150" dirty="0">
                <a:solidFill>
                  <a:srgbClr val="1E293B"/>
                </a:solidFill>
                <a:latin typeface="Calibri" pitchFamily="34" charset="0"/>
                <a:ea typeface="Calibri" pitchFamily="34" charset="-122"/>
                <a:cs typeface="Calibri" pitchFamily="34" charset="-120"/>
              </a:rPr>
              <a:t>Network, servers, VDI and secret databases at 100% SIEM coverage</a:t>
            </a:r>
            <a:endParaRPr lang="en-US" sz="1150" dirty="0"/>
          </a:p>
        </p:txBody>
      </p:sp>
      <p:pic>
        <p:nvPicPr>
          <p:cNvPr id="18" name="Image 3" descr="preencoded.png">    </p:cNvPr>
          <p:cNvPicPr>
            <a:picLocks noChangeAspect="1"/>
          </p:cNvPicPr>
          <p:nvPr/>
        </p:nvPicPr>
        <p:blipFill>
          <a:blip r:embed="rId4"/>
          <a:stretch>
            <a:fillRect/>
          </a:stretch>
        </p:blipFill>
        <p:spPr>
          <a:xfrm>
            <a:off x="685800" y="3922776"/>
            <a:ext cx="164592" cy="164592"/>
          </a:xfrm>
          <a:prstGeom prst="rect">
            <a:avLst/>
          </a:prstGeom>
        </p:spPr>
      </p:pic>
      <p:sp>
        <p:nvSpPr>
          <p:cNvPr id="19" name="Text 13"/>
          <p:cNvSpPr txBox="1"/>
          <p:nvPr/>
        </p:nvSpPr>
        <p:spPr>
          <a:xfrm>
            <a:off x="932688" y="3877056"/>
            <a:ext cx="2932481" cy="457200"/>
          </a:xfrm>
          <a:prstGeom prst="rect">
            <a:avLst/>
          </a:prstGeom>
          <a:noFill/>
          <a:ln/>
        </p:spPr>
        <p:txBody>
          <a:bodyPr wrap="square" lIns="0" tIns="0" rIns="0" bIns="0" rtlCol="0" anchor="t"/>
          <a:lstStyle/>
          <a:p>
            <a:pPr indent="0" marL="0">
              <a:buNone/>
            </a:pPr>
            <a:r>
              <a:rPr lang="en-US" sz="1150" dirty="0">
                <a:solidFill>
                  <a:srgbClr val="1E293B"/>
                </a:solidFill>
                <a:latin typeface="Calibri" pitchFamily="34" charset="0"/>
                <a:ea typeface="Calibri" pitchFamily="34" charset="-122"/>
                <a:cs typeface="Calibri" pitchFamily="34" charset="-120"/>
              </a:rPr>
              <a:t>Applications and databases at 80%, below the 90% target</a:t>
            </a:r>
            <a:endParaRPr lang="en-US" sz="1150" dirty="0"/>
          </a:p>
        </p:txBody>
      </p:sp>
      <p:pic>
        <p:nvPicPr>
          <p:cNvPr id="20" name="Image 4" descr="preencoded.png">    </p:cNvPr>
          <p:cNvPicPr>
            <a:picLocks noChangeAspect="1"/>
          </p:cNvPicPr>
          <p:nvPr/>
        </p:nvPicPr>
        <p:blipFill>
          <a:blip r:embed="rId5"/>
          <a:stretch>
            <a:fillRect/>
          </a:stretch>
        </p:blipFill>
        <p:spPr>
          <a:xfrm>
            <a:off x="685800" y="4471416"/>
            <a:ext cx="164592" cy="164592"/>
          </a:xfrm>
          <a:prstGeom prst="rect">
            <a:avLst/>
          </a:prstGeom>
        </p:spPr>
      </p:pic>
      <p:sp>
        <p:nvSpPr>
          <p:cNvPr id="21" name="Text 14"/>
          <p:cNvSpPr txBox="1"/>
          <p:nvPr/>
        </p:nvSpPr>
        <p:spPr>
          <a:xfrm>
            <a:off x="932688" y="4425696"/>
            <a:ext cx="2932481" cy="457200"/>
          </a:xfrm>
          <a:prstGeom prst="rect">
            <a:avLst/>
          </a:prstGeom>
          <a:noFill/>
          <a:ln/>
        </p:spPr>
        <p:txBody>
          <a:bodyPr wrap="square" lIns="0" tIns="0" rIns="0" bIns="0" rtlCol="0" anchor="t"/>
          <a:lstStyle/>
          <a:p>
            <a:pPr indent="0" marL="0">
              <a:buNone/>
            </a:pPr>
            <a:r>
              <a:rPr lang="en-US" sz="1150" dirty="0">
                <a:solidFill>
                  <a:srgbClr val="1E293B"/>
                </a:solidFill>
                <a:latin typeface="Calibri" pitchFamily="34" charset="0"/>
                <a:ea typeface="Calibri" pitchFamily="34" charset="-122"/>
                <a:cs typeface="Calibri" pitchFamily="34" charset="-120"/>
              </a:rPr>
              <a:t>4 of 5 key applications send no admin or audit trail logs to QRadar</a:t>
            </a:r>
            <a:endParaRPr lang="en-US" sz="1150" dirty="0"/>
          </a:p>
        </p:txBody>
      </p:sp>
      <p:pic>
        <p:nvPicPr>
          <p:cNvPr id="22" name="Image 5" descr="preencoded.png">    </p:cNvPr>
          <p:cNvPicPr>
            <a:picLocks noChangeAspect="1"/>
          </p:cNvPicPr>
          <p:nvPr/>
        </p:nvPicPr>
        <p:blipFill>
          <a:blip r:embed="rId6"/>
          <a:stretch>
            <a:fillRect/>
          </a:stretch>
        </p:blipFill>
        <p:spPr>
          <a:xfrm>
            <a:off x="685800" y="5020056"/>
            <a:ext cx="164592" cy="164592"/>
          </a:xfrm>
          <a:prstGeom prst="rect">
            <a:avLst/>
          </a:prstGeom>
        </p:spPr>
      </p:pic>
      <p:sp>
        <p:nvSpPr>
          <p:cNvPr id="23" name="Text 15"/>
          <p:cNvSpPr txBox="1"/>
          <p:nvPr/>
        </p:nvSpPr>
        <p:spPr>
          <a:xfrm>
            <a:off x="932688" y="4974336"/>
            <a:ext cx="2932481" cy="457200"/>
          </a:xfrm>
          <a:prstGeom prst="rect">
            <a:avLst/>
          </a:prstGeom>
          <a:noFill/>
          <a:ln/>
        </p:spPr>
        <p:txBody>
          <a:bodyPr wrap="square" lIns="0" tIns="0" rIns="0" bIns="0" rtlCol="0" anchor="t"/>
          <a:lstStyle/>
          <a:p>
            <a:pPr indent="0" marL="0">
              <a:buNone/>
            </a:pPr>
            <a:r>
              <a:rPr lang="en-US" sz="1150" dirty="0">
                <a:solidFill>
                  <a:srgbClr val="1E293B"/>
                </a:solidFill>
                <a:latin typeface="Calibri" pitchFamily="34" charset="0"/>
                <a:ea typeface="Calibri" pitchFamily="34" charset="-122"/>
                <a:cs typeface="Calibri" pitchFamily="34" charset="-120"/>
              </a:rPr>
              <a:t>DLP covers network, web and endpoint channels (Forcepoint), with events forwarded to QRadar</a:t>
            </a:r>
            <a:endParaRPr lang="en-US" sz="1150" dirty="0"/>
          </a:p>
        </p:txBody>
      </p:sp>
      <p:sp>
        <p:nvSpPr>
          <p:cNvPr id="24" name="Shape 16"/>
          <p:cNvSpPr/>
          <p:nvPr/>
        </p:nvSpPr>
        <p:spPr>
          <a:xfrm>
            <a:off x="4276649" y="1371600"/>
            <a:ext cx="3636569" cy="4114800"/>
          </a:xfrm>
          <a:prstGeom prst="roundRect">
            <a:avLst>
              <a:gd name="adj" fmla="val 1760"/>
            </a:avLst>
          </a:prstGeom>
          <a:solidFill>
            <a:srgbClr val="F4F7FC"/>
          </a:solidFill>
          <a:ln w="9525">
            <a:solidFill>
              <a:srgbClr val="DCE3EE"/>
            </a:solidFill>
            <a:prstDash val="solid"/>
          </a:ln>
        </p:spPr>
      </p:sp>
      <p:sp>
        <p:nvSpPr>
          <p:cNvPr id="25" name="Shape 17"/>
          <p:cNvSpPr/>
          <p:nvPr/>
        </p:nvSpPr>
        <p:spPr>
          <a:xfrm>
            <a:off x="4505249" y="1572768"/>
            <a:ext cx="475488" cy="475488"/>
          </a:xfrm>
          <a:prstGeom prst="ellipse">
            <a:avLst/>
          </a:prstGeom>
          <a:solidFill>
            <a:srgbClr val="2A8C96"/>
          </a:solidFill>
          <a:ln/>
        </p:spPr>
      </p:sp>
      <p:pic>
        <p:nvPicPr>
          <p:cNvPr id="26" name="Image 6" descr="preencoded.png">    </p:cNvPr>
          <p:cNvPicPr>
            <a:picLocks noChangeAspect="1"/>
          </p:cNvPicPr>
          <p:nvPr/>
        </p:nvPicPr>
        <p:blipFill>
          <a:blip r:embed="rId7"/>
          <a:stretch>
            <a:fillRect/>
          </a:stretch>
        </p:blipFill>
        <p:spPr>
          <a:xfrm>
            <a:off x="4624121" y="1691640"/>
            <a:ext cx="237744" cy="237744"/>
          </a:xfrm>
          <a:prstGeom prst="rect">
            <a:avLst/>
          </a:prstGeom>
        </p:spPr>
      </p:pic>
      <p:sp>
        <p:nvSpPr>
          <p:cNvPr id="27" name="Text 18"/>
          <p:cNvSpPr txBox="1"/>
          <p:nvPr/>
        </p:nvSpPr>
        <p:spPr>
          <a:xfrm>
            <a:off x="5099609" y="1554480"/>
            <a:ext cx="2630729" cy="274320"/>
          </a:xfrm>
          <a:prstGeom prst="rect">
            <a:avLst/>
          </a:prstGeom>
          <a:noFill/>
          <a:ln/>
        </p:spPr>
        <p:txBody>
          <a:bodyPr wrap="square" lIns="0" tIns="0" rIns="0" bIns="0"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Threat Monitoring</a:t>
            </a:r>
            <a:endParaRPr lang="en-US" sz="1500" dirty="0"/>
          </a:p>
        </p:txBody>
      </p:sp>
      <p:sp>
        <p:nvSpPr>
          <p:cNvPr id="28" name="Shape 19"/>
          <p:cNvSpPr/>
          <p:nvPr/>
        </p:nvSpPr>
        <p:spPr>
          <a:xfrm>
            <a:off x="5099609" y="1856232"/>
            <a:ext cx="658368" cy="219456"/>
          </a:xfrm>
          <a:prstGeom prst="roundRect">
            <a:avLst>
              <a:gd name="adj" fmla="val 50000"/>
            </a:avLst>
          </a:prstGeom>
          <a:solidFill>
            <a:srgbClr val="E6F4EA"/>
          </a:solidFill>
          <a:ln/>
        </p:spPr>
      </p:sp>
      <p:sp>
        <p:nvSpPr>
          <p:cNvPr id="29" name="Text 20"/>
          <p:cNvSpPr txBox="1"/>
          <p:nvPr/>
        </p:nvSpPr>
        <p:spPr>
          <a:xfrm>
            <a:off x="5099609" y="1856232"/>
            <a:ext cx="658368" cy="219456"/>
          </a:xfrm>
          <a:prstGeom prst="rect">
            <a:avLst/>
          </a:prstGeom>
          <a:noFill/>
          <a:ln/>
        </p:spPr>
        <p:txBody>
          <a:bodyPr wrap="square" lIns="0" tIns="0" rIns="0" bIns="0" rtlCol="0" anchor="ctr"/>
          <a:lstStyle/>
          <a:p>
            <a:pPr algn="ctr" indent="0" marL="0">
              <a:buNone/>
            </a:pPr>
            <a:r>
              <a:rPr lang="en-US" sz="1000" b="1" dirty="0">
                <a:solidFill>
                  <a:srgbClr val="2E8B57"/>
                </a:solidFill>
                <a:latin typeface="Calibri" pitchFamily="34" charset="0"/>
                <a:ea typeface="Calibri" pitchFamily="34" charset="-122"/>
                <a:cs typeface="Calibri" pitchFamily="34" charset="-120"/>
              </a:rPr>
              <a:t>Green</a:t>
            </a:r>
            <a:endParaRPr lang="en-US" sz="1000" dirty="0"/>
          </a:p>
        </p:txBody>
      </p:sp>
      <p:sp>
        <p:nvSpPr>
          <p:cNvPr id="30" name="Text 21"/>
          <p:cNvSpPr txBox="1"/>
          <p:nvPr/>
        </p:nvSpPr>
        <p:spPr>
          <a:xfrm>
            <a:off x="5831129" y="1856232"/>
            <a:ext cx="1944929" cy="219456"/>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Tuned, in transition</a:t>
            </a:r>
            <a:endParaRPr lang="en-US" sz="1050" dirty="0"/>
          </a:p>
        </p:txBody>
      </p:sp>
      <p:sp>
        <p:nvSpPr>
          <p:cNvPr id="31" name="Text 22"/>
          <p:cNvSpPr txBox="1"/>
          <p:nvPr/>
        </p:nvSpPr>
        <p:spPr>
          <a:xfrm>
            <a:off x="4505249" y="2194560"/>
            <a:ext cx="3179369" cy="960120"/>
          </a:xfrm>
          <a:prstGeom prst="rect">
            <a:avLst/>
          </a:prstGeom>
          <a:noFill/>
          <a:ln/>
        </p:spPr>
        <p:txBody>
          <a:bodyPr wrap="square" lIns="0" tIns="0" rIns="0" bIns="0" rtlCol="0" anchor="t"/>
          <a:lstStyle/>
          <a:p>
            <a:pPr indent="0" marL="0">
              <a:spcAft>
                <a:spcPts val="200"/>
              </a:spcAft>
              <a:buNone/>
            </a:pPr>
            <a:r>
              <a:rPr lang="en-US" sz="2800" b="1" dirty="0">
                <a:solidFill>
                  <a:srgbClr val="1B2A4A"/>
                </a:solidFill>
                <a:latin typeface="Calibri" pitchFamily="34" charset="0"/>
                <a:ea typeface="Calibri" pitchFamily="34" charset="-122"/>
                <a:cs typeface="Calibri" pitchFamily="34" charset="-120"/>
              </a:rPr>
              <a:t>667,608</a:t>
            </a:r>
            <a:endParaRPr lang="en-US" sz="2800" dirty="0"/>
          </a:p>
          <a:p>
            <a:pPr indent="0" marL="0">
              <a:spcAft>
                <a:spcPts val="200"/>
              </a:spcAft>
              <a:buNone/>
            </a:pPr>
            <a:r>
              <a:rPr lang="en-US" sz="1100" dirty="0">
                <a:solidFill>
                  <a:srgbClr val="64748B"/>
                </a:solidFill>
                <a:latin typeface="Calibri" pitchFamily="34" charset="0"/>
                <a:ea typeface="Calibri" pitchFamily="34" charset="-122"/>
                <a:cs typeface="Calibri" pitchFamily="34" charset="-120"/>
              </a:rPr>
              <a:t>false-positive SIEM events removed; EDR cut from 134,000 to 3 alerts per day</a:t>
            </a:r>
            <a:endParaRPr lang="en-US" sz="2800" dirty="0"/>
          </a:p>
        </p:txBody>
      </p:sp>
      <p:sp>
        <p:nvSpPr>
          <p:cNvPr id="32" name="Shape 23"/>
          <p:cNvSpPr/>
          <p:nvPr/>
        </p:nvSpPr>
        <p:spPr>
          <a:xfrm>
            <a:off x="4505249" y="3227832"/>
            <a:ext cx="3179369" cy="0"/>
          </a:xfrm>
          <a:prstGeom prst="line">
            <a:avLst/>
          </a:prstGeom>
          <a:noFill/>
          <a:ln w="9525">
            <a:solidFill>
              <a:srgbClr val="DCE3EE"/>
            </a:solidFill>
            <a:prstDash val="solid"/>
          </a:ln>
        </p:spPr>
      </p:sp>
      <p:pic>
        <p:nvPicPr>
          <p:cNvPr id="33" name="Image 7" descr="preencoded.png">    </p:cNvPr>
          <p:cNvPicPr>
            <a:picLocks noChangeAspect="1"/>
          </p:cNvPicPr>
          <p:nvPr/>
        </p:nvPicPr>
        <p:blipFill>
          <a:blip r:embed="rId8"/>
          <a:stretch>
            <a:fillRect/>
          </a:stretch>
        </p:blipFill>
        <p:spPr>
          <a:xfrm>
            <a:off x="4505249" y="3374136"/>
            <a:ext cx="164592" cy="164592"/>
          </a:xfrm>
          <a:prstGeom prst="rect">
            <a:avLst/>
          </a:prstGeom>
        </p:spPr>
      </p:pic>
      <p:sp>
        <p:nvSpPr>
          <p:cNvPr id="34" name="Text 24"/>
          <p:cNvSpPr txBox="1"/>
          <p:nvPr/>
        </p:nvSpPr>
        <p:spPr>
          <a:xfrm>
            <a:off x="4752137" y="3328416"/>
            <a:ext cx="2932481" cy="457200"/>
          </a:xfrm>
          <a:prstGeom prst="rect">
            <a:avLst/>
          </a:prstGeom>
          <a:noFill/>
          <a:ln/>
        </p:spPr>
        <p:txBody>
          <a:bodyPr wrap="square" lIns="0" tIns="0" rIns="0" bIns="0" rtlCol="0" anchor="t"/>
          <a:lstStyle/>
          <a:p>
            <a:pPr indent="0" marL="0">
              <a:buNone/>
            </a:pPr>
            <a:r>
              <a:rPr lang="en-US" sz="1150" dirty="0">
                <a:solidFill>
                  <a:srgbClr val="1E293B"/>
                </a:solidFill>
                <a:latin typeface="Calibri" pitchFamily="34" charset="0"/>
                <a:ea typeface="Calibri" pitchFamily="34" charset="-122"/>
                <a:cs typeface="Calibri" pitchFamily="34" charset="-120"/>
              </a:rPr>
              <a:t>DLP monitored across network, web and endpoint: 48,504 incidents, 1,223 enforced</a:t>
            </a:r>
            <a:endParaRPr lang="en-US" sz="1150" dirty="0"/>
          </a:p>
        </p:txBody>
      </p:sp>
      <p:pic>
        <p:nvPicPr>
          <p:cNvPr id="35" name="Image 8" descr="preencoded.png">    </p:cNvPr>
          <p:cNvPicPr>
            <a:picLocks noChangeAspect="1"/>
          </p:cNvPicPr>
          <p:nvPr/>
        </p:nvPicPr>
        <p:blipFill>
          <a:blip r:embed="rId9"/>
          <a:stretch>
            <a:fillRect/>
          </a:stretch>
        </p:blipFill>
        <p:spPr>
          <a:xfrm>
            <a:off x="4505249" y="3922776"/>
            <a:ext cx="164592" cy="164592"/>
          </a:xfrm>
          <a:prstGeom prst="rect">
            <a:avLst/>
          </a:prstGeom>
        </p:spPr>
      </p:pic>
      <p:sp>
        <p:nvSpPr>
          <p:cNvPr id="36" name="Text 25"/>
          <p:cNvSpPr txBox="1"/>
          <p:nvPr/>
        </p:nvSpPr>
        <p:spPr>
          <a:xfrm>
            <a:off x="4752137" y="3877056"/>
            <a:ext cx="2932481" cy="457200"/>
          </a:xfrm>
          <a:prstGeom prst="rect">
            <a:avLst/>
          </a:prstGeom>
          <a:noFill/>
          <a:ln/>
        </p:spPr>
        <p:txBody>
          <a:bodyPr wrap="square" lIns="0" tIns="0" rIns="0" bIns="0" rtlCol="0" anchor="t"/>
          <a:lstStyle/>
          <a:p>
            <a:pPr indent="0" marL="0">
              <a:buNone/>
            </a:pPr>
            <a:r>
              <a:rPr lang="en-US" sz="1150" dirty="0">
                <a:solidFill>
                  <a:srgbClr val="1E293B"/>
                </a:solidFill>
                <a:latin typeface="Calibri" pitchFamily="34" charset="0"/>
                <a:ea typeface="Calibri" pitchFamily="34" charset="-122"/>
                <a:cs typeface="Calibri" pitchFamily="34" charset="-120"/>
              </a:rPr>
              <a:t>Email is the main DLP channel at 59.5% of incidents</a:t>
            </a:r>
            <a:endParaRPr lang="en-US" sz="1150" dirty="0"/>
          </a:p>
        </p:txBody>
      </p:sp>
      <p:pic>
        <p:nvPicPr>
          <p:cNvPr id="37" name="Image 9" descr="preencoded.png">    </p:cNvPr>
          <p:cNvPicPr>
            <a:picLocks noChangeAspect="1"/>
          </p:cNvPicPr>
          <p:nvPr/>
        </p:nvPicPr>
        <p:blipFill>
          <a:blip r:embed="rId10"/>
          <a:stretch>
            <a:fillRect/>
          </a:stretch>
        </p:blipFill>
        <p:spPr>
          <a:xfrm>
            <a:off x="4505249" y="4471416"/>
            <a:ext cx="164592" cy="164592"/>
          </a:xfrm>
          <a:prstGeom prst="rect">
            <a:avLst/>
          </a:prstGeom>
        </p:spPr>
      </p:pic>
      <p:sp>
        <p:nvSpPr>
          <p:cNvPr id="38" name="Text 26"/>
          <p:cNvSpPr txBox="1"/>
          <p:nvPr/>
        </p:nvSpPr>
        <p:spPr>
          <a:xfrm>
            <a:off x="4752137" y="4425696"/>
            <a:ext cx="2932481" cy="457200"/>
          </a:xfrm>
          <a:prstGeom prst="rect">
            <a:avLst/>
          </a:prstGeom>
          <a:noFill/>
          <a:ln/>
        </p:spPr>
        <p:txBody>
          <a:bodyPr wrap="square" lIns="0" tIns="0" rIns="0" bIns="0" rtlCol="0" anchor="t"/>
          <a:lstStyle/>
          <a:p>
            <a:pPr indent="0" marL="0">
              <a:buNone/>
            </a:pPr>
            <a:r>
              <a:rPr lang="en-US" sz="1150" dirty="0">
                <a:solidFill>
                  <a:srgbClr val="1E293B"/>
                </a:solidFill>
                <a:latin typeface="Calibri" pitchFamily="34" charset="0"/>
                <a:ea typeface="Calibri" pitchFamily="34" charset="-122"/>
                <a:cs typeface="Calibri" pitchFamily="34" charset="-120"/>
              </a:rPr>
              <a:t>SOC AI in transition: Exotech out, COGNNA and Cortex XSIAM under evaluation</a:t>
            </a:r>
            <a:endParaRPr lang="en-US" sz="1150" dirty="0"/>
          </a:p>
        </p:txBody>
      </p:sp>
      <p:pic>
        <p:nvPicPr>
          <p:cNvPr id="39" name="Image 10" descr="preencoded.png">    </p:cNvPr>
          <p:cNvPicPr>
            <a:picLocks noChangeAspect="1"/>
          </p:cNvPicPr>
          <p:nvPr/>
        </p:nvPicPr>
        <p:blipFill>
          <a:blip r:embed="rId11"/>
          <a:stretch>
            <a:fillRect/>
          </a:stretch>
        </p:blipFill>
        <p:spPr>
          <a:xfrm>
            <a:off x="4505249" y="5020056"/>
            <a:ext cx="164592" cy="164592"/>
          </a:xfrm>
          <a:prstGeom prst="rect">
            <a:avLst/>
          </a:prstGeom>
        </p:spPr>
      </p:pic>
      <p:sp>
        <p:nvSpPr>
          <p:cNvPr id="40" name="Text 27"/>
          <p:cNvSpPr txBox="1"/>
          <p:nvPr/>
        </p:nvSpPr>
        <p:spPr>
          <a:xfrm>
            <a:off x="4752137" y="4974336"/>
            <a:ext cx="2932481" cy="457200"/>
          </a:xfrm>
          <a:prstGeom prst="rect">
            <a:avLst/>
          </a:prstGeom>
          <a:noFill/>
          <a:ln/>
        </p:spPr>
        <p:txBody>
          <a:bodyPr wrap="square" lIns="0" tIns="0" rIns="0" bIns="0" rtlCol="0" anchor="t"/>
          <a:lstStyle/>
          <a:p>
            <a:pPr indent="0" marL="0">
              <a:buNone/>
            </a:pPr>
            <a:r>
              <a:rPr lang="en-US" sz="1150" dirty="0">
                <a:solidFill>
                  <a:srgbClr val="B97A1F"/>
                </a:solidFill>
                <a:latin typeface="Calibri" pitchFamily="34" charset="0"/>
                <a:ea typeface="Calibri" pitchFamily="34" charset="-122"/>
                <a:cs typeface="Calibri" pitchFamily="34" charset="-120"/>
              </a:rPr>
              <a:t>CTI feeds, automatic blocking and zero-days handled: XX</a:t>
            </a:r>
            <a:endParaRPr lang="en-US" sz="1150" dirty="0"/>
          </a:p>
        </p:txBody>
      </p:sp>
      <p:sp>
        <p:nvSpPr>
          <p:cNvPr id="41" name="Shape 28"/>
          <p:cNvSpPr/>
          <p:nvPr/>
        </p:nvSpPr>
        <p:spPr>
          <a:xfrm>
            <a:off x="8096098" y="1371600"/>
            <a:ext cx="3636569" cy="4114800"/>
          </a:xfrm>
          <a:prstGeom prst="roundRect">
            <a:avLst>
              <a:gd name="adj" fmla="val 1760"/>
            </a:avLst>
          </a:prstGeom>
          <a:solidFill>
            <a:srgbClr val="F4F7FC"/>
          </a:solidFill>
          <a:ln w="9525">
            <a:solidFill>
              <a:srgbClr val="DCE3EE"/>
            </a:solidFill>
            <a:prstDash val="solid"/>
          </a:ln>
        </p:spPr>
      </p:sp>
      <p:sp>
        <p:nvSpPr>
          <p:cNvPr id="42" name="Shape 29"/>
          <p:cNvSpPr/>
          <p:nvPr/>
        </p:nvSpPr>
        <p:spPr>
          <a:xfrm>
            <a:off x="8324698" y="1572768"/>
            <a:ext cx="475488" cy="475488"/>
          </a:xfrm>
          <a:prstGeom prst="ellipse">
            <a:avLst/>
          </a:prstGeom>
          <a:solidFill>
            <a:srgbClr val="1B2A4A"/>
          </a:solidFill>
          <a:ln/>
        </p:spPr>
      </p:sp>
      <p:pic>
        <p:nvPicPr>
          <p:cNvPr id="43" name="Image 11" descr="preencoded.png">    </p:cNvPr>
          <p:cNvPicPr>
            <a:picLocks noChangeAspect="1"/>
          </p:cNvPicPr>
          <p:nvPr/>
        </p:nvPicPr>
        <p:blipFill>
          <a:blip r:embed="rId12"/>
          <a:stretch>
            <a:fillRect/>
          </a:stretch>
        </p:blipFill>
        <p:spPr>
          <a:xfrm>
            <a:off x="8443570" y="1691640"/>
            <a:ext cx="237744" cy="237744"/>
          </a:xfrm>
          <a:prstGeom prst="rect">
            <a:avLst/>
          </a:prstGeom>
        </p:spPr>
      </p:pic>
      <p:sp>
        <p:nvSpPr>
          <p:cNvPr id="44" name="Text 30"/>
          <p:cNvSpPr txBox="1"/>
          <p:nvPr/>
        </p:nvSpPr>
        <p:spPr>
          <a:xfrm>
            <a:off x="8919058" y="1554480"/>
            <a:ext cx="2630729" cy="274320"/>
          </a:xfrm>
          <a:prstGeom prst="rect">
            <a:avLst/>
          </a:prstGeom>
          <a:noFill/>
          <a:ln/>
        </p:spPr>
        <p:txBody>
          <a:bodyPr wrap="square" lIns="0" tIns="0" rIns="0" bIns="0" rtlCol="0" anchor="ctr"/>
          <a:lstStyle/>
          <a:p>
            <a:pPr indent="0" marL="0">
              <a:buNone/>
            </a:pPr>
            <a:r>
              <a:rPr lang="en-US" sz="1500" b="1" dirty="0">
                <a:solidFill>
                  <a:srgbClr val="1B2A4A"/>
                </a:solidFill>
                <a:latin typeface="Calibri" pitchFamily="34" charset="0"/>
                <a:ea typeface="Calibri" pitchFamily="34" charset="-122"/>
                <a:cs typeface="Calibri" pitchFamily="34" charset="-120"/>
              </a:rPr>
              <a:t>Incident-Response Readiness</a:t>
            </a:r>
            <a:endParaRPr lang="en-US" sz="1500" dirty="0"/>
          </a:p>
        </p:txBody>
      </p:sp>
      <p:sp>
        <p:nvSpPr>
          <p:cNvPr id="45" name="Shape 31"/>
          <p:cNvSpPr/>
          <p:nvPr/>
        </p:nvSpPr>
        <p:spPr>
          <a:xfrm>
            <a:off x="8919058" y="1856232"/>
            <a:ext cx="658368" cy="219456"/>
          </a:xfrm>
          <a:prstGeom prst="roundRect">
            <a:avLst>
              <a:gd name="adj" fmla="val 50000"/>
            </a:avLst>
          </a:prstGeom>
          <a:solidFill>
            <a:srgbClr val="FBF1DD"/>
          </a:solidFill>
          <a:ln/>
        </p:spPr>
      </p:sp>
      <p:sp>
        <p:nvSpPr>
          <p:cNvPr id="46" name="Text 32"/>
          <p:cNvSpPr txBox="1"/>
          <p:nvPr/>
        </p:nvSpPr>
        <p:spPr>
          <a:xfrm>
            <a:off x="8919058" y="1856232"/>
            <a:ext cx="658368" cy="219456"/>
          </a:xfrm>
          <a:prstGeom prst="rect">
            <a:avLst/>
          </a:prstGeom>
          <a:noFill/>
          <a:ln/>
        </p:spPr>
        <p:txBody>
          <a:bodyPr wrap="square" lIns="0" tIns="0" rIns="0" bIns="0" rtlCol="0" anchor="ctr"/>
          <a:lstStyle/>
          <a:p>
            <a:pPr algn="ctr" indent="0" marL="0">
              <a:buNone/>
            </a:pPr>
            <a:r>
              <a:rPr lang="en-US" sz="1000" b="1" dirty="0">
                <a:solidFill>
                  <a:srgbClr val="B97A1F"/>
                </a:solidFill>
                <a:latin typeface="Calibri" pitchFamily="34" charset="0"/>
                <a:ea typeface="Calibri" pitchFamily="34" charset="-122"/>
                <a:cs typeface="Calibri" pitchFamily="34" charset="-120"/>
              </a:rPr>
              <a:t>Amber</a:t>
            </a:r>
            <a:endParaRPr lang="en-US" sz="1000" dirty="0"/>
          </a:p>
        </p:txBody>
      </p:sp>
      <p:sp>
        <p:nvSpPr>
          <p:cNvPr id="47" name="Text 33"/>
          <p:cNvSpPr txBox="1"/>
          <p:nvPr/>
        </p:nvSpPr>
        <p:spPr>
          <a:xfrm>
            <a:off x="9650578" y="1856232"/>
            <a:ext cx="1944929" cy="219456"/>
          </a:xfrm>
          <a:prstGeom prst="rect">
            <a:avLst/>
          </a:prstGeom>
          <a:noFill/>
          <a:ln/>
        </p:spPr>
        <p:txBody>
          <a:bodyPr wrap="square" lIns="0" tIns="0" rIns="0" bIns="0" rtlCol="0" anchor="ctr"/>
          <a:lstStyle/>
          <a:p>
            <a:pPr indent="0" marL="0">
              <a:buNone/>
            </a:pPr>
            <a:r>
              <a:rPr lang="en-US" sz="1050" dirty="0">
                <a:solidFill>
                  <a:srgbClr val="64748B"/>
                </a:solidFill>
                <a:latin typeface="Calibri" pitchFamily="34" charset="0"/>
                <a:ea typeface="Calibri" pitchFamily="34" charset="-122"/>
                <a:cs typeface="Calibri" pitchFamily="34" charset="-120"/>
              </a:rPr>
              <a:t>Governance gaps</a:t>
            </a:r>
            <a:endParaRPr lang="en-US" sz="1050" dirty="0"/>
          </a:p>
        </p:txBody>
      </p:sp>
      <p:sp>
        <p:nvSpPr>
          <p:cNvPr id="48" name="Text 34"/>
          <p:cNvSpPr txBox="1"/>
          <p:nvPr/>
        </p:nvSpPr>
        <p:spPr>
          <a:xfrm>
            <a:off x="8324698" y="2194560"/>
            <a:ext cx="3179369" cy="960120"/>
          </a:xfrm>
          <a:prstGeom prst="rect">
            <a:avLst/>
          </a:prstGeom>
          <a:noFill/>
          <a:ln/>
        </p:spPr>
        <p:txBody>
          <a:bodyPr wrap="square" lIns="0" tIns="0" rIns="0" bIns="0" rtlCol="0" anchor="t"/>
          <a:lstStyle/>
          <a:p>
            <a:pPr indent="0" marL="0">
              <a:spcAft>
                <a:spcPts val="200"/>
              </a:spcAft>
              <a:buNone/>
            </a:pPr>
            <a:r>
              <a:rPr lang="en-US" sz="2800" b="1" dirty="0">
                <a:solidFill>
                  <a:srgbClr val="1B2A4A"/>
                </a:solidFill>
                <a:latin typeface="Calibri" pitchFamily="34" charset="0"/>
                <a:ea typeface="Calibri" pitchFamily="34" charset="-122"/>
                <a:cs typeface="Calibri" pitchFamily="34" charset="-120"/>
              </a:rPr>
              <a:t>2,070</a:t>
            </a:r>
            <a:endParaRPr lang="en-US" sz="2800" dirty="0"/>
          </a:p>
          <a:p>
            <a:pPr indent="0" marL="0">
              <a:spcAft>
                <a:spcPts val="200"/>
              </a:spcAft>
              <a:buNone/>
            </a:pPr>
            <a:r>
              <a:rPr lang="en-US" sz="1100" dirty="0">
                <a:solidFill>
                  <a:srgbClr val="64748B"/>
                </a:solidFill>
                <a:latin typeface="Calibri" pitchFamily="34" charset="0"/>
                <a:ea typeface="Calibri" pitchFamily="34" charset="-122"/>
                <a:cs typeface="Calibri" pitchFamily="34" charset="-120"/>
              </a:rPr>
              <a:t>DLP records deleted through a shared super-admin account; detected by the SOC within 2 days</a:t>
            </a:r>
            <a:endParaRPr lang="en-US" sz="2800" dirty="0"/>
          </a:p>
        </p:txBody>
      </p:sp>
      <p:sp>
        <p:nvSpPr>
          <p:cNvPr id="49" name="Shape 35"/>
          <p:cNvSpPr/>
          <p:nvPr/>
        </p:nvSpPr>
        <p:spPr>
          <a:xfrm>
            <a:off x="8324698" y="3227832"/>
            <a:ext cx="3179369" cy="0"/>
          </a:xfrm>
          <a:prstGeom prst="line">
            <a:avLst/>
          </a:prstGeom>
          <a:noFill/>
          <a:ln w="9525">
            <a:solidFill>
              <a:srgbClr val="DCE3EE"/>
            </a:solidFill>
            <a:prstDash val="solid"/>
          </a:ln>
        </p:spPr>
      </p:sp>
      <p:pic>
        <p:nvPicPr>
          <p:cNvPr id="50" name="Image 12" descr="preencoded.png">    </p:cNvPr>
          <p:cNvPicPr>
            <a:picLocks noChangeAspect="1"/>
          </p:cNvPicPr>
          <p:nvPr/>
        </p:nvPicPr>
        <p:blipFill>
          <a:blip r:embed="rId13"/>
          <a:stretch>
            <a:fillRect/>
          </a:stretch>
        </p:blipFill>
        <p:spPr>
          <a:xfrm>
            <a:off x="8324698" y="3374136"/>
            <a:ext cx="164592" cy="164592"/>
          </a:xfrm>
          <a:prstGeom prst="rect">
            <a:avLst/>
          </a:prstGeom>
        </p:spPr>
      </p:pic>
      <p:sp>
        <p:nvSpPr>
          <p:cNvPr id="51" name="Text 36"/>
          <p:cNvSpPr txBox="1"/>
          <p:nvPr/>
        </p:nvSpPr>
        <p:spPr>
          <a:xfrm>
            <a:off x="8571586" y="3328416"/>
            <a:ext cx="2932481" cy="457200"/>
          </a:xfrm>
          <a:prstGeom prst="rect">
            <a:avLst/>
          </a:prstGeom>
          <a:noFill/>
          <a:ln/>
        </p:spPr>
        <p:txBody>
          <a:bodyPr wrap="square" lIns="0" tIns="0" rIns="0" bIns="0" rtlCol="0" anchor="t"/>
          <a:lstStyle/>
          <a:p>
            <a:pPr indent="0" marL="0">
              <a:buNone/>
            </a:pPr>
            <a:r>
              <a:rPr lang="en-US" sz="1150" dirty="0">
                <a:solidFill>
                  <a:srgbClr val="1E293B"/>
                </a:solidFill>
                <a:latin typeface="Calibri" pitchFamily="34" charset="0"/>
                <a:ea typeface="Calibri" pitchFamily="34" charset="-122"/>
                <a:cs typeface="Calibri" pitchFamily="34" charset="-120"/>
              </a:rPr>
              <a:t>Fully investigated: true positive, no confirmed compromise, 9 recommendations tabled</a:t>
            </a:r>
            <a:endParaRPr lang="en-US" sz="1150" dirty="0"/>
          </a:p>
        </p:txBody>
      </p:sp>
      <p:pic>
        <p:nvPicPr>
          <p:cNvPr id="52" name="Image 13" descr="preencoded.png">    </p:cNvPr>
          <p:cNvPicPr>
            <a:picLocks noChangeAspect="1"/>
          </p:cNvPicPr>
          <p:nvPr/>
        </p:nvPicPr>
        <p:blipFill>
          <a:blip r:embed="rId14"/>
          <a:stretch>
            <a:fillRect/>
          </a:stretch>
        </p:blipFill>
        <p:spPr>
          <a:xfrm>
            <a:off x="8324698" y="3922776"/>
            <a:ext cx="164592" cy="164592"/>
          </a:xfrm>
          <a:prstGeom prst="rect">
            <a:avLst/>
          </a:prstGeom>
        </p:spPr>
      </p:pic>
      <p:sp>
        <p:nvSpPr>
          <p:cNvPr id="53" name="Text 37"/>
          <p:cNvSpPr txBox="1"/>
          <p:nvPr/>
        </p:nvSpPr>
        <p:spPr>
          <a:xfrm>
            <a:off x="8571586" y="3877056"/>
            <a:ext cx="2932481" cy="457200"/>
          </a:xfrm>
          <a:prstGeom prst="rect">
            <a:avLst/>
          </a:prstGeom>
          <a:noFill/>
          <a:ln/>
        </p:spPr>
        <p:txBody>
          <a:bodyPr wrap="square" lIns="0" tIns="0" rIns="0" bIns="0" rtlCol="0" anchor="t"/>
          <a:lstStyle/>
          <a:p>
            <a:pPr indent="0" marL="0">
              <a:buNone/>
            </a:pPr>
            <a:r>
              <a:rPr lang="en-US" sz="1150" dirty="0">
                <a:solidFill>
                  <a:srgbClr val="1E293B"/>
                </a:solidFill>
                <a:latin typeface="Calibri" pitchFamily="34" charset="0"/>
                <a:ea typeface="Calibri" pitchFamily="34" charset="-122"/>
                <a:cs typeface="Calibri" pitchFamily="34" charset="-120"/>
              </a:rPr>
              <a:t>Shared super-admin password and no SIEM alert on DLP admin actions</a:t>
            </a:r>
            <a:endParaRPr lang="en-US" sz="1150" dirty="0"/>
          </a:p>
        </p:txBody>
      </p:sp>
      <p:pic>
        <p:nvPicPr>
          <p:cNvPr id="54" name="Image 14" descr="preencoded.png">    </p:cNvPr>
          <p:cNvPicPr>
            <a:picLocks noChangeAspect="1"/>
          </p:cNvPicPr>
          <p:nvPr/>
        </p:nvPicPr>
        <p:blipFill>
          <a:blip r:embed="rId15"/>
          <a:stretch>
            <a:fillRect/>
          </a:stretch>
        </p:blipFill>
        <p:spPr>
          <a:xfrm>
            <a:off x="8324698" y="4471416"/>
            <a:ext cx="164592" cy="164592"/>
          </a:xfrm>
          <a:prstGeom prst="rect">
            <a:avLst/>
          </a:prstGeom>
        </p:spPr>
      </p:pic>
      <p:sp>
        <p:nvSpPr>
          <p:cNvPr id="55" name="Text 38"/>
          <p:cNvSpPr txBox="1"/>
          <p:nvPr/>
        </p:nvSpPr>
        <p:spPr>
          <a:xfrm>
            <a:off x="8571586" y="4425696"/>
            <a:ext cx="2932481" cy="457200"/>
          </a:xfrm>
          <a:prstGeom prst="rect">
            <a:avLst/>
          </a:prstGeom>
          <a:noFill/>
          <a:ln/>
        </p:spPr>
        <p:txBody>
          <a:bodyPr wrap="square" lIns="0" tIns="0" rIns="0" bIns="0" rtlCol="0" anchor="t"/>
          <a:lstStyle/>
          <a:p>
            <a:pPr indent="0" marL="0">
              <a:buNone/>
            </a:pPr>
            <a:r>
              <a:rPr lang="en-US" sz="1150" dirty="0">
                <a:solidFill>
                  <a:srgbClr val="1E293B"/>
                </a:solidFill>
                <a:latin typeface="Calibri" pitchFamily="34" charset="0"/>
                <a:ea typeface="Calibri" pitchFamily="34" charset="-122"/>
                <a:cs typeface="Calibri" pitchFamily="34" charset="-120"/>
              </a:rPr>
              <a:t>SOC audit-log read access on DLP removed on 16 Sep, blocking the investigation</a:t>
            </a:r>
            <a:endParaRPr lang="en-US" sz="1150" dirty="0"/>
          </a:p>
        </p:txBody>
      </p:sp>
      <p:pic>
        <p:nvPicPr>
          <p:cNvPr id="56" name="Image 15" descr="preencoded.png">    </p:cNvPr>
          <p:cNvPicPr>
            <a:picLocks noChangeAspect="1"/>
          </p:cNvPicPr>
          <p:nvPr/>
        </p:nvPicPr>
        <p:blipFill>
          <a:blip r:embed="rId16"/>
          <a:stretch>
            <a:fillRect/>
          </a:stretch>
        </p:blipFill>
        <p:spPr>
          <a:xfrm>
            <a:off x="8324698" y="5020056"/>
            <a:ext cx="164592" cy="164592"/>
          </a:xfrm>
          <a:prstGeom prst="rect">
            <a:avLst/>
          </a:prstGeom>
        </p:spPr>
      </p:pic>
      <p:sp>
        <p:nvSpPr>
          <p:cNvPr id="57" name="Text 39"/>
          <p:cNvSpPr txBox="1"/>
          <p:nvPr/>
        </p:nvSpPr>
        <p:spPr>
          <a:xfrm>
            <a:off x="8571586" y="4974336"/>
            <a:ext cx="2932481" cy="457200"/>
          </a:xfrm>
          <a:prstGeom prst="rect">
            <a:avLst/>
          </a:prstGeom>
          <a:noFill/>
          <a:ln/>
        </p:spPr>
        <p:txBody>
          <a:bodyPr wrap="square" lIns="0" tIns="0" rIns="0" bIns="0" rtlCol="0" anchor="t"/>
          <a:lstStyle/>
          <a:p>
            <a:pPr indent="0" marL="0">
              <a:buNone/>
            </a:pPr>
            <a:r>
              <a:rPr lang="en-US" sz="1150" dirty="0">
                <a:solidFill>
                  <a:srgbClr val="B97A1F"/>
                </a:solidFill>
                <a:latin typeface="Calibri" pitchFamily="34" charset="0"/>
                <a:ea typeface="Calibri" pitchFamily="34" charset="-122"/>
                <a:cs typeface="Calibri" pitchFamily="34" charset="-120"/>
              </a:rPr>
              <a:t>SAMA reports submitted: XX, on time: XX%</a:t>
            </a:r>
            <a:endParaRPr lang="en-US" sz="1150" dirty="0"/>
          </a:p>
        </p:txBody>
      </p:sp>
      <p:sp>
        <p:nvSpPr>
          <p:cNvPr id="58" name="Shape 40"/>
          <p:cNvSpPr/>
          <p:nvPr/>
        </p:nvSpPr>
        <p:spPr>
          <a:xfrm>
            <a:off x="457200" y="5669280"/>
            <a:ext cx="11274552" cy="566928"/>
          </a:xfrm>
          <a:prstGeom prst="roundRect">
            <a:avLst>
              <a:gd name="adj" fmla="val 11290"/>
            </a:avLst>
          </a:prstGeom>
          <a:solidFill>
            <a:srgbClr val="1B2A4A"/>
          </a:solidFill>
          <a:ln/>
        </p:spPr>
      </p:sp>
      <p:sp>
        <p:nvSpPr>
          <p:cNvPr id="59" name="Shape 41"/>
          <p:cNvSpPr/>
          <p:nvPr/>
        </p:nvSpPr>
        <p:spPr>
          <a:xfrm>
            <a:off x="640080" y="5797296"/>
            <a:ext cx="310896" cy="310896"/>
          </a:xfrm>
          <a:prstGeom prst="ellipse">
            <a:avLst/>
          </a:prstGeom>
          <a:solidFill>
            <a:srgbClr val="2A8C96"/>
          </a:solidFill>
          <a:ln/>
        </p:spPr>
      </p:sp>
      <p:pic>
        <p:nvPicPr>
          <p:cNvPr id="60" name="Image 16" descr="preencoded.png">    </p:cNvPr>
          <p:cNvPicPr>
            <a:picLocks noChangeAspect="1"/>
          </p:cNvPicPr>
          <p:nvPr/>
        </p:nvPicPr>
        <p:blipFill>
          <a:blip r:embed="rId17"/>
          <a:stretch>
            <a:fillRect/>
          </a:stretch>
        </p:blipFill>
        <p:spPr>
          <a:xfrm>
            <a:off x="722376" y="5879592"/>
            <a:ext cx="146304" cy="146304"/>
          </a:xfrm>
          <a:prstGeom prst="rect">
            <a:avLst/>
          </a:prstGeom>
        </p:spPr>
      </p:pic>
      <p:sp>
        <p:nvSpPr>
          <p:cNvPr id="61" name="Text 42"/>
          <p:cNvSpPr txBox="1"/>
          <p:nvPr/>
        </p:nvSpPr>
        <p:spPr>
          <a:xfrm>
            <a:off x="1097280" y="5669280"/>
            <a:ext cx="10469880" cy="56692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Overall:  </a:t>
            </a:r>
            <a:pPr indent="0" marL="0">
              <a:buNone/>
            </a:pPr>
            <a:r>
              <a:rPr lang="en-US" sz="1250" dirty="0">
                <a:solidFill>
                  <a:srgbClr val="CADCFC"/>
                </a:solidFill>
                <a:latin typeface="Calibri" pitchFamily="34" charset="0"/>
                <a:ea typeface="Calibri" pitchFamily="34" charset="-122"/>
                <a:cs typeface="Calibri" pitchFamily="34" charset="-120"/>
              </a:rPr>
              <a:t>monitoring is strong and improving. The open risks are application log coverage and privileged-access governance in DLP; the recommendations and the AI evaluation are before the committee for decision.</a:t>
            </a:r>
            <a:endParaRPr lang="en-US" sz="1250" dirty="0"/>
          </a:p>
        </p:txBody>
      </p:sp>
      <p:sp>
        <p:nvSpPr>
          <p:cNvPr id="25" name="Slide Number Placeholder 0"/>
          <p:cNvSpPr>
            <a:spLocks noGrp="1"/>
          </p:cNvSpPr>
          <p:nvPr>
            <p:ph type="sldNum" sz="quarter" idx="4294967295"/>
          </p:nvPr>
        </p:nvSpPr>
        <p:spPr>
          <a:xfrm>
            <a:off x="11274552"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Cybersecurity Committee — SOC Update</dc:title>
  <dc:subject>PptxGenJS Presentation</dc:subject>
  <dc:creator>SOC</dc:creator>
  <cp:lastModifiedBy>SOC</cp:lastModifiedBy>
  <cp:revision>1</cp:revision>
  <dcterms:created xsi:type="dcterms:W3CDTF">2026-10-07T11:00:26Z</dcterms:created>
  <dcterms:modified xsi:type="dcterms:W3CDTF">2026-10-07T11:00:26Z</dcterms:modified>
</cp:coreProperties>
</file>